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4"/>
  </p:notesMasterIdLst>
  <p:sldIdLst>
    <p:sldId id="264" r:id="rId3"/>
    <p:sldId id="299" r:id="rId4"/>
    <p:sldId id="328" r:id="rId5"/>
    <p:sldId id="329" r:id="rId6"/>
    <p:sldId id="330" r:id="rId7"/>
    <p:sldId id="331" r:id="rId8"/>
    <p:sldId id="336" r:id="rId9"/>
    <p:sldId id="332" r:id="rId10"/>
    <p:sldId id="333" r:id="rId11"/>
    <p:sldId id="334" r:id="rId12"/>
    <p:sldId id="335" r:id="rId13"/>
    <p:sldId id="337" r:id="rId14"/>
    <p:sldId id="338" r:id="rId15"/>
    <p:sldId id="339" r:id="rId16"/>
    <p:sldId id="340" r:id="rId17"/>
    <p:sldId id="341" r:id="rId18"/>
    <p:sldId id="342" r:id="rId19"/>
    <p:sldId id="343" r:id="rId20"/>
    <p:sldId id="344" r:id="rId21"/>
    <p:sldId id="345" r:id="rId22"/>
    <p:sldId id="346" r:id="rId23"/>
    <p:sldId id="347" r:id="rId24"/>
    <p:sldId id="348" r:id="rId25"/>
    <p:sldId id="349" r:id="rId26"/>
    <p:sldId id="350" r:id="rId27"/>
    <p:sldId id="351" r:id="rId28"/>
    <p:sldId id="284" r:id="rId29"/>
    <p:sldId id="293" r:id="rId30"/>
    <p:sldId id="308" r:id="rId31"/>
    <p:sldId id="309" r:id="rId32"/>
    <p:sldId id="310" r:id="rId33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580E77-6949-44B7-8B9A-50C00596B1E0}" v="1" dt="2025-04-07T23:10:44.9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6/11/relationships/changesInfo" Target="changesInfos/changesInfo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 Leonardo Bianco" userId="e6f7790cc0087d47" providerId="LiveId" clId="{9A580E77-6949-44B7-8B9A-50C00596B1E0}"/>
    <pc:docChg chg="modSld">
      <pc:chgData name="Angel Leonardo Bianco" userId="e6f7790cc0087d47" providerId="LiveId" clId="{9A580E77-6949-44B7-8B9A-50C00596B1E0}" dt="2025-04-07T23:10:45.033" v="1" actId="122"/>
      <pc:docMkLst>
        <pc:docMk/>
      </pc:docMkLst>
      <pc:sldChg chg="modSp mod">
        <pc:chgData name="Angel Leonardo Bianco" userId="e6f7790cc0087d47" providerId="LiveId" clId="{9A580E77-6949-44B7-8B9A-50C00596B1E0}" dt="2025-04-07T23:10:45.033" v="1" actId="122"/>
        <pc:sldMkLst>
          <pc:docMk/>
          <pc:sldMk cId="2525906718" sldId="264"/>
        </pc:sldMkLst>
        <pc:spChg chg="mod">
          <ac:chgData name="Angel Leonardo Bianco" userId="e6f7790cc0087d47" providerId="LiveId" clId="{9A580E77-6949-44B7-8B9A-50C00596B1E0}" dt="2025-04-07T23:10:45.033" v="1" actId="122"/>
          <ac:spMkLst>
            <pc:docMk/>
            <pc:sldMk cId="2525906718" sldId="264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C9B637-CDC0-4A60-98E8-1AF66D8A2354}" type="datetimeFigureOut">
              <a:rPr lang="es-AR" smtClean="0"/>
              <a:t>7/4/2025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E38B1-1131-4F2F-904D-E2694668282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1146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63731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7975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9454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89645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8053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78640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49715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72829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987877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01151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116013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71033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548751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69049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01721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865615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140149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423401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84131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852531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26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23340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7/4/2025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9509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7/4/2025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3211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7/4/2025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5840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7/4/2025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06726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7/4/2025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22874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7/4/2025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1598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7/4/2025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5585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7/4/2025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6643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7/4/2025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7650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7/4/2025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97442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7/4/2025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433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938635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130585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046952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559893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8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316507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105869"/>
      </p:ext>
    </p:extLst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291956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29406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42071"/>
      </p:ext>
    </p:extLst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163925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411269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861A7-A2BE-4396-9343-333936956773}" type="datetimeFigureOut">
              <a:rPr lang="es-AR" smtClean="0"/>
              <a:t>7/4/2025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7669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586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843808" y="4725144"/>
            <a:ext cx="6129585" cy="1900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Algóritmos</a:t>
            </a:r>
            <a:r>
              <a:rPr lang="en-US" sz="24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 </a:t>
            </a:r>
            <a:r>
              <a:rPr lang="en-US" sz="2400" b="1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Estructuras</a:t>
            </a:r>
            <a:r>
              <a:rPr lang="en-US" sz="24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2400" b="1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Datos</a:t>
            </a:r>
            <a:endParaRPr lang="en-US" sz="2400" b="1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>
                <a:solidFill>
                  <a:schemeClr val="bg1"/>
                </a:solidFill>
              </a:rPr>
              <a:t>-00184-</a:t>
            </a:r>
            <a:endParaRPr lang="en-US" sz="2400" b="1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Dr. Diego </a:t>
            </a:r>
            <a:r>
              <a:rPr lang="en-US" sz="1600" b="1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Agustín</a:t>
            </a:r>
            <a:r>
              <a:rPr lang="en-US" sz="16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Ambrossio</a:t>
            </a:r>
          </a:p>
          <a:p>
            <a:pPr algn="ctr">
              <a:lnSpc>
                <a:spcPct val="150000"/>
              </a:lnSpc>
            </a:pPr>
            <a:r>
              <a:rPr lang="en-US" sz="1600" b="1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Anl</a:t>
            </a:r>
            <a:r>
              <a:rPr lang="en-US" sz="16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Sis. Angel Leonardo Bianco</a:t>
            </a:r>
          </a:p>
        </p:txBody>
      </p:sp>
      <p:sp>
        <p:nvSpPr>
          <p:cNvPr id="4" name="TextShape 2"/>
          <p:cNvSpPr txBox="1"/>
          <p:nvPr/>
        </p:nvSpPr>
        <p:spPr>
          <a:xfrm>
            <a:off x="4834105" y="2060848"/>
            <a:ext cx="4104456" cy="6573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s-AR" sz="4000" b="1" i="1" strike="noStrike" spc="-1">
                <a:solidFill>
                  <a:srgbClr val="FFFFFF"/>
                </a:solidFill>
                <a:latin typeface="Arial"/>
              </a:rPr>
              <a:t>Funciones - Modularidad</a:t>
            </a:r>
          </a:p>
          <a:p>
            <a:endParaRPr lang="es-AR" sz="4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5906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0" y="1173075"/>
            <a:ext cx="1656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Overview:</a:t>
            </a:r>
          </a:p>
        </p:txBody>
      </p:sp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Funciones - Modularidad</a:t>
            </a:r>
          </a:p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85554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0" y="1173075"/>
            <a:ext cx="211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Modularidad:</a:t>
            </a:r>
          </a:p>
        </p:txBody>
      </p:sp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Funciones - Modularidad</a:t>
            </a:r>
          </a:p>
          <a:p>
            <a:endParaRPr lang="es-A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D331149-5395-B240-B0DA-FBCC9F0728B5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1750985"/>
            <a:ext cx="8066110" cy="1461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800"/>
              <a:t>Cuando nos encontramos frente a un gran problema, lo mejor que podemos hacer para solucionarlo es dividirlo en pequeños problemas.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125CAE7A-5EE6-344F-A5AA-E8A185F7873F}"/>
              </a:ext>
            </a:extLst>
          </p:cNvPr>
          <p:cNvSpPr txBox="1">
            <a:spLocks noChangeArrowheads="1"/>
          </p:cNvSpPr>
          <p:nvPr/>
        </p:nvSpPr>
        <p:spPr>
          <a:xfrm>
            <a:off x="665194" y="3057363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6000" b="1">
                <a:latin typeface="+mn-lt"/>
              </a:rPr>
              <a:t>DIVIDE Y VENCERÁS</a:t>
            </a: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1342455F-EAD0-3248-B6B4-663544467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" y="4037547"/>
            <a:ext cx="3579813" cy="2170113"/>
          </a:xfrm>
          <a:prstGeom prst="irregularSeal2">
            <a:avLst/>
          </a:prstGeom>
          <a:noFill/>
          <a:ln w="12700" cap="sq">
            <a:solidFill>
              <a:schemeClr val="accent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s-ES_tradnl"/>
              <a:t>Gran</a:t>
            </a:r>
          </a:p>
          <a:p>
            <a:pPr algn="ctr">
              <a:spcBef>
                <a:spcPct val="50000"/>
              </a:spcBef>
            </a:pPr>
            <a:r>
              <a:rPr kumimoji="0" lang="es-ES_tradnl"/>
              <a:t> problema</a:t>
            </a:r>
          </a:p>
        </p:txBody>
      </p:sp>
      <p:grpSp>
        <p:nvGrpSpPr>
          <p:cNvPr id="13" name="Group 29">
            <a:extLst>
              <a:ext uri="{FF2B5EF4-FFF2-40B4-BE49-F238E27FC236}">
                <a16:creationId xmlns:a16="http://schemas.microsoft.com/office/drawing/2014/main" id="{750CBF53-0986-4C4C-B596-8BC9223C0705}"/>
              </a:ext>
            </a:extLst>
          </p:cNvPr>
          <p:cNvGrpSpPr>
            <a:grpSpLocks/>
          </p:cNvGrpSpPr>
          <p:nvPr/>
        </p:nvGrpSpPr>
        <p:grpSpPr bwMode="auto">
          <a:xfrm>
            <a:off x="5436096" y="4055008"/>
            <a:ext cx="3579813" cy="2170113"/>
            <a:chOff x="3312" y="1728"/>
            <a:chExt cx="2255" cy="1367"/>
          </a:xfrm>
        </p:grpSpPr>
        <p:sp>
          <p:nvSpPr>
            <p:cNvPr id="14" name="AutoShape 18">
              <a:extLst>
                <a:ext uri="{FF2B5EF4-FFF2-40B4-BE49-F238E27FC236}">
                  <a16:creationId xmlns:a16="http://schemas.microsoft.com/office/drawing/2014/main" id="{2BB6E7BC-03CD-D840-82F6-EBCDFAB6D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728"/>
              <a:ext cx="2255" cy="1367"/>
            </a:xfrm>
            <a:prstGeom prst="irregularSeal2">
              <a:avLst/>
            </a:prstGeom>
            <a:noFill/>
            <a:ln w="12700" cap="sq">
              <a:solidFill>
                <a:schemeClr val="accent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s-ES_tradnl"/>
                <a:t>P2</a:t>
              </a:r>
            </a:p>
            <a:p>
              <a:pPr algn="ctr">
                <a:spcBef>
                  <a:spcPct val="50000"/>
                </a:spcBef>
              </a:pPr>
              <a:r>
                <a:rPr kumimoji="0" lang="es-ES_tradnl"/>
                <a:t> </a:t>
              </a:r>
            </a:p>
          </p:txBody>
        </p:sp>
        <p:grpSp>
          <p:nvGrpSpPr>
            <p:cNvPr id="15" name="Group 28">
              <a:extLst>
                <a:ext uri="{FF2B5EF4-FFF2-40B4-BE49-F238E27FC236}">
                  <a16:creationId xmlns:a16="http://schemas.microsoft.com/office/drawing/2014/main" id="{17E25035-46CE-B04C-8888-11088C363B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2160"/>
              <a:ext cx="1680" cy="768"/>
              <a:chOff x="3456" y="2160"/>
              <a:chExt cx="1680" cy="768"/>
            </a:xfrm>
          </p:grpSpPr>
          <p:sp>
            <p:nvSpPr>
              <p:cNvPr id="16" name="Line 19">
                <a:extLst>
                  <a:ext uri="{FF2B5EF4-FFF2-40B4-BE49-F238E27FC236}">
                    <a16:creationId xmlns:a16="http://schemas.microsoft.com/office/drawing/2014/main" id="{7D5D85DC-DD33-944D-82A6-902A8524F1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96" y="2160"/>
                <a:ext cx="480" cy="720"/>
              </a:xfrm>
              <a:prstGeom prst="line">
                <a:avLst/>
              </a:prstGeom>
              <a:noFill/>
              <a:ln w="12700" cap="sq">
                <a:solidFill>
                  <a:srgbClr val="66CC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AR"/>
              </a:p>
            </p:txBody>
          </p:sp>
          <p:sp>
            <p:nvSpPr>
              <p:cNvPr id="17" name="Line 20">
                <a:extLst>
                  <a:ext uri="{FF2B5EF4-FFF2-40B4-BE49-F238E27FC236}">
                    <a16:creationId xmlns:a16="http://schemas.microsoft.com/office/drawing/2014/main" id="{FB40D74E-94C9-F147-9185-651FD5487E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4" y="2160"/>
                <a:ext cx="1104" cy="336"/>
              </a:xfrm>
              <a:prstGeom prst="line">
                <a:avLst/>
              </a:prstGeom>
              <a:noFill/>
              <a:ln w="127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AR"/>
              </a:p>
            </p:txBody>
          </p:sp>
          <p:sp>
            <p:nvSpPr>
              <p:cNvPr id="18" name="Line 21">
                <a:extLst>
                  <a:ext uri="{FF2B5EF4-FFF2-40B4-BE49-F238E27FC236}">
                    <a16:creationId xmlns:a16="http://schemas.microsoft.com/office/drawing/2014/main" id="{281C4B47-13B3-4040-95C8-78D78E6664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08" y="2208"/>
                <a:ext cx="288" cy="528"/>
              </a:xfrm>
              <a:prstGeom prst="line">
                <a:avLst/>
              </a:prstGeom>
              <a:noFill/>
              <a:ln w="12700" cap="sq">
                <a:solidFill>
                  <a:srgbClr val="CC99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AR"/>
              </a:p>
            </p:txBody>
          </p:sp>
          <p:sp>
            <p:nvSpPr>
              <p:cNvPr id="19" name="Rectangle 22">
                <a:extLst>
                  <a:ext uri="{FF2B5EF4-FFF2-40B4-BE49-F238E27FC236}">
                    <a16:creationId xmlns:a16="http://schemas.microsoft.com/office/drawing/2014/main" id="{335569CF-6F60-3D48-8921-F03654D051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2160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0" lang="es-ES_tradnl"/>
                  <a:t>  P1</a:t>
                </a:r>
              </a:p>
            </p:txBody>
          </p:sp>
          <p:sp>
            <p:nvSpPr>
              <p:cNvPr id="20" name="Line 23">
                <a:extLst>
                  <a:ext uri="{FF2B5EF4-FFF2-40B4-BE49-F238E27FC236}">
                    <a16:creationId xmlns:a16="http://schemas.microsoft.com/office/drawing/2014/main" id="{A6976193-E2F8-4D43-B9ED-2F3FB11E08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496"/>
                <a:ext cx="336" cy="384"/>
              </a:xfrm>
              <a:prstGeom prst="line">
                <a:avLst/>
              </a:prstGeom>
              <a:noFill/>
              <a:ln w="12700" cap="sq">
                <a:solidFill>
                  <a:srgbClr val="FF66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AR"/>
              </a:p>
            </p:txBody>
          </p:sp>
          <p:sp>
            <p:nvSpPr>
              <p:cNvPr id="21" name="Text Box 24">
                <a:extLst>
                  <a:ext uri="{FF2B5EF4-FFF2-40B4-BE49-F238E27FC236}">
                    <a16:creationId xmlns:a16="http://schemas.microsoft.com/office/drawing/2014/main" id="{A85E29D1-02F4-3E40-A610-1E43E2D775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4" y="249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0" lang="es-ES_tradnl"/>
                  <a:t>P3</a:t>
                </a:r>
              </a:p>
            </p:txBody>
          </p:sp>
          <p:sp>
            <p:nvSpPr>
              <p:cNvPr id="22" name="Text Box 25">
                <a:extLst>
                  <a:ext uri="{FF2B5EF4-FFF2-40B4-BE49-F238E27FC236}">
                    <a16:creationId xmlns:a16="http://schemas.microsoft.com/office/drawing/2014/main" id="{1D43E92C-63C1-424B-BF68-49E83E547B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2" y="2640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0" lang="es-ES_tradnl"/>
                  <a:t>P4</a:t>
                </a:r>
              </a:p>
            </p:txBody>
          </p:sp>
          <p:sp>
            <p:nvSpPr>
              <p:cNvPr id="23" name="Text Box 26">
                <a:extLst>
                  <a:ext uri="{FF2B5EF4-FFF2-40B4-BE49-F238E27FC236}">
                    <a16:creationId xmlns:a16="http://schemas.microsoft.com/office/drawing/2014/main" id="{392AB34D-ED0F-244C-B1BF-4471D095D6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2" y="2304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0" lang="es-ES_tradnl"/>
                  <a:t>P5</a:t>
                </a:r>
              </a:p>
            </p:txBody>
          </p:sp>
        </p:grpSp>
      </p:grpSp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12C929F1-0154-944F-879B-FD8A2FCB79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6543204"/>
              </p:ext>
            </p:extLst>
          </p:nvPr>
        </p:nvGraphicFramePr>
        <p:xfrm>
          <a:off x="4320657" y="4969408"/>
          <a:ext cx="659611" cy="1785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" r:id="rId3" imgW="2149475" imgH="5813425" progId="MS_ClipArt_Gallery.2">
                  <p:embed/>
                </p:oleObj>
              </mc:Choice>
              <mc:Fallback>
                <p:oleObj name="Imagen" r:id="rId3" imgW="2149475" imgH="5813425" progId="MS_ClipArt_Gallery.2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12C929F1-0154-944F-879B-FD8A2FCB79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0657" y="4969408"/>
                        <a:ext cx="659611" cy="17857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utoShape 13">
            <a:extLst>
              <a:ext uri="{FF2B5EF4-FFF2-40B4-BE49-F238E27FC236}">
                <a16:creationId xmlns:a16="http://schemas.microsoft.com/office/drawing/2014/main" id="{E648BC75-33BB-FB46-9C12-DAA12141D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848" y="4519354"/>
            <a:ext cx="2841847" cy="126479"/>
          </a:xfrm>
          <a:prstGeom prst="rightArrow">
            <a:avLst>
              <a:gd name="adj1" fmla="val 50000"/>
              <a:gd name="adj2" fmla="val 137500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00090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0" y="1173075"/>
            <a:ext cx="4474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Procedimientos y Funciones:</a:t>
            </a:r>
          </a:p>
        </p:txBody>
      </p:sp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Procediminetos y Funciones</a:t>
            </a:r>
          </a:p>
          <a:p>
            <a:endParaRPr lang="es-AR"/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A71BF203-2483-794E-B5D8-6B389B1E73B8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1948074"/>
            <a:ext cx="8280920" cy="4680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/>
              <a:t>Disponemos de dos herramientas básicas para realizar programación descendente: </a:t>
            </a:r>
          </a:p>
          <a:p>
            <a:pPr lvl="1"/>
            <a:r>
              <a:rPr lang="es-AR"/>
              <a:t>los procedimientos; y</a:t>
            </a:r>
          </a:p>
          <a:p>
            <a:pPr lvl="1"/>
            <a:r>
              <a:rPr lang="es-AR"/>
              <a:t>las funciones (</a:t>
            </a:r>
            <a:r>
              <a:rPr lang="es-AR">
                <a:solidFill>
                  <a:srgbClr val="00B050"/>
                </a:solidFill>
              </a:rPr>
              <a:t>def</a:t>
            </a:r>
            <a:r>
              <a:rPr lang="es-AR"/>
              <a:t>)</a:t>
            </a:r>
          </a:p>
          <a:p>
            <a:pPr marL="0" indent="0">
              <a:buNone/>
            </a:pPr>
            <a:endParaRPr lang="es-AR"/>
          </a:p>
          <a:p>
            <a:pPr marL="0" indent="0">
              <a:buNone/>
            </a:pPr>
            <a:r>
              <a:rPr lang="es-AR"/>
              <a:t>Estos módulos también son referidos genéricamente con el término de subprogramas. </a:t>
            </a:r>
          </a:p>
        </p:txBody>
      </p:sp>
    </p:spTree>
    <p:extLst>
      <p:ext uri="{BB962C8B-B14F-4D97-AF65-F5344CB8AC3E}">
        <p14:creationId xmlns:p14="http://schemas.microsoft.com/office/powerpoint/2010/main" val="3384767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Procediminetos y Funciones</a:t>
            </a:r>
          </a:p>
          <a:p>
            <a:endParaRPr lang="es-AR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ACB58B2-5DF8-DF4F-B1D3-E99E64A9CB0C}"/>
              </a:ext>
            </a:extLst>
          </p:cNvPr>
          <p:cNvSpPr txBox="1">
            <a:spLocks noChangeArrowheads="1"/>
          </p:cNvSpPr>
          <p:nvPr/>
        </p:nvSpPr>
        <p:spPr>
          <a:xfrm>
            <a:off x="538944" y="1282318"/>
            <a:ext cx="8425543" cy="531503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b="1">
                <a:solidFill>
                  <a:srgbClr val="0070C0"/>
                </a:solidFill>
              </a:rPr>
              <a:t>Procedimientos:</a:t>
            </a:r>
          </a:p>
          <a:p>
            <a:r>
              <a:rPr lang="es-AR"/>
              <a:t>Deben realizar una tarea específica. </a:t>
            </a:r>
          </a:p>
          <a:p>
            <a:r>
              <a:rPr lang="es-AR"/>
              <a:t>Pueden recibir cero o más valores del programa que llama y devolver cero o más valores a dicho programa llamador. </a:t>
            </a:r>
          </a:p>
          <a:p>
            <a:r>
              <a:rPr lang="es-AR"/>
              <a:t>Se los invoca como una sentencia.</a:t>
            </a:r>
          </a:p>
          <a:p>
            <a:pPr marL="0" indent="0">
              <a:buNone/>
            </a:pPr>
            <a:endParaRPr lang="es-AR"/>
          </a:p>
          <a:p>
            <a:pPr marL="0" indent="0" algn="ctr">
              <a:buNone/>
            </a:pPr>
            <a:r>
              <a:rPr lang="es-AR"/>
              <a:t>En Python sólo utilizaremos el concepto de función!!</a:t>
            </a:r>
          </a:p>
          <a:p>
            <a:pPr marL="0" indent="0" algn="ctr">
              <a:buNone/>
            </a:pPr>
            <a:r>
              <a:rPr lang="es-AR"/>
              <a:t>(no hay procediminetos)</a:t>
            </a:r>
          </a:p>
          <a:p>
            <a:pPr marL="0" indent="0">
              <a:buNone/>
            </a:pPr>
            <a:endParaRPr lang="es-AR"/>
          </a:p>
          <a:p>
            <a:pPr marL="0" indent="0">
              <a:buNone/>
            </a:pPr>
            <a:r>
              <a:rPr lang="es-AR" sz="3400" b="1">
                <a:solidFill>
                  <a:srgbClr val="0070C0"/>
                </a:solidFill>
              </a:rPr>
              <a:t>Funciones:</a:t>
            </a:r>
          </a:p>
          <a:p>
            <a:pPr>
              <a:lnSpc>
                <a:spcPct val="120000"/>
              </a:lnSpc>
            </a:pPr>
            <a:r>
              <a:rPr lang="es-AR" sz="3400"/>
              <a:t>También realizan una tarea específica</a:t>
            </a:r>
          </a:p>
          <a:p>
            <a:pPr>
              <a:lnSpc>
                <a:spcPct val="120000"/>
              </a:lnSpc>
            </a:pPr>
            <a:r>
              <a:rPr lang="es-AR" sz="3400"/>
              <a:t>Devuelven un valor a la unidad de programa que los referencia.</a:t>
            </a:r>
          </a:p>
          <a:p>
            <a:pPr>
              <a:lnSpc>
                <a:spcPct val="120000"/>
              </a:lnSpc>
            </a:pPr>
            <a:r>
              <a:rPr lang="es-AR" sz="3400"/>
              <a:t>Se los invoca utilizando alguna sentencia que nos permita recibir el valor devuelto.</a:t>
            </a:r>
          </a:p>
        </p:txBody>
      </p:sp>
    </p:spTree>
    <p:extLst>
      <p:ext uri="{BB962C8B-B14F-4D97-AF65-F5344CB8AC3E}">
        <p14:creationId xmlns:p14="http://schemas.microsoft.com/office/powerpoint/2010/main" val="3154392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Funciones</a:t>
            </a:r>
          </a:p>
          <a:p>
            <a:endParaRPr lang="es-AR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ACB58B2-5DF8-DF4F-B1D3-E99E64A9CB0C}"/>
              </a:ext>
            </a:extLst>
          </p:cNvPr>
          <p:cNvSpPr txBox="1">
            <a:spLocks noChangeArrowheads="1"/>
          </p:cNvSpPr>
          <p:nvPr/>
        </p:nvSpPr>
        <p:spPr>
          <a:xfrm>
            <a:off x="538944" y="1282318"/>
            <a:ext cx="8605056" cy="53150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b="1">
                <a:solidFill>
                  <a:srgbClr val="0070C0"/>
                </a:solidFill>
              </a:rPr>
              <a:t>Funciones:</a:t>
            </a:r>
            <a:endParaRPr lang="es-AR" sz="2400" b="1"/>
          </a:p>
          <a:p>
            <a:pPr marL="0" indent="0">
              <a:buNone/>
            </a:pPr>
            <a:r>
              <a:rPr lang="es-AR" sz="2400"/>
              <a:t>Para definir una función usamos la palabra reservada </a:t>
            </a:r>
            <a:r>
              <a:rPr lang="es-AR" sz="2400">
                <a:solidFill>
                  <a:srgbClr val="00B050"/>
                </a:solidFill>
              </a:rPr>
              <a:t>def</a:t>
            </a:r>
            <a:r>
              <a:rPr lang="es-AR" sz="2400"/>
              <a:t>, luego escribimos la </a:t>
            </a:r>
            <a:r>
              <a:rPr lang="es-AR" sz="2400" b="1"/>
              <a:t>signatura</a:t>
            </a:r>
            <a:r>
              <a:rPr lang="es-AR" sz="2400"/>
              <a:t> de la función, esto es:</a:t>
            </a:r>
          </a:p>
          <a:p>
            <a:r>
              <a:rPr lang="es-AR" sz="2400"/>
              <a:t>el </a:t>
            </a:r>
            <a:r>
              <a:rPr lang="es-AR" sz="2400" b="1"/>
              <a:t>nombre</a:t>
            </a:r>
            <a:r>
              <a:rPr lang="es-AR" sz="2400"/>
              <a:t> de dicha función </a:t>
            </a:r>
          </a:p>
          <a:p>
            <a:r>
              <a:rPr lang="es-AR" sz="2400"/>
              <a:t>los </a:t>
            </a:r>
            <a:r>
              <a:rPr lang="es-AR" sz="2400" b="1"/>
              <a:t>parámetros</a:t>
            </a:r>
            <a:r>
              <a:rPr lang="es-AR" sz="2400"/>
              <a:t> que recibe. </a:t>
            </a:r>
          </a:p>
          <a:p>
            <a:endParaRPr lang="es-AR" sz="2400"/>
          </a:p>
          <a:p>
            <a:pPr marL="0" indent="0">
              <a:buNone/>
            </a:pPr>
            <a:r>
              <a:rPr lang="es-AR" sz="2000"/>
              <a:t>Como siempre, debemos termina la línea con ‘</a:t>
            </a:r>
            <a:r>
              <a:rPr lang="es-AR" sz="2000" b="1"/>
              <a:t>: ’</a:t>
            </a:r>
            <a:r>
              <a:rPr lang="es-AR" sz="2000"/>
              <a:t> para indicar que a continuación habra un bloque de código. Obviamente, luego respetar la indentación. </a:t>
            </a:r>
          </a:p>
          <a:p>
            <a:pPr marL="0" indent="0">
              <a:buNone/>
            </a:pPr>
            <a:r>
              <a:rPr lang="es-AR" sz="2400">
                <a:solidFill>
                  <a:srgbClr val="00B050"/>
                </a:solidFill>
              </a:rPr>
              <a:t>def</a:t>
            </a:r>
            <a:r>
              <a:rPr lang="es-AR" sz="2400">
                <a:solidFill>
                  <a:srgbClr val="0070C0"/>
                </a:solidFill>
              </a:rPr>
              <a:t> </a:t>
            </a:r>
            <a:r>
              <a:rPr lang="es-AR" sz="2400"/>
              <a:t>nombreFunción(arg_1 , ... , arg_r) </a:t>
            </a:r>
            <a:r>
              <a:rPr lang="es-AR" sz="2400" b="1"/>
              <a:t>:</a:t>
            </a:r>
          </a:p>
          <a:p>
            <a:pPr marL="0" indent="0">
              <a:buNone/>
            </a:pPr>
            <a:r>
              <a:rPr lang="es-AR" sz="2400">
                <a:solidFill>
                  <a:schemeClr val="tx1">
                    <a:lumMod val="50000"/>
                    <a:lumOff val="50000"/>
                  </a:schemeClr>
                </a:solidFill>
              </a:rPr>
              <a:t>	{código de la función}</a:t>
            </a:r>
          </a:p>
          <a:p>
            <a:pPr marL="0" indent="0">
              <a:buNone/>
            </a:pPr>
            <a:r>
              <a:rPr lang="es-AR" sz="2400">
                <a:solidFill>
                  <a:schemeClr val="tx1">
                    <a:lumMod val="50000"/>
                    <a:lumOff val="50000"/>
                  </a:schemeClr>
                </a:solidFill>
              </a:rPr>
              <a:t>	...</a:t>
            </a:r>
          </a:p>
          <a:p>
            <a:pPr marL="0" indent="0">
              <a:buNone/>
            </a:pPr>
            <a:r>
              <a:rPr lang="es-AR" sz="2400">
                <a:solidFill>
                  <a:schemeClr val="tx1">
                    <a:lumMod val="50000"/>
                    <a:lumOff val="50000"/>
                  </a:schemeClr>
                </a:solidFill>
              </a:rPr>
              <a:t>	{más código de la función}</a:t>
            </a:r>
          </a:p>
          <a:p>
            <a:pPr marL="0" indent="0">
              <a:buNone/>
            </a:pPr>
            <a:br>
              <a:rPr lang="es-AR" sz="2400">
                <a:solidFill>
                  <a:srgbClr val="0070C0"/>
                </a:solidFill>
              </a:rPr>
            </a:br>
            <a:r>
              <a:rPr lang="es-AR" sz="2400"/>
              <a:t>Al igual que cualquier bloque de código indentado, debe contener al menos una linea, en otro caso deberemos escribir </a:t>
            </a:r>
            <a:r>
              <a:rPr lang="es-AR" sz="2400">
                <a:solidFill>
                  <a:srgbClr val="00B050"/>
                </a:solidFill>
              </a:rPr>
              <a:t>pass</a:t>
            </a:r>
            <a:r>
              <a:rPr lang="es-AR" sz="2400"/>
              <a:t> luego de los</a:t>
            </a:r>
            <a:r>
              <a:rPr lang="es-AR" sz="2400" b="1"/>
              <a:t> </a:t>
            </a:r>
            <a:r>
              <a:rPr lang="es-AR" sz="2400"/>
              <a:t>‘</a:t>
            </a:r>
            <a:r>
              <a:rPr lang="es-AR" sz="2400" b="1"/>
              <a:t>: </a:t>
            </a:r>
            <a:r>
              <a:rPr lang="es-AR" sz="2400"/>
              <a:t>’ .</a:t>
            </a:r>
          </a:p>
          <a:p>
            <a:pPr marL="0" indent="0">
              <a:buNone/>
            </a:pPr>
            <a:endParaRPr lang="es-AR" sz="24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147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Funciones</a:t>
            </a:r>
          </a:p>
          <a:p>
            <a:endParaRPr lang="es-AR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ACB58B2-5DF8-DF4F-B1D3-E99E64A9CB0C}"/>
              </a:ext>
            </a:extLst>
          </p:cNvPr>
          <p:cNvSpPr txBox="1">
            <a:spLocks noChangeArrowheads="1"/>
          </p:cNvSpPr>
          <p:nvPr/>
        </p:nvSpPr>
        <p:spPr>
          <a:xfrm>
            <a:off x="538944" y="1282318"/>
            <a:ext cx="8605056" cy="1426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b="1">
                <a:solidFill>
                  <a:srgbClr val="0070C0"/>
                </a:solidFill>
              </a:rPr>
              <a:t>Funciones:</a:t>
            </a:r>
            <a:endParaRPr lang="es-AR" sz="2400" b="1"/>
          </a:p>
          <a:p>
            <a:pPr marL="0" indent="0">
              <a:buNone/>
            </a:pPr>
            <a:r>
              <a:rPr lang="es-AR" sz="2400"/>
              <a:t>Ejemplo:</a:t>
            </a:r>
          </a:p>
          <a:p>
            <a:endParaRPr lang="es-AR" sz="2400"/>
          </a:p>
          <a:p>
            <a:pPr marL="0" indent="0">
              <a:buNone/>
            </a:pPr>
            <a:endParaRPr lang="es-AR" sz="2400" b="1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312923-B3E1-DD4D-B755-774AC14343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44" y="2996952"/>
            <a:ext cx="8142769" cy="226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22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Funciones</a:t>
            </a:r>
          </a:p>
          <a:p>
            <a:endParaRPr lang="es-AR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ACB58B2-5DF8-DF4F-B1D3-E99E64A9CB0C}"/>
              </a:ext>
            </a:extLst>
          </p:cNvPr>
          <p:cNvSpPr txBox="1">
            <a:spLocks noChangeArrowheads="1"/>
          </p:cNvSpPr>
          <p:nvPr/>
        </p:nvSpPr>
        <p:spPr>
          <a:xfrm>
            <a:off x="30342" y="1173075"/>
            <a:ext cx="8605056" cy="6179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err="1">
                <a:solidFill>
                  <a:srgbClr val="0070C0"/>
                </a:solidFill>
              </a:rPr>
              <a:t>Algunas</a:t>
            </a:r>
            <a:r>
              <a:rPr lang="en-US" sz="2600" b="1">
                <a:solidFill>
                  <a:srgbClr val="0070C0"/>
                </a:solidFill>
              </a:rPr>
              <a:t> </a:t>
            </a:r>
            <a:r>
              <a:rPr lang="en-US" sz="2600" b="1" err="1">
                <a:solidFill>
                  <a:srgbClr val="0070C0"/>
                </a:solidFill>
              </a:rPr>
              <a:t>reglas</a:t>
            </a:r>
            <a:r>
              <a:rPr lang="en-US" sz="2600" b="1">
                <a:solidFill>
                  <a:srgbClr val="0070C0"/>
                </a:solidFill>
              </a:rPr>
              <a:t> </a:t>
            </a:r>
            <a:r>
              <a:rPr lang="en-US" sz="2600" b="1" err="1">
                <a:solidFill>
                  <a:srgbClr val="0070C0"/>
                </a:solidFill>
              </a:rPr>
              <a:t>basicas</a:t>
            </a:r>
            <a:r>
              <a:rPr lang="en-US" sz="2600" b="1">
                <a:solidFill>
                  <a:srgbClr val="0070C0"/>
                </a:solidFill>
              </a:rPr>
              <a:t> para </a:t>
            </a:r>
            <a:r>
              <a:rPr lang="en-US" sz="2600" b="1" err="1">
                <a:solidFill>
                  <a:srgbClr val="0070C0"/>
                </a:solidFill>
              </a:rPr>
              <a:t>definir</a:t>
            </a:r>
            <a:r>
              <a:rPr lang="en-US" sz="2600" b="1">
                <a:solidFill>
                  <a:srgbClr val="0070C0"/>
                </a:solidFill>
              </a:rPr>
              <a:t> </a:t>
            </a:r>
            <a:r>
              <a:rPr lang="en-US" sz="2600" b="1" err="1">
                <a:solidFill>
                  <a:srgbClr val="0070C0"/>
                </a:solidFill>
              </a:rPr>
              <a:t>funciones</a:t>
            </a:r>
            <a:r>
              <a:rPr lang="en-US" sz="2600" b="1">
                <a:solidFill>
                  <a:srgbClr val="0070C0"/>
                </a:solidFill>
              </a:rPr>
              <a:t> :</a:t>
            </a:r>
            <a:endParaRPr lang="es-AR" sz="2600" b="1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600"/>
          </a:p>
          <a:p>
            <a:r>
              <a:rPr lang="en-US" sz="2600"/>
              <a:t>El </a:t>
            </a:r>
            <a:r>
              <a:rPr lang="en-US" sz="2600" b="1" err="1"/>
              <a:t>nombre</a:t>
            </a:r>
            <a:r>
              <a:rPr lang="en-US" sz="2600" b="1"/>
              <a:t> </a:t>
            </a:r>
            <a:r>
              <a:rPr lang="en-US" sz="2600"/>
              <a:t>de la </a:t>
            </a:r>
            <a:r>
              <a:rPr lang="en-US" sz="2600" err="1"/>
              <a:t>función</a:t>
            </a:r>
            <a:r>
              <a:rPr lang="en-US" sz="2600"/>
              <a:t> </a:t>
            </a:r>
            <a:r>
              <a:rPr lang="en-US" sz="2600" err="1"/>
              <a:t>debe</a:t>
            </a:r>
            <a:r>
              <a:rPr lang="en-US" sz="2600"/>
              <a:t> </a:t>
            </a:r>
            <a:r>
              <a:rPr lang="en-US" sz="2600" err="1"/>
              <a:t>ser</a:t>
            </a:r>
            <a:r>
              <a:rPr lang="en-US" sz="2600"/>
              <a:t> </a:t>
            </a:r>
            <a:r>
              <a:rPr lang="en-US" sz="2600" err="1"/>
              <a:t>representativo</a:t>
            </a:r>
            <a:r>
              <a:rPr lang="en-US" sz="2600"/>
              <a:t> (al </a:t>
            </a:r>
            <a:r>
              <a:rPr lang="en-US" sz="2600" err="1"/>
              <a:t>igual</a:t>
            </a:r>
            <a:r>
              <a:rPr lang="en-US" sz="2600"/>
              <a:t> que con </a:t>
            </a:r>
            <a:r>
              <a:rPr lang="en-US" sz="2600" err="1"/>
              <a:t>los</a:t>
            </a:r>
            <a:r>
              <a:rPr lang="en-US" sz="2600"/>
              <a:t> </a:t>
            </a:r>
            <a:r>
              <a:rPr lang="en-US" sz="2600" err="1"/>
              <a:t>nombres</a:t>
            </a:r>
            <a:r>
              <a:rPr lang="en-US" sz="2600"/>
              <a:t> de variable).</a:t>
            </a:r>
          </a:p>
          <a:p>
            <a:r>
              <a:rPr lang="en-US" sz="2600" err="1"/>
              <a:t>Puede</a:t>
            </a:r>
            <a:r>
              <a:rPr lang="en-US" sz="2600"/>
              <a:t> </a:t>
            </a:r>
            <a:r>
              <a:rPr lang="en-US" sz="2600" err="1"/>
              <a:t>aceptar</a:t>
            </a:r>
            <a:r>
              <a:rPr lang="en-US" sz="2600"/>
              <a:t> </a:t>
            </a:r>
            <a:r>
              <a:rPr lang="en-US" sz="2600" err="1"/>
              <a:t>tantos</a:t>
            </a:r>
            <a:r>
              <a:rPr lang="en-US" sz="2600"/>
              <a:t> </a:t>
            </a:r>
            <a:r>
              <a:rPr lang="en-US" sz="2600" err="1"/>
              <a:t>argumentos</a:t>
            </a:r>
            <a:r>
              <a:rPr lang="en-US" sz="2600"/>
              <a:t> </a:t>
            </a:r>
            <a:r>
              <a:rPr lang="en-US" sz="2600" err="1"/>
              <a:t>como</a:t>
            </a:r>
            <a:r>
              <a:rPr lang="en-US" sz="2600"/>
              <a:t> sea </a:t>
            </a:r>
            <a:r>
              <a:rPr lang="en-US" sz="2600" err="1"/>
              <a:t>necesario</a:t>
            </a:r>
            <a:r>
              <a:rPr lang="en-US" sz="2600"/>
              <a:t>, </a:t>
            </a:r>
            <a:r>
              <a:rPr lang="en-US" sz="2600" err="1"/>
              <a:t>incluso</a:t>
            </a:r>
            <a:r>
              <a:rPr lang="en-US" sz="2600"/>
              <a:t> </a:t>
            </a:r>
            <a:r>
              <a:rPr lang="en-US" sz="2600" err="1"/>
              <a:t>ninguno</a:t>
            </a:r>
            <a:r>
              <a:rPr lang="en-US" sz="2600"/>
              <a:t>.</a:t>
            </a:r>
          </a:p>
          <a:p>
            <a:r>
              <a:rPr lang="en-US" sz="2600" err="1"/>
              <a:t>Siempre</a:t>
            </a:r>
            <a:r>
              <a:rPr lang="en-US" sz="2600"/>
              <a:t> que </a:t>
            </a:r>
            <a:r>
              <a:rPr lang="en-US" sz="2600" err="1"/>
              <a:t>llamamos</a:t>
            </a:r>
            <a:r>
              <a:rPr lang="en-US" sz="2600"/>
              <a:t> </a:t>
            </a:r>
            <a:r>
              <a:rPr lang="en-US" sz="2600" err="1"/>
              <a:t>una</a:t>
            </a:r>
            <a:r>
              <a:rPr lang="en-US" sz="2600"/>
              <a:t> </a:t>
            </a:r>
            <a:r>
              <a:rPr lang="en-US" sz="2600" err="1"/>
              <a:t>función</a:t>
            </a:r>
            <a:r>
              <a:rPr lang="en-US" sz="2600"/>
              <a:t> </a:t>
            </a:r>
            <a:r>
              <a:rPr lang="en-US" sz="2600" err="1"/>
              <a:t>debemos</a:t>
            </a:r>
            <a:r>
              <a:rPr lang="en-US" sz="2600"/>
              <a:t> </a:t>
            </a:r>
            <a:r>
              <a:rPr lang="en-US" sz="2600" err="1"/>
              <a:t>añadir</a:t>
            </a:r>
            <a:r>
              <a:rPr lang="en-US" sz="2600"/>
              <a:t> </a:t>
            </a:r>
            <a:r>
              <a:rPr lang="en-US" sz="2600" err="1"/>
              <a:t>los</a:t>
            </a:r>
            <a:r>
              <a:rPr lang="en-US" sz="2600"/>
              <a:t> </a:t>
            </a:r>
            <a:r>
              <a:rPr lang="en-US" sz="2600" i="1" err="1"/>
              <a:t>parentesis</a:t>
            </a:r>
            <a:r>
              <a:rPr lang="en-US" sz="2600"/>
              <a:t> </a:t>
            </a:r>
            <a:r>
              <a:rPr lang="en-US" sz="2600" b="1"/>
              <a:t>()</a:t>
            </a:r>
            <a:r>
              <a:rPr lang="en-US" sz="2600"/>
              <a:t>, </a:t>
            </a:r>
            <a:r>
              <a:rPr lang="en-US" sz="2600" err="1"/>
              <a:t>aunque</a:t>
            </a:r>
            <a:r>
              <a:rPr lang="en-US" sz="2600"/>
              <a:t> la </a:t>
            </a:r>
            <a:r>
              <a:rPr lang="en-US" sz="2600" err="1"/>
              <a:t>función</a:t>
            </a:r>
            <a:r>
              <a:rPr lang="en-US" sz="2600"/>
              <a:t> no </a:t>
            </a:r>
            <a:r>
              <a:rPr lang="en-US" sz="2600" err="1"/>
              <a:t>reciva</a:t>
            </a:r>
            <a:r>
              <a:rPr lang="en-US" sz="2600"/>
              <a:t> </a:t>
            </a:r>
            <a:r>
              <a:rPr lang="en-US" sz="2600" err="1"/>
              <a:t>parámetros</a:t>
            </a:r>
            <a:r>
              <a:rPr lang="en-US" sz="2600"/>
              <a:t>.</a:t>
            </a:r>
          </a:p>
          <a:p>
            <a:r>
              <a:rPr lang="en-US" sz="2600"/>
              <a:t>Si no </a:t>
            </a:r>
            <a:r>
              <a:rPr lang="en-US" sz="2600" err="1"/>
              <a:t>proveemos</a:t>
            </a:r>
            <a:r>
              <a:rPr lang="en-US" sz="2600"/>
              <a:t> la </a:t>
            </a:r>
            <a:r>
              <a:rPr lang="en-US" sz="2600" err="1"/>
              <a:t>cantidad</a:t>
            </a:r>
            <a:r>
              <a:rPr lang="en-US" sz="2600"/>
              <a:t> </a:t>
            </a:r>
            <a:r>
              <a:rPr lang="en-US" sz="2600" err="1"/>
              <a:t>correcta</a:t>
            </a:r>
            <a:r>
              <a:rPr lang="en-US" sz="2600"/>
              <a:t> de </a:t>
            </a:r>
            <a:r>
              <a:rPr lang="en-US" sz="2600" err="1"/>
              <a:t>argumentos</a:t>
            </a:r>
            <a:r>
              <a:rPr lang="en-US" sz="2600"/>
              <a:t>, la </a:t>
            </a:r>
            <a:r>
              <a:rPr lang="en-US" sz="2600" err="1"/>
              <a:t>función</a:t>
            </a:r>
            <a:r>
              <a:rPr lang="en-US" sz="2600"/>
              <a:t> </a:t>
            </a:r>
            <a:r>
              <a:rPr lang="en-US" sz="2600" err="1"/>
              <a:t>retornara</a:t>
            </a:r>
            <a:r>
              <a:rPr lang="en-US" sz="2600"/>
              <a:t> un </a:t>
            </a:r>
            <a:r>
              <a:rPr lang="en-US" sz="2600" b="1"/>
              <a:t>error</a:t>
            </a:r>
            <a:r>
              <a:rPr lang="en-US" sz="2600"/>
              <a:t> del </a:t>
            </a:r>
            <a:r>
              <a:rPr lang="en-US" sz="2600" err="1"/>
              <a:t>tipo</a:t>
            </a:r>
            <a:r>
              <a:rPr lang="en-US" sz="2600"/>
              <a:t> </a:t>
            </a:r>
            <a:r>
              <a:rPr lang="en-US" sz="2600" b="1"/>
              <a:t>**</a:t>
            </a:r>
            <a:r>
              <a:rPr lang="en-US" sz="2600" b="1" err="1"/>
              <a:t>TypeError</a:t>
            </a:r>
            <a:r>
              <a:rPr lang="en-US" sz="2600" b="1"/>
              <a:t>**</a:t>
            </a:r>
            <a:r>
              <a:rPr lang="en-US" sz="2600"/>
              <a:t>. </a:t>
            </a:r>
          </a:p>
          <a:p>
            <a:pPr marL="0" indent="0">
              <a:buNone/>
            </a:pPr>
            <a:endParaRPr lang="es-AR" sz="24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189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Funciones</a:t>
            </a:r>
          </a:p>
          <a:p>
            <a:endParaRPr lang="es-AR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ACB58B2-5DF8-DF4F-B1D3-E99E64A9CB0C}"/>
              </a:ext>
            </a:extLst>
          </p:cNvPr>
          <p:cNvSpPr txBox="1">
            <a:spLocks noChangeArrowheads="1"/>
          </p:cNvSpPr>
          <p:nvPr/>
        </p:nvSpPr>
        <p:spPr>
          <a:xfrm>
            <a:off x="30342" y="1173075"/>
            <a:ext cx="8605056" cy="6179130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200" b="1" err="1">
                <a:solidFill>
                  <a:srgbClr val="0070C0"/>
                </a:solidFill>
              </a:rPr>
              <a:t>Algunas</a:t>
            </a:r>
            <a:r>
              <a:rPr lang="en-US" sz="6200" b="1">
                <a:solidFill>
                  <a:srgbClr val="0070C0"/>
                </a:solidFill>
              </a:rPr>
              <a:t> </a:t>
            </a:r>
            <a:r>
              <a:rPr lang="en-US" sz="6200" b="1" err="1">
                <a:solidFill>
                  <a:srgbClr val="0070C0"/>
                </a:solidFill>
              </a:rPr>
              <a:t>reglas</a:t>
            </a:r>
            <a:r>
              <a:rPr lang="en-US" sz="6200" b="1">
                <a:solidFill>
                  <a:srgbClr val="0070C0"/>
                </a:solidFill>
              </a:rPr>
              <a:t> </a:t>
            </a:r>
            <a:r>
              <a:rPr lang="en-US" sz="6200" b="1" err="1">
                <a:solidFill>
                  <a:srgbClr val="0070C0"/>
                </a:solidFill>
              </a:rPr>
              <a:t>basicas</a:t>
            </a:r>
            <a:r>
              <a:rPr lang="en-US" sz="6200" b="1">
                <a:solidFill>
                  <a:srgbClr val="0070C0"/>
                </a:solidFill>
              </a:rPr>
              <a:t> para </a:t>
            </a:r>
            <a:r>
              <a:rPr lang="en-US" sz="6200" b="1" err="1">
                <a:solidFill>
                  <a:srgbClr val="0070C0"/>
                </a:solidFill>
              </a:rPr>
              <a:t>definir</a:t>
            </a:r>
            <a:r>
              <a:rPr lang="en-US" sz="6200" b="1">
                <a:solidFill>
                  <a:srgbClr val="0070C0"/>
                </a:solidFill>
              </a:rPr>
              <a:t> </a:t>
            </a:r>
            <a:r>
              <a:rPr lang="en-US" sz="6200" b="1" err="1">
                <a:solidFill>
                  <a:srgbClr val="0070C0"/>
                </a:solidFill>
              </a:rPr>
              <a:t>funciones</a:t>
            </a:r>
            <a:r>
              <a:rPr lang="en-US" sz="6200" b="1">
                <a:solidFill>
                  <a:srgbClr val="0070C0"/>
                </a:solidFill>
              </a:rPr>
              <a:t> :</a:t>
            </a:r>
            <a:endParaRPr lang="en-US"/>
          </a:p>
          <a:p>
            <a:pPr>
              <a:lnSpc>
                <a:spcPct val="120000"/>
              </a:lnSpc>
            </a:pPr>
            <a:r>
              <a:rPr lang="en-US" sz="5000"/>
              <a:t>Los </a:t>
            </a:r>
            <a:r>
              <a:rPr lang="en-US" sz="5000" err="1"/>
              <a:t>argumentos</a:t>
            </a:r>
            <a:r>
              <a:rPr lang="en-US" sz="5000"/>
              <a:t> no </a:t>
            </a:r>
            <a:r>
              <a:rPr lang="en-US" sz="5000" err="1"/>
              <a:t>tienen</a:t>
            </a:r>
            <a:r>
              <a:rPr lang="en-US" sz="5000"/>
              <a:t> un </a:t>
            </a:r>
            <a:r>
              <a:rPr lang="en-US" sz="5000" err="1"/>
              <a:t>tipo</a:t>
            </a:r>
            <a:r>
              <a:rPr lang="en-US" sz="5000"/>
              <a:t> </a:t>
            </a:r>
            <a:r>
              <a:rPr lang="en-US" sz="5000" err="1"/>
              <a:t>definido</a:t>
            </a:r>
            <a:r>
              <a:rPr lang="en-US" sz="5000"/>
              <a:t>. Para </a:t>
            </a:r>
            <a:r>
              <a:rPr lang="en-US" sz="5000" err="1"/>
              <a:t>controlar</a:t>
            </a:r>
            <a:r>
              <a:rPr lang="en-US" sz="5000"/>
              <a:t> que </a:t>
            </a:r>
            <a:r>
              <a:rPr lang="en-US" sz="5000" err="1"/>
              <a:t>los</a:t>
            </a:r>
            <a:r>
              <a:rPr lang="en-US" sz="5000"/>
              <a:t> </a:t>
            </a:r>
            <a:r>
              <a:rPr lang="en-US" sz="5000" err="1"/>
              <a:t>argumentos</a:t>
            </a:r>
            <a:r>
              <a:rPr lang="en-US" sz="5000"/>
              <a:t> </a:t>
            </a:r>
            <a:r>
              <a:rPr lang="en-US" sz="5000" err="1"/>
              <a:t>sean</a:t>
            </a:r>
            <a:r>
              <a:rPr lang="en-US" sz="5000"/>
              <a:t> del </a:t>
            </a:r>
            <a:r>
              <a:rPr lang="en-US" sz="5000" err="1"/>
              <a:t>tipo</a:t>
            </a:r>
            <a:r>
              <a:rPr lang="en-US" sz="5000"/>
              <a:t> </a:t>
            </a:r>
            <a:r>
              <a:rPr lang="en-US" sz="5000" err="1"/>
              <a:t>esperado</a:t>
            </a:r>
            <a:r>
              <a:rPr lang="en-US" sz="5000"/>
              <a:t> </a:t>
            </a:r>
            <a:r>
              <a:rPr lang="en-US" sz="5000" err="1"/>
              <a:t>deberemos</a:t>
            </a:r>
            <a:r>
              <a:rPr lang="en-US" sz="5000"/>
              <a:t>, </a:t>
            </a:r>
            <a:r>
              <a:rPr lang="en-US" sz="5000" err="1"/>
              <a:t>tendremos</a:t>
            </a:r>
            <a:r>
              <a:rPr lang="en-US" sz="5000"/>
              <a:t> que </a:t>
            </a:r>
            <a:r>
              <a:rPr lang="en-US" sz="5000" err="1"/>
              <a:t>validar</a:t>
            </a:r>
            <a:r>
              <a:rPr lang="en-US" sz="5000"/>
              <a:t> </a:t>
            </a:r>
            <a:r>
              <a:rPr lang="en-US" sz="5000" err="1"/>
              <a:t>su</a:t>
            </a:r>
            <a:r>
              <a:rPr lang="en-US" sz="5000"/>
              <a:t> </a:t>
            </a:r>
            <a:r>
              <a:rPr lang="en-US" sz="5000" err="1"/>
              <a:t>tipo</a:t>
            </a:r>
            <a:r>
              <a:rPr lang="en-US" sz="5000"/>
              <a:t> y </a:t>
            </a:r>
            <a:r>
              <a:rPr lang="en-US" sz="5000" err="1"/>
              <a:t>en</a:t>
            </a:r>
            <a:r>
              <a:rPr lang="en-US" sz="5000"/>
              <a:t> </a:t>
            </a:r>
            <a:r>
              <a:rPr lang="en-US" sz="5000" err="1"/>
              <a:t>caso</a:t>
            </a:r>
            <a:r>
              <a:rPr lang="en-US" sz="5000"/>
              <a:t> de error, </a:t>
            </a:r>
            <a:r>
              <a:rPr lang="en-US" sz="5000" err="1"/>
              <a:t>utilizar</a:t>
            </a:r>
            <a:r>
              <a:rPr lang="en-US" sz="5000"/>
              <a:t> el </a:t>
            </a:r>
            <a:r>
              <a:rPr lang="en-US" sz="5000" err="1"/>
              <a:t>comando</a:t>
            </a:r>
            <a:r>
              <a:rPr lang="en-US" sz="5000"/>
              <a:t> </a:t>
            </a:r>
            <a:r>
              <a:rPr lang="en-US" sz="5000">
                <a:solidFill>
                  <a:srgbClr val="00B050"/>
                </a:solidFill>
              </a:rPr>
              <a:t>assert </a:t>
            </a:r>
            <a:r>
              <a:rPr lang="en-US" sz="5000" err="1"/>
              <a:t>informar</a:t>
            </a:r>
            <a:r>
              <a:rPr lang="en-US" sz="5000"/>
              <a:t> que se ha </a:t>
            </a:r>
            <a:r>
              <a:rPr lang="en-US" sz="5000" err="1"/>
              <a:t>producido</a:t>
            </a:r>
            <a:r>
              <a:rPr lang="en-US" sz="5000"/>
              <a:t> un </a:t>
            </a:r>
            <a:r>
              <a:rPr lang="en-US" sz="5000" b="1"/>
              <a:t>nuevo</a:t>
            </a:r>
            <a:r>
              <a:rPr lang="en-US" sz="5000"/>
              <a:t> error del </a:t>
            </a:r>
            <a:r>
              <a:rPr lang="en-US" sz="5000" err="1"/>
              <a:t>tipo</a:t>
            </a:r>
            <a:r>
              <a:rPr lang="en-US" sz="5000"/>
              <a:t> de error </a:t>
            </a:r>
            <a:r>
              <a:rPr lang="en-US" sz="5000" b="1" err="1"/>
              <a:t>TypeError</a:t>
            </a:r>
            <a:r>
              <a:rPr lang="en-US" sz="5000"/>
              <a:t>. </a:t>
            </a:r>
          </a:p>
          <a:p>
            <a:pPr>
              <a:lnSpc>
                <a:spcPct val="120000"/>
              </a:lnSpc>
            </a:pPr>
            <a:r>
              <a:rPr lang="en-US" sz="5000" err="1"/>
              <a:t>También</a:t>
            </a:r>
            <a:r>
              <a:rPr lang="en-US" sz="5000"/>
              <a:t> </a:t>
            </a:r>
            <a:r>
              <a:rPr lang="en-US" sz="5000" err="1"/>
              <a:t>podemos</a:t>
            </a:r>
            <a:r>
              <a:rPr lang="en-US" sz="5000"/>
              <a:t> </a:t>
            </a:r>
            <a:r>
              <a:rPr lang="en-US" sz="5000" err="1"/>
              <a:t>utilizar</a:t>
            </a:r>
            <a:r>
              <a:rPr lang="en-US" sz="5000"/>
              <a:t> el </a:t>
            </a:r>
            <a:r>
              <a:rPr lang="en-US" sz="5000" err="1"/>
              <a:t>comando</a:t>
            </a:r>
            <a:r>
              <a:rPr lang="en-US" sz="5000"/>
              <a:t> </a:t>
            </a:r>
            <a:r>
              <a:rPr lang="en-US" sz="5000">
                <a:solidFill>
                  <a:srgbClr val="00B050"/>
                </a:solidFill>
              </a:rPr>
              <a:t>raise</a:t>
            </a:r>
            <a:r>
              <a:rPr lang="en-US" sz="5000"/>
              <a:t>, el </a:t>
            </a:r>
            <a:r>
              <a:rPr lang="en-US" sz="5000" err="1"/>
              <a:t>cual</a:t>
            </a:r>
            <a:r>
              <a:rPr lang="en-US" sz="5000"/>
              <a:t> </a:t>
            </a:r>
            <a:r>
              <a:rPr lang="en-US" sz="5000" err="1"/>
              <a:t>nos</a:t>
            </a:r>
            <a:r>
              <a:rPr lang="en-US" sz="5000"/>
              <a:t> </a:t>
            </a:r>
            <a:r>
              <a:rPr lang="en-US" sz="5000" err="1"/>
              <a:t>permite</a:t>
            </a:r>
            <a:r>
              <a:rPr lang="en-US" sz="5000"/>
              <a:t> </a:t>
            </a:r>
            <a:r>
              <a:rPr lang="en-US" sz="5000" err="1"/>
              <a:t>lanzar</a:t>
            </a:r>
            <a:r>
              <a:rPr lang="en-US" sz="5000"/>
              <a:t> (o </a:t>
            </a:r>
            <a:r>
              <a:rPr lang="en-US" sz="5000" err="1"/>
              <a:t>invocar</a:t>
            </a:r>
            <a:r>
              <a:rPr lang="en-US" sz="5000"/>
              <a:t>) un </a:t>
            </a:r>
            <a:r>
              <a:rPr lang="en-US" sz="5000" b="1"/>
              <a:t>error</a:t>
            </a:r>
            <a:r>
              <a:rPr lang="en-US" sz="5000"/>
              <a:t> (</a:t>
            </a:r>
            <a:r>
              <a:rPr lang="en-US" sz="5000" err="1"/>
              <a:t>formamente</a:t>
            </a:r>
            <a:r>
              <a:rPr lang="en-US" sz="5000"/>
              <a:t> </a:t>
            </a:r>
            <a:r>
              <a:rPr lang="en-US" sz="5000" err="1"/>
              <a:t>exepciones</a:t>
            </a:r>
            <a:r>
              <a:rPr lang="en-US" sz="5000"/>
              <a:t>) </a:t>
            </a:r>
            <a:r>
              <a:rPr lang="en-US" sz="5000" err="1"/>
              <a:t>informar</a:t>
            </a:r>
            <a:r>
              <a:rPr lang="en-US" sz="5000"/>
              <a:t> que se ha </a:t>
            </a:r>
            <a:r>
              <a:rPr lang="en-US" sz="5000" err="1"/>
              <a:t>producido</a:t>
            </a:r>
            <a:r>
              <a:rPr lang="en-US" sz="5000"/>
              <a:t> un error, y el “</a:t>
            </a:r>
            <a:r>
              <a:rPr lang="en-US" sz="5000" b="1" err="1"/>
              <a:t>tipo</a:t>
            </a:r>
            <a:r>
              <a:rPr lang="en-US" sz="5000" b="1"/>
              <a:t> de error”</a:t>
            </a:r>
            <a:r>
              <a:rPr lang="en-US" sz="5000"/>
              <a:t>. </a:t>
            </a:r>
          </a:p>
          <a:p>
            <a:pPr>
              <a:lnSpc>
                <a:spcPct val="120000"/>
              </a:lnSpc>
            </a:pPr>
            <a:r>
              <a:rPr lang="en-US" sz="5000"/>
              <a:t>Para que la </a:t>
            </a:r>
            <a:r>
              <a:rPr lang="en-US" sz="5000" err="1"/>
              <a:t>función</a:t>
            </a:r>
            <a:r>
              <a:rPr lang="en-US" sz="5000"/>
              <a:t> </a:t>
            </a:r>
            <a:r>
              <a:rPr lang="en-US" sz="5000" err="1"/>
              <a:t>retorne</a:t>
            </a:r>
            <a:r>
              <a:rPr lang="en-US" sz="5000"/>
              <a:t> un valor </a:t>
            </a:r>
            <a:r>
              <a:rPr lang="en-US" sz="5000" b="1"/>
              <a:t>v</a:t>
            </a:r>
            <a:r>
              <a:rPr lang="en-US" sz="5000"/>
              <a:t> </a:t>
            </a:r>
            <a:r>
              <a:rPr lang="en-US" sz="5000" err="1"/>
              <a:t>usaremos</a:t>
            </a:r>
            <a:r>
              <a:rPr lang="en-US" sz="5000"/>
              <a:t>, </a:t>
            </a:r>
            <a:r>
              <a:rPr lang="en-US" sz="5000" err="1"/>
              <a:t>usaremos</a:t>
            </a:r>
            <a:r>
              <a:rPr lang="en-US" sz="5000"/>
              <a:t> el </a:t>
            </a:r>
            <a:r>
              <a:rPr lang="en-US" sz="5000" err="1"/>
              <a:t>comando</a:t>
            </a:r>
            <a:r>
              <a:rPr lang="en-US" sz="5000"/>
              <a:t> </a:t>
            </a:r>
            <a:r>
              <a:rPr lang="en-US" sz="5000">
                <a:solidFill>
                  <a:srgbClr val="00B050"/>
                </a:solidFill>
              </a:rPr>
              <a:t>return</a:t>
            </a:r>
            <a:r>
              <a:rPr lang="en-US" sz="5000"/>
              <a:t> </a:t>
            </a:r>
            <a:r>
              <a:rPr lang="en-US" sz="5000" b="1"/>
              <a:t>v</a:t>
            </a:r>
            <a:r>
              <a:rPr lang="en-US" sz="5000"/>
              <a:t>. </a:t>
            </a:r>
          </a:p>
          <a:p>
            <a:pPr>
              <a:lnSpc>
                <a:spcPct val="120000"/>
              </a:lnSpc>
            </a:pPr>
            <a:r>
              <a:rPr lang="en-US" sz="5000" err="1"/>
              <a:t>Luego</a:t>
            </a:r>
            <a:r>
              <a:rPr lang="en-US" sz="5000"/>
              <a:t> del </a:t>
            </a:r>
            <a:r>
              <a:rPr lang="en-US" sz="5000" err="1"/>
              <a:t>comando</a:t>
            </a:r>
            <a:r>
              <a:rPr lang="en-US" sz="5000"/>
              <a:t> </a:t>
            </a:r>
            <a:r>
              <a:rPr lang="en-US" sz="5000">
                <a:solidFill>
                  <a:srgbClr val="00B050"/>
                </a:solidFill>
              </a:rPr>
              <a:t>return</a:t>
            </a:r>
            <a:r>
              <a:rPr lang="en-US" sz="5000"/>
              <a:t> </a:t>
            </a:r>
            <a:r>
              <a:rPr lang="en-US" sz="5000" err="1"/>
              <a:t>es</a:t>
            </a:r>
            <a:r>
              <a:rPr lang="en-US" sz="5000"/>
              <a:t> </a:t>
            </a:r>
            <a:r>
              <a:rPr lang="en-US" sz="5000" err="1"/>
              <a:t>ejecutado</a:t>
            </a:r>
            <a:r>
              <a:rPr lang="en-US" sz="5000"/>
              <a:t>, la </a:t>
            </a:r>
            <a:r>
              <a:rPr lang="en-US" sz="5000" err="1"/>
              <a:t>función</a:t>
            </a:r>
            <a:r>
              <a:rPr lang="en-US" sz="5000"/>
              <a:t> </a:t>
            </a:r>
            <a:r>
              <a:rPr lang="en-US" sz="5000" b="1" err="1"/>
              <a:t>termina</a:t>
            </a:r>
            <a:r>
              <a:rPr lang="en-US" sz="5000"/>
              <a:t>. </a:t>
            </a:r>
          </a:p>
          <a:p>
            <a:pPr>
              <a:lnSpc>
                <a:spcPct val="120000"/>
              </a:lnSpc>
            </a:pPr>
            <a:r>
              <a:rPr lang="en-US" sz="5000"/>
              <a:t>Si no </a:t>
            </a:r>
            <a:r>
              <a:rPr lang="en-US" sz="5000" err="1"/>
              <a:t>usamos</a:t>
            </a:r>
            <a:r>
              <a:rPr lang="en-US" sz="5000"/>
              <a:t> el </a:t>
            </a:r>
            <a:r>
              <a:rPr lang="en-US" sz="5000" err="1"/>
              <a:t>comando</a:t>
            </a:r>
            <a:r>
              <a:rPr lang="en-US" sz="5000"/>
              <a:t> </a:t>
            </a:r>
            <a:r>
              <a:rPr lang="en-US" sz="5000">
                <a:solidFill>
                  <a:srgbClr val="00B050"/>
                </a:solidFill>
              </a:rPr>
              <a:t>return</a:t>
            </a:r>
            <a:r>
              <a:rPr lang="en-US" sz="5000"/>
              <a:t> </a:t>
            </a:r>
            <a:r>
              <a:rPr lang="en-US" sz="5000" err="1"/>
              <a:t>en</a:t>
            </a:r>
            <a:r>
              <a:rPr lang="en-US" sz="5000"/>
              <a:t> el </a:t>
            </a:r>
            <a:r>
              <a:rPr lang="en-US" sz="5000" err="1"/>
              <a:t>cuerpo</a:t>
            </a:r>
            <a:r>
              <a:rPr lang="en-US" sz="5000"/>
              <a:t> de la </a:t>
            </a:r>
            <a:r>
              <a:rPr lang="en-US" sz="5000" err="1"/>
              <a:t>función</a:t>
            </a:r>
            <a:r>
              <a:rPr lang="en-US" sz="5000"/>
              <a:t>, </a:t>
            </a:r>
            <a:r>
              <a:rPr lang="en-US" sz="5000" err="1"/>
              <a:t>entonces</a:t>
            </a:r>
            <a:r>
              <a:rPr lang="en-US" sz="5000"/>
              <a:t> el valor de la </a:t>
            </a:r>
            <a:r>
              <a:rPr lang="en-US" sz="5000" err="1"/>
              <a:t>función</a:t>
            </a:r>
            <a:r>
              <a:rPr lang="en-US" sz="5000"/>
              <a:t> </a:t>
            </a:r>
            <a:r>
              <a:rPr lang="en-US" sz="5000" err="1"/>
              <a:t>será</a:t>
            </a:r>
            <a:r>
              <a:rPr lang="en-US" sz="5000"/>
              <a:t> del </a:t>
            </a:r>
            <a:r>
              <a:rPr lang="en-US" sz="5000" err="1"/>
              <a:t>tipo</a:t>
            </a:r>
            <a:r>
              <a:rPr lang="en-US" sz="5000"/>
              <a:t> </a:t>
            </a:r>
            <a:r>
              <a:rPr lang="en-US" sz="5000" b="1"/>
              <a:t>**</a:t>
            </a:r>
            <a:r>
              <a:rPr lang="en-US" sz="5000" b="1" err="1"/>
              <a:t>NoneType</a:t>
            </a:r>
            <a:r>
              <a:rPr lang="en-US" sz="5000" b="1"/>
              <a:t>**</a:t>
            </a:r>
            <a:r>
              <a:rPr lang="en-US" sz="5000"/>
              <a:t>. </a:t>
            </a:r>
          </a:p>
          <a:p>
            <a:pPr marL="0" indent="0">
              <a:buNone/>
            </a:pPr>
            <a:endParaRPr lang="es-AR" sz="24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791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Parametros</a:t>
            </a:r>
          </a:p>
          <a:p>
            <a:endParaRPr lang="es-A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074D2-3B0C-A549-92E9-EE779A910A6A}"/>
              </a:ext>
            </a:extLst>
          </p:cNvPr>
          <p:cNvSpPr txBox="1"/>
          <p:nvPr/>
        </p:nvSpPr>
        <p:spPr>
          <a:xfrm>
            <a:off x="244619" y="1353498"/>
            <a:ext cx="8431837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rgbClr val="0070C0"/>
                </a:solidFill>
              </a:rPr>
              <a:t>Parámetros por referencia:</a:t>
            </a:r>
          </a:p>
          <a:p>
            <a:endParaRPr lang="es-AR" sz="2400" b="1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000"/>
              <a:t>Cuando se pasa una variable a una función como parámetro  por </a:t>
            </a:r>
            <a:r>
              <a:rPr lang="es-AR" sz="2000" b="1"/>
              <a:t>referencia</a:t>
            </a:r>
            <a:r>
              <a:rPr lang="es-AR" sz="2000"/>
              <a:t>, los cambios que se efectúan sobre dicha variable dentro de la finción se mantienen, incluso después de que haya finalizado la función.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000"/>
              <a:t>Los cambios producidos  en parámetros por referencia son permanentes, ya que no se pasa a la función el valor de hay dentro de la variable,  sino la dirección de memoria de la variable. </a:t>
            </a:r>
          </a:p>
          <a:p>
            <a:endParaRPr lang="es-AR" sz="2400">
              <a:solidFill>
                <a:srgbClr val="0070C0"/>
              </a:solidFill>
            </a:endParaRPr>
          </a:p>
          <a:p>
            <a:r>
              <a:rPr lang="en-US" sz="2400" b="1" err="1">
                <a:solidFill>
                  <a:srgbClr val="0070C0"/>
                </a:solidFill>
              </a:rPr>
              <a:t>Parámetros</a:t>
            </a:r>
            <a:r>
              <a:rPr lang="en-US" sz="2400" b="1">
                <a:solidFill>
                  <a:srgbClr val="0070C0"/>
                </a:solidFill>
              </a:rPr>
              <a:t> </a:t>
            </a:r>
            <a:r>
              <a:rPr lang="en-US" sz="2400" b="1" err="1">
                <a:solidFill>
                  <a:srgbClr val="0070C0"/>
                </a:solidFill>
              </a:rPr>
              <a:t>por</a:t>
            </a:r>
            <a:r>
              <a:rPr lang="en-US" sz="2400" b="1">
                <a:solidFill>
                  <a:srgbClr val="0070C0"/>
                </a:solidFill>
              </a:rPr>
              <a:t> valor:</a:t>
            </a:r>
          </a:p>
          <a:p>
            <a:endParaRPr lang="en-US" sz="2400" b="1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Los </a:t>
            </a:r>
            <a:r>
              <a:rPr lang="en-US" sz="2000" err="1"/>
              <a:t>parámetros</a:t>
            </a:r>
            <a:r>
              <a:rPr lang="en-US" sz="2000"/>
              <a:t> </a:t>
            </a:r>
            <a:r>
              <a:rPr lang="en-US" sz="2000" err="1"/>
              <a:t>por</a:t>
            </a:r>
            <a:r>
              <a:rPr lang="en-US" sz="2000"/>
              <a:t> valor son </a:t>
            </a:r>
            <a:r>
              <a:rPr lang="en-US" sz="2000" err="1"/>
              <a:t>diferentes</a:t>
            </a:r>
            <a:r>
              <a:rPr lang="en-US" sz="2000"/>
              <a:t> a </a:t>
            </a:r>
            <a:r>
              <a:rPr lang="en-US" sz="2000" err="1"/>
              <a:t>los</a:t>
            </a:r>
            <a:r>
              <a:rPr lang="en-US" sz="2000"/>
              <a:t> </a:t>
            </a:r>
            <a:r>
              <a:rPr lang="en-US" sz="2000" err="1"/>
              <a:t>parámetros</a:t>
            </a:r>
            <a:r>
              <a:rPr lang="en-US" sz="2000"/>
              <a:t> </a:t>
            </a:r>
            <a:r>
              <a:rPr lang="en-US" sz="2000" err="1"/>
              <a:t>por</a:t>
            </a:r>
            <a:r>
              <a:rPr lang="en-US" sz="2000"/>
              <a:t> </a:t>
            </a:r>
            <a:r>
              <a:rPr lang="en-US" sz="2000" err="1"/>
              <a:t>referencia</a:t>
            </a:r>
            <a:r>
              <a:rPr lang="en-US" sz="2000"/>
              <a:t>, </a:t>
            </a:r>
            <a:r>
              <a:rPr lang="en-US" sz="2000" err="1"/>
              <a:t>cuando</a:t>
            </a:r>
            <a:r>
              <a:rPr lang="en-US" sz="2000"/>
              <a:t> se </a:t>
            </a:r>
            <a:r>
              <a:rPr lang="en-US" sz="2000" err="1"/>
              <a:t>pasa</a:t>
            </a:r>
            <a:r>
              <a:rPr lang="en-US" sz="2000"/>
              <a:t> un </a:t>
            </a:r>
            <a:r>
              <a:rPr lang="en-US" sz="2000" err="1"/>
              <a:t>parámetro</a:t>
            </a:r>
            <a:r>
              <a:rPr lang="en-US" sz="2000"/>
              <a:t> </a:t>
            </a:r>
            <a:r>
              <a:rPr lang="en-US" sz="2000" err="1"/>
              <a:t>por</a:t>
            </a:r>
            <a:r>
              <a:rPr lang="en-US" sz="2000"/>
              <a:t> valor a </a:t>
            </a:r>
            <a:r>
              <a:rPr lang="en-US" sz="2000" err="1"/>
              <a:t>una</a:t>
            </a:r>
            <a:r>
              <a:rPr lang="en-US" sz="2000"/>
              <a:t> </a:t>
            </a:r>
            <a:r>
              <a:rPr lang="en-US" sz="2000" err="1"/>
              <a:t>función</a:t>
            </a:r>
            <a:r>
              <a:rPr lang="en-US" sz="2000"/>
              <a:t> se </a:t>
            </a:r>
            <a:r>
              <a:rPr lang="en-US" sz="2000" err="1"/>
              <a:t>guarda</a:t>
            </a:r>
            <a:r>
              <a:rPr lang="en-US" sz="2000"/>
              <a:t> </a:t>
            </a:r>
            <a:r>
              <a:rPr lang="en-US" sz="2000" err="1"/>
              <a:t>en</a:t>
            </a:r>
            <a:r>
              <a:rPr lang="en-US" sz="2000"/>
              <a:t> </a:t>
            </a:r>
            <a:r>
              <a:rPr lang="en-US" sz="2000" err="1"/>
              <a:t>memoria</a:t>
            </a:r>
            <a:r>
              <a:rPr lang="en-US" sz="2000"/>
              <a:t> </a:t>
            </a:r>
            <a:r>
              <a:rPr lang="en-US" sz="2000" err="1"/>
              <a:t>una</a:t>
            </a:r>
            <a:r>
              <a:rPr lang="en-US" sz="2000"/>
              <a:t> </a:t>
            </a:r>
            <a:r>
              <a:rPr lang="en-US" sz="2000" i="1" err="1"/>
              <a:t>copia</a:t>
            </a:r>
            <a:r>
              <a:rPr lang="en-US" sz="2000" i="1"/>
              <a:t> temporal </a:t>
            </a:r>
            <a:r>
              <a:rPr lang="en-US" sz="2000"/>
              <a:t>de la variable, </a:t>
            </a:r>
            <a:r>
              <a:rPr lang="en-US" sz="2000" err="1"/>
              <a:t>dentro</a:t>
            </a:r>
            <a:r>
              <a:rPr lang="en-US" sz="2000"/>
              <a:t> de la </a:t>
            </a:r>
            <a:r>
              <a:rPr lang="en-US" sz="2000" err="1"/>
              <a:t>función</a:t>
            </a:r>
            <a:r>
              <a:rPr lang="en-US" sz="2000"/>
              <a:t> solo se </a:t>
            </a:r>
            <a:r>
              <a:rPr lang="en-US" sz="2000" err="1"/>
              <a:t>utiliza</a:t>
            </a:r>
            <a:r>
              <a:rPr lang="en-US" sz="2000"/>
              <a:t> la </a:t>
            </a:r>
            <a:r>
              <a:rPr lang="en-US" sz="2000" err="1"/>
              <a:t>copia</a:t>
            </a:r>
            <a:r>
              <a:rPr lang="en-US" sz="2000"/>
              <a:t>, la original </a:t>
            </a:r>
            <a:r>
              <a:rPr lang="en-US" sz="2000" err="1"/>
              <a:t>nunca</a:t>
            </a:r>
            <a:r>
              <a:rPr lang="en-US" sz="2000"/>
              <a:t> se </a:t>
            </a:r>
            <a:r>
              <a:rPr lang="en-US" sz="2000" err="1"/>
              <a:t>toca</a:t>
            </a:r>
            <a:r>
              <a:rPr lang="en-US" sz="2000"/>
              <a:t>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36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Parametros</a:t>
            </a:r>
          </a:p>
          <a:p>
            <a:endParaRPr lang="es-A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074D2-3B0C-A549-92E9-EE779A910A6A}"/>
              </a:ext>
            </a:extLst>
          </p:cNvPr>
          <p:cNvSpPr txBox="1"/>
          <p:nvPr/>
        </p:nvSpPr>
        <p:spPr>
          <a:xfrm>
            <a:off x="244619" y="1353498"/>
            <a:ext cx="871986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err="1">
                <a:solidFill>
                  <a:srgbClr val="0070C0"/>
                </a:solidFill>
              </a:rPr>
              <a:t>Modificación</a:t>
            </a:r>
            <a:r>
              <a:rPr lang="en-US" sz="2400" b="1">
                <a:solidFill>
                  <a:srgbClr val="0070C0"/>
                </a:solidFill>
              </a:rPr>
              <a:t> de </a:t>
            </a:r>
            <a:r>
              <a:rPr lang="en-US" sz="2400" b="1" err="1">
                <a:solidFill>
                  <a:srgbClr val="0070C0"/>
                </a:solidFill>
              </a:rPr>
              <a:t>los</a:t>
            </a:r>
            <a:r>
              <a:rPr lang="en-US" sz="2400" b="1">
                <a:solidFill>
                  <a:srgbClr val="0070C0"/>
                </a:solidFill>
              </a:rPr>
              <a:t> </a:t>
            </a:r>
            <a:r>
              <a:rPr lang="en-US" sz="2400" b="1" err="1">
                <a:solidFill>
                  <a:srgbClr val="0070C0"/>
                </a:solidFill>
              </a:rPr>
              <a:t>parametros</a:t>
            </a:r>
            <a:r>
              <a:rPr lang="en-US" sz="2400" b="1">
                <a:solidFill>
                  <a:srgbClr val="0070C0"/>
                </a:solidFill>
              </a:rPr>
              <a:t> </a:t>
            </a:r>
            <a:r>
              <a:rPr lang="en-US" sz="2400" b="1" err="1">
                <a:solidFill>
                  <a:srgbClr val="0070C0"/>
                </a:solidFill>
              </a:rPr>
              <a:t>en</a:t>
            </a:r>
            <a:r>
              <a:rPr lang="en-US" sz="2400" b="1">
                <a:solidFill>
                  <a:srgbClr val="0070C0"/>
                </a:solidFill>
              </a:rPr>
              <a:t> Python</a:t>
            </a:r>
            <a:r>
              <a:rPr lang="es-AR" sz="2400" b="1">
                <a:solidFill>
                  <a:srgbClr val="0070C0"/>
                </a:solidFill>
              </a:rPr>
              <a:t>:</a:t>
            </a:r>
          </a:p>
          <a:p>
            <a:br>
              <a:rPr lang="en-US"/>
            </a:br>
            <a:r>
              <a:rPr lang="en-US" sz="2200" err="1"/>
              <a:t>Dependiendo</a:t>
            </a:r>
            <a:r>
              <a:rPr lang="en-US" sz="2200"/>
              <a:t> de </a:t>
            </a:r>
            <a:r>
              <a:rPr lang="en-US" sz="2200" err="1"/>
              <a:t>si</a:t>
            </a:r>
            <a:r>
              <a:rPr lang="en-US" sz="2200"/>
              <a:t> el </a:t>
            </a:r>
            <a:r>
              <a:rPr lang="en-US" sz="2200" err="1"/>
              <a:t>argumento</a:t>
            </a:r>
            <a:r>
              <a:rPr lang="en-US" sz="2200"/>
              <a:t> que le </a:t>
            </a:r>
            <a:r>
              <a:rPr lang="en-US" sz="2200" err="1"/>
              <a:t>pasamos</a:t>
            </a:r>
            <a:r>
              <a:rPr lang="en-US" sz="2200"/>
              <a:t> a la </a:t>
            </a:r>
            <a:r>
              <a:rPr lang="en-US" sz="2200" err="1"/>
              <a:t>función</a:t>
            </a:r>
            <a:r>
              <a:rPr lang="en-US" sz="2200"/>
              <a:t> </a:t>
            </a:r>
            <a:r>
              <a:rPr lang="en-US" sz="2200" err="1"/>
              <a:t>es</a:t>
            </a:r>
            <a:r>
              <a:rPr lang="en-US" sz="2200"/>
              <a:t> </a:t>
            </a:r>
            <a:r>
              <a:rPr lang="en-US" sz="2200" b="1"/>
              <a:t>mutable</a:t>
            </a:r>
            <a:r>
              <a:rPr lang="en-US" sz="2200"/>
              <a:t> o </a:t>
            </a:r>
            <a:r>
              <a:rPr lang="en-US" sz="2200" b="1" err="1"/>
              <a:t>inmutable</a:t>
            </a:r>
            <a:r>
              <a:rPr lang="en-US" sz="2200"/>
              <a:t>, </a:t>
            </a:r>
            <a:r>
              <a:rPr lang="en-US" sz="2200" err="1"/>
              <a:t>es</a:t>
            </a:r>
            <a:r>
              <a:rPr lang="en-US" sz="2200"/>
              <a:t> </a:t>
            </a:r>
            <a:r>
              <a:rPr lang="en-US" sz="2200" err="1"/>
              <a:t>posible</a:t>
            </a:r>
            <a:r>
              <a:rPr lang="en-US" sz="2200"/>
              <a:t> </a:t>
            </a:r>
            <a:r>
              <a:rPr lang="en-US" sz="2200" err="1"/>
              <a:t>modificar</a:t>
            </a:r>
            <a:r>
              <a:rPr lang="en-US" sz="2200"/>
              <a:t> </a:t>
            </a:r>
            <a:r>
              <a:rPr lang="en-US" sz="2200" err="1"/>
              <a:t>su</a:t>
            </a:r>
            <a:r>
              <a:rPr lang="en-US" sz="2200"/>
              <a:t> </a:t>
            </a:r>
            <a:r>
              <a:rPr lang="en-US" sz="2200" err="1"/>
              <a:t>contenido</a:t>
            </a:r>
            <a:r>
              <a:rPr lang="en-US" sz="2200"/>
              <a:t> (o no) </a:t>
            </a:r>
            <a:r>
              <a:rPr lang="en-US" sz="2200" err="1"/>
              <a:t>dentro</a:t>
            </a:r>
            <a:r>
              <a:rPr lang="en-US" sz="2200"/>
              <a:t> de la </a:t>
            </a:r>
            <a:r>
              <a:rPr lang="en-US" sz="2200" err="1"/>
              <a:t>función</a:t>
            </a:r>
            <a:r>
              <a:rPr lang="en-US" sz="2200"/>
              <a:t>.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 algn="ctr"/>
            <a:r>
              <a:rPr lang="en-US" sz="2800" b="1" u="sng">
                <a:solidFill>
                  <a:srgbClr val="0070C0"/>
                </a:solidFill>
              </a:rPr>
              <a:t>No-mutable:</a:t>
            </a:r>
            <a:r>
              <a:rPr lang="en-US" sz="2800" b="1">
                <a:solidFill>
                  <a:srgbClr val="0070C0"/>
                </a:solidFill>
              </a:rPr>
              <a:t> </a:t>
            </a:r>
            <a:r>
              <a:rPr lang="en-US" sz="2800" b="1" err="1">
                <a:solidFill>
                  <a:srgbClr val="0070C0"/>
                </a:solidFill>
              </a:rPr>
              <a:t>pasaje</a:t>
            </a:r>
            <a:r>
              <a:rPr lang="en-US" sz="2800" b="1">
                <a:solidFill>
                  <a:srgbClr val="0070C0"/>
                </a:solidFill>
              </a:rPr>
              <a:t> de </a:t>
            </a:r>
            <a:r>
              <a:rPr lang="en-US" sz="2800" b="1" err="1">
                <a:solidFill>
                  <a:srgbClr val="0070C0"/>
                </a:solidFill>
              </a:rPr>
              <a:t>parametros</a:t>
            </a:r>
            <a:r>
              <a:rPr lang="en-US" sz="2800" b="1">
                <a:solidFill>
                  <a:srgbClr val="0070C0"/>
                </a:solidFill>
              </a:rPr>
              <a:t> "</a:t>
            </a:r>
            <a:r>
              <a:rPr lang="en-US" sz="2800" b="1" err="1">
                <a:solidFill>
                  <a:srgbClr val="0070C0"/>
                </a:solidFill>
              </a:rPr>
              <a:t>por</a:t>
            </a:r>
            <a:r>
              <a:rPr lang="en-US" sz="2800" b="1">
                <a:solidFill>
                  <a:srgbClr val="0070C0"/>
                </a:solidFill>
              </a:rPr>
              <a:t> </a:t>
            </a:r>
            <a:r>
              <a:rPr lang="en-US" sz="2800" b="1" err="1">
                <a:solidFill>
                  <a:srgbClr val="0070C0"/>
                </a:solidFill>
              </a:rPr>
              <a:t>copia</a:t>
            </a:r>
            <a:r>
              <a:rPr lang="en-US" sz="2800" b="1">
                <a:solidFill>
                  <a:srgbClr val="0070C0"/>
                </a:solidFill>
              </a:rPr>
              <a:t>".</a:t>
            </a:r>
            <a:endParaRPr lang="en-US" sz="2800">
              <a:solidFill>
                <a:srgbClr val="0070C0"/>
              </a:solidFill>
            </a:endParaRPr>
          </a:p>
          <a:p>
            <a:pPr algn="ctr"/>
            <a:endParaRPr lang="en-US" sz="2800">
              <a:solidFill>
                <a:srgbClr val="0070C0"/>
              </a:solidFill>
            </a:endParaRPr>
          </a:p>
          <a:p>
            <a:pPr algn="ctr"/>
            <a:r>
              <a:rPr lang="en-US" sz="2800" b="1" u="sng">
                <a:solidFill>
                  <a:srgbClr val="0070C0"/>
                </a:solidFill>
              </a:rPr>
              <a:t>Mutable:</a:t>
            </a:r>
            <a:r>
              <a:rPr lang="en-US" sz="2800" b="1">
                <a:solidFill>
                  <a:srgbClr val="0070C0"/>
                </a:solidFill>
              </a:rPr>
              <a:t> </a:t>
            </a:r>
            <a:r>
              <a:rPr lang="en-US" sz="2800" b="1" err="1">
                <a:solidFill>
                  <a:srgbClr val="0070C0"/>
                </a:solidFill>
              </a:rPr>
              <a:t>pasaje</a:t>
            </a:r>
            <a:r>
              <a:rPr lang="en-US" sz="2800" b="1">
                <a:solidFill>
                  <a:srgbClr val="0070C0"/>
                </a:solidFill>
              </a:rPr>
              <a:t> de </a:t>
            </a:r>
            <a:r>
              <a:rPr lang="en-US" sz="2800" b="1" err="1">
                <a:solidFill>
                  <a:srgbClr val="0070C0"/>
                </a:solidFill>
              </a:rPr>
              <a:t>parametros</a:t>
            </a:r>
            <a:r>
              <a:rPr lang="en-US" sz="2800" b="1">
                <a:solidFill>
                  <a:srgbClr val="0070C0"/>
                </a:solidFill>
              </a:rPr>
              <a:t> "</a:t>
            </a:r>
            <a:r>
              <a:rPr lang="en-US" sz="2800" b="1" err="1">
                <a:solidFill>
                  <a:srgbClr val="0070C0"/>
                </a:solidFill>
              </a:rPr>
              <a:t>por</a:t>
            </a:r>
            <a:r>
              <a:rPr lang="en-US" sz="2800" b="1">
                <a:solidFill>
                  <a:srgbClr val="0070C0"/>
                </a:solidFill>
              </a:rPr>
              <a:t> </a:t>
            </a:r>
            <a:r>
              <a:rPr lang="en-US" sz="2800" b="1" err="1">
                <a:solidFill>
                  <a:srgbClr val="0070C0"/>
                </a:solidFill>
              </a:rPr>
              <a:t>referencia</a:t>
            </a:r>
            <a:r>
              <a:rPr lang="en-US" sz="2800" b="1">
                <a:solidFill>
                  <a:srgbClr val="0070C0"/>
                </a:solidFill>
              </a:rPr>
              <a:t>".</a:t>
            </a:r>
            <a:endParaRPr lang="en-US" sz="2800">
              <a:solidFill>
                <a:srgbClr val="0070C0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21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Parametros</a:t>
            </a:r>
          </a:p>
          <a:p>
            <a:endParaRPr lang="es-A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074D2-3B0C-A549-92E9-EE779A910A6A}"/>
              </a:ext>
            </a:extLst>
          </p:cNvPr>
          <p:cNvSpPr txBox="1"/>
          <p:nvPr/>
        </p:nvSpPr>
        <p:spPr>
          <a:xfrm>
            <a:off x="244619" y="1353498"/>
            <a:ext cx="87198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err="1">
                <a:solidFill>
                  <a:srgbClr val="0070C0"/>
                </a:solidFill>
              </a:rPr>
              <a:t>Argumentos</a:t>
            </a:r>
            <a:r>
              <a:rPr lang="en-US" sz="2400" b="1">
                <a:solidFill>
                  <a:srgbClr val="0070C0"/>
                </a:solidFill>
              </a:rPr>
              <a:t> </a:t>
            </a:r>
            <a:r>
              <a:rPr lang="en-US" sz="2400" b="1" err="1">
                <a:solidFill>
                  <a:srgbClr val="0070C0"/>
                </a:solidFill>
              </a:rPr>
              <a:t>posicionales</a:t>
            </a:r>
            <a:r>
              <a:rPr lang="en-US" sz="2400" b="1">
                <a:solidFill>
                  <a:srgbClr val="0070C0"/>
                </a:solidFill>
              </a:rPr>
              <a:t> y </a:t>
            </a:r>
            <a:r>
              <a:rPr lang="en-US" sz="2400" b="1" err="1">
                <a:solidFill>
                  <a:srgbClr val="0070C0"/>
                </a:solidFill>
              </a:rPr>
              <a:t>argumentos</a:t>
            </a:r>
            <a:r>
              <a:rPr lang="en-US" sz="2400" b="1">
                <a:solidFill>
                  <a:srgbClr val="0070C0"/>
                </a:solidFill>
              </a:rPr>
              <a:t> </a:t>
            </a:r>
            <a:r>
              <a:rPr lang="en-US" sz="2400" b="1" err="1">
                <a:solidFill>
                  <a:srgbClr val="0070C0"/>
                </a:solidFill>
              </a:rPr>
              <a:t>asignados</a:t>
            </a:r>
            <a:r>
              <a:rPr lang="es-AR" sz="2400" b="1">
                <a:solidFill>
                  <a:srgbClr val="0070C0"/>
                </a:solidFill>
              </a:rPr>
              <a:t>:</a:t>
            </a:r>
          </a:p>
          <a:p>
            <a:br>
              <a:rPr lang="en-US"/>
            </a:br>
            <a:r>
              <a:rPr lang="en-US" sz="2400"/>
              <a:t>Podemos </a:t>
            </a:r>
            <a:r>
              <a:rPr lang="en-US" sz="2400" err="1"/>
              <a:t>definir</a:t>
            </a:r>
            <a:r>
              <a:rPr lang="en-US" sz="2400"/>
              <a:t> </a:t>
            </a:r>
            <a:r>
              <a:rPr lang="en-US" sz="2400" err="1"/>
              <a:t>los</a:t>
            </a:r>
            <a:r>
              <a:rPr lang="en-US" sz="2400"/>
              <a:t> </a:t>
            </a:r>
            <a:r>
              <a:rPr lang="en-US" sz="2400" err="1"/>
              <a:t>argumentos</a:t>
            </a:r>
            <a:r>
              <a:rPr lang="en-US" sz="2400"/>
              <a:t> de dos </a:t>
            </a:r>
            <a:r>
              <a:rPr lang="en-US" sz="2400" err="1"/>
              <a:t>formas</a:t>
            </a:r>
            <a:r>
              <a:rPr lang="en-US" sz="240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(</a:t>
            </a:r>
            <a:r>
              <a:rPr lang="en-US" sz="2400" err="1"/>
              <a:t>argumento</a:t>
            </a:r>
            <a:r>
              <a:rPr lang="en-US" sz="2400"/>
              <a:t>) </a:t>
            </a:r>
            <a:r>
              <a:rPr lang="en-US" sz="2400" err="1"/>
              <a:t>posicional</a:t>
            </a:r>
            <a:r>
              <a:rPr lang="en-US" sz="2400"/>
              <a:t>: el </a:t>
            </a:r>
            <a:r>
              <a:rPr lang="en-US" sz="2400" err="1"/>
              <a:t>orden</a:t>
            </a:r>
            <a:r>
              <a:rPr lang="en-US" sz="2400"/>
              <a:t> de </a:t>
            </a:r>
            <a:r>
              <a:rPr lang="en-US" sz="2400" err="1"/>
              <a:t>los</a:t>
            </a:r>
            <a:r>
              <a:rPr lang="en-US" sz="2400"/>
              <a:t> </a:t>
            </a:r>
            <a:r>
              <a:rPr lang="en-US" sz="2400" err="1"/>
              <a:t>argumentos</a:t>
            </a:r>
            <a:r>
              <a:rPr lang="en-US" sz="2400"/>
              <a:t> </a:t>
            </a:r>
            <a:r>
              <a:rPr lang="en-US" sz="2400" err="1"/>
              <a:t>es</a:t>
            </a:r>
            <a:r>
              <a:rPr lang="en-US" sz="2400"/>
              <a:t> </a:t>
            </a:r>
            <a:r>
              <a:rPr lang="en-US" sz="2400" err="1"/>
              <a:t>importante</a:t>
            </a:r>
            <a:r>
              <a:rPr lang="en-US" sz="2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(</a:t>
            </a:r>
            <a:r>
              <a:rPr lang="en-US" sz="2400" err="1"/>
              <a:t>argumento</a:t>
            </a:r>
            <a:r>
              <a:rPr lang="en-US" sz="2400"/>
              <a:t>) </a:t>
            </a:r>
            <a:r>
              <a:rPr lang="en-US" sz="2400" err="1"/>
              <a:t>asignado</a:t>
            </a:r>
            <a:r>
              <a:rPr lang="en-US" sz="2400"/>
              <a:t>: </a:t>
            </a:r>
            <a:r>
              <a:rPr lang="en-US" sz="2400" err="1"/>
              <a:t>podemos</a:t>
            </a:r>
            <a:r>
              <a:rPr lang="en-US" sz="2400"/>
              <a:t> </a:t>
            </a:r>
            <a:r>
              <a:rPr lang="en-US" sz="2400" err="1"/>
              <a:t>asignar</a:t>
            </a:r>
            <a:r>
              <a:rPr lang="en-US" sz="2400"/>
              <a:t> </a:t>
            </a:r>
            <a:r>
              <a:rPr lang="en-US" sz="2400" err="1"/>
              <a:t>valores</a:t>
            </a:r>
            <a:r>
              <a:rPr lang="en-US" sz="2400"/>
              <a:t>, </a:t>
            </a:r>
            <a:r>
              <a:rPr lang="en-US" sz="2400" err="1"/>
              <a:t>ya</a:t>
            </a:r>
            <a:r>
              <a:rPr lang="en-US" sz="2400"/>
              <a:t> sea </a:t>
            </a:r>
            <a:r>
              <a:rPr lang="en-US" sz="2400" err="1"/>
              <a:t>por</a:t>
            </a:r>
            <a:r>
              <a:rPr lang="en-US" sz="2400"/>
              <a:t> </a:t>
            </a:r>
            <a:r>
              <a:rPr lang="en-US" sz="2400" err="1"/>
              <a:t>defecto</a:t>
            </a:r>
            <a:r>
              <a:rPr lang="en-US" sz="2400"/>
              <a:t>, o </a:t>
            </a:r>
            <a:r>
              <a:rPr lang="en-US" sz="2400" err="1"/>
              <a:t>mediante</a:t>
            </a:r>
            <a:r>
              <a:rPr lang="en-US" sz="2400"/>
              <a:t> </a:t>
            </a:r>
            <a:r>
              <a:rPr lang="en-US" sz="2400" err="1"/>
              <a:t>asignacion</a:t>
            </a:r>
            <a:r>
              <a:rPr lang="en-US" sz="2400"/>
              <a:t> </a:t>
            </a:r>
            <a:r>
              <a:rPr lang="en-US" sz="2400" err="1"/>
              <a:t>directa</a:t>
            </a:r>
            <a:r>
              <a:rPr lang="en-US" sz="2400"/>
              <a:t> </a:t>
            </a:r>
            <a:r>
              <a:rPr lang="en-US" sz="2400" err="1"/>
              <a:t>en</a:t>
            </a:r>
            <a:r>
              <a:rPr lang="en-US" sz="2400"/>
              <a:t> la </a:t>
            </a:r>
            <a:r>
              <a:rPr lang="en-US" sz="2400" err="1"/>
              <a:t>llamada</a:t>
            </a:r>
            <a:r>
              <a:rPr lang="en-US" sz="2400"/>
              <a:t> de la </a:t>
            </a:r>
            <a:r>
              <a:rPr lang="en-US" sz="2400" err="1"/>
              <a:t>función</a:t>
            </a:r>
            <a:r>
              <a:rPr lang="en-US" sz="2400"/>
              <a:t>. </a:t>
            </a:r>
          </a:p>
          <a:p>
            <a:br>
              <a:rPr lang="en-US"/>
            </a:br>
            <a:endParaRPr lang="en-US"/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DB0DF7-D75F-9B40-9DCC-D8F590373D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1" y="4509120"/>
            <a:ext cx="9144000" cy="159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137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Parametros</a:t>
            </a:r>
          </a:p>
          <a:p>
            <a:endParaRPr lang="es-A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074D2-3B0C-A549-92E9-EE779A910A6A}"/>
              </a:ext>
            </a:extLst>
          </p:cNvPr>
          <p:cNvSpPr txBox="1"/>
          <p:nvPr/>
        </p:nvSpPr>
        <p:spPr>
          <a:xfrm>
            <a:off x="244619" y="1353498"/>
            <a:ext cx="871986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err="1">
                <a:solidFill>
                  <a:srgbClr val="0070C0"/>
                </a:solidFill>
              </a:rPr>
              <a:t>Argumentos</a:t>
            </a:r>
            <a:r>
              <a:rPr lang="en-US" sz="2400" b="1">
                <a:solidFill>
                  <a:srgbClr val="0070C0"/>
                </a:solidFill>
              </a:rPr>
              <a:t> </a:t>
            </a:r>
            <a:r>
              <a:rPr lang="en-US" sz="2400" b="1" err="1">
                <a:solidFill>
                  <a:srgbClr val="0070C0"/>
                </a:solidFill>
              </a:rPr>
              <a:t>por</a:t>
            </a:r>
            <a:r>
              <a:rPr lang="en-US" sz="2400" b="1">
                <a:solidFill>
                  <a:srgbClr val="0070C0"/>
                </a:solidFill>
              </a:rPr>
              <a:t> </a:t>
            </a:r>
            <a:r>
              <a:rPr lang="en-US" sz="2400" b="1" err="1">
                <a:solidFill>
                  <a:srgbClr val="0070C0"/>
                </a:solidFill>
              </a:rPr>
              <a:t>defecto</a:t>
            </a:r>
            <a:r>
              <a:rPr lang="es-AR" sz="2400" b="1">
                <a:solidFill>
                  <a:srgbClr val="0070C0"/>
                </a:solidFill>
              </a:rPr>
              <a:t>:</a:t>
            </a:r>
          </a:p>
          <a:p>
            <a:endParaRPr lang="en-US"/>
          </a:p>
          <a:p>
            <a:r>
              <a:rPr lang="en-US" sz="2400">
                <a:solidFill>
                  <a:srgbClr val="00B050"/>
                </a:solidFill>
              </a:rPr>
              <a:t>def</a:t>
            </a:r>
            <a:r>
              <a:rPr lang="en-US" sz="2400"/>
              <a:t> </a:t>
            </a:r>
            <a:r>
              <a:rPr lang="en-US" sz="2400" err="1"/>
              <a:t>func</a:t>
            </a:r>
            <a:r>
              <a:rPr lang="en-US" sz="2400"/>
              <a:t>(</a:t>
            </a:r>
            <a:r>
              <a:rPr lang="en-US" sz="2200"/>
              <a:t>posarg_1, ... , </a:t>
            </a:r>
            <a:r>
              <a:rPr lang="en-US" sz="2200" err="1"/>
              <a:t>posarg_r</a:t>
            </a:r>
            <a:r>
              <a:rPr lang="en-US" sz="2200"/>
              <a:t> , kwarg_1 = vk_1 , ..., </a:t>
            </a:r>
            <a:r>
              <a:rPr lang="en-US" sz="2200" err="1"/>
              <a:t>kwarg_s</a:t>
            </a:r>
            <a:r>
              <a:rPr lang="en-US" sz="2200"/>
              <a:t> = </a:t>
            </a:r>
            <a:r>
              <a:rPr lang="en-US" sz="2200" err="1"/>
              <a:t>vk_s</a:t>
            </a:r>
            <a:r>
              <a:rPr lang="en-US" sz="2200"/>
              <a:t>) </a:t>
            </a:r>
            <a:r>
              <a:rPr lang="en-US" sz="2400"/>
              <a:t>:</a:t>
            </a:r>
          </a:p>
          <a:p>
            <a:r>
              <a:rPr lang="es-AR" sz="2400">
                <a:solidFill>
                  <a:schemeClr val="tx1">
                    <a:lumMod val="50000"/>
                    <a:lumOff val="50000"/>
                  </a:schemeClr>
                </a:solidFill>
              </a:rPr>
              <a:t>	{código de la función}</a:t>
            </a:r>
          </a:p>
          <a:p>
            <a:r>
              <a:rPr lang="es-AR" sz="2400">
                <a:solidFill>
                  <a:schemeClr val="tx1">
                    <a:lumMod val="50000"/>
                    <a:lumOff val="50000"/>
                  </a:schemeClr>
                </a:solidFill>
              </a:rPr>
              <a:t>	...</a:t>
            </a:r>
          </a:p>
          <a:p>
            <a:r>
              <a:rPr lang="es-AR" sz="2400">
                <a:solidFill>
                  <a:schemeClr val="tx1">
                    <a:lumMod val="50000"/>
                    <a:lumOff val="50000"/>
                  </a:schemeClr>
                </a:solidFill>
              </a:rPr>
              <a:t>	{más código de la función}</a:t>
            </a:r>
          </a:p>
          <a:p>
            <a:endParaRPr lang="es-AR" sz="24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Los </a:t>
            </a:r>
            <a:r>
              <a:rPr lang="en-US" sz="2400" err="1"/>
              <a:t>argumentos</a:t>
            </a:r>
            <a:r>
              <a:rPr lang="en-US" sz="2400"/>
              <a:t> posarg_1, ... , </a:t>
            </a:r>
            <a:r>
              <a:rPr lang="en-US" sz="2400" err="1"/>
              <a:t>posarg_r</a:t>
            </a:r>
            <a:r>
              <a:rPr lang="en-US" sz="2400"/>
              <a:t> </a:t>
            </a:r>
            <a:r>
              <a:rPr lang="en-US" sz="2400" err="1"/>
              <a:t>serán</a:t>
            </a:r>
            <a:r>
              <a:rPr lang="en-US" sz="2400"/>
              <a:t> </a:t>
            </a:r>
            <a:r>
              <a:rPr lang="en-US" sz="2400" b="1" err="1"/>
              <a:t>argumentos</a:t>
            </a:r>
            <a:r>
              <a:rPr lang="en-US" sz="2400" b="1"/>
              <a:t> </a:t>
            </a:r>
            <a:r>
              <a:rPr lang="en-US" sz="2400" b="1" err="1"/>
              <a:t>posicionales</a:t>
            </a:r>
            <a:r>
              <a:rPr lang="en-US" sz="2400"/>
              <a:t> (sin </a:t>
            </a:r>
            <a:r>
              <a:rPr lang="en-US" sz="2400" err="1"/>
              <a:t>valores</a:t>
            </a:r>
            <a:r>
              <a:rPr lang="en-US" sz="2400"/>
              <a:t> </a:t>
            </a:r>
            <a:r>
              <a:rPr lang="en-US" sz="2400" err="1"/>
              <a:t>por</a:t>
            </a:r>
            <a:r>
              <a:rPr lang="en-US" sz="2400"/>
              <a:t> </a:t>
            </a:r>
            <a:r>
              <a:rPr lang="en-US" sz="2400" err="1"/>
              <a:t>defecto</a:t>
            </a:r>
            <a:r>
              <a:rPr lang="en-US" sz="2400"/>
              <a:t>), </a:t>
            </a:r>
            <a:r>
              <a:rPr lang="en-US" sz="2400" err="1"/>
              <a:t>mientras</a:t>
            </a:r>
            <a:r>
              <a:rPr lang="en-US" sz="2400"/>
              <a:t> que vk_1, ... , </a:t>
            </a:r>
            <a:r>
              <a:rPr lang="en-US" sz="2400" err="1"/>
              <a:t>vk_s</a:t>
            </a:r>
            <a:r>
              <a:rPr lang="en-US" sz="2400"/>
              <a:t> </a:t>
            </a:r>
            <a:r>
              <a:rPr lang="en-US" sz="2400" err="1"/>
              <a:t>tendrán</a:t>
            </a:r>
            <a:r>
              <a:rPr lang="en-US" sz="2400"/>
              <a:t> </a:t>
            </a:r>
            <a:r>
              <a:rPr lang="en-US" sz="2400" b="1" err="1"/>
              <a:t>valores</a:t>
            </a:r>
            <a:r>
              <a:rPr lang="en-US" sz="2400" b="1"/>
              <a:t> </a:t>
            </a:r>
            <a:r>
              <a:rPr lang="en-US" sz="2400" b="1" err="1"/>
              <a:t>por</a:t>
            </a:r>
            <a:r>
              <a:rPr lang="en-US" sz="2400" b="1"/>
              <a:t> </a:t>
            </a:r>
            <a:r>
              <a:rPr lang="en-US" sz="2400" b="1" err="1"/>
              <a:t>defecto</a:t>
            </a:r>
            <a:r>
              <a:rPr lang="en-US" sz="2400"/>
              <a:t>. </a:t>
            </a:r>
          </a:p>
          <a:p>
            <a:br>
              <a:rPr lang="en-US" sz="2400"/>
            </a:br>
            <a:endParaRPr lang="en-US" sz="2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07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Parametros</a:t>
            </a:r>
          </a:p>
          <a:p>
            <a:endParaRPr lang="es-A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074D2-3B0C-A549-92E9-EE779A910A6A}"/>
              </a:ext>
            </a:extLst>
          </p:cNvPr>
          <p:cNvSpPr txBox="1"/>
          <p:nvPr/>
        </p:nvSpPr>
        <p:spPr>
          <a:xfrm>
            <a:off x="244619" y="1353498"/>
            <a:ext cx="87198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err="1">
                <a:solidFill>
                  <a:srgbClr val="0070C0"/>
                </a:solidFill>
              </a:rPr>
              <a:t>Argumentos</a:t>
            </a:r>
            <a:r>
              <a:rPr lang="en-US" sz="2400" b="1">
                <a:solidFill>
                  <a:srgbClr val="0070C0"/>
                </a:solidFill>
              </a:rPr>
              <a:t> </a:t>
            </a:r>
            <a:r>
              <a:rPr lang="en-US" sz="2400" b="1" err="1">
                <a:solidFill>
                  <a:srgbClr val="0070C0"/>
                </a:solidFill>
              </a:rPr>
              <a:t>por</a:t>
            </a:r>
            <a:r>
              <a:rPr lang="en-US" sz="2400" b="1">
                <a:solidFill>
                  <a:srgbClr val="0070C0"/>
                </a:solidFill>
              </a:rPr>
              <a:t> </a:t>
            </a:r>
            <a:r>
              <a:rPr lang="en-US" sz="2400" b="1" err="1">
                <a:solidFill>
                  <a:srgbClr val="0070C0"/>
                </a:solidFill>
              </a:rPr>
              <a:t>defecto</a:t>
            </a:r>
            <a:r>
              <a:rPr lang="es-AR" sz="2400" b="1">
                <a:solidFill>
                  <a:srgbClr val="0070C0"/>
                </a:solidFill>
              </a:rPr>
              <a:t>:</a:t>
            </a:r>
          </a:p>
          <a:p>
            <a:endParaRPr lang="en-US"/>
          </a:p>
          <a:p>
            <a:br>
              <a:rPr lang="en-US" sz="2400"/>
            </a:br>
            <a:endParaRPr lang="en-US" sz="2400"/>
          </a:p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5AF80F-51E7-2A48-BC09-4CF8F1B39E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24944"/>
            <a:ext cx="9144000" cy="235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00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Parametros</a:t>
            </a:r>
          </a:p>
          <a:p>
            <a:endParaRPr lang="es-A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074D2-3B0C-A549-92E9-EE779A910A6A}"/>
              </a:ext>
            </a:extLst>
          </p:cNvPr>
          <p:cNvSpPr txBox="1"/>
          <p:nvPr/>
        </p:nvSpPr>
        <p:spPr>
          <a:xfrm>
            <a:off x="244619" y="1353498"/>
            <a:ext cx="8899381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err="1">
                <a:solidFill>
                  <a:srgbClr val="0070C0"/>
                </a:solidFill>
              </a:rPr>
              <a:t>Alcanze</a:t>
            </a:r>
            <a:r>
              <a:rPr lang="en-US" sz="2400" b="1">
                <a:solidFill>
                  <a:srgbClr val="0070C0"/>
                </a:solidFill>
              </a:rPr>
              <a:t> (scope, </a:t>
            </a:r>
            <a:r>
              <a:rPr lang="en-US" sz="2400" b="1" err="1">
                <a:solidFill>
                  <a:srgbClr val="0070C0"/>
                </a:solidFill>
              </a:rPr>
              <a:t>ámbito</a:t>
            </a:r>
            <a:r>
              <a:rPr lang="en-US" sz="2400" b="1">
                <a:solidFill>
                  <a:srgbClr val="0070C0"/>
                </a:solidFill>
              </a:rPr>
              <a:t>) de la </a:t>
            </a:r>
            <a:r>
              <a:rPr lang="en-US" sz="2400" b="1" err="1">
                <a:solidFill>
                  <a:srgbClr val="0070C0"/>
                </a:solidFill>
              </a:rPr>
              <a:t>una</a:t>
            </a:r>
            <a:r>
              <a:rPr lang="en-US" sz="2400" b="1">
                <a:solidFill>
                  <a:srgbClr val="0070C0"/>
                </a:solidFill>
              </a:rPr>
              <a:t> variable:</a:t>
            </a:r>
          </a:p>
          <a:p>
            <a:br>
              <a:rPr lang="en-US" sz="2400"/>
            </a:br>
            <a:r>
              <a:rPr lang="en-US" sz="2000"/>
              <a:t>El </a:t>
            </a:r>
            <a:r>
              <a:rPr lang="en-US" sz="2000" b="1" err="1"/>
              <a:t>alcanze</a:t>
            </a:r>
            <a:r>
              <a:rPr lang="en-US" sz="2000"/>
              <a:t> (o </a:t>
            </a:r>
            <a:r>
              <a:rPr lang="en-US" sz="2000" err="1"/>
              <a:t>ámbito</a:t>
            </a:r>
            <a:r>
              <a:rPr lang="en-US" sz="2000"/>
              <a:t>) de </a:t>
            </a:r>
            <a:r>
              <a:rPr lang="en-US" sz="2000" err="1"/>
              <a:t>una</a:t>
            </a:r>
            <a:r>
              <a:rPr lang="en-US" sz="2000"/>
              <a:t> variable </a:t>
            </a:r>
            <a:r>
              <a:rPr lang="en-US" sz="2000" b="1"/>
              <a:t>v</a:t>
            </a:r>
            <a:r>
              <a:rPr lang="en-US" sz="2000"/>
              <a:t> </a:t>
            </a:r>
            <a:r>
              <a:rPr lang="en-US" sz="2000" err="1"/>
              <a:t>es</a:t>
            </a:r>
            <a:r>
              <a:rPr lang="en-US" sz="2000"/>
              <a:t> el conjunto de </a:t>
            </a:r>
            <a:r>
              <a:rPr lang="en-US" sz="2000" err="1"/>
              <a:t>lineas</a:t>
            </a:r>
            <a:r>
              <a:rPr lang="en-US" sz="2000"/>
              <a:t> de </a:t>
            </a:r>
            <a:r>
              <a:rPr lang="en-US" sz="2000" err="1"/>
              <a:t>código</a:t>
            </a:r>
            <a:r>
              <a:rPr lang="en-US" sz="2000"/>
              <a:t>, </a:t>
            </a:r>
            <a:r>
              <a:rPr lang="en-US" sz="2000" err="1"/>
              <a:t>en</a:t>
            </a:r>
            <a:r>
              <a:rPr lang="en-US" sz="2000"/>
              <a:t> </a:t>
            </a:r>
            <a:r>
              <a:rPr lang="en-US" sz="2000" err="1"/>
              <a:t>donde</a:t>
            </a:r>
            <a:r>
              <a:rPr lang="en-US" sz="2000"/>
              <a:t> la variable </a:t>
            </a:r>
            <a:r>
              <a:rPr lang="en-US" sz="2000" err="1"/>
              <a:t>es</a:t>
            </a:r>
            <a:r>
              <a:rPr lang="en-US" sz="2000"/>
              <a:t> </a:t>
            </a:r>
            <a:r>
              <a:rPr lang="en-US" sz="2000" err="1"/>
              <a:t>comprendida</a:t>
            </a:r>
            <a:r>
              <a:rPr lang="en-US" sz="2000"/>
              <a:t>. </a:t>
            </a:r>
            <a:r>
              <a:rPr lang="en-US" sz="2000" err="1"/>
              <a:t>Es</a:t>
            </a:r>
            <a:r>
              <a:rPr lang="en-US" sz="2000"/>
              <a:t> </a:t>
            </a:r>
            <a:r>
              <a:rPr lang="en-US" sz="2000" err="1"/>
              <a:t>decir</a:t>
            </a:r>
            <a:r>
              <a:rPr lang="en-US" sz="2000"/>
              <a:t>, </a:t>
            </a:r>
            <a:r>
              <a:rPr lang="en-US" sz="2000" err="1"/>
              <a:t>donde</a:t>
            </a:r>
            <a:r>
              <a:rPr lang="en-US" sz="2000"/>
              <a:t> el </a:t>
            </a:r>
            <a:r>
              <a:rPr lang="en-US" sz="2000" err="1"/>
              <a:t>nombre</a:t>
            </a:r>
            <a:r>
              <a:rPr lang="en-US" sz="2000"/>
              <a:t> de variable </a:t>
            </a:r>
            <a:r>
              <a:rPr lang="en-US" sz="2000" b="1"/>
              <a:t>v</a:t>
            </a:r>
            <a:r>
              <a:rPr lang="en-US" sz="2000"/>
              <a:t> </a:t>
            </a:r>
            <a:r>
              <a:rPr lang="en-US" sz="2000" err="1"/>
              <a:t>esta</a:t>
            </a:r>
            <a:r>
              <a:rPr lang="en-US" sz="2000"/>
              <a:t> </a:t>
            </a:r>
            <a:r>
              <a:rPr lang="en-US" sz="2000" err="1"/>
              <a:t>definido</a:t>
            </a:r>
            <a:r>
              <a:rPr lang="en-US" sz="2000"/>
              <a:t>.</a:t>
            </a:r>
          </a:p>
          <a:p>
            <a:r>
              <a:rPr lang="en-US" sz="200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A priori, </a:t>
            </a:r>
            <a:r>
              <a:rPr lang="en-US" sz="2000" err="1"/>
              <a:t>es</a:t>
            </a:r>
            <a:r>
              <a:rPr lang="en-US" sz="2000"/>
              <a:t> simple: </a:t>
            </a:r>
          </a:p>
          <a:p>
            <a:br>
              <a:rPr lang="en-US" sz="2400"/>
            </a:br>
            <a:r>
              <a:rPr lang="en-US" sz="2200"/>
              <a:t>"</a:t>
            </a:r>
            <a:r>
              <a:rPr lang="en-US" sz="2200" err="1"/>
              <a:t>si</a:t>
            </a:r>
            <a:r>
              <a:rPr lang="en-US" sz="2200"/>
              <a:t> la variable </a:t>
            </a:r>
            <a:r>
              <a:rPr lang="en-US" sz="2200" b="1"/>
              <a:t>v</a:t>
            </a:r>
            <a:r>
              <a:rPr lang="en-US" sz="2200"/>
              <a:t> </a:t>
            </a:r>
            <a:r>
              <a:rPr lang="en-US" sz="2200" err="1"/>
              <a:t>esta</a:t>
            </a:r>
            <a:r>
              <a:rPr lang="en-US" sz="2200"/>
              <a:t> </a:t>
            </a:r>
            <a:r>
              <a:rPr lang="en-US" sz="2200" err="1"/>
              <a:t>definida</a:t>
            </a:r>
            <a:r>
              <a:rPr lang="en-US" sz="2200"/>
              <a:t> </a:t>
            </a:r>
            <a:r>
              <a:rPr lang="en-US" sz="2200" err="1"/>
              <a:t>en</a:t>
            </a:r>
            <a:r>
              <a:rPr lang="en-US" sz="2200"/>
              <a:t> la </a:t>
            </a:r>
            <a:r>
              <a:rPr lang="en-US" sz="2200" err="1"/>
              <a:t>linea</a:t>
            </a:r>
            <a:r>
              <a:rPr lang="en-US" sz="2200"/>
              <a:t> </a:t>
            </a:r>
            <a:r>
              <a:rPr lang="en-US" sz="2200" b="1"/>
              <a:t>n</a:t>
            </a:r>
            <a:r>
              <a:rPr lang="en-US" sz="2200"/>
              <a:t>,</a:t>
            </a:r>
            <a:r>
              <a:rPr lang="en-US" sz="2200" b="1"/>
              <a:t> </a:t>
            </a:r>
            <a:r>
              <a:rPr lang="en-US" sz="2200"/>
              <a:t>el </a:t>
            </a:r>
            <a:r>
              <a:rPr lang="en-US" sz="2200" err="1"/>
              <a:t>alcanze</a:t>
            </a:r>
            <a:r>
              <a:rPr lang="en-US" sz="2200"/>
              <a:t> de la variable </a:t>
            </a:r>
            <a:r>
              <a:rPr lang="en-US" sz="2200" b="1"/>
              <a:t>v</a:t>
            </a:r>
            <a:r>
              <a:rPr lang="en-US" sz="2200"/>
              <a:t> </a:t>
            </a:r>
            <a:r>
              <a:rPr lang="en-US" sz="2200" err="1"/>
              <a:t>será</a:t>
            </a:r>
            <a:r>
              <a:rPr lang="en-US" sz="2200"/>
              <a:t> </a:t>
            </a:r>
            <a:r>
              <a:rPr lang="en-US" sz="2200" err="1"/>
              <a:t>cualquier</a:t>
            </a:r>
            <a:r>
              <a:rPr lang="en-US" sz="2200"/>
              <a:t> </a:t>
            </a:r>
            <a:r>
              <a:rPr lang="en-US" sz="2200" err="1"/>
              <a:t>linea</a:t>
            </a:r>
            <a:r>
              <a:rPr lang="en-US" sz="2200"/>
              <a:t> </a:t>
            </a:r>
            <a:r>
              <a:rPr lang="en-US" sz="2200" b="1"/>
              <a:t>m &gt; n</a:t>
            </a:r>
            <a:r>
              <a:rPr lang="en-US" sz="2200"/>
              <a:t>".</a:t>
            </a:r>
          </a:p>
          <a:p>
            <a:endParaRPr lang="en-US" sz="2200"/>
          </a:p>
          <a:p>
            <a:endParaRPr lang="en-US" sz="22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err="1"/>
              <a:t>Esto</a:t>
            </a:r>
            <a:r>
              <a:rPr lang="en-US" sz="2200"/>
              <a:t> se </a:t>
            </a:r>
            <a:r>
              <a:rPr lang="en-US" sz="2200" err="1"/>
              <a:t>complica</a:t>
            </a:r>
            <a:r>
              <a:rPr lang="en-US" sz="2200"/>
              <a:t> </a:t>
            </a:r>
            <a:r>
              <a:rPr lang="en-US" sz="2200" err="1"/>
              <a:t>cuando</a:t>
            </a:r>
            <a:r>
              <a:rPr lang="en-US" sz="2200"/>
              <a:t> </a:t>
            </a:r>
            <a:r>
              <a:rPr lang="en-US" sz="2200" err="1"/>
              <a:t>introducimos</a:t>
            </a:r>
            <a:r>
              <a:rPr lang="en-US" sz="2200"/>
              <a:t> </a:t>
            </a:r>
            <a:r>
              <a:rPr lang="en-US" sz="2200" err="1"/>
              <a:t>funciones</a:t>
            </a:r>
            <a:r>
              <a:rPr lang="en-US" sz="2200"/>
              <a:t>, </a:t>
            </a:r>
            <a:r>
              <a:rPr lang="en-US" sz="2200" err="1"/>
              <a:t>estas</a:t>
            </a:r>
            <a:r>
              <a:rPr lang="en-US" sz="2200"/>
              <a:t> </a:t>
            </a:r>
            <a:r>
              <a:rPr lang="en-US" sz="2200" err="1"/>
              <a:t>pueden</a:t>
            </a:r>
            <a:r>
              <a:rPr lang="en-US" sz="2200"/>
              <a:t> (o no) </a:t>
            </a:r>
            <a:r>
              <a:rPr lang="en-US" sz="2200" err="1"/>
              <a:t>cambiar</a:t>
            </a:r>
            <a:r>
              <a:rPr lang="en-US" sz="2200"/>
              <a:t> el </a:t>
            </a:r>
            <a:r>
              <a:rPr lang="en-US" sz="2200" err="1"/>
              <a:t>alcanze</a:t>
            </a:r>
            <a:r>
              <a:rPr lang="en-US" sz="2200"/>
              <a:t> de </a:t>
            </a:r>
            <a:r>
              <a:rPr lang="en-US" sz="2200" err="1"/>
              <a:t>una</a:t>
            </a:r>
            <a:r>
              <a:rPr lang="en-US" sz="2200"/>
              <a:t> variable. </a:t>
            </a:r>
            <a:r>
              <a:rPr lang="en-US" sz="2200" err="1"/>
              <a:t>Esta</a:t>
            </a:r>
            <a:r>
              <a:rPr lang="en-US" sz="2200"/>
              <a:t> </a:t>
            </a:r>
            <a:r>
              <a:rPr lang="en-US" sz="2200" err="1"/>
              <a:t>situación</a:t>
            </a:r>
            <a:r>
              <a:rPr lang="en-US" sz="2200"/>
              <a:t> se </a:t>
            </a:r>
            <a:r>
              <a:rPr lang="en-US" sz="2200" err="1"/>
              <a:t>complica</a:t>
            </a:r>
            <a:r>
              <a:rPr lang="en-US" sz="2200"/>
              <a:t> </a:t>
            </a:r>
            <a:r>
              <a:rPr lang="en-US" sz="2200" err="1"/>
              <a:t>aún</a:t>
            </a:r>
            <a:r>
              <a:rPr lang="en-US" sz="2200"/>
              <a:t> </a:t>
            </a:r>
            <a:r>
              <a:rPr lang="en-US" sz="2200" err="1"/>
              <a:t>más</a:t>
            </a:r>
            <a:r>
              <a:rPr lang="en-US" sz="2200"/>
              <a:t> </a:t>
            </a:r>
            <a:r>
              <a:rPr lang="en-US" sz="2200" err="1"/>
              <a:t>cuando</a:t>
            </a:r>
            <a:r>
              <a:rPr lang="en-US" sz="2200"/>
              <a:t> </a:t>
            </a:r>
            <a:r>
              <a:rPr lang="en-US" sz="2200" err="1"/>
              <a:t>tenemos</a:t>
            </a:r>
            <a:r>
              <a:rPr lang="en-US" sz="2200"/>
              <a:t> </a:t>
            </a:r>
            <a:r>
              <a:rPr lang="en-US" sz="2200" i="1" err="1"/>
              <a:t>funciones</a:t>
            </a:r>
            <a:r>
              <a:rPr lang="en-US" sz="2200" i="1"/>
              <a:t> </a:t>
            </a:r>
            <a:r>
              <a:rPr lang="en-US" sz="2200" i="1" err="1"/>
              <a:t>anidadas</a:t>
            </a:r>
            <a:r>
              <a:rPr lang="en-US" sz="2200"/>
              <a:t>, </a:t>
            </a:r>
            <a:r>
              <a:rPr lang="en-US" sz="2200" err="1"/>
              <a:t>es</a:t>
            </a:r>
            <a:r>
              <a:rPr lang="en-US" sz="2200"/>
              <a:t> </a:t>
            </a:r>
            <a:r>
              <a:rPr lang="en-US" sz="2200" err="1"/>
              <a:t>decir</a:t>
            </a:r>
            <a:r>
              <a:rPr lang="en-US" sz="2200"/>
              <a:t>, </a:t>
            </a:r>
            <a:r>
              <a:rPr lang="en-US" sz="2200" err="1"/>
              <a:t>funciones</a:t>
            </a:r>
            <a:r>
              <a:rPr lang="en-US" sz="2200"/>
              <a:t> </a:t>
            </a:r>
            <a:r>
              <a:rPr lang="en-US" sz="2200" err="1"/>
              <a:t>dentro</a:t>
            </a:r>
            <a:r>
              <a:rPr lang="en-US" sz="2200"/>
              <a:t> de </a:t>
            </a:r>
            <a:r>
              <a:rPr lang="en-US" sz="2200" err="1"/>
              <a:t>otras</a:t>
            </a:r>
            <a:r>
              <a:rPr lang="en-US" sz="2200"/>
              <a:t> </a:t>
            </a:r>
            <a:r>
              <a:rPr lang="en-US" sz="2200" err="1"/>
              <a:t>funciones</a:t>
            </a:r>
            <a:r>
              <a:rPr lang="en-US" sz="2200"/>
              <a:t>. </a:t>
            </a:r>
          </a:p>
          <a:p>
            <a:endParaRPr lang="en-US" sz="2400"/>
          </a:p>
          <a:p>
            <a:br>
              <a:rPr lang="en-US" sz="2400"/>
            </a:br>
            <a:endParaRPr lang="en-US" sz="2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421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Parametros</a:t>
            </a:r>
          </a:p>
          <a:p>
            <a:endParaRPr lang="es-A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074D2-3B0C-A549-92E9-EE779A910A6A}"/>
              </a:ext>
            </a:extLst>
          </p:cNvPr>
          <p:cNvSpPr txBox="1"/>
          <p:nvPr/>
        </p:nvSpPr>
        <p:spPr>
          <a:xfrm>
            <a:off x="143369" y="1192511"/>
            <a:ext cx="8899381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err="1">
                <a:solidFill>
                  <a:srgbClr val="0070C0"/>
                </a:solidFill>
              </a:rPr>
              <a:t>Alcanze</a:t>
            </a:r>
            <a:r>
              <a:rPr lang="en-US" sz="2400" b="1">
                <a:solidFill>
                  <a:srgbClr val="0070C0"/>
                </a:solidFill>
              </a:rPr>
              <a:t> (scope, </a:t>
            </a:r>
            <a:r>
              <a:rPr lang="en-US" sz="2400" b="1" err="1">
                <a:solidFill>
                  <a:srgbClr val="0070C0"/>
                </a:solidFill>
              </a:rPr>
              <a:t>ámbito</a:t>
            </a:r>
            <a:r>
              <a:rPr lang="en-US" sz="2400" b="1">
                <a:solidFill>
                  <a:srgbClr val="0070C0"/>
                </a:solidFill>
              </a:rPr>
              <a:t>) de la </a:t>
            </a:r>
            <a:r>
              <a:rPr lang="en-US" sz="2400" b="1" err="1">
                <a:solidFill>
                  <a:srgbClr val="0070C0"/>
                </a:solidFill>
              </a:rPr>
              <a:t>una</a:t>
            </a:r>
            <a:r>
              <a:rPr lang="en-US" sz="2400" b="1">
                <a:solidFill>
                  <a:srgbClr val="0070C0"/>
                </a:solidFill>
              </a:rPr>
              <a:t> variable:</a:t>
            </a:r>
          </a:p>
          <a:p>
            <a:br>
              <a:rPr lang="en-US" sz="2400"/>
            </a:br>
            <a:r>
              <a:rPr lang="en-US" sz="2400" err="1"/>
              <a:t>Ejemplo</a:t>
            </a:r>
            <a:r>
              <a:rPr lang="en-US" sz="2400"/>
              <a:t>:</a:t>
            </a:r>
          </a:p>
          <a:p>
            <a:endParaRPr lang="en-US" sz="2200"/>
          </a:p>
          <a:p>
            <a:endParaRPr lang="en-US" sz="2400"/>
          </a:p>
          <a:p>
            <a:br>
              <a:rPr lang="en-US" sz="2400"/>
            </a:br>
            <a:endParaRPr lang="en-US" sz="2400"/>
          </a:p>
          <a:p>
            <a:endParaRPr lang="en-US"/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97AC362A-7C25-664E-A59C-F0B5308CE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4860" y="1744663"/>
            <a:ext cx="78547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0" lang="es-ES_tradnl" sz="1400">
                <a:latin typeface="Arial" charset="0"/>
              </a:rPr>
              <a:t>Programa</a:t>
            </a:r>
            <a:endParaRPr kumimoji="0" lang="es-ES_tradnl" sz="1400"/>
          </a:p>
        </p:txBody>
      </p:sp>
      <p:sp>
        <p:nvSpPr>
          <p:cNvPr id="11" name="Rectangle 16">
            <a:extLst>
              <a:ext uri="{FF2B5EF4-FFF2-40B4-BE49-F238E27FC236}">
                <a16:creationId xmlns:a16="http://schemas.microsoft.com/office/drawing/2014/main" id="{DB385C42-339F-0446-9BDC-E4C28CAAC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7747" y="2444750"/>
            <a:ext cx="42319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0" lang="es-ES_tradnl" sz="1400">
                <a:latin typeface="Arial" charset="0"/>
              </a:rPr>
              <a:t>X = 0</a:t>
            </a:r>
            <a:endParaRPr kumimoji="0" lang="es-ES_tradnl" sz="1400"/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1129790D-6D48-C941-968F-223A1B56D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7747" y="2909888"/>
            <a:ext cx="92493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0" lang="es-ES_tradnl" sz="1400" err="1">
                <a:latin typeface="Arial" charset="0"/>
              </a:rPr>
              <a:t>def</a:t>
            </a:r>
            <a:r>
              <a:rPr kumimoji="0" lang="es-ES_tradnl" sz="1400">
                <a:latin typeface="Arial" charset="0"/>
              </a:rPr>
              <a:t> </a:t>
            </a:r>
            <a:r>
              <a:rPr kumimoji="0" lang="es-ES_tradnl" sz="1400" err="1">
                <a:latin typeface="Arial" charset="0"/>
              </a:rPr>
              <a:t>funcA</a:t>
            </a:r>
            <a:r>
              <a:rPr kumimoji="0" lang="es-ES_tradnl" sz="1400">
                <a:latin typeface="Arial" charset="0"/>
              </a:rPr>
              <a:t>():</a:t>
            </a:r>
            <a:endParaRPr kumimoji="0" lang="es-ES_tradnl" sz="1400"/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1D08B8F4-1111-CD40-81B2-2C7F9B2F2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0460" y="3433763"/>
            <a:ext cx="46961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0" lang="es-ES_tradnl" sz="1400">
                <a:latin typeface="Arial" charset="0"/>
              </a:rPr>
              <a:t>Y = 2 </a:t>
            </a:r>
            <a:endParaRPr kumimoji="0" lang="es-ES_tradnl" sz="1400"/>
          </a:p>
        </p:txBody>
      </p:sp>
      <p:sp>
        <p:nvSpPr>
          <p:cNvPr id="15" name="Rectangle 20">
            <a:extLst>
              <a:ext uri="{FF2B5EF4-FFF2-40B4-BE49-F238E27FC236}">
                <a16:creationId xmlns:a16="http://schemas.microsoft.com/office/drawing/2014/main" id="{598BFFFD-7F09-B644-81BE-B7629FC94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0460" y="3840163"/>
            <a:ext cx="92493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0" lang="es-ES_tradnl" sz="1400" err="1">
                <a:latin typeface="Arial" charset="0"/>
              </a:rPr>
              <a:t>def</a:t>
            </a:r>
            <a:r>
              <a:rPr kumimoji="0" lang="es-ES_tradnl" sz="1400">
                <a:latin typeface="Arial" charset="0"/>
              </a:rPr>
              <a:t> </a:t>
            </a:r>
            <a:r>
              <a:rPr kumimoji="0" lang="es-ES_tradnl" sz="1400" err="1">
                <a:latin typeface="Arial" charset="0"/>
              </a:rPr>
              <a:t>funcB</a:t>
            </a:r>
            <a:r>
              <a:rPr kumimoji="0" lang="es-ES_tradnl" sz="1400">
                <a:latin typeface="Arial" charset="0"/>
              </a:rPr>
              <a:t>():</a:t>
            </a:r>
            <a:endParaRPr kumimoji="0" lang="es-ES_tradnl" sz="1400"/>
          </a:p>
        </p:txBody>
      </p:sp>
      <p:sp>
        <p:nvSpPr>
          <p:cNvPr id="17" name="Rectangle 22">
            <a:extLst>
              <a:ext uri="{FF2B5EF4-FFF2-40B4-BE49-F238E27FC236}">
                <a16:creationId xmlns:a16="http://schemas.microsoft.com/office/drawing/2014/main" id="{FB43C0F9-06E3-164B-9A9F-45C9B7A17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5585" y="4535488"/>
            <a:ext cx="4119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0" lang="es-ES_tradnl" sz="1400">
                <a:latin typeface="Arial" charset="0"/>
              </a:rPr>
              <a:t>Z = 1</a:t>
            </a:r>
            <a:endParaRPr kumimoji="0" lang="es-ES_tradnl" sz="1400"/>
          </a:p>
        </p:txBody>
      </p:sp>
      <p:sp>
        <p:nvSpPr>
          <p:cNvPr id="24" name="Freeform 29">
            <a:extLst>
              <a:ext uri="{FF2B5EF4-FFF2-40B4-BE49-F238E27FC236}">
                <a16:creationId xmlns:a16="http://schemas.microsoft.com/office/drawing/2014/main" id="{6C606C87-7E08-5E4A-82B1-7AD31C02D0D4}"/>
              </a:ext>
            </a:extLst>
          </p:cNvPr>
          <p:cNvSpPr>
            <a:spLocks/>
          </p:cNvSpPr>
          <p:nvPr/>
        </p:nvSpPr>
        <p:spPr bwMode="auto">
          <a:xfrm>
            <a:off x="5380460" y="3944938"/>
            <a:ext cx="365125" cy="1457325"/>
          </a:xfrm>
          <a:custGeom>
            <a:avLst/>
            <a:gdLst>
              <a:gd name="T0" fmla="*/ 0 w 230"/>
              <a:gd name="T1" fmla="*/ 0 h 918"/>
              <a:gd name="T2" fmla="*/ 73025 w 230"/>
              <a:gd name="T3" fmla="*/ 4763 h 918"/>
              <a:gd name="T4" fmla="*/ 141288 w 230"/>
              <a:gd name="T5" fmla="*/ 7938 h 918"/>
              <a:gd name="T6" fmla="*/ 203200 w 230"/>
              <a:gd name="T7" fmla="*/ 20638 h 918"/>
              <a:gd name="T8" fmla="*/ 258763 w 230"/>
              <a:gd name="T9" fmla="*/ 36513 h 918"/>
              <a:gd name="T10" fmla="*/ 303213 w 230"/>
              <a:gd name="T11" fmla="*/ 57150 h 918"/>
              <a:gd name="T12" fmla="*/ 336550 w 230"/>
              <a:gd name="T13" fmla="*/ 77788 h 918"/>
              <a:gd name="T14" fmla="*/ 355600 w 230"/>
              <a:gd name="T15" fmla="*/ 96838 h 918"/>
              <a:gd name="T16" fmla="*/ 365125 w 230"/>
              <a:gd name="T17" fmla="*/ 122238 h 918"/>
              <a:gd name="T18" fmla="*/ 365125 w 230"/>
              <a:gd name="T19" fmla="*/ 1335088 h 918"/>
              <a:gd name="T20" fmla="*/ 355600 w 230"/>
              <a:gd name="T21" fmla="*/ 1358900 h 918"/>
              <a:gd name="T22" fmla="*/ 336550 w 230"/>
              <a:gd name="T23" fmla="*/ 1384300 h 918"/>
              <a:gd name="T24" fmla="*/ 303213 w 230"/>
              <a:gd name="T25" fmla="*/ 1403350 h 918"/>
              <a:gd name="T26" fmla="*/ 258763 w 230"/>
              <a:gd name="T27" fmla="*/ 1420813 h 918"/>
              <a:gd name="T28" fmla="*/ 203200 w 230"/>
              <a:gd name="T29" fmla="*/ 1436688 h 918"/>
              <a:gd name="T30" fmla="*/ 141288 w 230"/>
              <a:gd name="T31" fmla="*/ 1447800 h 918"/>
              <a:gd name="T32" fmla="*/ 73025 w 230"/>
              <a:gd name="T33" fmla="*/ 1452563 h 918"/>
              <a:gd name="T34" fmla="*/ 0 w 230"/>
              <a:gd name="T35" fmla="*/ 1457325 h 91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30" h="918">
                <a:moveTo>
                  <a:pt x="0" y="0"/>
                </a:moveTo>
                <a:lnTo>
                  <a:pt x="46" y="3"/>
                </a:lnTo>
                <a:lnTo>
                  <a:pt x="89" y="5"/>
                </a:lnTo>
                <a:lnTo>
                  <a:pt x="128" y="13"/>
                </a:lnTo>
                <a:lnTo>
                  <a:pt x="163" y="23"/>
                </a:lnTo>
                <a:lnTo>
                  <a:pt x="191" y="36"/>
                </a:lnTo>
                <a:lnTo>
                  <a:pt x="212" y="49"/>
                </a:lnTo>
                <a:lnTo>
                  <a:pt x="224" y="61"/>
                </a:lnTo>
                <a:lnTo>
                  <a:pt x="230" y="77"/>
                </a:lnTo>
                <a:lnTo>
                  <a:pt x="230" y="841"/>
                </a:lnTo>
                <a:lnTo>
                  <a:pt x="224" y="856"/>
                </a:lnTo>
                <a:lnTo>
                  <a:pt x="212" y="872"/>
                </a:lnTo>
                <a:lnTo>
                  <a:pt x="191" y="884"/>
                </a:lnTo>
                <a:lnTo>
                  <a:pt x="163" y="895"/>
                </a:lnTo>
                <a:lnTo>
                  <a:pt x="128" y="905"/>
                </a:lnTo>
                <a:lnTo>
                  <a:pt x="89" y="912"/>
                </a:lnTo>
                <a:lnTo>
                  <a:pt x="46" y="915"/>
                </a:lnTo>
                <a:lnTo>
                  <a:pt x="0" y="918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s-AR"/>
          </a:p>
        </p:txBody>
      </p:sp>
      <p:grpSp>
        <p:nvGrpSpPr>
          <p:cNvPr id="25" name="Group 32">
            <a:extLst>
              <a:ext uri="{FF2B5EF4-FFF2-40B4-BE49-F238E27FC236}">
                <a16:creationId xmlns:a16="http://schemas.microsoft.com/office/drawing/2014/main" id="{3C84956E-3EE2-BE4A-9A3E-E2BFB41A13EB}"/>
              </a:ext>
            </a:extLst>
          </p:cNvPr>
          <p:cNvGrpSpPr>
            <a:grpSpLocks/>
          </p:cNvGrpSpPr>
          <p:nvPr/>
        </p:nvGrpSpPr>
        <p:grpSpPr bwMode="auto">
          <a:xfrm>
            <a:off x="5745585" y="4608513"/>
            <a:ext cx="363537" cy="133350"/>
            <a:chOff x="2983" y="2903"/>
            <a:chExt cx="229" cy="84"/>
          </a:xfrm>
        </p:grpSpPr>
        <p:sp>
          <p:nvSpPr>
            <p:cNvPr id="26" name="Line 30">
              <a:extLst>
                <a:ext uri="{FF2B5EF4-FFF2-40B4-BE49-F238E27FC236}">
                  <a16:creationId xmlns:a16="http://schemas.microsoft.com/office/drawing/2014/main" id="{09A99FA6-141E-0D42-89A8-FED7CE8EA6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3" y="2944"/>
              <a:ext cx="15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263CE973-37A5-9A43-9AC8-6161E37B6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0" y="2903"/>
              <a:ext cx="82" cy="84"/>
            </a:xfrm>
            <a:custGeom>
              <a:avLst/>
              <a:gdLst>
                <a:gd name="T0" fmla="*/ 0 w 82"/>
                <a:gd name="T1" fmla="*/ 84 h 84"/>
                <a:gd name="T2" fmla="*/ 82 w 82"/>
                <a:gd name="T3" fmla="*/ 41 h 84"/>
                <a:gd name="T4" fmla="*/ 0 w 82"/>
                <a:gd name="T5" fmla="*/ 0 h 84"/>
                <a:gd name="T6" fmla="*/ 0 w 82"/>
                <a:gd name="T7" fmla="*/ 84 h 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2" h="84">
                  <a:moveTo>
                    <a:pt x="0" y="84"/>
                  </a:moveTo>
                  <a:lnTo>
                    <a:pt x="82" y="41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8" name="Freeform 33">
            <a:extLst>
              <a:ext uri="{FF2B5EF4-FFF2-40B4-BE49-F238E27FC236}">
                <a16:creationId xmlns:a16="http://schemas.microsoft.com/office/drawing/2014/main" id="{89CEEB55-A0BA-084F-85E7-57DCBD87FC7A}"/>
              </a:ext>
            </a:extLst>
          </p:cNvPr>
          <p:cNvSpPr>
            <a:spLocks/>
          </p:cNvSpPr>
          <p:nvPr/>
        </p:nvSpPr>
        <p:spPr bwMode="auto">
          <a:xfrm>
            <a:off x="5259810" y="2974975"/>
            <a:ext cx="2062162" cy="3154363"/>
          </a:xfrm>
          <a:custGeom>
            <a:avLst/>
            <a:gdLst>
              <a:gd name="T0" fmla="*/ 0 w 1299"/>
              <a:gd name="T1" fmla="*/ 0 h 1987"/>
              <a:gd name="T2" fmla="*/ 209550 w 1299"/>
              <a:gd name="T3" fmla="*/ 0 h 1987"/>
              <a:gd name="T4" fmla="*/ 415925 w 1299"/>
              <a:gd name="T5" fmla="*/ 3175 h 1987"/>
              <a:gd name="T6" fmla="*/ 614362 w 1299"/>
              <a:gd name="T7" fmla="*/ 11113 h 1987"/>
              <a:gd name="T8" fmla="*/ 804862 w 1299"/>
              <a:gd name="T9" fmla="*/ 19050 h 1987"/>
              <a:gd name="T10" fmla="*/ 982662 w 1299"/>
              <a:gd name="T11" fmla="*/ 31750 h 1987"/>
              <a:gd name="T12" fmla="*/ 1152525 w 1299"/>
              <a:gd name="T13" fmla="*/ 44450 h 1987"/>
              <a:gd name="T14" fmla="*/ 1314450 w 1299"/>
              <a:gd name="T15" fmla="*/ 60325 h 1987"/>
              <a:gd name="T16" fmla="*/ 1460500 w 1299"/>
              <a:gd name="T17" fmla="*/ 76200 h 1987"/>
              <a:gd name="T18" fmla="*/ 1593850 w 1299"/>
              <a:gd name="T19" fmla="*/ 96838 h 1987"/>
              <a:gd name="T20" fmla="*/ 1711325 w 1299"/>
              <a:gd name="T21" fmla="*/ 115888 h 1987"/>
              <a:gd name="T22" fmla="*/ 1763712 w 1299"/>
              <a:gd name="T23" fmla="*/ 125413 h 1987"/>
              <a:gd name="T24" fmla="*/ 1816100 w 1299"/>
              <a:gd name="T25" fmla="*/ 136525 h 1987"/>
              <a:gd name="T26" fmla="*/ 1860550 w 1299"/>
              <a:gd name="T27" fmla="*/ 149225 h 1987"/>
              <a:gd name="T28" fmla="*/ 1900237 w 1299"/>
              <a:gd name="T29" fmla="*/ 160338 h 1987"/>
              <a:gd name="T30" fmla="*/ 1936750 w 1299"/>
              <a:gd name="T31" fmla="*/ 173038 h 1987"/>
              <a:gd name="T32" fmla="*/ 1970087 w 1299"/>
              <a:gd name="T33" fmla="*/ 185738 h 1987"/>
              <a:gd name="T34" fmla="*/ 1997075 w 1299"/>
              <a:gd name="T35" fmla="*/ 196850 h 1987"/>
              <a:gd name="T36" fmla="*/ 2022475 w 1299"/>
              <a:gd name="T37" fmla="*/ 209550 h 1987"/>
              <a:gd name="T38" fmla="*/ 2038350 w 1299"/>
              <a:gd name="T39" fmla="*/ 222250 h 1987"/>
              <a:gd name="T40" fmla="*/ 2051050 w 1299"/>
              <a:gd name="T41" fmla="*/ 233363 h 1987"/>
              <a:gd name="T42" fmla="*/ 2058987 w 1299"/>
              <a:gd name="T43" fmla="*/ 250825 h 1987"/>
              <a:gd name="T44" fmla="*/ 2062162 w 1299"/>
              <a:gd name="T45" fmla="*/ 261938 h 1987"/>
              <a:gd name="T46" fmla="*/ 2062162 w 1299"/>
              <a:gd name="T47" fmla="*/ 2892425 h 1987"/>
              <a:gd name="T48" fmla="*/ 2058987 w 1299"/>
              <a:gd name="T49" fmla="*/ 2903538 h 1987"/>
              <a:gd name="T50" fmla="*/ 2051050 w 1299"/>
              <a:gd name="T51" fmla="*/ 2919413 h 1987"/>
              <a:gd name="T52" fmla="*/ 2038350 w 1299"/>
              <a:gd name="T53" fmla="*/ 2932113 h 1987"/>
              <a:gd name="T54" fmla="*/ 2022475 w 1299"/>
              <a:gd name="T55" fmla="*/ 2944813 h 1987"/>
              <a:gd name="T56" fmla="*/ 1997075 w 1299"/>
              <a:gd name="T57" fmla="*/ 2955925 h 1987"/>
              <a:gd name="T58" fmla="*/ 1970087 w 1299"/>
              <a:gd name="T59" fmla="*/ 2968625 h 1987"/>
              <a:gd name="T60" fmla="*/ 1936750 w 1299"/>
              <a:gd name="T61" fmla="*/ 2981325 h 1987"/>
              <a:gd name="T62" fmla="*/ 1900237 w 1299"/>
              <a:gd name="T63" fmla="*/ 2992438 h 1987"/>
              <a:gd name="T64" fmla="*/ 1860550 w 1299"/>
              <a:gd name="T65" fmla="*/ 3005138 h 1987"/>
              <a:gd name="T66" fmla="*/ 1816100 w 1299"/>
              <a:gd name="T67" fmla="*/ 3017838 h 1987"/>
              <a:gd name="T68" fmla="*/ 1763712 w 1299"/>
              <a:gd name="T69" fmla="*/ 3028950 h 1987"/>
              <a:gd name="T70" fmla="*/ 1711325 w 1299"/>
              <a:gd name="T71" fmla="*/ 3036888 h 1987"/>
              <a:gd name="T72" fmla="*/ 1593850 w 1299"/>
              <a:gd name="T73" fmla="*/ 3057525 h 1987"/>
              <a:gd name="T74" fmla="*/ 1460500 w 1299"/>
              <a:gd name="T75" fmla="*/ 3078163 h 1987"/>
              <a:gd name="T76" fmla="*/ 1314450 w 1299"/>
              <a:gd name="T77" fmla="*/ 3094038 h 1987"/>
              <a:gd name="T78" fmla="*/ 1152525 w 1299"/>
              <a:gd name="T79" fmla="*/ 3109913 h 1987"/>
              <a:gd name="T80" fmla="*/ 982662 w 1299"/>
              <a:gd name="T81" fmla="*/ 3122613 h 1987"/>
              <a:gd name="T82" fmla="*/ 804862 w 1299"/>
              <a:gd name="T83" fmla="*/ 3135313 h 1987"/>
              <a:gd name="T84" fmla="*/ 614362 w 1299"/>
              <a:gd name="T85" fmla="*/ 3143250 h 1987"/>
              <a:gd name="T86" fmla="*/ 415925 w 1299"/>
              <a:gd name="T87" fmla="*/ 3151188 h 1987"/>
              <a:gd name="T88" fmla="*/ 209550 w 1299"/>
              <a:gd name="T89" fmla="*/ 3154363 h 1987"/>
              <a:gd name="T90" fmla="*/ 0 w 1299"/>
              <a:gd name="T91" fmla="*/ 3154363 h 1987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1299" h="1987">
                <a:moveTo>
                  <a:pt x="0" y="0"/>
                </a:moveTo>
                <a:lnTo>
                  <a:pt x="132" y="0"/>
                </a:lnTo>
                <a:lnTo>
                  <a:pt x="262" y="2"/>
                </a:lnTo>
                <a:lnTo>
                  <a:pt x="387" y="7"/>
                </a:lnTo>
                <a:lnTo>
                  <a:pt x="507" y="12"/>
                </a:lnTo>
                <a:lnTo>
                  <a:pt x="619" y="20"/>
                </a:lnTo>
                <a:lnTo>
                  <a:pt x="726" y="28"/>
                </a:lnTo>
                <a:lnTo>
                  <a:pt x="828" y="38"/>
                </a:lnTo>
                <a:lnTo>
                  <a:pt x="920" y="48"/>
                </a:lnTo>
                <a:lnTo>
                  <a:pt x="1004" y="61"/>
                </a:lnTo>
                <a:lnTo>
                  <a:pt x="1078" y="73"/>
                </a:lnTo>
                <a:lnTo>
                  <a:pt x="1111" y="79"/>
                </a:lnTo>
                <a:lnTo>
                  <a:pt x="1144" y="86"/>
                </a:lnTo>
                <a:lnTo>
                  <a:pt x="1172" y="94"/>
                </a:lnTo>
                <a:lnTo>
                  <a:pt x="1197" y="101"/>
                </a:lnTo>
                <a:lnTo>
                  <a:pt x="1220" y="109"/>
                </a:lnTo>
                <a:lnTo>
                  <a:pt x="1241" y="117"/>
                </a:lnTo>
                <a:lnTo>
                  <a:pt x="1258" y="124"/>
                </a:lnTo>
                <a:lnTo>
                  <a:pt x="1274" y="132"/>
                </a:lnTo>
                <a:lnTo>
                  <a:pt x="1284" y="140"/>
                </a:lnTo>
                <a:lnTo>
                  <a:pt x="1292" y="147"/>
                </a:lnTo>
                <a:lnTo>
                  <a:pt x="1297" y="158"/>
                </a:lnTo>
                <a:lnTo>
                  <a:pt x="1299" y="165"/>
                </a:lnTo>
                <a:lnTo>
                  <a:pt x="1299" y="1822"/>
                </a:lnTo>
                <a:lnTo>
                  <a:pt x="1297" y="1829"/>
                </a:lnTo>
                <a:lnTo>
                  <a:pt x="1292" y="1839"/>
                </a:lnTo>
                <a:lnTo>
                  <a:pt x="1284" y="1847"/>
                </a:lnTo>
                <a:lnTo>
                  <a:pt x="1274" y="1855"/>
                </a:lnTo>
                <a:lnTo>
                  <a:pt x="1258" y="1862"/>
                </a:lnTo>
                <a:lnTo>
                  <a:pt x="1241" y="1870"/>
                </a:lnTo>
                <a:lnTo>
                  <a:pt x="1220" y="1878"/>
                </a:lnTo>
                <a:lnTo>
                  <a:pt x="1197" y="1885"/>
                </a:lnTo>
                <a:lnTo>
                  <a:pt x="1172" y="1893"/>
                </a:lnTo>
                <a:lnTo>
                  <a:pt x="1144" y="1901"/>
                </a:lnTo>
                <a:lnTo>
                  <a:pt x="1111" y="1908"/>
                </a:lnTo>
                <a:lnTo>
                  <a:pt x="1078" y="1913"/>
                </a:lnTo>
                <a:lnTo>
                  <a:pt x="1004" y="1926"/>
                </a:lnTo>
                <a:lnTo>
                  <a:pt x="920" y="1939"/>
                </a:lnTo>
                <a:lnTo>
                  <a:pt x="828" y="1949"/>
                </a:lnTo>
                <a:lnTo>
                  <a:pt x="726" y="1959"/>
                </a:lnTo>
                <a:lnTo>
                  <a:pt x="619" y="1967"/>
                </a:lnTo>
                <a:lnTo>
                  <a:pt x="507" y="1975"/>
                </a:lnTo>
                <a:lnTo>
                  <a:pt x="387" y="1980"/>
                </a:lnTo>
                <a:lnTo>
                  <a:pt x="262" y="1985"/>
                </a:lnTo>
                <a:lnTo>
                  <a:pt x="132" y="1987"/>
                </a:lnTo>
                <a:lnTo>
                  <a:pt x="0" y="1987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s-AR"/>
          </a:p>
        </p:txBody>
      </p:sp>
      <p:grpSp>
        <p:nvGrpSpPr>
          <p:cNvPr id="29" name="Group 36">
            <a:extLst>
              <a:ext uri="{FF2B5EF4-FFF2-40B4-BE49-F238E27FC236}">
                <a16:creationId xmlns:a16="http://schemas.microsoft.com/office/drawing/2014/main" id="{CFACD6E7-884C-F644-AC56-40235E078CFE}"/>
              </a:ext>
            </a:extLst>
          </p:cNvPr>
          <p:cNvGrpSpPr>
            <a:grpSpLocks/>
          </p:cNvGrpSpPr>
          <p:nvPr/>
        </p:nvGrpSpPr>
        <p:grpSpPr bwMode="auto">
          <a:xfrm>
            <a:off x="7321972" y="4487863"/>
            <a:ext cx="363538" cy="133350"/>
            <a:chOff x="3976" y="2827"/>
            <a:chExt cx="229" cy="84"/>
          </a:xfrm>
        </p:grpSpPr>
        <p:sp>
          <p:nvSpPr>
            <p:cNvPr id="30" name="Line 34">
              <a:extLst>
                <a:ext uri="{FF2B5EF4-FFF2-40B4-BE49-F238E27FC236}">
                  <a16:creationId xmlns:a16="http://schemas.microsoft.com/office/drawing/2014/main" id="{58A5D3CF-6476-5242-8EBB-C60D8F9A1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6" y="2867"/>
              <a:ext cx="15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62F657A9-66C2-DC4B-9ACA-F5EB44D27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4" y="2827"/>
              <a:ext cx="81" cy="84"/>
            </a:xfrm>
            <a:custGeom>
              <a:avLst/>
              <a:gdLst>
                <a:gd name="T0" fmla="*/ 0 w 81"/>
                <a:gd name="T1" fmla="*/ 84 h 84"/>
                <a:gd name="T2" fmla="*/ 81 w 81"/>
                <a:gd name="T3" fmla="*/ 40 h 84"/>
                <a:gd name="T4" fmla="*/ 0 w 81"/>
                <a:gd name="T5" fmla="*/ 0 h 84"/>
                <a:gd name="T6" fmla="*/ 0 w 81"/>
                <a:gd name="T7" fmla="*/ 84 h 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1" h="84">
                  <a:moveTo>
                    <a:pt x="0" y="84"/>
                  </a:moveTo>
                  <a:lnTo>
                    <a:pt x="81" y="40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32" name="Freeform 37">
            <a:extLst>
              <a:ext uri="{FF2B5EF4-FFF2-40B4-BE49-F238E27FC236}">
                <a16:creationId xmlns:a16="http://schemas.microsoft.com/office/drawing/2014/main" id="{28B67A3C-B21B-3946-A0F9-ABCBB6F7073F}"/>
              </a:ext>
            </a:extLst>
          </p:cNvPr>
          <p:cNvSpPr>
            <a:spLocks/>
          </p:cNvSpPr>
          <p:nvPr/>
        </p:nvSpPr>
        <p:spPr bwMode="auto">
          <a:xfrm>
            <a:off x="3075410" y="1760538"/>
            <a:ext cx="485775" cy="5097462"/>
          </a:xfrm>
          <a:custGeom>
            <a:avLst/>
            <a:gdLst>
              <a:gd name="T0" fmla="*/ 485775 w 306"/>
              <a:gd name="T1" fmla="*/ 0 h 3211"/>
              <a:gd name="T2" fmla="*/ 436563 w 306"/>
              <a:gd name="T3" fmla="*/ 4762 h 3211"/>
              <a:gd name="T4" fmla="*/ 388938 w 306"/>
              <a:gd name="T5" fmla="*/ 7937 h 3211"/>
              <a:gd name="T6" fmla="*/ 295275 w 306"/>
              <a:gd name="T7" fmla="*/ 31750 h 3211"/>
              <a:gd name="T8" fmla="*/ 214313 w 306"/>
              <a:gd name="T9" fmla="*/ 73025 h 3211"/>
              <a:gd name="T10" fmla="*/ 141288 w 306"/>
              <a:gd name="T11" fmla="*/ 125412 h 3211"/>
              <a:gd name="T12" fmla="*/ 85725 w 306"/>
              <a:gd name="T13" fmla="*/ 185737 h 3211"/>
              <a:gd name="T14" fmla="*/ 60325 w 306"/>
              <a:gd name="T15" fmla="*/ 222250 h 3211"/>
              <a:gd name="T16" fmla="*/ 41275 w 306"/>
              <a:gd name="T17" fmla="*/ 258762 h 3211"/>
              <a:gd name="T18" fmla="*/ 20638 w 306"/>
              <a:gd name="T19" fmla="*/ 300037 h 3211"/>
              <a:gd name="T20" fmla="*/ 7938 w 306"/>
              <a:gd name="T21" fmla="*/ 339725 h 3211"/>
              <a:gd name="T22" fmla="*/ 4763 w 306"/>
              <a:gd name="T23" fmla="*/ 381000 h 3211"/>
              <a:gd name="T24" fmla="*/ 0 w 306"/>
              <a:gd name="T25" fmla="*/ 425450 h 3211"/>
              <a:gd name="T26" fmla="*/ 0 w 306"/>
              <a:gd name="T27" fmla="*/ 4672012 h 3211"/>
              <a:gd name="T28" fmla="*/ 4763 w 306"/>
              <a:gd name="T29" fmla="*/ 4716462 h 3211"/>
              <a:gd name="T30" fmla="*/ 7938 w 306"/>
              <a:gd name="T31" fmla="*/ 4757737 h 3211"/>
              <a:gd name="T32" fmla="*/ 20638 w 306"/>
              <a:gd name="T33" fmla="*/ 4797425 h 3211"/>
              <a:gd name="T34" fmla="*/ 41275 w 306"/>
              <a:gd name="T35" fmla="*/ 4838700 h 3211"/>
              <a:gd name="T36" fmla="*/ 60325 w 306"/>
              <a:gd name="T37" fmla="*/ 4875212 h 3211"/>
              <a:gd name="T38" fmla="*/ 85725 w 306"/>
              <a:gd name="T39" fmla="*/ 4911725 h 3211"/>
              <a:gd name="T40" fmla="*/ 141288 w 306"/>
              <a:gd name="T41" fmla="*/ 4972050 h 3211"/>
              <a:gd name="T42" fmla="*/ 214313 w 306"/>
              <a:gd name="T43" fmla="*/ 5024437 h 3211"/>
              <a:gd name="T44" fmla="*/ 295275 w 306"/>
              <a:gd name="T45" fmla="*/ 5065712 h 3211"/>
              <a:gd name="T46" fmla="*/ 388938 w 306"/>
              <a:gd name="T47" fmla="*/ 5089525 h 3211"/>
              <a:gd name="T48" fmla="*/ 436563 w 306"/>
              <a:gd name="T49" fmla="*/ 5092700 h 3211"/>
              <a:gd name="T50" fmla="*/ 485775 w 306"/>
              <a:gd name="T51" fmla="*/ 5097462 h 321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306" h="3211">
                <a:moveTo>
                  <a:pt x="306" y="0"/>
                </a:moveTo>
                <a:lnTo>
                  <a:pt x="275" y="3"/>
                </a:lnTo>
                <a:lnTo>
                  <a:pt x="245" y="5"/>
                </a:lnTo>
                <a:lnTo>
                  <a:pt x="186" y="20"/>
                </a:lnTo>
                <a:lnTo>
                  <a:pt x="135" y="46"/>
                </a:lnTo>
                <a:lnTo>
                  <a:pt x="89" y="79"/>
                </a:lnTo>
                <a:lnTo>
                  <a:pt x="54" y="117"/>
                </a:lnTo>
                <a:lnTo>
                  <a:pt x="38" y="140"/>
                </a:lnTo>
                <a:lnTo>
                  <a:pt x="26" y="163"/>
                </a:lnTo>
                <a:lnTo>
                  <a:pt x="13" y="189"/>
                </a:lnTo>
                <a:lnTo>
                  <a:pt x="5" y="214"/>
                </a:lnTo>
                <a:lnTo>
                  <a:pt x="3" y="240"/>
                </a:lnTo>
                <a:lnTo>
                  <a:pt x="0" y="268"/>
                </a:lnTo>
                <a:lnTo>
                  <a:pt x="0" y="2943"/>
                </a:lnTo>
                <a:lnTo>
                  <a:pt x="3" y="2971"/>
                </a:lnTo>
                <a:lnTo>
                  <a:pt x="5" y="2997"/>
                </a:lnTo>
                <a:lnTo>
                  <a:pt x="13" y="3022"/>
                </a:lnTo>
                <a:lnTo>
                  <a:pt x="26" y="3048"/>
                </a:lnTo>
                <a:lnTo>
                  <a:pt x="38" y="3071"/>
                </a:lnTo>
                <a:lnTo>
                  <a:pt x="54" y="3094"/>
                </a:lnTo>
                <a:lnTo>
                  <a:pt x="89" y="3132"/>
                </a:lnTo>
                <a:lnTo>
                  <a:pt x="135" y="3165"/>
                </a:lnTo>
                <a:lnTo>
                  <a:pt x="186" y="3191"/>
                </a:lnTo>
                <a:lnTo>
                  <a:pt x="245" y="3206"/>
                </a:lnTo>
                <a:lnTo>
                  <a:pt x="275" y="3208"/>
                </a:lnTo>
                <a:lnTo>
                  <a:pt x="306" y="3211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s-AR"/>
          </a:p>
        </p:txBody>
      </p:sp>
      <p:grpSp>
        <p:nvGrpSpPr>
          <p:cNvPr id="33" name="Group 40">
            <a:extLst>
              <a:ext uri="{FF2B5EF4-FFF2-40B4-BE49-F238E27FC236}">
                <a16:creationId xmlns:a16="http://schemas.microsoft.com/office/drawing/2014/main" id="{D520DE70-DC26-3F4F-BA98-BCA3FCFD3F3E}"/>
              </a:ext>
            </a:extLst>
          </p:cNvPr>
          <p:cNvGrpSpPr>
            <a:grpSpLocks/>
          </p:cNvGrpSpPr>
          <p:nvPr/>
        </p:nvGrpSpPr>
        <p:grpSpPr bwMode="auto">
          <a:xfrm>
            <a:off x="2711872" y="4240213"/>
            <a:ext cx="363538" cy="133350"/>
            <a:chOff x="1072" y="2671"/>
            <a:chExt cx="229" cy="84"/>
          </a:xfrm>
        </p:grpSpPr>
        <p:sp>
          <p:nvSpPr>
            <p:cNvPr id="34" name="Line 38">
              <a:extLst>
                <a:ext uri="{FF2B5EF4-FFF2-40B4-BE49-F238E27FC236}">
                  <a16:creationId xmlns:a16="http://schemas.microsoft.com/office/drawing/2014/main" id="{8C2A8390-8361-B145-9DB4-381AC8B297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48" y="2715"/>
              <a:ext cx="15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5" name="Freeform 39">
              <a:extLst>
                <a:ext uri="{FF2B5EF4-FFF2-40B4-BE49-F238E27FC236}">
                  <a16:creationId xmlns:a16="http://schemas.microsoft.com/office/drawing/2014/main" id="{11B87023-38BB-984C-817E-9D8C412A2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" y="2671"/>
              <a:ext cx="81" cy="84"/>
            </a:xfrm>
            <a:custGeom>
              <a:avLst/>
              <a:gdLst>
                <a:gd name="T0" fmla="*/ 81 w 81"/>
                <a:gd name="T1" fmla="*/ 0 h 84"/>
                <a:gd name="T2" fmla="*/ 0 w 81"/>
                <a:gd name="T3" fmla="*/ 44 h 84"/>
                <a:gd name="T4" fmla="*/ 81 w 81"/>
                <a:gd name="T5" fmla="*/ 84 h 84"/>
                <a:gd name="T6" fmla="*/ 81 w 81"/>
                <a:gd name="T7" fmla="*/ 0 h 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1" h="84">
                  <a:moveTo>
                    <a:pt x="81" y="0"/>
                  </a:moveTo>
                  <a:lnTo>
                    <a:pt x="0" y="44"/>
                  </a:lnTo>
                  <a:lnTo>
                    <a:pt x="81" y="84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36" name="Rectangle 41">
            <a:extLst>
              <a:ext uri="{FF2B5EF4-FFF2-40B4-BE49-F238E27FC236}">
                <a16:creationId xmlns:a16="http://schemas.microsoft.com/office/drawing/2014/main" id="{E0A1745B-6FFB-1748-98E0-2300CD59D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672" y="3944938"/>
            <a:ext cx="969963" cy="8493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37" name="Rectangle 42">
            <a:extLst>
              <a:ext uri="{FF2B5EF4-FFF2-40B4-BE49-F238E27FC236}">
                <a16:creationId xmlns:a16="http://schemas.microsoft.com/office/drawing/2014/main" id="{65F55975-E46E-674D-B6C6-000CB1227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5085" y="4002088"/>
            <a:ext cx="7556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0" lang="es-ES_tradnl" sz="1400">
                <a:solidFill>
                  <a:srgbClr val="000000"/>
                </a:solidFill>
              </a:rPr>
              <a:t>Ambito de</a:t>
            </a:r>
            <a:endParaRPr kumimoji="0" lang="es-ES_tradnl" sz="1400"/>
          </a:p>
        </p:txBody>
      </p:sp>
      <p:sp>
        <p:nvSpPr>
          <p:cNvPr id="38" name="Rectangle 43">
            <a:extLst>
              <a:ext uri="{FF2B5EF4-FFF2-40B4-BE49-F238E27FC236}">
                <a16:creationId xmlns:a16="http://schemas.microsoft.com/office/drawing/2014/main" id="{B6A33A20-04AD-9845-8B10-17E1F98C2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9847" y="4195763"/>
            <a:ext cx="74612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0" lang="es-ES_tradnl" sz="1400">
                <a:solidFill>
                  <a:srgbClr val="000000"/>
                </a:solidFill>
              </a:rPr>
              <a:t>la variable</a:t>
            </a:r>
            <a:endParaRPr kumimoji="0" lang="es-ES_tradnl" sz="1400"/>
          </a:p>
        </p:txBody>
      </p:sp>
      <p:sp>
        <p:nvSpPr>
          <p:cNvPr id="39" name="Rectangle 44">
            <a:extLst>
              <a:ext uri="{FF2B5EF4-FFF2-40B4-BE49-F238E27FC236}">
                <a16:creationId xmlns:a16="http://schemas.microsoft.com/office/drawing/2014/main" id="{BBF7AADE-2679-6C4D-B8FC-1B537558A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5122" y="4398963"/>
            <a:ext cx="128588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0" lang="es-ES_tradnl" sz="1400">
                <a:solidFill>
                  <a:srgbClr val="000000"/>
                </a:solidFill>
              </a:rPr>
              <a:t>X</a:t>
            </a:r>
            <a:endParaRPr kumimoji="0" lang="es-ES_tradnl" sz="1400"/>
          </a:p>
        </p:txBody>
      </p:sp>
      <p:sp>
        <p:nvSpPr>
          <p:cNvPr id="40" name="Rectangle 45">
            <a:extLst>
              <a:ext uri="{FF2B5EF4-FFF2-40B4-BE49-F238E27FC236}">
                <a16:creationId xmlns:a16="http://schemas.microsoft.com/office/drawing/2014/main" id="{A1FAE028-A63A-BC44-922F-E4BD2B231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7747" y="4187825"/>
            <a:ext cx="1212850" cy="6064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41" name="Rectangle 46">
            <a:extLst>
              <a:ext uri="{FF2B5EF4-FFF2-40B4-BE49-F238E27FC236}">
                <a16:creationId xmlns:a16="http://schemas.microsoft.com/office/drawing/2014/main" id="{37C198EF-C603-3648-AD34-1A2D176A7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2847" y="4244975"/>
            <a:ext cx="928688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0" lang="es-ES_tradnl" sz="1400">
                <a:solidFill>
                  <a:srgbClr val="000000"/>
                </a:solidFill>
              </a:rPr>
              <a:t>Ambito de la</a:t>
            </a:r>
            <a:endParaRPr kumimoji="0" lang="es-ES_tradnl" sz="1400"/>
          </a:p>
        </p:txBody>
      </p:sp>
      <p:sp>
        <p:nvSpPr>
          <p:cNvPr id="42" name="Rectangle 47">
            <a:extLst>
              <a:ext uri="{FF2B5EF4-FFF2-40B4-BE49-F238E27FC236}">
                <a16:creationId xmlns:a16="http://schemas.microsoft.com/office/drawing/2014/main" id="{F12F89AF-3E60-174A-B993-C999B3948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8572" y="4446588"/>
            <a:ext cx="74612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0" lang="es-ES_tradnl" sz="1400">
                <a:solidFill>
                  <a:srgbClr val="000000"/>
                </a:solidFill>
              </a:rPr>
              <a:t>variable Y</a:t>
            </a:r>
            <a:endParaRPr kumimoji="0" lang="es-ES_tradnl" sz="1400"/>
          </a:p>
        </p:txBody>
      </p:sp>
      <p:sp>
        <p:nvSpPr>
          <p:cNvPr id="43" name="Rectangle 48">
            <a:extLst>
              <a:ext uri="{FF2B5EF4-FFF2-40B4-BE49-F238E27FC236}">
                <a16:creationId xmlns:a16="http://schemas.microsoft.com/office/drawing/2014/main" id="{611DB95C-3A02-4D4B-8ABF-C2ACD767E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9122" y="4187825"/>
            <a:ext cx="849313" cy="9715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44" name="Rectangle 49">
            <a:extLst>
              <a:ext uri="{FF2B5EF4-FFF2-40B4-BE49-F238E27FC236}">
                <a16:creationId xmlns:a16="http://schemas.microsoft.com/office/drawing/2014/main" id="{533A3D26-023B-3D43-BB06-C6A8F428F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4222" y="4244975"/>
            <a:ext cx="54292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0" lang="es-ES_tradnl" sz="1400">
                <a:solidFill>
                  <a:srgbClr val="000000"/>
                </a:solidFill>
              </a:rPr>
              <a:t>Ambito</a:t>
            </a:r>
            <a:endParaRPr kumimoji="0" lang="es-ES_tradnl" sz="1400"/>
          </a:p>
        </p:txBody>
      </p:sp>
      <p:sp>
        <p:nvSpPr>
          <p:cNvPr id="45" name="Rectangle 50">
            <a:extLst>
              <a:ext uri="{FF2B5EF4-FFF2-40B4-BE49-F238E27FC236}">
                <a16:creationId xmlns:a16="http://schemas.microsoft.com/office/drawing/2014/main" id="{3EF7062E-FB0F-F84E-983A-8B7489483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060" y="4438650"/>
            <a:ext cx="3413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0" lang="es-ES_tradnl" sz="1400">
                <a:solidFill>
                  <a:srgbClr val="000000"/>
                </a:solidFill>
              </a:rPr>
              <a:t>de la</a:t>
            </a:r>
            <a:endParaRPr kumimoji="0" lang="es-ES_tradnl" sz="1400"/>
          </a:p>
        </p:txBody>
      </p:sp>
      <p:sp>
        <p:nvSpPr>
          <p:cNvPr id="46" name="Rectangle 51">
            <a:extLst>
              <a:ext uri="{FF2B5EF4-FFF2-40B4-BE49-F238E27FC236}">
                <a16:creationId xmlns:a16="http://schemas.microsoft.com/office/drawing/2014/main" id="{397218E7-C6FA-B847-A320-88A8D4941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3110" y="4632325"/>
            <a:ext cx="573087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0" lang="es-ES_tradnl" sz="1400">
                <a:solidFill>
                  <a:srgbClr val="000000"/>
                </a:solidFill>
              </a:rPr>
              <a:t>variable</a:t>
            </a:r>
            <a:endParaRPr kumimoji="0" lang="es-ES_tradnl" sz="1400"/>
          </a:p>
        </p:txBody>
      </p:sp>
      <p:sp>
        <p:nvSpPr>
          <p:cNvPr id="47" name="Rectangle 52">
            <a:extLst>
              <a:ext uri="{FF2B5EF4-FFF2-40B4-BE49-F238E27FC236}">
                <a16:creationId xmlns:a16="http://schemas.microsoft.com/office/drawing/2014/main" id="{6EDAA107-F3CF-234E-AA6E-020CB016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597" y="4835525"/>
            <a:ext cx="1079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0" lang="es-ES_tradnl" sz="1400">
                <a:solidFill>
                  <a:srgbClr val="000000"/>
                </a:solidFill>
              </a:rPr>
              <a:t>Z</a:t>
            </a:r>
            <a:endParaRPr kumimoji="0" lang="es-ES_tradnl" sz="1400"/>
          </a:p>
        </p:txBody>
      </p:sp>
    </p:spTree>
    <p:extLst>
      <p:ext uri="{BB962C8B-B14F-4D97-AF65-F5344CB8AC3E}">
        <p14:creationId xmlns:p14="http://schemas.microsoft.com/office/powerpoint/2010/main" val="1212189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Parametros</a:t>
            </a:r>
          </a:p>
          <a:p>
            <a:endParaRPr lang="es-A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074D2-3B0C-A549-92E9-EE779A910A6A}"/>
              </a:ext>
            </a:extLst>
          </p:cNvPr>
          <p:cNvSpPr txBox="1"/>
          <p:nvPr/>
        </p:nvSpPr>
        <p:spPr>
          <a:xfrm>
            <a:off x="143369" y="1192511"/>
            <a:ext cx="8899381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err="1">
                <a:solidFill>
                  <a:srgbClr val="0070C0"/>
                </a:solidFill>
              </a:rPr>
              <a:t>Alcanze</a:t>
            </a:r>
            <a:r>
              <a:rPr lang="en-US" sz="2400" b="1">
                <a:solidFill>
                  <a:srgbClr val="0070C0"/>
                </a:solidFill>
              </a:rPr>
              <a:t> (scope, </a:t>
            </a:r>
            <a:r>
              <a:rPr lang="en-US" sz="2400" b="1" err="1">
                <a:solidFill>
                  <a:srgbClr val="0070C0"/>
                </a:solidFill>
              </a:rPr>
              <a:t>ámbito</a:t>
            </a:r>
            <a:r>
              <a:rPr lang="en-US" sz="2400" b="1">
                <a:solidFill>
                  <a:srgbClr val="0070C0"/>
                </a:solidFill>
              </a:rPr>
              <a:t>) de la </a:t>
            </a:r>
            <a:r>
              <a:rPr lang="en-US" sz="2400" b="1" err="1">
                <a:solidFill>
                  <a:srgbClr val="0070C0"/>
                </a:solidFill>
              </a:rPr>
              <a:t>una</a:t>
            </a:r>
            <a:r>
              <a:rPr lang="en-US" sz="2400" b="1">
                <a:solidFill>
                  <a:srgbClr val="0070C0"/>
                </a:solidFill>
              </a:rPr>
              <a:t> variable:</a:t>
            </a:r>
          </a:p>
          <a:p>
            <a:br>
              <a:rPr lang="en-US" sz="2000"/>
            </a:br>
            <a:r>
              <a:rPr lang="en-US" sz="2000"/>
              <a:t>La </a:t>
            </a:r>
            <a:r>
              <a:rPr lang="en-US" sz="2000" err="1"/>
              <a:t>razón</a:t>
            </a:r>
            <a:r>
              <a:rPr lang="en-US" sz="2000"/>
              <a:t> principal </a:t>
            </a:r>
            <a:r>
              <a:rPr lang="en-US" sz="2000" err="1"/>
              <a:t>por</a:t>
            </a:r>
            <a:r>
              <a:rPr lang="en-US" sz="2000"/>
              <a:t> la </a:t>
            </a:r>
            <a:r>
              <a:rPr lang="en-US" sz="2000" err="1"/>
              <a:t>cual</a:t>
            </a:r>
            <a:r>
              <a:rPr lang="en-US" sz="2000"/>
              <a:t> </a:t>
            </a:r>
            <a:r>
              <a:rPr lang="en-US" sz="2000" err="1"/>
              <a:t>los</a:t>
            </a:r>
            <a:r>
              <a:rPr lang="en-US" sz="2000"/>
              <a:t> variables </a:t>
            </a:r>
            <a:r>
              <a:rPr lang="en-US" sz="2000" err="1"/>
              <a:t>tienen</a:t>
            </a:r>
            <a:r>
              <a:rPr lang="en-US" sz="2000"/>
              <a:t> un </a:t>
            </a:r>
            <a:r>
              <a:rPr lang="en-US" sz="2000" err="1"/>
              <a:t>alcanze</a:t>
            </a:r>
            <a:r>
              <a:rPr lang="en-US" sz="2000"/>
              <a:t> </a:t>
            </a:r>
            <a:r>
              <a:rPr lang="en-US" sz="2000" err="1"/>
              <a:t>predefinido</a:t>
            </a:r>
            <a:r>
              <a:rPr lang="en-US" sz="2000"/>
              <a:t> </a:t>
            </a:r>
            <a:r>
              <a:rPr lang="en-US" sz="2000" err="1"/>
              <a:t>es</a:t>
            </a:r>
            <a:r>
              <a:rPr lang="en-US" sz="2000"/>
              <a:t> para </a:t>
            </a:r>
            <a:r>
              <a:rPr lang="en-US" sz="2000" err="1"/>
              <a:t>evitar</a:t>
            </a:r>
            <a:r>
              <a:rPr lang="en-US" sz="2000"/>
              <a:t> </a:t>
            </a:r>
            <a:r>
              <a:rPr lang="en-US" sz="2000" b="1" err="1"/>
              <a:t>efectos</a:t>
            </a:r>
            <a:r>
              <a:rPr lang="en-US" sz="2000" b="1"/>
              <a:t> </a:t>
            </a:r>
            <a:r>
              <a:rPr lang="en-US" sz="2000" b="1" err="1"/>
              <a:t>secundarios</a:t>
            </a:r>
            <a:r>
              <a:rPr lang="en-US" sz="2000"/>
              <a:t>. </a:t>
            </a:r>
            <a:r>
              <a:rPr lang="en-US" sz="2000" err="1"/>
              <a:t>Es</a:t>
            </a:r>
            <a:r>
              <a:rPr lang="en-US" sz="2000"/>
              <a:t> </a:t>
            </a:r>
            <a:r>
              <a:rPr lang="en-US" sz="2000" err="1"/>
              <a:t>decir</a:t>
            </a:r>
            <a:r>
              <a:rPr lang="en-US" sz="2000"/>
              <a:t>, </a:t>
            </a:r>
            <a:r>
              <a:rPr lang="en-US" sz="2000" err="1"/>
              <a:t>cambiar</a:t>
            </a:r>
            <a:r>
              <a:rPr lang="en-US" sz="2000"/>
              <a:t> </a:t>
            </a:r>
            <a:r>
              <a:rPr lang="en-US" sz="2000" err="1"/>
              <a:t>los</a:t>
            </a:r>
            <a:r>
              <a:rPr lang="en-US" sz="2000"/>
              <a:t> </a:t>
            </a:r>
            <a:r>
              <a:rPr lang="en-US" sz="2000" err="1"/>
              <a:t>valores</a:t>
            </a:r>
            <a:r>
              <a:rPr lang="en-US" sz="2000"/>
              <a:t> de variables que </a:t>
            </a:r>
            <a:r>
              <a:rPr lang="en-US" sz="2000" err="1"/>
              <a:t>pasamos</a:t>
            </a:r>
            <a:r>
              <a:rPr lang="en-US" sz="2000"/>
              <a:t> </a:t>
            </a:r>
            <a:r>
              <a:rPr lang="en-US" sz="2000" err="1"/>
              <a:t>por</a:t>
            </a:r>
            <a:r>
              <a:rPr lang="en-US" sz="2000"/>
              <a:t> </a:t>
            </a:r>
            <a:r>
              <a:rPr lang="en-US" sz="2000" err="1"/>
              <a:t>argumento</a:t>
            </a:r>
            <a:r>
              <a:rPr lang="en-US" sz="2000"/>
              <a:t>. Por </a:t>
            </a:r>
            <a:r>
              <a:rPr lang="en-US" sz="2000" err="1"/>
              <a:t>defecto</a:t>
            </a:r>
            <a:r>
              <a:rPr lang="en-US" sz="2000"/>
              <a:t>, el </a:t>
            </a:r>
            <a:r>
              <a:rPr lang="en-US" sz="2000" err="1"/>
              <a:t>alcanze</a:t>
            </a:r>
            <a:r>
              <a:rPr lang="en-US" sz="2000"/>
              <a:t> de </a:t>
            </a:r>
            <a:r>
              <a:rPr lang="en-US" sz="2000" err="1"/>
              <a:t>una</a:t>
            </a:r>
            <a:r>
              <a:rPr lang="en-US" sz="2000"/>
              <a:t> variable </a:t>
            </a:r>
            <a:r>
              <a:rPr lang="en-US" sz="2000" err="1"/>
              <a:t>será</a:t>
            </a:r>
            <a:r>
              <a:rPr lang="en-US" sz="2000"/>
              <a:t> </a:t>
            </a:r>
            <a:r>
              <a:rPr lang="en-US" sz="2000" b="1" err="1"/>
              <a:t>dentro</a:t>
            </a:r>
            <a:r>
              <a:rPr lang="en-US" sz="2000" b="1"/>
              <a:t> del </a:t>
            </a:r>
            <a:r>
              <a:rPr lang="en-US" sz="2000" b="1" err="1"/>
              <a:t>cuerpo</a:t>
            </a:r>
            <a:r>
              <a:rPr lang="en-US" sz="2000" b="1"/>
              <a:t> de la </a:t>
            </a:r>
            <a:r>
              <a:rPr lang="en-US" sz="2000" b="1" err="1"/>
              <a:t>función</a:t>
            </a:r>
            <a:r>
              <a:rPr lang="en-US" sz="2000"/>
              <a:t>. </a:t>
            </a:r>
          </a:p>
          <a:p>
            <a:endParaRPr lang="en-US"/>
          </a:p>
          <a:p>
            <a:br>
              <a:rPr lang="en-US"/>
            </a:br>
            <a:r>
              <a:rPr lang="en-US" sz="2400"/>
              <a:t>Las variables </a:t>
            </a:r>
            <a:r>
              <a:rPr lang="en-US" sz="2400" b="1"/>
              <a:t>“</a:t>
            </a:r>
            <a:r>
              <a:rPr lang="en-US" sz="2400" b="1" err="1"/>
              <a:t>invocadas</a:t>
            </a:r>
            <a:r>
              <a:rPr lang="en-US" sz="2400" b="1"/>
              <a:t> que no </a:t>
            </a:r>
            <a:r>
              <a:rPr lang="en-US" sz="2400" b="1" err="1"/>
              <a:t>están</a:t>
            </a:r>
            <a:r>
              <a:rPr lang="en-US" sz="2400" b="1"/>
              <a:t> </a:t>
            </a:r>
            <a:r>
              <a:rPr lang="en-US" sz="2400" b="1" err="1"/>
              <a:t>en</a:t>
            </a:r>
            <a:r>
              <a:rPr lang="en-US" sz="2400" b="1"/>
              <a:t> el </a:t>
            </a:r>
            <a:r>
              <a:rPr lang="en-US" sz="2400" b="1" err="1"/>
              <a:t>cuerpo</a:t>
            </a:r>
            <a:r>
              <a:rPr lang="en-US" sz="2400" b="1"/>
              <a:t> de la </a:t>
            </a:r>
            <a:r>
              <a:rPr lang="en-US" sz="2400" b="1" err="1"/>
              <a:t>función</a:t>
            </a:r>
            <a:r>
              <a:rPr lang="en-US" sz="2400" b="1"/>
              <a:t> no </a:t>
            </a:r>
            <a:r>
              <a:rPr lang="en-US" sz="2400" b="1" err="1"/>
              <a:t>existiran</a:t>
            </a:r>
            <a:r>
              <a:rPr lang="en-US" sz="2400" b="1"/>
              <a:t>”</a:t>
            </a:r>
            <a:r>
              <a:rPr lang="en-US" sz="2400"/>
              <a:t>.</a:t>
            </a:r>
          </a:p>
          <a:p>
            <a:endParaRPr lang="en-US" sz="2000"/>
          </a:p>
          <a:p>
            <a:endParaRPr lang="en-US" sz="2000"/>
          </a:p>
          <a:p>
            <a:br>
              <a:rPr lang="en-US" sz="2000"/>
            </a:br>
            <a:r>
              <a:rPr lang="en-US" sz="2000"/>
              <a:t>De </a:t>
            </a:r>
            <a:r>
              <a:rPr lang="en-US" sz="2000" err="1"/>
              <a:t>esta</a:t>
            </a:r>
            <a:r>
              <a:rPr lang="en-US" sz="2000"/>
              <a:t> </a:t>
            </a:r>
            <a:r>
              <a:rPr lang="en-US" sz="2000" err="1"/>
              <a:t>menera</a:t>
            </a:r>
            <a:r>
              <a:rPr lang="en-US" sz="2000"/>
              <a:t> </a:t>
            </a:r>
            <a:r>
              <a:rPr lang="en-US" sz="2000" err="1"/>
              <a:t>podemos</a:t>
            </a:r>
            <a:r>
              <a:rPr lang="en-US" sz="2000"/>
              <a:t> "</a:t>
            </a:r>
            <a:r>
              <a:rPr lang="en-US" sz="2000" err="1"/>
              <a:t>proteger</a:t>
            </a:r>
            <a:r>
              <a:rPr lang="en-US" sz="2000"/>
              <a:t>" las variables </a:t>
            </a:r>
            <a:r>
              <a:rPr lang="en-US" sz="2000" err="1"/>
              <a:t>fuera</a:t>
            </a:r>
            <a:r>
              <a:rPr lang="en-US" sz="2000"/>
              <a:t> de la </a:t>
            </a:r>
            <a:r>
              <a:rPr lang="en-US" sz="2000" err="1"/>
              <a:t>función</a:t>
            </a:r>
            <a:r>
              <a:rPr lang="en-US" sz="2000"/>
              <a:t>.</a:t>
            </a:r>
          </a:p>
          <a:p>
            <a:br>
              <a:rPr lang="en-US"/>
            </a:br>
            <a:endParaRPr lang="en-US" sz="2200"/>
          </a:p>
          <a:p>
            <a:endParaRPr lang="en-US" sz="2400"/>
          </a:p>
          <a:p>
            <a:br>
              <a:rPr lang="en-US" sz="2400"/>
            </a:br>
            <a:endParaRPr lang="en-US" sz="2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43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Parametros</a:t>
            </a:r>
          </a:p>
          <a:p>
            <a:endParaRPr lang="es-A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074D2-3B0C-A549-92E9-EE779A910A6A}"/>
              </a:ext>
            </a:extLst>
          </p:cNvPr>
          <p:cNvSpPr txBox="1"/>
          <p:nvPr/>
        </p:nvSpPr>
        <p:spPr>
          <a:xfrm>
            <a:off x="19468" y="1196438"/>
            <a:ext cx="932517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err="1">
                <a:solidFill>
                  <a:srgbClr val="0070C0"/>
                </a:solidFill>
              </a:rPr>
              <a:t>Alcanze</a:t>
            </a:r>
            <a:r>
              <a:rPr lang="en-US" sz="2400" b="1">
                <a:solidFill>
                  <a:srgbClr val="0070C0"/>
                </a:solidFill>
              </a:rPr>
              <a:t> (scope, </a:t>
            </a:r>
            <a:r>
              <a:rPr lang="en-US" sz="2400" b="1" err="1">
                <a:solidFill>
                  <a:srgbClr val="0070C0"/>
                </a:solidFill>
              </a:rPr>
              <a:t>ámbito</a:t>
            </a:r>
            <a:r>
              <a:rPr lang="en-US" sz="2400" b="1">
                <a:solidFill>
                  <a:srgbClr val="0070C0"/>
                </a:solidFill>
              </a:rPr>
              <a:t>) de la </a:t>
            </a:r>
            <a:r>
              <a:rPr lang="en-US" sz="2400" b="1" err="1">
                <a:solidFill>
                  <a:srgbClr val="0070C0"/>
                </a:solidFill>
              </a:rPr>
              <a:t>una</a:t>
            </a:r>
            <a:r>
              <a:rPr lang="en-US" sz="2400" b="1">
                <a:solidFill>
                  <a:srgbClr val="0070C0"/>
                </a:solidFill>
              </a:rPr>
              <a:t> variable:</a:t>
            </a:r>
          </a:p>
          <a:p>
            <a:br>
              <a:rPr lang="en-US" sz="2000"/>
            </a:br>
            <a:r>
              <a:rPr lang="en-US" sz="2200" err="1"/>
              <a:t>Es</a:t>
            </a:r>
            <a:r>
              <a:rPr lang="en-US" sz="2200"/>
              <a:t> </a:t>
            </a:r>
            <a:r>
              <a:rPr lang="en-US" sz="2200" err="1"/>
              <a:t>posible</a:t>
            </a:r>
            <a:r>
              <a:rPr lang="en-US" sz="2200"/>
              <a:t> </a:t>
            </a:r>
            <a:r>
              <a:rPr lang="en-US" sz="2200" err="1"/>
              <a:t>cambiar</a:t>
            </a:r>
            <a:r>
              <a:rPr lang="en-US" sz="2200"/>
              <a:t> </a:t>
            </a:r>
            <a:r>
              <a:rPr lang="en-US" sz="2200" err="1"/>
              <a:t>este</a:t>
            </a:r>
            <a:r>
              <a:rPr lang="en-US" sz="2200"/>
              <a:t> </a:t>
            </a:r>
            <a:r>
              <a:rPr lang="en-US" sz="2200" err="1"/>
              <a:t>comportamiento</a:t>
            </a:r>
            <a:r>
              <a:rPr lang="en-US" sz="2200"/>
              <a:t> </a:t>
            </a:r>
            <a:r>
              <a:rPr lang="en-US" sz="2200" err="1"/>
              <a:t>usando</a:t>
            </a:r>
            <a:r>
              <a:rPr lang="en-US" sz="2200"/>
              <a:t> el </a:t>
            </a:r>
            <a:r>
              <a:rPr lang="en-US" sz="2200" err="1"/>
              <a:t>comando</a:t>
            </a:r>
            <a:r>
              <a:rPr lang="en-US" sz="2200"/>
              <a:t> </a:t>
            </a:r>
            <a:r>
              <a:rPr lang="en-US" sz="2200">
                <a:solidFill>
                  <a:srgbClr val="00B050"/>
                </a:solidFill>
              </a:rPr>
              <a:t>global</a:t>
            </a:r>
            <a:r>
              <a:rPr lang="en-US" sz="2200"/>
              <a:t> o </a:t>
            </a:r>
            <a:r>
              <a:rPr lang="en-US" sz="2200">
                <a:solidFill>
                  <a:srgbClr val="00B050"/>
                </a:solidFill>
              </a:rPr>
              <a:t>nonlocal</a:t>
            </a:r>
            <a:r>
              <a:rPr lang="en-US" sz="2200"/>
              <a:t>.</a:t>
            </a:r>
          </a:p>
          <a:p>
            <a:r>
              <a:rPr lang="en-US" sz="2200"/>
              <a:t>La </a:t>
            </a:r>
            <a:r>
              <a:rPr lang="en-US" sz="2200" err="1"/>
              <a:t>diferencia</a:t>
            </a:r>
            <a:r>
              <a:rPr lang="en-US" sz="2200"/>
              <a:t> entre ambos </a:t>
            </a:r>
            <a:r>
              <a:rPr lang="en-US" sz="2200" err="1"/>
              <a:t>es</a:t>
            </a:r>
            <a:r>
              <a:rPr lang="en-US" sz="2200"/>
              <a:t> </a:t>
            </a:r>
            <a:r>
              <a:rPr lang="en-US" sz="2200" err="1"/>
              <a:t>sutil</a:t>
            </a:r>
            <a:r>
              <a:rPr lang="en-US" sz="2200"/>
              <a:t>:</a:t>
            </a:r>
          </a:p>
          <a:p>
            <a:r>
              <a:rPr lang="en-US" sz="22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/>
              <a:t>Sea </a:t>
            </a:r>
            <a:r>
              <a:rPr lang="en-US" sz="2200" err="1"/>
              <a:t>una</a:t>
            </a:r>
            <a:r>
              <a:rPr lang="en-US" sz="2200"/>
              <a:t> variable </a:t>
            </a:r>
            <a:r>
              <a:rPr lang="en-US" sz="2200" b="1"/>
              <a:t>v</a:t>
            </a:r>
            <a:r>
              <a:rPr lang="en-US" sz="220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/>
              <a:t> </a:t>
            </a:r>
            <a:r>
              <a:rPr lang="en-US" sz="2200">
                <a:solidFill>
                  <a:srgbClr val="00B050"/>
                </a:solidFill>
              </a:rPr>
              <a:t>global</a:t>
            </a:r>
            <a:r>
              <a:rPr lang="en-US" sz="2200"/>
              <a:t> </a:t>
            </a:r>
            <a:r>
              <a:rPr lang="en-US" sz="2200" b="1"/>
              <a:t>v</a:t>
            </a:r>
            <a:r>
              <a:rPr lang="en-US" sz="2200"/>
              <a:t> : la variable </a:t>
            </a:r>
            <a:r>
              <a:rPr lang="en-US" sz="2200" b="1"/>
              <a:t>v</a:t>
            </a:r>
            <a:r>
              <a:rPr lang="en-US" sz="2200"/>
              <a:t> </a:t>
            </a:r>
            <a:r>
              <a:rPr lang="en-US" sz="2200" err="1"/>
              <a:t>será</a:t>
            </a:r>
            <a:r>
              <a:rPr lang="en-US" sz="2200"/>
              <a:t> </a:t>
            </a:r>
            <a:r>
              <a:rPr lang="en-US" sz="2200" err="1"/>
              <a:t>usada</a:t>
            </a:r>
            <a:r>
              <a:rPr lang="en-US" sz="2200"/>
              <a:t> </a:t>
            </a:r>
            <a:r>
              <a:rPr lang="en-US" sz="2200" err="1"/>
              <a:t>como</a:t>
            </a:r>
            <a:r>
              <a:rPr lang="en-US" sz="2200"/>
              <a:t> </a:t>
            </a:r>
            <a:r>
              <a:rPr lang="en-US" sz="2200" err="1"/>
              <a:t>una</a:t>
            </a:r>
            <a:r>
              <a:rPr lang="en-US" sz="2200"/>
              <a:t> variable global (externa a la </a:t>
            </a:r>
            <a:r>
              <a:rPr lang="en-US" sz="2200" err="1"/>
              <a:t>función</a:t>
            </a:r>
            <a:r>
              <a:rPr lang="en-US" sz="2200"/>
              <a:t>), </a:t>
            </a:r>
            <a:r>
              <a:rPr lang="en-US" sz="2200" err="1"/>
              <a:t>perteneciente</a:t>
            </a:r>
            <a:r>
              <a:rPr lang="en-US" sz="2200"/>
              <a:t> al </a:t>
            </a:r>
            <a:r>
              <a:rPr lang="en-US" sz="2200" err="1"/>
              <a:t>código</a:t>
            </a:r>
            <a:r>
              <a:rPr lang="en-US" sz="2200"/>
              <a:t> con mayor </a:t>
            </a:r>
            <a:r>
              <a:rPr lang="en-US" sz="2200" err="1"/>
              <a:t>alcanze</a:t>
            </a:r>
            <a:r>
              <a:rPr lang="en-US" sz="220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/>
              <a:t> </a:t>
            </a:r>
            <a:r>
              <a:rPr lang="en-US" sz="2200">
                <a:solidFill>
                  <a:srgbClr val="00B050"/>
                </a:solidFill>
              </a:rPr>
              <a:t>nonlocal</a:t>
            </a:r>
            <a:r>
              <a:rPr lang="en-US" sz="2200"/>
              <a:t> </a:t>
            </a:r>
            <a:r>
              <a:rPr lang="en-US" sz="2200" b="1"/>
              <a:t>v</a:t>
            </a:r>
            <a:r>
              <a:rPr lang="en-US" sz="2200"/>
              <a:t>, la variable </a:t>
            </a:r>
            <a:r>
              <a:rPr lang="en-US" sz="2200" b="1"/>
              <a:t>v</a:t>
            </a:r>
            <a:r>
              <a:rPr lang="en-US" sz="2200"/>
              <a:t> </a:t>
            </a:r>
            <a:r>
              <a:rPr lang="en-US" sz="2200" err="1"/>
              <a:t>será</a:t>
            </a:r>
            <a:r>
              <a:rPr lang="en-US" sz="2200"/>
              <a:t> </a:t>
            </a:r>
            <a:r>
              <a:rPr lang="en-US" sz="2200" err="1"/>
              <a:t>aquella</a:t>
            </a:r>
            <a:r>
              <a:rPr lang="en-US" sz="2200"/>
              <a:t> </a:t>
            </a:r>
            <a:r>
              <a:rPr lang="en-US" sz="2200" err="1"/>
              <a:t>cual</a:t>
            </a:r>
            <a:r>
              <a:rPr lang="en-US" sz="2200"/>
              <a:t> </a:t>
            </a:r>
            <a:r>
              <a:rPr lang="en-US" sz="2200" err="1"/>
              <a:t>alcanze</a:t>
            </a:r>
            <a:r>
              <a:rPr lang="en-US" sz="2200"/>
              <a:t> </a:t>
            </a:r>
            <a:r>
              <a:rPr lang="en-US" sz="2200" err="1"/>
              <a:t>es</a:t>
            </a:r>
            <a:r>
              <a:rPr lang="en-US" sz="2200"/>
              <a:t> de </a:t>
            </a:r>
            <a:r>
              <a:rPr lang="en-US" sz="2200" b="1"/>
              <a:t>un </a:t>
            </a:r>
            <a:r>
              <a:rPr lang="en-US" sz="2200" b="1" err="1"/>
              <a:t>nivel</a:t>
            </a:r>
            <a:r>
              <a:rPr lang="en-US" sz="2200" b="1"/>
              <a:t> </a:t>
            </a:r>
            <a:r>
              <a:rPr lang="en-US" sz="2200" b="1" err="1"/>
              <a:t>superioir</a:t>
            </a:r>
            <a:r>
              <a:rPr lang="en-US" sz="2200"/>
              <a:t>, </a:t>
            </a:r>
            <a:r>
              <a:rPr lang="en-US" sz="2200" err="1"/>
              <a:t>es</a:t>
            </a:r>
            <a:r>
              <a:rPr lang="en-US" sz="2200"/>
              <a:t> </a:t>
            </a:r>
            <a:r>
              <a:rPr lang="en-US" sz="2200" err="1"/>
              <a:t>decir</a:t>
            </a:r>
            <a:r>
              <a:rPr lang="en-US" sz="2200"/>
              <a:t>, </a:t>
            </a:r>
            <a:r>
              <a:rPr lang="en-US" sz="2200" err="1"/>
              <a:t>en</a:t>
            </a:r>
            <a:r>
              <a:rPr lang="en-US" sz="2200"/>
              <a:t> </a:t>
            </a:r>
            <a:r>
              <a:rPr lang="en-US" sz="2200" err="1"/>
              <a:t>funciónes</a:t>
            </a:r>
            <a:r>
              <a:rPr lang="en-US" sz="2200"/>
              <a:t> </a:t>
            </a:r>
            <a:r>
              <a:rPr lang="en-US" sz="2200" err="1"/>
              <a:t>anidadas</a:t>
            </a:r>
            <a:r>
              <a:rPr lang="en-US" sz="2200"/>
              <a:t>, </a:t>
            </a:r>
            <a:r>
              <a:rPr lang="en-US" sz="2200" err="1"/>
              <a:t>aquella</a:t>
            </a:r>
            <a:r>
              <a:rPr lang="en-US" sz="2200"/>
              <a:t> que </a:t>
            </a:r>
            <a:r>
              <a:rPr lang="en-US" sz="2200" err="1"/>
              <a:t>tenga</a:t>
            </a:r>
            <a:r>
              <a:rPr lang="en-US" sz="2200"/>
              <a:t> mayor </a:t>
            </a:r>
            <a:r>
              <a:rPr lang="en-US" sz="2200" err="1"/>
              <a:t>alcanze</a:t>
            </a:r>
            <a:r>
              <a:rPr lang="en-US" sz="2200"/>
              <a:t>. </a:t>
            </a:r>
          </a:p>
          <a:p>
            <a:endParaRPr lang="en-US" sz="2200"/>
          </a:p>
          <a:p>
            <a:br>
              <a:rPr lang="en-US" sz="2200"/>
            </a:br>
            <a:r>
              <a:rPr lang="en-US" sz="2200" err="1"/>
              <a:t>Debemos</a:t>
            </a:r>
            <a:r>
              <a:rPr lang="en-US" sz="2200"/>
              <a:t> </a:t>
            </a:r>
            <a:r>
              <a:rPr lang="en-US" sz="2200" err="1"/>
              <a:t>notar</a:t>
            </a:r>
            <a:r>
              <a:rPr lang="en-US" sz="2200"/>
              <a:t> que al </a:t>
            </a:r>
            <a:r>
              <a:rPr lang="en-US" sz="2200" err="1"/>
              <a:t>utilizar</a:t>
            </a:r>
            <a:r>
              <a:rPr lang="en-US" sz="2200"/>
              <a:t> </a:t>
            </a:r>
            <a:r>
              <a:rPr lang="en-US" sz="2200">
                <a:solidFill>
                  <a:srgbClr val="00B050"/>
                </a:solidFill>
              </a:rPr>
              <a:t>nonlocal</a:t>
            </a:r>
            <a:r>
              <a:rPr lang="en-US" sz="2200"/>
              <a:t> </a:t>
            </a:r>
            <a:r>
              <a:rPr lang="en-US" sz="2200" err="1"/>
              <a:t>en</a:t>
            </a:r>
            <a:r>
              <a:rPr lang="en-US" sz="2200"/>
              <a:t> </a:t>
            </a:r>
            <a:r>
              <a:rPr lang="en-US" sz="2200" err="1"/>
              <a:t>funciones</a:t>
            </a:r>
            <a:r>
              <a:rPr lang="en-US" sz="2200"/>
              <a:t> </a:t>
            </a:r>
            <a:r>
              <a:rPr lang="en-US" sz="2200" err="1"/>
              <a:t>recursivas</a:t>
            </a:r>
            <a:r>
              <a:rPr lang="en-US" sz="2200"/>
              <a:t>, </a:t>
            </a:r>
            <a:r>
              <a:rPr lang="en-US" sz="2200" err="1"/>
              <a:t>generara</a:t>
            </a:r>
            <a:r>
              <a:rPr lang="en-US" sz="2200"/>
              <a:t> un error del </a:t>
            </a:r>
            <a:r>
              <a:rPr lang="en-US" sz="2200" err="1"/>
              <a:t>tipo</a:t>
            </a:r>
            <a:r>
              <a:rPr lang="en-US" sz="2200"/>
              <a:t> </a:t>
            </a:r>
            <a:r>
              <a:rPr lang="en-US" sz="2200" b="1"/>
              <a:t>**</a:t>
            </a:r>
            <a:r>
              <a:rPr lang="en-US" sz="2200" b="1" err="1"/>
              <a:t>SyntaxError</a:t>
            </a:r>
            <a:r>
              <a:rPr lang="en-US" sz="2200" b="1"/>
              <a:t>**</a:t>
            </a:r>
            <a:r>
              <a:rPr lang="en-US" sz="2200"/>
              <a:t>. (lo </a:t>
            </a:r>
            <a:r>
              <a:rPr lang="en-US" sz="2200" err="1"/>
              <a:t>veremos</a:t>
            </a:r>
            <a:r>
              <a:rPr lang="en-US" sz="2200"/>
              <a:t> a </a:t>
            </a:r>
            <a:r>
              <a:rPr lang="en-US" sz="2200" err="1"/>
              <a:t>continuación</a:t>
            </a:r>
            <a:r>
              <a:rPr lang="en-US" sz="2200"/>
              <a:t>) </a:t>
            </a:r>
          </a:p>
          <a:p>
            <a:endParaRPr lang="en-US" sz="2200"/>
          </a:p>
          <a:p>
            <a:endParaRPr lang="en-US" sz="2400"/>
          </a:p>
          <a:p>
            <a:br>
              <a:rPr lang="en-US" sz="2400"/>
            </a:br>
            <a:endParaRPr lang="en-US" sz="2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76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Recursividad</a:t>
            </a:r>
          </a:p>
          <a:p>
            <a:endParaRPr lang="es-A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074D2-3B0C-A549-92E9-EE779A910A6A}"/>
              </a:ext>
            </a:extLst>
          </p:cNvPr>
          <p:cNvSpPr txBox="1"/>
          <p:nvPr/>
        </p:nvSpPr>
        <p:spPr>
          <a:xfrm>
            <a:off x="19468" y="1196438"/>
            <a:ext cx="932517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err="1">
                <a:solidFill>
                  <a:srgbClr val="0070C0"/>
                </a:solidFill>
              </a:rPr>
              <a:t>Definición</a:t>
            </a:r>
            <a:r>
              <a:rPr lang="en-US" sz="2400" b="1">
                <a:solidFill>
                  <a:srgbClr val="0070C0"/>
                </a:solidFill>
              </a:rPr>
              <a:t>:</a:t>
            </a:r>
          </a:p>
          <a:p>
            <a:br>
              <a:rPr lang="en-US" sz="2000"/>
            </a:br>
            <a:endParaRPr lang="en-US" sz="2200"/>
          </a:p>
          <a:p>
            <a:endParaRPr lang="en-US" sz="2400"/>
          </a:p>
          <a:p>
            <a:br>
              <a:rPr lang="en-US" sz="2400"/>
            </a:br>
            <a:endParaRPr lang="en-US" sz="2400"/>
          </a:p>
          <a:p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D15A16F-0C47-E14C-A69E-BEB7758DC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626" y="1761514"/>
            <a:ext cx="8350822" cy="468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AR" altLang="en-US" sz="2400" b="1">
                <a:latin typeface="+mj-lt"/>
              </a:rPr>
              <a:t>Es una técnica de programación en la cual una función se llama a si misma.</a:t>
            </a:r>
          </a:p>
          <a:p>
            <a:endParaRPr lang="es-AR" altLang="en-US" sz="2400"/>
          </a:p>
          <a:p>
            <a:r>
              <a:rPr lang="es-AR" altLang="en-US" sz="2400" b="1">
                <a:latin typeface="+mn-lt"/>
              </a:rPr>
              <a:t>Ejemplo: </a:t>
            </a:r>
            <a:r>
              <a:rPr lang="es-AR" altLang="en-US" sz="2400">
                <a:latin typeface="+mn-lt"/>
              </a:rPr>
              <a:t>El factorial de el entero no negativo </a:t>
            </a:r>
            <a:r>
              <a:rPr lang="es-AR" altLang="en-US" sz="2400" b="1">
                <a:latin typeface="+mn-lt"/>
              </a:rPr>
              <a:t>n</a:t>
            </a:r>
            <a:r>
              <a:rPr lang="es-AR" altLang="en-US" sz="2400">
                <a:latin typeface="+mn-lt"/>
              </a:rPr>
              <a:t> es el producto de todos los enteros desde</a:t>
            </a:r>
            <a:r>
              <a:rPr lang="es-AR" altLang="en-US" sz="2400" b="1">
                <a:latin typeface="+mn-lt"/>
              </a:rPr>
              <a:t> </a:t>
            </a:r>
            <a:r>
              <a:rPr lang="es-AR" altLang="en-US" sz="2400">
                <a:latin typeface="+mn-lt"/>
              </a:rPr>
              <a:t>el </a:t>
            </a:r>
            <a:r>
              <a:rPr lang="es-AR" altLang="en-US" sz="2400" b="1">
                <a:latin typeface="+mn-lt"/>
              </a:rPr>
              <a:t>n</a:t>
            </a:r>
            <a:r>
              <a:rPr lang="es-AR" altLang="en-US" sz="2400">
                <a:latin typeface="+mn-lt"/>
              </a:rPr>
              <a:t> hasta 1.</a:t>
            </a:r>
          </a:p>
          <a:p>
            <a:r>
              <a:rPr lang="es-AR" altLang="en-US" sz="2400"/>
              <a:t>• </a:t>
            </a:r>
            <a:r>
              <a:rPr lang="es-AR" altLang="en-US" sz="2400">
                <a:latin typeface="+mn-lt"/>
              </a:rPr>
              <a:t>Formalmente:</a:t>
            </a:r>
            <a:r>
              <a:rPr lang="es-AR" altLang="en-US" sz="2400"/>
              <a:t> </a:t>
            </a:r>
          </a:p>
          <a:p>
            <a:endParaRPr lang="es-AR" altLang="en-US" sz="2400"/>
          </a:p>
          <a:p>
            <a:endParaRPr lang="es-AR" altLang="en-US" sz="2400"/>
          </a:p>
          <a:p>
            <a:endParaRPr lang="es-AR" altLang="en-US" sz="2400"/>
          </a:p>
          <a:p>
            <a:r>
              <a:rPr lang="es-AR" altLang="en-US" sz="2400"/>
              <a:t>• </a:t>
            </a:r>
            <a:r>
              <a:rPr lang="es-AR" altLang="en-US" sz="2400">
                <a:latin typeface="+mn-lt"/>
              </a:rPr>
              <a:t>De este producto es fácil ver que el factorial de n es también </a:t>
            </a:r>
          </a:p>
          <a:p>
            <a:endParaRPr lang="es-AR" altLang="en-US" sz="2400">
              <a:latin typeface="+mn-lt"/>
            </a:endParaRPr>
          </a:p>
          <a:p>
            <a:r>
              <a:rPr lang="es-AR" altLang="en-US" sz="2400"/>
              <a:t>		n! = n * (n - 1)!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11E595-9D36-0D4E-BBA1-99D4D236B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2" t="55904" r="38373" b="38724"/>
          <a:stretch>
            <a:fillRect/>
          </a:stretch>
        </p:blipFill>
        <p:spPr bwMode="auto">
          <a:xfrm>
            <a:off x="3134145" y="4253284"/>
            <a:ext cx="230505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4788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Recursividad</a:t>
            </a:r>
          </a:p>
          <a:p>
            <a:endParaRPr lang="es-A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074D2-3B0C-A549-92E9-EE779A910A6A}"/>
              </a:ext>
            </a:extLst>
          </p:cNvPr>
          <p:cNvSpPr txBox="1"/>
          <p:nvPr/>
        </p:nvSpPr>
        <p:spPr>
          <a:xfrm>
            <a:off x="19468" y="1196438"/>
            <a:ext cx="932517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err="1">
                <a:solidFill>
                  <a:srgbClr val="0070C0"/>
                </a:solidFill>
              </a:rPr>
              <a:t>Ejemplo</a:t>
            </a:r>
            <a:r>
              <a:rPr lang="en-US" sz="2400" b="1">
                <a:solidFill>
                  <a:srgbClr val="0070C0"/>
                </a:solidFill>
              </a:rPr>
              <a:t>:</a:t>
            </a:r>
          </a:p>
          <a:p>
            <a:br>
              <a:rPr lang="en-US" sz="2000"/>
            </a:br>
            <a:endParaRPr lang="en-US" sz="2200"/>
          </a:p>
          <a:p>
            <a:endParaRPr lang="en-US" sz="2400"/>
          </a:p>
          <a:p>
            <a:br>
              <a:rPr lang="en-US" sz="2400"/>
            </a:br>
            <a:endParaRPr lang="en-US" sz="2400"/>
          </a:p>
          <a:p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D15A16F-0C47-E14C-A69E-BEB7758DC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626" y="1761514"/>
            <a:ext cx="8350822" cy="468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AR" altLang="en-US" sz="2400" b="1">
                <a:latin typeface="+mn-lt"/>
              </a:rPr>
              <a:t>Ejemplo: </a:t>
            </a:r>
            <a:r>
              <a:rPr lang="es-AR" altLang="en-US" sz="2400">
                <a:latin typeface="+mn-lt"/>
              </a:rPr>
              <a:t>El factorial de el entero no negativo </a:t>
            </a:r>
            <a:r>
              <a:rPr lang="es-AR" altLang="en-US" sz="2400" b="1">
                <a:latin typeface="+mn-lt"/>
              </a:rPr>
              <a:t>n</a:t>
            </a:r>
            <a:r>
              <a:rPr lang="es-AR" altLang="en-US" sz="2400">
                <a:latin typeface="+mn-lt"/>
              </a:rPr>
              <a:t> es el producto de todos los enteros desde</a:t>
            </a:r>
            <a:r>
              <a:rPr lang="es-AR" altLang="en-US" sz="2400" b="1">
                <a:latin typeface="+mn-lt"/>
              </a:rPr>
              <a:t> </a:t>
            </a:r>
            <a:r>
              <a:rPr lang="es-AR" altLang="en-US" sz="2400">
                <a:latin typeface="+mn-lt"/>
              </a:rPr>
              <a:t>el </a:t>
            </a:r>
            <a:r>
              <a:rPr lang="es-AR" altLang="en-US" sz="2400" b="1">
                <a:latin typeface="+mn-lt"/>
              </a:rPr>
              <a:t>n</a:t>
            </a:r>
            <a:r>
              <a:rPr lang="es-AR" altLang="en-US" sz="2400">
                <a:latin typeface="+mn-lt"/>
              </a:rPr>
              <a:t> hasta 1.</a:t>
            </a:r>
          </a:p>
          <a:p>
            <a:endParaRPr lang="es-AR" altLang="en-US" sz="2400">
              <a:latin typeface="+mn-lt"/>
            </a:endParaRPr>
          </a:p>
          <a:p>
            <a:r>
              <a:rPr lang="es-AR" altLang="en-US" sz="2400" b="1">
                <a:latin typeface="+mn-lt"/>
              </a:rPr>
              <a:t>Ejecución: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95C41084-848A-FA46-8031-BF9D69084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34" t="39171" r="25098" b="27365"/>
          <a:stretch>
            <a:fillRect/>
          </a:stretch>
        </p:blipFill>
        <p:spPr bwMode="auto">
          <a:xfrm>
            <a:off x="2198323" y="3212976"/>
            <a:ext cx="6408738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5129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Recursividad</a:t>
            </a:r>
          </a:p>
          <a:p>
            <a:endParaRPr lang="es-A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074D2-3B0C-A549-92E9-EE779A910A6A}"/>
              </a:ext>
            </a:extLst>
          </p:cNvPr>
          <p:cNvSpPr txBox="1"/>
          <p:nvPr/>
        </p:nvSpPr>
        <p:spPr>
          <a:xfrm>
            <a:off x="19468" y="1196438"/>
            <a:ext cx="932517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70C0"/>
                </a:solidFill>
              </a:rPr>
              <a:t>(</a:t>
            </a:r>
            <a:r>
              <a:rPr lang="en-US" sz="2400" b="1" err="1">
                <a:solidFill>
                  <a:srgbClr val="0070C0"/>
                </a:solidFill>
              </a:rPr>
              <a:t>Otro</a:t>
            </a:r>
            <a:r>
              <a:rPr lang="en-US" sz="2400" b="1">
                <a:solidFill>
                  <a:srgbClr val="0070C0"/>
                </a:solidFill>
              </a:rPr>
              <a:t>) </a:t>
            </a:r>
            <a:r>
              <a:rPr lang="en-US" sz="2400" b="1" err="1">
                <a:solidFill>
                  <a:srgbClr val="0070C0"/>
                </a:solidFill>
              </a:rPr>
              <a:t>Ejemplo</a:t>
            </a:r>
            <a:r>
              <a:rPr lang="en-US" sz="2400" b="1">
                <a:solidFill>
                  <a:srgbClr val="0070C0"/>
                </a:solidFill>
              </a:rPr>
              <a:t>:</a:t>
            </a:r>
          </a:p>
          <a:p>
            <a:br>
              <a:rPr lang="en-US" sz="2000"/>
            </a:br>
            <a:endParaRPr lang="en-US" sz="2200"/>
          </a:p>
          <a:p>
            <a:endParaRPr lang="en-US" sz="2400"/>
          </a:p>
          <a:p>
            <a:br>
              <a:rPr lang="en-US" sz="2400"/>
            </a:br>
            <a:endParaRPr lang="en-US" sz="2400"/>
          </a:p>
          <a:p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D15A16F-0C47-E14C-A69E-BEB7758DC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156" y="1614258"/>
            <a:ext cx="6736108" cy="468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AR" altLang="en-US" sz="2400">
                <a:latin typeface="+mn-lt"/>
              </a:rPr>
              <a:t>Dícese que los Pitagóricos sentían una conexión mística con la serie de números 1, 3, 6, 10, 15, 21, ...</a:t>
            </a:r>
          </a:p>
          <a:p>
            <a:endParaRPr lang="es-AR" altLang="en-US" sz="2400">
              <a:latin typeface="+mn-lt"/>
            </a:endParaRPr>
          </a:p>
          <a:p>
            <a:r>
              <a:rPr lang="es-AR" altLang="en-US" sz="2400">
                <a:latin typeface="+mn-lt"/>
              </a:rPr>
              <a:t>Puedes encontrar el próximo miembro</a:t>
            </a:r>
          </a:p>
          <a:p>
            <a:r>
              <a:rPr lang="es-AR" altLang="en-US" sz="2400">
                <a:latin typeface="+mn-lt"/>
              </a:rPr>
              <a:t>de esta serie?</a:t>
            </a:r>
          </a:p>
          <a:p>
            <a:endParaRPr lang="es-AR" altLang="en-US" sz="2400">
              <a:latin typeface="+mn-lt"/>
            </a:endParaRPr>
          </a:p>
          <a:p>
            <a:r>
              <a:rPr lang="es-AR" altLang="en-US" sz="2400">
                <a:latin typeface="+mn-lt"/>
              </a:rPr>
              <a:t>El enésimo termino se consigue </a:t>
            </a:r>
          </a:p>
          <a:p>
            <a:r>
              <a:rPr lang="es-AR" altLang="en-US" sz="2400">
                <a:latin typeface="+mn-lt"/>
              </a:rPr>
              <a:t>añadiendo </a:t>
            </a:r>
            <a:r>
              <a:rPr lang="es-AR" altLang="en-US" sz="2400" b="1">
                <a:latin typeface="+mn-lt"/>
              </a:rPr>
              <a:t>n</a:t>
            </a:r>
            <a:r>
              <a:rPr lang="es-AR" altLang="en-US" sz="2400">
                <a:latin typeface="+mn-lt"/>
              </a:rPr>
              <a:t> al termino previo</a:t>
            </a:r>
          </a:p>
          <a:p>
            <a:endParaRPr lang="es-AR" altLang="en-US" sz="2400">
              <a:latin typeface="+mn-lt"/>
            </a:endParaRPr>
          </a:p>
          <a:p>
            <a:endParaRPr lang="es-AR" altLang="en-US" sz="2400">
              <a:latin typeface="+mn-lt"/>
            </a:endParaRPr>
          </a:p>
          <a:p>
            <a:endParaRPr lang="es-AR" altLang="en-US" sz="2400">
              <a:latin typeface="+mn-lt"/>
            </a:endParaRPr>
          </a:p>
          <a:p>
            <a:r>
              <a:rPr lang="es-AR" altLang="en-US" sz="2400">
                <a:latin typeface="+mn-lt"/>
              </a:rPr>
              <a:t>Los números en esta serie se llaman </a:t>
            </a:r>
            <a:r>
              <a:rPr lang="es-AR" altLang="en-US" sz="2400" b="1">
                <a:latin typeface="+mn-lt"/>
              </a:rPr>
              <a:t>triangulares</a:t>
            </a:r>
            <a:r>
              <a:rPr lang="es-AR" altLang="en-US" sz="2400">
                <a:latin typeface="+mn-lt"/>
              </a:rPr>
              <a:t> </a:t>
            </a:r>
          </a:p>
          <a:p>
            <a:r>
              <a:rPr lang="es-AR" altLang="en-US" sz="2400">
                <a:latin typeface="+mn-lt"/>
              </a:rPr>
              <a:t>porque pueden ser visualizados de forma triangular</a:t>
            </a:r>
          </a:p>
          <a:p>
            <a:endParaRPr lang="es-AR" altLang="en-US" sz="2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BC74C8-DB9F-8A4A-A102-9E060B286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17" t="40364" r="37469" b="18294"/>
          <a:stretch>
            <a:fillRect/>
          </a:stretch>
        </p:blipFill>
        <p:spPr bwMode="auto">
          <a:xfrm>
            <a:off x="5610024" y="2442933"/>
            <a:ext cx="3384550" cy="302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6291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Recursividad</a:t>
            </a:r>
          </a:p>
          <a:p>
            <a:endParaRPr lang="es-A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074D2-3B0C-A549-92E9-EE779A910A6A}"/>
              </a:ext>
            </a:extLst>
          </p:cNvPr>
          <p:cNvSpPr txBox="1"/>
          <p:nvPr/>
        </p:nvSpPr>
        <p:spPr>
          <a:xfrm>
            <a:off x="19468" y="1196438"/>
            <a:ext cx="932517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70C0"/>
                </a:solidFill>
              </a:rPr>
              <a:t>(</a:t>
            </a:r>
            <a:r>
              <a:rPr lang="en-US" sz="2400" b="1" err="1">
                <a:solidFill>
                  <a:srgbClr val="0070C0"/>
                </a:solidFill>
              </a:rPr>
              <a:t>Otro</a:t>
            </a:r>
            <a:r>
              <a:rPr lang="en-US" sz="2400" b="1">
                <a:solidFill>
                  <a:srgbClr val="0070C0"/>
                </a:solidFill>
              </a:rPr>
              <a:t>) </a:t>
            </a:r>
            <a:r>
              <a:rPr lang="en-US" sz="2400" b="1" err="1">
                <a:solidFill>
                  <a:srgbClr val="0070C0"/>
                </a:solidFill>
              </a:rPr>
              <a:t>Ejemplo</a:t>
            </a:r>
            <a:r>
              <a:rPr lang="en-US" sz="2400" b="1">
                <a:solidFill>
                  <a:srgbClr val="0070C0"/>
                </a:solidFill>
              </a:rPr>
              <a:t>:</a:t>
            </a:r>
          </a:p>
          <a:p>
            <a:br>
              <a:rPr lang="en-US" sz="2000"/>
            </a:br>
            <a:endParaRPr lang="en-US" sz="2200"/>
          </a:p>
          <a:p>
            <a:endParaRPr lang="en-US" sz="2400"/>
          </a:p>
          <a:p>
            <a:br>
              <a:rPr lang="en-US" sz="2400"/>
            </a:br>
            <a:endParaRPr lang="en-US" sz="2400"/>
          </a:p>
          <a:p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D15A16F-0C47-E14C-A69E-BEB7758DC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156" y="1614258"/>
            <a:ext cx="6736108" cy="468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AR" altLang="en-US" sz="2400" b="1">
                <a:latin typeface="+mn-lt"/>
              </a:rPr>
              <a:t>Pseudo-código:</a:t>
            </a:r>
          </a:p>
          <a:p>
            <a:endParaRPr lang="es-AR" altLang="en-US" sz="2400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6597DC4C-F1B9-5D45-8010-4CF08B16D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260" y="2276872"/>
            <a:ext cx="5329237" cy="393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AR" altLang="en-US"/>
              <a:t>• Si introducimos 4,</a:t>
            </a:r>
          </a:p>
          <a:p>
            <a:r>
              <a:rPr lang="es-AR" altLang="en-US"/>
              <a:t>• 4 &gt; 1 por lo tanto ejecuta 4 + triangulo(3)</a:t>
            </a:r>
          </a:p>
          <a:p>
            <a:r>
              <a:rPr lang="es-AR" altLang="en-US"/>
              <a:t>• Entra la función con argumento 3</a:t>
            </a:r>
          </a:p>
          <a:p>
            <a:r>
              <a:rPr lang="es-AR" altLang="en-US"/>
              <a:t>• 3 &gt; 1 por lo tanto 3 + triangulo(2)</a:t>
            </a:r>
          </a:p>
          <a:p>
            <a:r>
              <a:rPr lang="es-AR" altLang="en-US"/>
              <a:t>• Entra la función con argumento 2</a:t>
            </a:r>
          </a:p>
          <a:p>
            <a:r>
              <a:rPr lang="es-AR" altLang="en-US"/>
              <a:t>• 2 &gt; 1 por lo tanto 2 + triangulo(1)</a:t>
            </a:r>
          </a:p>
          <a:p>
            <a:r>
              <a:rPr lang="es-AR" altLang="en-US"/>
              <a:t>• Entra la función con argumento 1</a:t>
            </a:r>
          </a:p>
          <a:p>
            <a:r>
              <a:rPr lang="es-AR" altLang="en-US"/>
              <a:t>• 1 = 1 por lo tanto retorna 1</a:t>
            </a:r>
          </a:p>
          <a:p>
            <a:r>
              <a:rPr lang="es-AR" altLang="en-US"/>
              <a:t>• Vuelve a la función con argumento 2</a:t>
            </a:r>
          </a:p>
          <a:p>
            <a:r>
              <a:rPr lang="es-AR" altLang="en-US"/>
              <a:t>• triangulo(1) = 1, retorna 2 + 1 = 3</a:t>
            </a:r>
          </a:p>
          <a:p>
            <a:r>
              <a:rPr lang="es-AR" altLang="en-US"/>
              <a:t>• Vuelve a la función con argumento 3</a:t>
            </a:r>
          </a:p>
          <a:p>
            <a:r>
              <a:rPr lang="es-AR" altLang="en-US"/>
              <a:t>• triangulo(2) = 3, retorna 3 + 3 = 6</a:t>
            </a:r>
          </a:p>
          <a:p>
            <a:r>
              <a:rPr lang="es-AR" altLang="en-US"/>
              <a:t>• Vuelve a la función original, con argumento 4</a:t>
            </a:r>
          </a:p>
          <a:p>
            <a:r>
              <a:rPr lang="es-AR" altLang="en-US"/>
              <a:t>• triangulo(3) = 6, retorna 4 + 6 = 10 </a:t>
            </a:r>
            <a:endParaRPr lang="es-ES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D405E6-B69D-534B-A40E-B5F6FBB39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17" t="40364" r="37469" b="18294"/>
          <a:stretch>
            <a:fillRect/>
          </a:stretch>
        </p:blipFill>
        <p:spPr bwMode="auto">
          <a:xfrm>
            <a:off x="5445059" y="1558177"/>
            <a:ext cx="3384550" cy="302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787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Recursividad</a:t>
            </a:r>
          </a:p>
          <a:p>
            <a:endParaRPr lang="es-A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074D2-3B0C-A549-92E9-EE779A910A6A}"/>
              </a:ext>
            </a:extLst>
          </p:cNvPr>
          <p:cNvSpPr txBox="1"/>
          <p:nvPr/>
        </p:nvSpPr>
        <p:spPr>
          <a:xfrm>
            <a:off x="19468" y="1196438"/>
            <a:ext cx="9325175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err="1">
                <a:solidFill>
                  <a:srgbClr val="0070C0"/>
                </a:solidFill>
              </a:rPr>
              <a:t>Funciones</a:t>
            </a:r>
            <a:r>
              <a:rPr lang="en-US" sz="2400" b="1">
                <a:solidFill>
                  <a:srgbClr val="0070C0"/>
                </a:solidFill>
              </a:rPr>
              <a:t> </a:t>
            </a:r>
            <a:r>
              <a:rPr lang="en-US" sz="2400" b="1" err="1">
                <a:solidFill>
                  <a:srgbClr val="0070C0"/>
                </a:solidFill>
              </a:rPr>
              <a:t>Recursivas</a:t>
            </a:r>
            <a:r>
              <a:rPr lang="en-US" sz="2400" b="1">
                <a:solidFill>
                  <a:srgbClr val="0070C0"/>
                </a:solidFill>
              </a:rPr>
              <a:t> </a:t>
            </a:r>
            <a:r>
              <a:rPr lang="en-US" sz="2400" b="1" err="1">
                <a:solidFill>
                  <a:srgbClr val="0070C0"/>
                </a:solidFill>
              </a:rPr>
              <a:t>en</a:t>
            </a:r>
            <a:r>
              <a:rPr lang="en-US" sz="2400" b="1">
                <a:solidFill>
                  <a:srgbClr val="0070C0"/>
                </a:solidFill>
              </a:rPr>
              <a:t> Python:</a:t>
            </a:r>
          </a:p>
          <a:p>
            <a:endParaRPr lang="en-US" sz="2400" b="1">
              <a:solidFill>
                <a:srgbClr val="0070C0"/>
              </a:solidFill>
            </a:endParaRPr>
          </a:p>
          <a:p>
            <a:r>
              <a:rPr lang="en-US" sz="2400"/>
              <a:t>Python </a:t>
            </a:r>
            <a:r>
              <a:rPr lang="en-US" sz="2400" err="1"/>
              <a:t>nos</a:t>
            </a:r>
            <a:r>
              <a:rPr lang="en-US" sz="2400"/>
              <a:t> </a:t>
            </a:r>
            <a:r>
              <a:rPr lang="en-US" sz="2400" err="1"/>
              <a:t>permite</a:t>
            </a:r>
            <a:r>
              <a:rPr lang="en-US" sz="2400"/>
              <a:t> </a:t>
            </a:r>
            <a:r>
              <a:rPr lang="en-US" sz="2400" err="1"/>
              <a:t>una</a:t>
            </a:r>
            <a:r>
              <a:rPr lang="en-US" sz="2400"/>
              <a:t> </a:t>
            </a:r>
            <a:r>
              <a:rPr lang="en-US" sz="2400" err="1"/>
              <a:t>declaración</a:t>
            </a:r>
            <a:r>
              <a:rPr lang="en-US" sz="2400"/>
              <a:t> </a:t>
            </a:r>
            <a:r>
              <a:rPr lang="en-US" sz="2400" err="1"/>
              <a:t>sencilla</a:t>
            </a:r>
            <a:r>
              <a:rPr lang="en-US" sz="2400"/>
              <a:t> de </a:t>
            </a:r>
            <a:r>
              <a:rPr lang="en-US" sz="2400" b="1" err="1"/>
              <a:t>funciones</a:t>
            </a:r>
            <a:r>
              <a:rPr lang="en-US" sz="2400" b="1"/>
              <a:t> </a:t>
            </a:r>
            <a:r>
              <a:rPr lang="en-US" sz="2400" b="1" err="1"/>
              <a:t>recursivas</a:t>
            </a:r>
            <a:r>
              <a:rPr lang="en-US" sz="2400"/>
              <a:t>, </a:t>
            </a:r>
            <a:r>
              <a:rPr lang="en-US" sz="2400" err="1"/>
              <a:t>solamente</a:t>
            </a:r>
            <a:r>
              <a:rPr lang="en-US" sz="2400"/>
              <a:t> </a:t>
            </a:r>
            <a:r>
              <a:rPr lang="en-US" sz="2400" err="1"/>
              <a:t>debemos</a:t>
            </a:r>
            <a:r>
              <a:rPr lang="en-US" sz="2400"/>
              <a:t> </a:t>
            </a:r>
            <a:r>
              <a:rPr lang="en-US" sz="2400" i="1"/>
              <a:t>"</a:t>
            </a:r>
            <a:r>
              <a:rPr lang="en-US" sz="2400" i="1" err="1"/>
              <a:t>llamar</a:t>
            </a:r>
            <a:r>
              <a:rPr lang="en-US" sz="2400" i="1"/>
              <a:t> a la </a:t>
            </a:r>
            <a:r>
              <a:rPr lang="en-US" sz="2400" i="1" err="1"/>
              <a:t>función</a:t>
            </a:r>
            <a:r>
              <a:rPr lang="en-US" sz="2400" i="1"/>
              <a:t>, </a:t>
            </a:r>
            <a:r>
              <a:rPr lang="en-US" sz="2400" i="1" err="1"/>
              <a:t>dentro</a:t>
            </a:r>
            <a:r>
              <a:rPr lang="en-US" sz="2400" i="1"/>
              <a:t> del </a:t>
            </a:r>
            <a:r>
              <a:rPr lang="en-US" sz="2400" i="1" err="1"/>
              <a:t>cuerpo</a:t>
            </a:r>
            <a:r>
              <a:rPr lang="en-US" sz="2400" i="1"/>
              <a:t> de la (</a:t>
            </a:r>
            <a:r>
              <a:rPr lang="en-US" sz="2400" i="1" err="1"/>
              <a:t>misma</a:t>
            </a:r>
            <a:r>
              <a:rPr lang="en-US" sz="2400" i="1"/>
              <a:t>) </a:t>
            </a:r>
            <a:r>
              <a:rPr lang="en-US" sz="2400" i="1" err="1"/>
              <a:t>función</a:t>
            </a:r>
            <a:r>
              <a:rPr lang="en-US" sz="2400"/>
              <a:t>”. </a:t>
            </a:r>
          </a:p>
          <a:p>
            <a:br>
              <a:rPr lang="en-US" sz="2400"/>
            </a:br>
            <a:r>
              <a:rPr lang="en-US" sz="2200"/>
              <a:t>Una </a:t>
            </a:r>
            <a:r>
              <a:rPr lang="en-US" sz="2200" err="1"/>
              <a:t>definición</a:t>
            </a:r>
            <a:r>
              <a:rPr lang="en-US" sz="2200"/>
              <a:t> </a:t>
            </a:r>
            <a:r>
              <a:rPr lang="en-US" sz="2200" err="1"/>
              <a:t>correcta</a:t>
            </a:r>
            <a:r>
              <a:rPr lang="en-US" sz="2200"/>
              <a:t> de </a:t>
            </a:r>
            <a:r>
              <a:rPr lang="en-US" sz="2200" err="1"/>
              <a:t>una</a:t>
            </a:r>
            <a:r>
              <a:rPr lang="en-US" sz="2200"/>
              <a:t> </a:t>
            </a:r>
            <a:r>
              <a:rPr lang="en-US" sz="2200" err="1"/>
              <a:t>función</a:t>
            </a:r>
            <a:r>
              <a:rPr lang="en-US" sz="2200"/>
              <a:t> </a:t>
            </a:r>
            <a:r>
              <a:rPr lang="en-US" sz="2200" err="1"/>
              <a:t>recursiva</a:t>
            </a:r>
            <a:r>
              <a:rPr lang="en-US" sz="2200"/>
              <a:t>, </a:t>
            </a:r>
            <a:r>
              <a:rPr lang="en-US" sz="2200" err="1"/>
              <a:t>debera</a:t>
            </a:r>
            <a:r>
              <a:rPr lang="en-US" sz="2200"/>
              <a:t> </a:t>
            </a:r>
            <a:r>
              <a:rPr lang="en-US" sz="2200" err="1"/>
              <a:t>tener</a:t>
            </a:r>
            <a:r>
              <a:rPr lang="en-US" sz="2200"/>
              <a:t> el </a:t>
            </a:r>
            <a:r>
              <a:rPr lang="en-US" sz="2200" err="1"/>
              <a:t>cuenta</a:t>
            </a:r>
            <a:r>
              <a:rPr lang="en-US" sz="2200"/>
              <a:t> lo </a:t>
            </a:r>
            <a:r>
              <a:rPr lang="en-US" sz="2200" err="1"/>
              <a:t>siguiente</a:t>
            </a:r>
            <a:r>
              <a:rPr lang="en-US" sz="2200"/>
              <a:t>:</a:t>
            </a:r>
          </a:p>
          <a:p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err="1"/>
              <a:t>Existencia</a:t>
            </a:r>
            <a:r>
              <a:rPr lang="en-US" sz="2400"/>
              <a:t> de un </a:t>
            </a:r>
            <a:r>
              <a:rPr lang="en-US" sz="2400" b="1" err="1"/>
              <a:t>caso</a:t>
            </a:r>
            <a:r>
              <a:rPr lang="en-US" sz="2400" b="1"/>
              <a:t> base</a:t>
            </a:r>
            <a:r>
              <a:rPr lang="en-US" sz="2400"/>
              <a:t> (o </a:t>
            </a:r>
            <a:r>
              <a:rPr lang="en-US" sz="2400" err="1"/>
              <a:t>inicial</a:t>
            </a:r>
            <a:r>
              <a:rPr lang="en-US" sz="2400"/>
              <a:t>) de </a:t>
            </a:r>
            <a:r>
              <a:rPr lang="en-US" sz="2400" err="1"/>
              <a:t>manera</a:t>
            </a:r>
            <a:r>
              <a:rPr lang="en-US" sz="2400"/>
              <a:t> </a:t>
            </a:r>
            <a:r>
              <a:rPr lang="en-US" sz="2400" i="1"/>
              <a:t>especial</a:t>
            </a:r>
            <a:r>
              <a:rPr lang="en-US" sz="2400"/>
              <a:t>, </a:t>
            </a:r>
            <a:r>
              <a:rPr lang="en-US" sz="2400" err="1"/>
              <a:t>es</a:t>
            </a:r>
            <a:r>
              <a:rPr lang="en-US" sz="2400"/>
              <a:t> </a:t>
            </a:r>
            <a:r>
              <a:rPr lang="en-US" sz="2400" err="1"/>
              <a:t>decir</a:t>
            </a:r>
            <a:r>
              <a:rPr lang="en-US" sz="2400"/>
              <a:t> </a:t>
            </a:r>
            <a:r>
              <a:rPr lang="en-US" sz="2400" err="1"/>
              <a:t>cuando</a:t>
            </a:r>
            <a:r>
              <a:rPr lang="en-US" sz="2400"/>
              <a:t> la </a:t>
            </a:r>
            <a:r>
              <a:rPr lang="en-US" sz="2400" err="1"/>
              <a:t>función</a:t>
            </a:r>
            <a:r>
              <a:rPr lang="en-US" sz="2400"/>
              <a:t> </a:t>
            </a:r>
            <a:r>
              <a:rPr lang="en-US" sz="2400" err="1"/>
              <a:t>retorna</a:t>
            </a:r>
            <a:r>
              <a:rPr lang="en-US" sz="2400"/>
              <a:t> un valor (no hay </a:t>
            </a:r>
            <a:r>
              <a:rPr lang="en-US" sz="2400" err="1"/>
              <a:t>llamada</a:t>
            </a:r>
            <a:r>
              <a:rPr lang="en-US" sz="2400"/>
              <a:t> </a:t>
            </a:r>
            <a:r>
              <a:rPr lang="en-US" sz="2400" err="1"/>
              <a:t>recursiva</a:t>
            </a:r>
            <a:r>
              <a:rPr lang="en-US" sz="2400"/>
              <a:t>), </a:t>
            </a:r>
            <a:r>
              <a:rPr lang="en-US" sz="2400" err="1"/>
              <a:t>ya</a:t>
            </a:r>
            <a:r>
              <a:rPr lang="en-US" sz="2400"/>
              <a:t> que </a:t>
            </a:r>
            <a:r>
              <a:rPr lang="en-US" sz="2400" err="1"/>
              <a:t>sino</a:t>
            </a:r>
            <a:r>
              <a:rPr lang="en-US" sz="2400"/>
              <a:t>, la </a:t>
            </a:r>
            <a:r>
              <a:rPr lang="en-US" sz="2400" err="1"/>
              <a:t>función</a:t>
            </a:r>
            <a:r>
              <a:rPr lang="en-US" sz="2400"/>
              <a:t> </a:t>
            </a:r>
            <a:r>
              <a:rPr lang="en-US" sz="2400" err="1"/>
              <a:t>prodria</a:t>
            </a:r>
            <a:r>
              <a:rPr lang="en-US" sz="2400"/>
              <a:t> </a:t>
            </a:r>
            <a:r>
              <a:rPr lang="en-US" sz="2400" err="1"/>
              <a:t>nunca</a:t>
            </a:r>
            <a:r>
              <a:rPr lang="en-US" sz="2400"/>
              <a:t> </a:t>
            </a:r>
            <a:r>
              <a:rPr lang="en-US" sz="2400" err="1"/>
              <a:t>terminar</a:t>
            </a:r>
            <a:r>
              <a:rPr lang="en-US" sz="2400"/>
              <a:t>. </a:t>
            </a:r>
          </a:p>
          <a:p>
            <a:endParaRPr lang="en-US" sz="2000"/>
          </a:p>
          <a:p>
            <a:br>
              <a:rPr lang="en-US" sz="2000"/>
            </a:br>
            <a:endParaRPr lang="en-US" sz="2000"/>
          </a:p>
          <a:p>
            <a:endParaRPr lang="en-US" sz="2000"/>
          </a:p>
          <a:p>
            <a:br>
              <a:rPr lang="en-US" sz="2000"/>
            </a:br>
            <a:endParaRPr lang="en-US" sz="20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48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Recursividad</a:t>
            </a:r>
          </a:p>
          <a:p>
            <a:endParaRPr lang="es-A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074D2-3B0C-A549-92E9-EE779A910A6A}"/>
              </a:ext>
            </a:extLst>
          </p:cNvPr>
          <p:cNvSpPr txBox="1"/>
          <p:nvPr/>
        </p:nvSpPr>
        <p:spPr>
          <a:xfrm>
            <a:off x="19468" y="1196438"/>
            <a:ext cx="9325175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err="1">
                <a:solidFill>
                  <a:srgbClr val="0070C0"/>
                </a:solidFill>
              </a:rPr>
              <a:t>Funciones</a:t>
            </a:r>
            <a:r>
              <a:rPr lang="en-US" sz="2400" b="1">
                <a:solidFill>
                  <a:srgbClr val="0070C0"/>
                </a:solidFill>
              </a:rPr>
              <a:t> </a:t>
            </a:r>
            <a:r>
              <a:rPr lang="en-US" sz="2400" b="1" err="1">
                <a:solidFill>
                  <a:srgbClr val="0070C0"/>
                </a:solidFill>
              </a:rPr>
              <a:t>Recursivas</a:t>
            </a:r>
            <a:r>
              <a:rPr lang="en-US" sz="2400" b="1">
                <a:solidFill>
                  <a:srgbClr val="0070C0"/>
                </a:solidFill>
              </a:rPr>
              <a:t> </a:t>
            </a:r>
            <a:r>
              <a:rPr lang="en-US" sz="2400" b="1" err="1">
                <a:solidFill>
                  <a:srgbClr val="0070C0"/>
                </a:solidFill>
              </a:rPr>
              <a:t>en</a:t>
            </a:r>
            <a:r>
              <a:rPr lang="en-US" sz="2400" b="1">
                <a:solidFill>
                  <a:srgbClr val="0070C0"/>
                </a:solidFill>
              </a:rPr>
              <a:t> Python:</a:t>
            </a:r>
          </a:p>
          <a:p>
            <a:endParaRPr lang="en-US" sz="2000" b="1">
              <a:solidFill>
                <a:srgbClr val="0070C0"/>
              </a:solidFill>
            </a:endParaRPr>
          </a:p>
          <a:p>
            <a:r>
              <a:rPr lang="en-US" sz="2400" b="1" err="1"/>
              <a:t>Manejo</a:t>
            </a:r>
            <a:r>
              <a:rPr lang="en-US" sz="2400" b="1"/>
              <a:t> standard del </a:t>
            </a:r>
            <a:r>
              <a:rPr lang="en-US" sz="2400" b="1" err="1"/>
              <a:t>caso</a:t>
            </a:r>
            <a:r>
              <a:rPr lang="en-US" sz="2400" b="1"/>
              <a:t> base:</a:t>
            </a:r>
            <a:r>
              <a:rPr lang="en-US" sz="2400"/>
              <a:t> </a:t>
            </a:r>
          </a:p>
          <a:p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err="1"/>
              <a:t>Utilizando</a:t>
            </a:r>
            <a:r>
              <a:rPr lang="en-US" sz="2400"/>
              <a:t> un  </a:t>
            </a:r>
            <a:r>
              <a:rPr lang="en-US" sz="2400">
                <a:solidFill>
                  <a:srgbClr val="00B050"/>
                </a:solidFill>
              </a:rPr>
              <a:t>if</a:t>
            </a:r>
            <a:r>
              <a:rPr lang="en-US" sz="2400"/>
              <a:t>, </a:t>
            </a:r>
            <a:r>
              <a:rPr lang="en-US" sz="2400" err="1"/>
              <a:t>como</a:t>
            </a:r>
            <a:r>
              <a:rPr lang="en-US" sz="2400"/>
              <a:t> </a:t>
            </a:r>
            <a:r>
              <a:rPr lang="en-US" sz="2400" err="1"/>
              <a:t>veremos</a:t>
            </a:r>
            <a:r>
              <a:rPr lang="en-US" sz="2400"/>
              <a:t> </a:t>
            </a:r>
            <a:r>
              <a:rPr lang="en-US" sz="2400" err="1"/>
              <a:t>en</a:t>
            </a:r>
            <a:r>
              <a:rPr lang="en-US" sz="2400"/>
              <a:t> </a:t>
            </a:r>
            <a:r>
              <a:rPr lang="en-US" sz="2400" err="1"/>
              <a:t>los</a:t>
            </a:r>
            <a:r>
              <a:rPr lang="en-US" sz="2400"/>
              <a:t> </a:t>
            </a:r>
            <a:r>
              <a:rPr lang="en-US" sz="2400" err="1"/>
              <a:t>ejemplos</a:t>
            </a:r>
            <a:r>
              <a:rPr lang="en-US" sz="240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r>
              <a:rPr lang="en-US" sz="2400" err="1"/>
              <a:t>Luego</a:t>
            </a:r>
            <a:r>
              <a:rPr lang="en-US" sz="2400"/>
              <a:t> </a:t>
            </a:r>
            <a:r>
              <a:rPr lang="en-US" sz="2400" err="1"/>
              <a:t>podremos</a:t>
            </a:r>
            <a:r>
              <a:rPr lang="en-US" sz="2400"/>
              <a:t>:</a:t>
            </a:r>
          </a:p>
          <a:p>
            <a:r>
              <a:rPr lang="en-US" sz="240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err="1"/>
              <a:t>Terminar</a:t>
            </a:r>
            <a:r>
              <a:rPr lang="en-US" sz="2400"/>
              <a:t> la </a:t>
            </a:r>
            <a:r>
              <a:rPr lang="en-US" sz="2400" err="1"/>
              <a:t>función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err="1"/>
              <a:t>Terminar</a:t>
            </a:r>
            <a:r>
              <a:rPr lang="en-US" sz="2400"/>
              <a:t> y </a:t>
            </a:r>
            <a:r>
              <a:rPr lang="en-US" sz="2400" err="1"/>
              <a:t>devolver</a:t>
            </a:r>
            <a:r>
              <a:rPr lang="en-US" sz="2400"/>
              <a:t> un valor que </a:t>
            </a:r>
            <a:r>
              <a:rPr lang="en-US" sz="2400" err="1"/>
              <a:t>indicará</a:t>
            </a:r>
            <a:r>
              <a:rPr lang="en-US" sz="2400"/>
              <a:t> un error </a:t>
            </a:r>
            <a:r>
              <a:rPr lang="en-US" sz="2400" err="1"/>
              <a:t>en</a:t>
            </a:r>
            <a:r>
              <a:rPr lang="en-US" sz="2400"/>
              <a:t> la </a:t>
            </a:r>
            <a:r>
              <a:rPr lang="en-US" sz="2400" err="1"/>
              <a:t>ejecución</a:t>
            </a:r>
            <a:r>
              <a:rPr lang="en-US" sz="2400"/>
              <a:t> de la </a:t>
            </a:r>
            <a:r>
              <a:rPr lang="en-US" sz="2400" err="1"/>
              <a:t>función</a:t>
            </a:r>
            <a:r>
              <a:rPr lang="en-US" sz="240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err="1"/>
              <a:t>Opcionalmente</a:t>
            </a:r>
            <a:r>
              <a:rPr lang="en-US" sz="2400"/>
              <a:t> </a:t>
            </a:r>
            <a:r>
              <a:rPr lang="en-US" sz="2400" err="1"/>
              <a:t>podemos</a:t>
            </a:r>
            <a:r>
              <a:rPr lang="en-US" sz="2400"/>
              <a:t> </a:t>
            </a:r>
            <a:r>
              <a:rPr lang="en-US" sz="2400" err="1"/>
              <a:t>informar</a:t>
            </a:r>
            <a:r>
              <a:rPr lang="en-US" sz="2400"/>
              <a:t> del error, </a:t>
            </a:r>
            <a:r>
              <a:rPr lang="en-US" sz="2400" err="1"/>
              <a:t>utilizando</a:t>
            </a:r>
            <a:r>
              <a:rPr lang="en-US" sz="2400"/>
              <a:t> </a:t>
            </a:r>
            <a:r>
              <a:rPr lang="en-US" sz="2400" err="1"/>
              <a:t>los</a:t>
            </a:r>
            <a:r>
              <a:rPr lang="en-US" sz="2400"/>
              <a:t> </a:t>
            </a:r>
            <a:r>
              <a:rPr lang="en-US" sz="2400" err="1"/>
              <a:t>errores</a:t>
            </a:r>
            <a:r>
              <a:rPr lang="en-US" sz="2400"/>
              <a:t> </a:t>
            </a:r>
            <a:r>
              <a:rPr lang="en-US" sz="2400" err="1"/>
              <a:t>predefinidos</a:t>
            </a:r>
            <a:r>
              <a:rPr lang="en-US" sz="2400"/>
              <a:t> </a:t>
            </a:r>
            <a:r>
              <a:rPr lang="en-US" sz="2400" err="1"/>
              <a:t>provistos</a:t>
            </a:r>
            <a:r>
              <a:rPr lang="en-US" sz="2400"/>
              <a:t> </a:t>
            </a:r>
            <a:r>
              <a:rPr lang="en-US" sz="2400" err="1"/>
              <a:t>por</a:t>
            </a:r>
            <a:r>
              <a:rPr lang="en-US" sz="2400"/>
              <a:t> Python </a:t>
            </a:r>
            <a:r>
              <a:rPr lang="en-US" sz="2400" err="1"/>
              <a:t>utilizando</a:t>
            </a:r>
            <a:r>
              <a:rPr lang="en-US" sz="2400"/>
              <a:t> el </a:t>
            </a:r>
            <a:r>
              <a:rPr lang="en-US" sz="2400" err="1"/>
              <a:t>comando</a:t>
            </a:r>
            <a:r>
              <a:rPr lang="en-US" sz="2400"/>
              <a:t> </a:t>
            </a:r>
            <a:r>
              <a:rPr lang="en-US" sz="2400">
                <a:solidFill>
                  <a:srgbClr val="00B050"/>
                </a:solidFill>
              </a:rPr>
              <a:t>raise </a:t>
            </a:r>
            <a:r>
              <a:rPr lang="en-US" sz="2400"/>
              <a:t>. </a:t>
            </a:r>
          </a:p>
          <a:p>
            <a:br>
              <a:rPr lang="en-US" sz="2000"/>
            </a:br>
            <a:endParaRPr lang="en-US" sz="2000"/>
          </a:p>
          <a:p>
            <a:endParaRPr lang="en-US" sz="2000"/>
          </a:p>
          <a:p>
            <a:br>
              <a:rPr lang="en-US" sz="2000"/>
            </a:br>
            <a:endParaRPr lang="en-US" sz="2000"/>
          </a:p>
          <a:p>
            <a:endParaRPr lang="en-US" sz="2000"/>
          </a:p>
          <a:p>
            <a:br>
              <a:rPr lang="en-US" sz="2000"/>
            </a:br>
            <a:endParaRPr lang="en-US" sz="20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433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Recursividad</a:t>
            </a:r>
          </a:p>
          <a:p>
            <a:endParaRPr lang="es-A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074D2-3B0C-A549-92E9-EE779A910A6A}"/>
              </a:ext>
            </a:extLst>
          </p:cNvPr>
          <p:cNvSpPr txBox="1"/>
          <p:nvPr/>
        </p:nvSpPr>
        <p:spPr>
          <a:xfrm>
            <a:off x="19468" y="1196438"/>
            <a:ext cx="932517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err="1">
                <a:solidFill>
                  <a:srgbClr val="0070C0"/>
                </a:solidFill>
              </a:rPr>
              <a:t>Funciones</a:t>
            </a:r>
            <a:r>
              <a:rPr lang="en-US" sz="2400" b="1">
                <a:solidFill>
                  <a:srgbClr val="0070C0"/>
                </a:solidFill>
              </a:rPr>
              <a:t> </a:t>
            </a:r>
            <a:r>
              <a:rPr lang="en-US" sz="2400" b="1" err="1">
                <a:solidFill>
                  <a:srgbClr val="0070C0"/>
                </a:solidFill>
              </a:rPr>
              <a:t>Recursivas</a:t>
            </a:r>
            <a:r>
              <a:rPr lang="en-US" sz="2400" b="1">
                <a:solidFill>
                  <a:srgbClr val="0070C0"/>
                </a:solidFill>
              </a:rPr>
              <a:t> </a:t>
            </a:r>
            <a:r>
              <a:rPr lang="en-US" sz="2400" b="1" err="1">
                <a:solidFill>
                  <a:srgbClr val="0070C0"/>
                </a:solidFill>
              </a:rPr>
              <a:t>en</a:t>
            </a:r>
            <a:r>
              <a:rPr lang="en-US" sz="2400" b="1">
                <a:solidFill>
                  <a:srgbClr val="0070C0"/>
                </a:solidFill>
              </a:rPr>
              <a:t> Python:</a:t>
            </a:r>
          </a:p>
          <a:p>
            <a:endParaRPr lang="en-US" sz="2000" b="1">
              <a:solidFill>
                <a:srgbClr val="0070C0"/>
              </a:solidFill>
            </a:endParaRPr>
          </a:p>
          <a:p>
            <a:r>
              <a:rPr lang="en-US" sz="2400"/>
              <a:t>El </a:t>
            </a:r>
            <a:r>
              <a:rPr lang="en-US" sz="2400" err="1"/>
              <a:t>comando</a:t>
            </a:r>
            <a:r>
              <a:rPr lang="en-US" sz="2400"/>
              <a:t> </a:t>
            </a:r>
            <a:r>
              <a:rPr lang="en-US" sz="2400">
                <a:solidFill>
                  <a:srgbClr val="00B050"/>
                </a:solidFill>
              </a:rPr>
              <a:t>raise  </a:t>
            </a:r>
            <a:r>
              <a:rPr lang="en-US" sz="2400" err="1"/>
              <a:t>es</a:t>
            </a:r>
            <a:r>
              <a:rPr lang="en-US" sz="2400"/>
              <a:t> </a:t>
            </a:r>
            <a:r>
              <a:rPr lang="en-US" sz="2400" err="1"/>
              <a:t>invocado</a:t>
            </a:r>
            <a:r>
              <a:rPr lang="en-US" sz="2400"/>
              <a:t> de la </a:t>
            </a:r>
            <a:r>
              <a:rPr lang="en-US" sz="2400" err="1"/>
              <a:t>siguiente</a:t>
            </a:r>
            <a:r>
              <a:rPr lang="en-US" sz="2400"/>
              <a:t> forma:</a:t>
            </a:r>
          </a:p>
          <a:p>
            <a:pPr algn="ctr"/>
            <a:br>
              <a:rPr lang="en-US" sz="2400"/>
            </a:br>
            <a:r>
              <a:rPr lang="en-US" sz="2400">
                <a:solidFill>
                  <a:srgbClr val="00B050"/>
                </a:solidFill>
              </a:rPr>
              <a:t>raise </a:t>
            </a:r>
            <a:r>
              <a:rPr lang="en-US" sz="2400" err="1"/>
              <a:t>AssertionError</a:t>
            </a:r>
            <a:r>
              <a:rPr lang="en-US" sz="2400"/>
              <a:t> ( string )</a:t>
            </a:r>
          </a:p>
          <a:p>
            <a:endParaRPr lang="en-US" sz="2400"/>
          </a:p>
          <a:p>
            <a:r>
              <a:rPr lang="en-US" sz="2400" b="1" err="1"/>
              <a:t>Ejemplo</a:t>
            </a:r>
            <a:r>
              <a:rPr lang="en-US" sz="2400" b="1"/>
              <a:t>:</a:t>
            </a:r>
          </a:p>
          <a:p>
            <a:br>
              <a:rPr lang="en-US" sz="2000"/>
            </a:br>
            <a:endParaRPr lang="en-US" sz="2000"/>
          </a:p>
          <a:p>
            <a:endParaRPr lang="en-US" sz="2000"/>
          </a:p>
          <a:p>
            <a:br>
              <a:rPr lang="en-US" sz="2000"/>
            </a:br>
            <a:endParaRPr lang="en-US" sz="2000"/>
          </a:p>
          <a:p>
            <a:endParaRPr lang="en-US" sz="2000"/>
          </a:p>
          <a:p>
            <a:br>
              <a:rPr lang="en-US" sz="2000"/>
            </a:br>
            <a:endParaRPr lang="en-US" sz="2000"/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9F7169-027C-3B40-A741-90DE24644A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049" y="3429000"/>
            <a:ext cx="7797800" cy="33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17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  <p:sp>
        <p:nvSpPr>
          <p:cNvPr id="7" name="17 CuadroTexto">
            <a:extLst>
              <a:ext uri="{FF2B5EF4-FFF2-40B4-BE49-F238E27FC236}">
                <a16:creationId xmlns:a16="http://schemas.microsoft.com/office/drawing/2014/main" id="{95376E6D-FA7C-4C4E-B22A-D369DB76E6EB}"/>
              </a:ext>
            </a:extLst>
          </p:cNvPr>
          <p:cNvSpPr txBox="1"/>
          <p:nvPr/>
        </p:nvSpPr>
        <p:spPr>
          <a:xfrm>
            <a:off x="2699792" y="676390"/>
            <a:ext cx="31737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>
                <a:solidFill>
                  <a:schemeClr val="bg1"/>
                </a:solidFill>
                <a:latin typeface="TeXGyreAdventor" pitchFamily="50" charset="0"/>
              </a:rPr>
              <a:t>Recursividad</a:t>
            </a:r>
          </a:p>
          <a:p>
            <a:endParaRPr lang="es-A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074D2-3B0C-A549-92E9-EE779A910A6A}"/>
              </a:ext>
            </a:extLst>
          </p:cNvPr>
          <p:cNvSpPr txBox="1"/>
          <p:nvPr/>
        </p:nvSpPr>
        <p:spPr>
          <a:xfrm>
            <a:off x="19468" y="1196438"/>
            <a:ext cx="9325175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err="1">
                <a:solidFill>
                  <a:srgbClr val="0070C0"/>
                </a:solidFill>
              </a:rPr>
              <a:t>Funciones</a:t>
            </a:r>
            <a:r>
              <a:rPr lang="en-US" sz="2400" b="1">
                <a:solidFill>
                  <a:srgbClr val="0070C0"/>
                </a:solidFill>
              </a:rPr>
              <a:t> </a:t>
            </a:r>
            <a:r>
              <a:rPr lang="en-US" sz="2400" b="1" err="1">
                <a:solidFill>
                  <a:srgbClr val="0070C0"/>
                </a:solidFill>
              </a:rPr>
              <a:t>Recursivas</a:t>
            </a:r>
            <a:r>
              <a:rPr lang="en-US" sz="2400" b="1">
                <a:solidFill>
                  <a:srgbClr val="0070C0"/>
                </a:solidFill>
              </a:rPr>
              <a:t> </a:t>
            </a:r>
            <a:r>
              <a:rPr lang="en-US" sz="2400" b="1" err="1">
                <a:solidFill>
                  <a:srgbClr val="0070C0"/>
                </a:solidFill>
              </a:rPr>
              <a:t>en</a:t>
            </a:r>
            <a:r>
              <a:rPr lang="en-US" sz="2400" b="1">
                <a:solidFill>
                  <a:srgbClr val="0070C0"/>
                </a:solidFill>
              </a:rPr>
              <a:t> Python:</a:t>
            </a:r>
          </a:p>
          <a:p>
            <a:endParaRPr lang="en-US" sz="2000" b="1">
              <a:solidFill>
                <a:srgbClr val="0070C0"/>
              </a:solidFill>
            </a:endParaRPr>
          </a:p>
          <a:p>
            <a:r>
              <a:rPr lang="en-US" sz="2400" b="1" err="1"/>
              <a:t>Ejemplo</a:t>
            </a:r>
            <a:r>
              <a:rPr lang="en-US" sz="2400" b="1"/>
              <a:t>:</a:t>
            </a:r>
          </a:p>
          <a:p>
            <a:br>
              <a:rPr lang="en-US" sz="2000"/>
            </a:br>
            <a:endParaRPr lang="en-US" sz="2000"/>
          </a:p>
          <a:p>
            <a:endParaRPr lang="en-US" sz="2000"/>
          </a:p>
          <a:p>
            <a:br>
              <a:rPr lang="en-US" sz="2000"/>
            </a:br>
            <a:endParaRPr lang="en-US" sz="2000"/>
          </a:p>
          <a:p>
            <a:endParaRPr lang="en-US" sz="2000"/>
          </a:p>
          <a:p>
            <a:br>
              <a:rPr lang="en-US" sz="2000"/>
            </a:br>
            <a:endParaRPr lang="en-US" sz="2000"/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968A2E-CFA2-DF48-917B-CC8F8C84EC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" y="2492896"/>
            <a:ext cx="9144000" cy="406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806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CC9BE0-44C9-BD4C-BF23-EF5281A24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1772816"/>
            <a:ext cx="2952328" cy="3407934"/>
          </a:xfrm>
          <a:prstGeom prst="rect">
            <a:avLst/>
          </a:prstGeom>
        </p:spPr>
      </p:pic>
      <p:pic>
        <p:nvPicPr>
          <p:cNvPr id="6" name="16 Imagen">
            <a:extLst>
              <a:ext uri="{FF2B5EF4-FFF2-40B4-BE49-F238E27FC236}">
                <a16:creationId xmlns:a16="http://schemas.microsoft.com/office/drawing/2014/main" id="{FBAE774F-3A2F-BD4D-93D5-97896FB10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9" name="17 CuadroTexto">
            <a:extLst>
              <a:ext uri="{FF2B5EF4-FFF2-40B4-BE49-F238E27FC236}">
                <a16:creationId xmlns:a16="http://schemas.microsoft.com/office/drawing/2014/main" id="{91674295-4B1A-A842-9126-7FE5F5566082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229805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16 Imagen">
            <a:extLst>
              <a:ext uri="{FF2B5EF4-FFF2-40B4-BE49-F238E27FC236}">
                <a16:creationId xmlns:a16="http://schemas.microsoft.com/office/drawing/2014/main" id="{CCB4247C-A888-304D-8ADA-01A411D3A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6" name="17 CuadroTexto">
            <a:extLst>
              <a:ext uri="{FF2B5EF4-FFF2-40B4-BE49-F238E27FC236}">
                <a16:creationId xmlns:a16="http://schemas.microsoft.com/office/drawing/2014/main" id="{506A2263-8293-F545-8790-192FC7EB85D7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8899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16 Imagen">
            <a:extLst>
              <a:ext uri="{FF2B5EF4-FFF2-40B4-BE49-F238E27FC236}">
                <a16:creationId xmlns:a16="http://schemas.microsoft.com/office/drawing/2014/main" id="{CCB4247C-A888-304D-8ADA-01A411D3A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6" name="17 CuadroTexto">
            <a:extLst>
              <a:ext uri="{FF2B5EF4-FFF2-40B4-BE49-F238E27FC236}">
                <a16:creationId xmlns:a16="http://schemas.microsoft.com/office/drawing/2014/main" id="{506A2263-8293-F545-8790-192FC7EB85D7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4635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16 Imagen">
            <a:extLst>
              <a:ext uri="{FF2B5EF4-FFF2-40B4-BE49-F238E27FC236}">
                <a16:creationId xmlns:a16="http://schemas.microsoft.com/office/drawing/2014/main" id="{CCB4247C-A888-304D-8ADA-01A411D3A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6" name="17 CuadroTexto">
            <a:extLst>
              <a:ext uri="{FF2B5EF4-FFF2-40B4-BE49-F238E27FC236}">
                <a16:creationId xmlns:a16="http://schemas.microsoft.com/office/drawing/2014/main" id="{506A2263-8293-F545-8790-192FC7EB85D7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72997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16 Imagen">
            <a:extLst>
              <a:ext uri="{FF2B5EF4-FFF2-40B4-BE49-F238E27FC236}">
                <a16:creationId xmlns:a16="http://schemas.microsoft.com/office/drawing/2014/main" id="{CCB4247C-A888-304D-8ADA-01A411D3A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6" name="17 CuadroTexto">
            <a:extLst>
              <a:ext uri="{FF2B5EF4-FFF2-40B4-BE49-F238E27FC236}">
                <a16:creationId xmlns:a16="http://schemas.microsoft.com/office/drawing/2014/main" id="{506A2263-8293-F545-8790-192FC7EB85D7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359686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31</Slides>
  <Notes>21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Tema de Office</vt:lpstr>
      <vt:lpstr>1_Tema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PC10</dc:creator>
  <cp:revision>1</cp:revision>
  <cp:lastPrinted>2022-04-26T21:22:38Z</cp:lastPrinted>
  <dcterms:created xsi:type="dcterms:W3CDTF">2020-04-01T12:31:54Z</dcterms:created>
  <dcterms:modified xsi:type="dcterms:W3CDTF">2025-04-07T23:10:47Z</dcterms:modified>
</cp:coreProperties>
</file>