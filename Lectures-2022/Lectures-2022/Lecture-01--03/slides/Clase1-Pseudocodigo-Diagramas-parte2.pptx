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64" r:id="rId3"/>
    <p:sldId id="256" r:id="rId4"/>
    <p:sldId id="302" r:id="rId5"/>
    <p:sldId id="303" r:id="rId6"/>
    <p:sldId id="304" r:id="rId7"/>
    <p:sldId id="258" r:id="rId8"/>
    <p:sldId id="259" r:id="rId9"/>
    <p:sldId id="260" r:id="rId10"/>
    <p:sldId id="261" r:id="rId11"/>
    <p:sldId id="262" r:id="rId12"/>
    <p:sldId id="265" r:id="rId13"/>
    <p:sldId id="28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9"/>
    <p:restoredTop sz="94643"/>
  </p:normalViewPr>
  <p:slideViewPr>
    <p:cSldViewPr>
      <p:cViewPr varScale="1">
        <p:scale>
          <a:sx n="120" d="100"/>
          <a:sy n="120" d="100"/>
        </p:scale>
        <p:origin x="13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9B637-CDC0-4A60-98E8-1AF66D8A2354}" type="datetimeFigureOut">
              <a:rPr lang="es-AR" smtClean="0"/>
              <a:t>28/4/22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38B1-1131-4F2F-904D-E2694668282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146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6965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9556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8753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533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8013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429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509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21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84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672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87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159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58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64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765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744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43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38635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3058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04695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55989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16507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05869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91956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940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2071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16392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1126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61A7-A2BE-4396-9343-333936956773}" type="datetimeFigureOut">
              <a:rPr lang="es-AR" smtClean="0"/>
              <a:t>28/4/22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76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4/28/22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8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283968" y="4725144"/>
            <a:ext cx="4689425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Algóritmos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Estructuras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-00184-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Dr. Diego </a:t>
            </a: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Agustín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Ambrossio</a:t>
            </a:r>
          </a:p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Anl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Sis. Angel Leonardo Bianco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2843808" y="2060848"/>
            <a:ext cx="7254071" cy="657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AR" sz="4000" b="1" i="1" strike="noStrike" spc="-1" dirty="0">
                <a:solidFill>
                  <a:srgbClr val="FFFFFF"/>
                </a:solidFill>
                <a:latin typeface="Arial"/>
              </a:rPr>
              <a:t>Introducción a la Programación</a:t>
            </a:r>
          </a:p>
          <a:p>
            <a:pPr algn="ctr"/>
            <a:endParaRPr lang="es-AR" sz="4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5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Algoritmos</a:t>
            </a:r>
            <a:r>
              <a:rPr lang="en-US" sz="2000" dirty="0"/>
              <a:t> (Cont.)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Diagramas</a:t>
            </a:r>
            <a:r>
              <a:rPr lang="en-US" sz="2000" dirty="0"/>
              <a:t> de </a:t>
            </a:r>
            <a:r>
              <a:rPr lang="en-US" sz="2000" dirty="0" err="1"/>
              <a:t>Flujo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Pseudocódigo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Asignación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Secuencia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Decisión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Repetición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Selección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Iteración</a:t>
            </a:r>
            <a:r>
              <a:rPr lang="en-US" sz="2000" dirty="0"/>
              <a:t> </a:t>
            </a:r>
          </a:p>
          <a:p>
            <a:pPr lvl="2" algn="just"/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1806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Contenido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5960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 lang="en-US" sz="2000" dirty="0"/>
          </a:p>
          <a:p>
            <a:pPr lvl="2" algn="just"/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Algoritmos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1E734-5EA2-B548-9133-E6F286014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24" y="1456763"/>
            <a:ext cx="7856654" cy="535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23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/>
              <a:t>Un </a:t>
            </a:r>
            <a:r>
              <a:rPr lang="en-US" b="1" dirty="0" err="1"/>
              <a:t>diagrama</a:t>
            </a:r>
            <a:r>
              <a:rPr lang="en-US" b="1" dirty="0"/>
              <a:t> de </a:t>
            </a:r>
            <a:r>
              <a:rPr lang="en-US" b="1" dirty="0" err="1"/>
              <a:t>flujo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la </a:t>
            </a:r>
            <a:r>
              <a:rPr lang="en-US" dirty="0" err="1"/>
              <a:t>esquematización</a:t>
            </a:r>
            <a:r>
              <a:rPr lang="en-US" dirty="0"/>
              <a:t> </a:t>
            </a:r>
            <a:r>
              <a:rPr lang="en-US" dirty="0" err="1"/>
              <a:t>gráfica</a:t>
            </a:r>
            <a:r>
              <a:rPr lang="en-US" dirty="0"/>
              <a:t> de un </a:t>
            </a:r>
            <a:r>
              <a:rPr lang="en-US" dirty="0" err="1"/>
              <a:t>algoritmo</a:t>
            </a:r>
            <a:r>
              <a:rPr lang="en-US" dirty="0"/>
              <a:t>. 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gráficamente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pasos</a:t>
            </a:r>
            <a:r>
              <a:rPr lang="en-US" dirty="0"/>
              <a:t> a </a:t>
            </a:r>
            <a:r>
              <a:rPr lang="en-US" dirty="0" err="1"/>
              <a:t>seguir</a:t>
            </a:r>
            <a:r>
              <a:rPr lang="en-US" dirty="0"/>
              <a:t> para </a:t>
            </a:r>
            <a:r>
              <a:rPr lang="en-US" dirty="0" err="1"/>
              <a:t>alcanzar</a:t>
            </a:r>
            <a:r>
              <a:rPr lang="en-US" dirty="0"/>
              <a:t> </a:t>
            </a:r>
            <a:r>
              <a:rPr lang="en-US" dirty="0" err="1"/>
              <a:t>resolución</a:t>
            </a:r>
            <a:r>
              <a:rPr lang="en-US" dirty="0"/>
              <a:t> de un </a:t>
            </a:r>
            <a:r>
              <a:rPr lang="en-US" dirty="0" err="1"/>
              <a:t>problema</a:t>
            </a:r>
            <a:r>
              <a:rPr lang="en-US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3124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Diagramas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Flujo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E16159-F830-4349-A46A-B506C4E9E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357864"/>
            <a:ext cx="8028384" cy="446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8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/>
              <a:t>El </a:t>
            </a:r>
            <a:r>
              <a:rPr lang="en-US" b="1" dirty="0" err="1"/>
              <a:t>pseudocódigo</a:t>
            </a:r>
            <a:r>
              <a:rPr lang="en-US" dirty="0"/>
              <a:t>,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de palabras </a:t>
            </a:r>
            <a:r>
              <a:rPr lang="en-US" dirty="0" err="1"/>
              <a:t>léxicas</a:t>
            </a:r>
            <a:r>
              <a:rPr lang="en-US" dirty="0"/>
              <a:t> y </a:t>
            </a:r>
            <a:r>
              <a:rPr lang="en-US" dirty="0" err="1"/>
              <a:t>gramaticales</a:t>
            </a:r>
            <a:r>
              <a:rPr lang="en-US" dirty="0"/>
              <a:t> </a:t>
            </a:r>
            <a:r>
              <a:rPr lang="en-US" dirty="0" err="1"/>
              <a:t>referidos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lenguajes</a:t>
            </a:r>
            <a:r>
              <a:rPr lang="en-US" dirty="0"/>
              <a:t> de </a:t>
            </a:r>
            <a:r>
              <a:rPr lang="en-US" dirty="0" err="1"/>
              <a:t>programación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sin </a:t>
            </a:r>
            <a:r>
              <a:rPr lang="en-US" dirty="0" err="1"/>
              <a:t>llegar</a:t>
            </a:r>
            <a:r>
              <a:rPr lang="en-US" dirty="0"/>
              <a:t> a la </a:t>
            </a:r>
            <a:r>
              <a:rPr lang="en-US" dirty="0" err="1"/>
              <a:t>rigidez</a:t>
            </a:r>
            <a:r>
              <a:rPr lang="en-US" dirty="0"/>
              <a:t> de la </a:t>
            </a:r>
            <a:r>
              <a:rPr lang="en-US" dirty="0" err="1"/>
              <a:t>sintaxis</a:t>
            </a:r>
            <a:r>
              <a:rPr lang="en-US" dirty="0"/>
              <a:t> de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a la </a:t>
            </a:r>
            <a:r>
              <a:rPr lang="en-US" dirty="0" err="1"/>
              <a:t>fluidez</a:t>
            </a:r>
            <a:r>
              <a:rPr lang="en-US" dirty="0"/>
              <a:t> del </a:t>
            </a:r>
            <a:r>
              <a:rPr lang="en-US" dirty="0" err="1"/>
              <a:t>lenguaje</a:t>
            </a:r>
            <a:r>
              <a:rPr lang="en-US" dirty="0"/>
              <a:t> </a:t>
            </a:r>
            <a:r>
              <a:rPr lang="en-US" dirty="0" err="1"/>
              <a:t>coloquial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/>
              <a:t>Características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	• </a:t>
            </a:r>
            <a:r>
              <a:rPr lang="en-US" dirty="0" err="1"/>
              <a:t>Codificar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con mayor </a:t>
            </a:r>
            <a:r>
              <a:rPr lang="en-US" dirty="0" err="1"/>
              <a:t>agilidad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	• </a:t>
            </a:r>
            <a:r>
              <a:rPr lang="en-US" dirty="0" err="1"/>
              <a:t>Codificar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de </a:t>
            </a:r>
            <a:r>
              <a:rPr lang="en-US" dirty="0" err="1"/>
              <a:t>programación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	• </a:t>
            </a:r>
            <a:r>
              <a:rPr lang="en-US" dirty="0" err="1"/>
              <a:t>Misma</a:t>
            </a:r>
            <a:r>
              <a:rPr lang="en-US" dirty="0"/>
              <a:t> </a:t>
            </a:r>
            <a:r>
              <a:rPr lang="en-US" dirty="0" err="1"/>
              <a:t>validez</a:t>
            </a:r>
            <a:r>
              <a:rPr lang="en-US" dirty="0"/>
              <a:t> </a:t>
            </a:r>
            <a:r>
              <a:rPr lang="en-US" dirty="0" err="1"/>
              <a:t>semántica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	•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frases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</a:t>
            </a:r>
            <a:r>
              <a:rPr lang="en-US" dirty="0" err="1"/>
              <a:t>común</a:t>
            </a:r>
            <a:r>
              <a:rPr lang="en-US" dirty="0"/>
              <a:t>, </a:t>
            </a:r>
            <a:r>
              <a:rPr lang="en-US" dirty="0" err="1"/>
              <a:t>instrucciones</a:t>
            </a:r>
            <a:r>
              <a:rPr lang="en-US" dirty="0"/>
              <a:t> de 	</a:t>
            </a:r>
            <a:r>
              <a:rPr lang="en-US" dirty="0" err="1"/>
              <a:t>programación</a:t>
            </a:r>
            <a:r>
              <a:rPr lang="en-US" dirty="0"/>
              <a:t>, y palabras clave que </a:t>
            </a:r>
            <a:r>
              <a:rPr lang="en-US" dirty="0" err="1"/>
              <a:t>definen</a:t>
            </a:r>
            <a:r>
              <a:rPr lang="en-US" dirty="0"/>
              <a:t> las </a:t>
            </a:r>
            <a:r>
              <a:rPr lang="en-US" dirty="0" err="1"/>
              <a:t>estructuras</a:t>
            </a:r>
            <a:r>
              <a:rPr lang="en-US" dirty="0"/>
              <a:t> </a:t>
            </a:r>
            <a:r>
              <a:rPr lang="en-US" dirty="0" err="1"/>
              <a:t>básicas</a:t>
            </a:r>
            <a:r>
              <a:rPr lang="en-US" dirty="0"/>
              <a:t>. </a:t>
            </a:r>
          </a:p>
          <a:p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2507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Pseudo-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código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61E71-5E17-6C43-9E9E-3CA34473E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44" y="5805264"/>
            <a:ext cx="7380312" cy="47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6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Asignación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1728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Suponiendo las siguientes instrucciones</a:t>
            </a:r>
          </a:p>
          <a:p>
            <a:r>
              <a:rPr lang="es-AR" sz="2400" dirty="0"/>
              <a:t>A ‐ “Asigne el valor 10 a X”</a:t>
            </a:r>
          </a:p>
          <a:p>
            <a:r>
              <a:rPr lang="es-AR" sz="2400" dirty="0"/>
              <a:t>B ‐ “Asigne el valor 1 a Y”</a:t>
            </a:r>
          </a:p>
          <a:p>
            <a:r>
              <a:rPr lang="es-AR" sz="2400" dirty="0"/>
              <a:t>C ‐ “</a:t>
            </a:r>
            <a:r>
              <a:rPr lang="es-AR" sz="2400" dirty="0" err="1"/>
              <a:t>Reemplace</a:t>
            </a:r>
            <a:r>
              <a:rPr lang="es-AR" sz="2400" dirty="0"/>
              <a:t> el valor de la variable X por el valor de la variable Y”</a:t>
            </a:r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403648" y="3068960"/>
            <a:ext cx="6192688" cy="1446393"/>
            <a:chOff x="1109070" y="3350759"/>
            <a:chExt cx="6192688" cy="1446393"/>
          </a:xfrm>
        </p:grpSpPr>
        <p:sp>
          <p:nvSpPr>
            <p:cNvPr id="3" name="Rectangle 2"/>
            <p:cNvSpPr/>
            <p:nvPr/>
          </p:nvSpPr>
          <p:spPr>
            <a:xfrm>
              <a:off x="1403648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 </a:t>
              </a:r>
              <a:r>
                <a:rPr lang="en-US" dirty="0">
                  <a:sym typeface="Wingdings" pitchFamily="2" charset="2"/>
                </a:rPr>
                <a:t> 1</a:t>
              </a:r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X = 10</a:t>
              </a:r>
            </a:p>
            <a:p>
              <a:pPr algn="ctr"/>
              <a:r>
                <a:rPr lang="en-US" dirty="0"/>
                <a:t>X := 10</a:t>
              </a:r>
              <a:endParaRPr lang="es-AR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491880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 </a:t>
              </a:r>
              <a:r>
                <a:rPr lang="en-US" dirty="0">
                  <a:sym typeface="Wingdings" pitchFamily="2" charset="2"/>
                </a:rPr>
                <a:t> 1</a:t>
              </a:r>
              <a:endParaRPr lang="en-US" dirty="0"/>
            </a:p>
            <a:p>
              <a:pPr algn="ctr"/>
              <a:r>
                <a:rPr lang="en-US" dirty="0"/>
                <a:t>Y = 1</a:t>
              </a:r>
            </a:p>
            <a:p>
              <a:pPr algn="ctr"/>
              <a:r>
                <a:rPr lang="en-US" dirty="0"/>
                <a:t>Y := 1</a:t>
              </a:r>
              <a:endParaRPr lang="es-AR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08104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 </a:t>
              </a:r>
              <a:r>
                <a:rPr lang="en-US" dirty="0">
                  <a:sym typeface="Wingdings" pitchFamily="2" charset="2"/>
                </a:rPr>
                <a:t> Y</a:t>
              </a:r>
              <a:endParaRPr lang="en-US" dirty="0"/>
            </a:p>
            <a:p>
              <a:pPr algn="ctr"/>
              <a:r>
                <a:rPr lang="en-US" dirty="0"/>
                <a:t>X = Y</a:t>
              </a:r>
            </a:p>
            <a:p>
              <a:pPr algn="ctr"/>
              <a:r>
                <a:rPr lang="en-US" dirty="0"/>
                <a:t>X := Y</a:t>
              </a:r>
              <a:endParaRPr lang="es-AR" dirty="0"/>
            </a:p>
          </p:txBody>
        </p:sp>
        <p:sp>
          <p:nvSpPr>
            <p:cNvPr id="4" name="Flowchart: Connector 3"/>
            <p:cNvSpPr/>
            <p:nvPr/>
          </p:nvSpPr>
          <p:spPr>
            <a:xfrm>
              <a:off x="1115616" y="3429000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s-AR" b="1" dirty="0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3239852" y="3400767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s-AR" b="1" dirty="0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256076" y="3350759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s-AR" b="1" dirty="0"/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1109070" y="4339590"/>
              <a:ext cx="6192688" cy="288032"/>
            </a:xfrm>
            <a:prstGeom prst="flowChartProcess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5" name="Rectangle 5"/>
          <p:cNvSpPr txBox="1">
            <a:spLocks noChangeArrowheads="1"/>
          </p:cNvSpPr>
          <p:nvPr/>
        </p:nvSpPr>
        <p:spPr>
          <a:xfrm>
            <a:off x="697590" y="4602038"/>
            <a:ext cx="8066110" cy="1728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Si el valor </a:t>
            </a:r>
            <a:r>
              <a:rPr lang="en-US" sz="2400" dirty="0" err="1"/>
              <a:t>que</a:t>
            </a:r>
            <a:r>
              <a:rPr lang="en-US" sz="2400" dirty="0"/>
              <a:t> se </a:t>
            </a:r>
            <a:r>
              <a:rPr lang="en-US" sz="2400" dirty="0" err="1"/>
              <a:t>desea</a:t>
            </a:r>
            <a:r>
              <a:rPr lang="en-US" sz="2400" dirty="0"/>
              <a:t> </a:t>
            </a:r>
            <a:r>
              <a:rPr lang="en-US" sz="2400" dirty="0" err="1"/>
              <a:t>asignar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ingresado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teclado</a:t>
            </a:r>
            <a:r>
              <a:rPr lang="en-US" sz="2400" dirty="0"/>
              <a:t>, se </a:t>
            </a:r>
            <a:r>
              <a:rPr lang="en-US" sz="2400" dirty="0" err="1"/>
              <a:t>utiliza</a:t>
            </a:r>
            <a:r>
              <a:rPr lang="en-US" sz="2400" dirty="0"/>
              <a:t> la </a:t>
            </a:r>
            <a:r>
              <a:rPr lang="en-US" sz="2400" dirty="0" err="1"/>
              <a:t>instrucción</a:t>
            </a:r>
            <a:r>
              <a:rPr lang="en-US" sz="2400" dirty="0"/>
              <a:t> leer. Si se </a:t>
            </a:r>
            <a:r>
              <a:rPr lang="en-US" sz="2400" dirty="0" err="1"/>
              <a:t>desea</a:t>
            </a:r>
            <a:r>
              <a:rPr lang="en-US" sz="2400" dirty="0"/>
              <a:t> </a:t>
            </a:r>
            <a:r>
              <a:rPr lang="en-US" sz="2400" dirty="0" err="1"/>
              <a:t>mostrar</a:t>
            </a:r>
            <a:r>
              <a:rPr lang="en-US" sz="2400" dirty="0"/>
              <a:t> el valor de </a:t>
            </a:r>
            <a:r>
              <a:rPr lang="en-US" sz="2400" dirty="0" err="1"/>
              <a:t>una</a:t>
            </a:r>
            <a:r>
              <a:rPr lang="en-US" sz="2400" dirty="0"/>
              <a:t> variable en </a:t>
            </a:r>
            <a:r>
              <a:rPr lang="en-US" sz="2400" dirty="0" err="1"/>
              <a:t>pantalla</a:t>
            </a:r>
            <a:r>
              <a:rPr lang="en-US" sz="2400" dirty="0"/>
              <a:t> se </a:t>
            </a:r>
            <a:r>
              <a:rPr lang="en-US" sz="2400" dirty="0" err="1"/>
              <a:t>utiliza</a:t>
            </a:r>
            <a:r>
              <a:rPr lang="en-US" sz="2400" dirty="0"/>
              <a:t> la </a:t>
            </a:r>
            <a:r>
              <a:rPr lang="en-US" sz="2400" dirty="0" err="1"/>
              <a:t>instrucción</a:t>
            </a:r>
            <a:r>
              <a:rPr lang="en-US" sz="2400" dirty="0"/>
              <a:t> </a:t>
            </a:r>
            <a:r>
              <a:rPr lang="en-US" sz="2400" dirty="0" err="1"/>
              <a:t>escribir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Leer (X)</a:t>
            </a:r>
          </a:p>
          <a:p>
            <a:pPr lvl="1"/>
            <a:r>
              <a:rPr lang="en-US" sz="2000" dirty="0" err="1"/>
              <a:t>Escribir</a:t>
            </a:r>
            <a:r>
              <a:rPr lang="en-US" sz="2000" dirty="0"/>
              <a:t> (X)</a:t>
            </a: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pic>
        <p:nvPicPr>
          <p:cNvPr id="16" name="6 Imagen">
            <a:extLst>
              <a:ext uri="{FF2B5EF4-FFF2-40B4-BE49-F238E27FC236}">
                <a16:creationId xmlns:a16="http://schemas.microsoft.com/office/drawing/2014/main" id="{8472A66D-111F-E342-9223-854F4634C9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17" name="Cuadro de texto 2">
            <a:extLst>
              <a:ext uri="{FF2B5EF4-FFF2-40B4-BE49-F238E27FC236}">
                <a16:creationId xmlns:a16="http://schemas.microsoft.com/office/drawing/2014/main" id="{690F1AC4-BC84-3443-94F0-BD21103B0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49EA92-92FE-8741-AA31-AE747E13953A}"/>
              </a:ext>
            </a:extLst>
          </p:cNvPr>
          <p:cNvSpPr txBox="1"/>
          <p:nvPr/>
        </p:nvSpPr>
        <p:spPr>
          <a:xfrm>
            <a:off x="36458" y="1090652"/>
            <a:ext cx="1944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Asignación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7085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7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Repetición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Se utiliza cuando se desea repetir un determinado bloque de instrucciones sobre un índice i (por convención se usa i, sin embargo se puede usar cualquier identificador):</a:t>
            </a:r>
          </a:p>
          <a:p>
            <a:pPr marL="0" indent="0">
              <a:buNone/>
            </a:pPr>
            <a:r>
              <a:rPr lang="es-AR" sz="2400" dirty="0"/>
              <a:t>Supongamos las siguientes instrucciones:</a:t>
            </a:r>
          </a:p>
          <a:p>
            <a:pPr lvl="1"/>
            <a:r>
              <a:rPr lang="es-AR" sz="2000" dirty="0"/>
              <a:t>“Sumarle 10 veces a X el valor de Y”</a:t>
            </a:r>
          </a:p>
          <a:p>
            <a:pPr lvl="1"/>
            <a:r>
              <a:rPr lang="es-AR" sz="2000" dirty="0"/>
              <a:t>“Mostrar en pantalla el valor de la variable X”</a:t>
            </a:r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3347864" y="4077072"/>
            <a:ext cx="2952328" cy="208823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X:= 0</a:t>
            </a:r>
          </a:p>
          <a:p>
            <a:r>
              <a:rPr lang="es-AR" dirty="0"/>
              <a:t>Y:= 1</a:t>
            </a:r>
          </a:p>
          <a:p>
            <a:r>
              <a:rPr lang="es-AR" dirty="0">
                <a:solidFill>
                  <a:srgbClr val="C00000"/>
                </a:solidFill>
              </a:rPr>
              <a:t>para </a:t>
            </a:r>
            <a:r>
              <a:rPr lang="es-AR" dirty="0"/>
              <a:t>I:=0 </a:t>
            </a:r>
            <a:r>
              <a:rPr lang="es-AR" dirty="0">
                <a:solidFill>
                  <a:srgbClr val="C00000"/>
                </a:solidFill>
              </a:rPr>
              <a:t>hasta </a:t>
            </a:r>
            <a:r>
              <a:rPr lang="es-AR" dirty="0"/>
              <a:t>10 </a:t>
            </a:r>
            <a:r>
              <a:rPr lang="es-AR" dirty="0">
                <a:solidFill>
                  <a:srgbClr val="C00000"/>
                </a:solidFill>
              </a:rPr>
              <a:t>hacer</a:t>
            </a:r>
          </a:p>
          <a:p>
            <a:r>
              <a:rPr lang="es-AR" dirty="0"/>
              <a:t>X:= X+Y</a:t>
            </a:r>
          </a:p>
          <a:p>
            <a:r>
              <a:rPr lang="es-AR" dirty="0">
                <a:solidFill>
                  <a:srgbClr val="C00000"/>
                </a:solidFill>
              </a:rPr>
              <a:t>fin para</a:t>
            </a:r>
          </a:p>
          <a:p>
            <a:r>
              <a:rPr lang="es-AR" dirty="0">
                <a:solidFill>
                  <a:schemeClr val="bg1"/>
                </a:solidFill>
              </a:rPr>
              <a:t>escribir (X)</a:t>
            </a: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CE7E7837-D75F-8841-A5DB-908864C6AC7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91DAA04B-D0C5-4944-8706-E9C9C328A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23D81-E0CC-AB46-A352-F6AD677B97EF}"/>
              </a:ext>
            </a:extLst>
          </p:cNvPr>
          <p:cNvSpPr txBox="1"/>
          <p:nvPr/>
        </p:nvSpPr>
        <p:spPr>
          <a:xfrm>
            <a:off x="107504" y="1133743"/>
            <a:ext cx="1859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Repetición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9520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8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Decisión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Se utiliza cuando se desea tomar un curso de acción distinto si se verifica una condición.</a:t>
            </a:r>
          </a:p>
          <a:p>
            <a:pPr marL="0" indent="0">
              <a:buNone/>
            </a:pPr>
            <a:r>
              <a:rPr lang="es-AR" sz="2400" dirty="0"/>
              <a:t>Supongamos la siguiente instrucción:</a:t>
            </a:r>
          </a:p>
          <a:p>
            <a:pPr lvl="1"/>
            <a:r>
              <a:rPr lang="es-AR" sz="2000" dirty="0"/>
              <a:t>“Leer un número por teclado e imprimir en pantalla si es negativo o positivo”</a:t>
            </a:r>
            <a:endParaRPr lang="en-US" sz="2000" dirty="0"/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3501008"/>
            <a:ext cx="4176464" cy="266429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Leer(X)</a:t>
            </a:r>
          </a:p>
          <a:p>
            <a:r>
              <a:rPr lang="es-AR" dirty="0">
                <a:solidFill>
                  <a:srgbClr val="C00000"/>
                </a:solidFill>
              </a:rPr>
              <a:t>si</a:t>
            </a:r>
            <a:r>
              <a:rPr lang="es-AR" dirty="0"/>
              <a:t> X&lt;&gt;0 </a:t>
            </a:r>
            <a:r>
              <a:rPr lang="es-AR" dirty="0">
                <a:solidFill>
                  <a:srgbClr val="C00000"/>
                </a:solidFill>
              </a:rPr>
              <a:t>entonces</a:t>
            </a:r>
          </a:p>
          <a:p>
            <a:r>
              <a:rPr lang="es-AR" dirty="0">
                <a:solidFill>
                  <a:srgbClr val="C00000"/>
                </a:solidFill>
              </a:rPr>
              <a:t>	si</a:t>
            </a:r>
            <a:r>
              <a:rPr lang="es-AR" dirty="0"/>
              <a:t> X&gt;0 </a:t>
            </a:r>
            <a:r>
              <a:rPr lang="es-AR" dirty="0">
                <a:solidFill>
                  <a:srgbClr val="C00000"/>
                </a:solidFill>
              </a:rPr>
              <a:t>entonces</a:t>
            </a:r>
          </a:p>
          <a:p>
            <a:r>
              <a:rPr lang="es-AR" dirty="0"/>
              <a:t>		Escribir(“Es positivo”)</a:t>
            </a:r>
          </a:p>
          <a:p>
            <a:r>
              <a:rPr lang="es-AR" dirty="0">
                <a:solidFill>
                  <a:srgbClr val="C00000"/>
                </a:solidFill>
              </a:rPr>
              <a:t>	si no</a:t>
            </a:r>
          </a:p>
          <a:p>
            <a:r>
              <a:rPr lang="es-AR" dirty="0"/>
              <a:t>		Escribir(“Es negativo”)</a:t>
            </a:r>
          </a:p>
          <a:p>
            <a:r>
              <a:rPr lang="es-AR" dirty="0">
                <a:solidFill>
                  <a:srgbClr val="C00000"/>
                </a:solidFill>
              </a:rPr>
              <a:t>	fin si</a:t>
            </a:r>
          </a:p>
          <a:p>
            <a:r>
              <a:rPr lang="es-AR" dirty="0">
                <a:solidFill>
                  <a:srgbClr val="C00000"/>
                </a:solidFill>
              </a:rPr>
              <a:t>si no</a:t>
            </a:r>
          </a:p>
          <a:p>
            <a:r>
              <a:rPr lang="es-AR" dirty="0"/>
              <a:t>	Escribir(“El número es 0”)</a:t>
            </a:r>
          </a:p>
          <a:p>
            <a:r>
              <a:rPr lang="es-AR" dirty="0">
                <a:solidFill>
                  <a:srgbClr val="C00000"/>
                </a:solidFill>
              </a:rPr>
              <a:t>fin si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31A1AE25-6221-A94F-86C5-D3B2EAD0D2E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59A6D657-1158-0E4B-84A1-74A7D8EB6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C36EF-4537-F543-AF53-7E0E27B73D1E}"/>
              </a:ext>
            </a:extLst>
          </p:cNvPr>
          <p:cNvSpPr txBox="1"/>
          <p:nvPr/>
        </p:nvSpPr>
        <p:spPr>
          <a:xfrm>
            <a:off x="107504" y="1133743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Decisión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9482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9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Selección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UCALP 2012 - Estructura de Datos y Algoritmos - Miaton</a:t>
            </a:r>
            <a:endParaRPr lang="es-ES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1656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Una construcción similar a la anterior (equivalente en algunos casos)</a:t>
            </a:r>
          </a:p>
          <a:p>
            <a:pPr marL="0" indent="0">
              <a:buNone/>
            </a:pPr>
            <a:r>
              <a:rPr lang="es-AR" sz="2400" dirty="0"/>
              <a:t>Supongamos la siguiente instrucción:</a:t>
            </a:r>
          </a:p>
          <a:p>
            <a:pPr lvl="1"/>
            <a:r>
              <a:rPr lang="es-AR" sz="2000" dirty="0"/>
              <a:t>“Leer una edad por teclado e imprimir en pantalla si es niño, adolescente, adulto o mayor”</a:t>
            </a:r>
            <a:endParaRPr lang="en-US" sz="1600" dirty="0"/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2996952"/>
            <a:ext cx="4176464" cy="37444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 (edad)</a:t>
            </a:r>
          </a:p>
          <a:p>
            <a:r>
              <a:rPr lang="es-AR" dirty="0">
                <a:solidFill>
                  <a:srgbClr val="C00000"/>
                </a:solidFill>
              </a:rPr>
              <a:t>seleccionar (</a:t>
            </a:r>
            <a:r>
              <a:rPr lang="es-AR" dirty="0">
                <a:solidFill>
                  <a:schemeClr val="bg1"/>
                </a:solidFill>
              </a:rPr>
              <a:t>edad</a:t>
            </a:r>
            <a:r>
              <a:rPr lang="es-AR" dirty="0">
                <a:solidFill>
                  <a:srgbClr val="C00000"/>
                </a:solidFill>
              </a:rPr>
              <a:t>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edad &lt; 10</a:t>
            </a:r>
          </a:p>
          <a:p>
            <a:r>
              <a:rPr lang="es-AR" dirty="0"/>
              <a:t>escribir (“Niño”)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(edad &gt; 10 y edad &lt; 21)</a:t>
            </a:r>
          </a:p>
          <a:p>
            <a:r>
              <a:rPr lang="es-AR" dirty="0"/>
              <a:t>escribir (“Adolescente”)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(edad &gt; 20 y edad &lt; 65)</a:t>
            </a:r>
          </a:p>
          <a:p>
            <a:r>
              <a:rPr lang="es-AR" dirty="0"/>
              <a:t>escribir (“Adulto”)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edad &lt; 64</a:t>
            </a:r>
          </a:p>
          <a:p>
            <a:r>
              <a:rPr lang="es-AR" dirty="0"/>
              <a:t>escribir (“Mayor”)</a:t>
            </a:r>
          </a:p>
          <a:p>
            <a:r>
              <a:rPr lang="es-AR" dirty="0">
                <a:solidFill>
                  <a:srgbClr val="C00000"/>
                </a:solidFill>
              </a:rPr>
              <a:t>en otro caso</a:t>
            </a:r>
          </a:p>
          <a:p>
            <a:r>
              <a:rPr lang="es-AR" dirty="0"/>
              <a:t>escribir (“no esta definido”)</a:t>
            </a:r>
          </a:p>
          <a:p>
            <a:r>
              <a:rPr lang="en-US" dirty="0">
                <a:solidFill>
                  <a:srgbClr val="C00000"/>
                </a:solidFill>
              </a:rPr>
              <a:t>fin </a:t>
            </a:r>
            <a:r>
              <a:rPr lang="en-US" dirty="0" err="1">
                <a:solidFill>
                  <a:srgbClr val="C00000"/>
                </a:solidFill>
              </a:rPr>
              <a:t>seleccionar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B081748F-1AC2-E543-B9B6-B0112A0E53E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7E33692F-C1A4-C54B-9308-B89C3367E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5C6651-A8F7-B94D-9DFD-D3AD411A48A8}"/>
              </a:ext>
            </a:extLst>
          </p:cNvPr>
          <p:cNvSpPr txBox="1"/>
          <p:nvPr/>
        </p:nvSpPr>
        <p:spPr>
          <a:xfrm>
            <a:off x="107504" y="113374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Selección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0051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10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Iteración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6642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El bucle se repite mientras la condición sea cierta, si al llegar por primera vez al bucle mientras la condición es falsa, el cuerpo del bucle no se ejecuta ninguna vez.</a:t>
            </a:r>
          </a:p>
          <a:p>
            <a:endParaRPr lang="es-AR" sz="2400" dirty="0"/>
          </a:p>
          <a:p>
            <a:pPr marL="0" indent="0">
              <a:buNone/>
            </a:pPr>
            <a:r>
              <a:rPr lang="es-AR" sz="2400" dirty="0"/>
              <a:t>Dada la siguiente instrucción:</a:t>
            </a:r>
          </a:p>
          <a:p>
            <a:pPr lvl="1"/>
            <a:r>
              <a:rPr lang="es-AR" sz="2000" dirty="0"/>
              <a:t>“Calcular las potencias de números ingresados por teclado siempre que sean positivos e imprimir en pantalla”</a:t>
            </a:r>
            <a:endParaRPr lang="en-US" sz="20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4455560"/>
            <a:ext cx="4176464" cy="15472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 (numero)</a:t>
            </a:r>
          </a:p>
          <a:p>
            <a:r>
              <a:rPr lang="es-AR" dirty="0">
                <a:solidFill>
                  <a:srgbClr val="C00000"/>
                </a:solidFill>
              </a:rPr>
              <a:t>mientras</a:t>
            </a:r>
            <a:r>
              <a:rPr lang="es-AR" dirty="0"/>
              <a:t> numero &gt; 0</a:t>
            </a:r>
          </a:p>
          <a:p>
            <a:r>
              <a:rPr lang="es-AR" dirty="0"/>
              <a:t>	escribir (numero * numero)</a:t>
            </a:r>
          </a:p>
          <a:p>
            <a:r>
              <a:rPr lang="es-AR" dirty="0"/>
              <a:t>	leer (numero)</a:t>
            </a:r>
          </a:p>
          <a:p>
            <a:r>
              <a:rPr lang="es-AR" dirty="0">
                <a:solidFill>
                  <a:srgbClr val="C00000"/>
                </a:solidFill>
              </a:rPr>
              <a:t>fin mientras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61963E8E-500E-DC46-BFBF-248AD4B0CB3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E1321812-B287-9249-BDE8-9FEBBD61F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57E6D-5D25-8448-8E85-F75D82BDE817}"/>
              </a:ext>
            </a:extLst>
          </p:cNvPr>
          <p:cNvSpPr txBox="1"/>
          <p:nvPr/>
        </p:nvSpPr>
        <p:spPr>
          <a:xfrm>
            <a:off x="107504" y="1133743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Iteración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16259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11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Practica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7922094" cy="47525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Antes de codificar, leer atentamente el enunciado apuntado en lenguaje natural cuales son las entradas y salidas del problema y qué proceso de </a:t>
            </a:r>
            <a:r>
              <a:rPr lang="es-AR" sz="2400" dirty="0" err="1"/>
              <a:t>trasnformación</a:t>
            </a:r>
            <a:r>
              <a:rPr lang="es-AR" sz="2400" dirty="0"/>
              <a:t> se realiza.</a:t>
            </a:r>
          </a:p>
          <a:p>
            <a:endParaRPr lang="es-AR" sz="2200" dirty="0"/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Calcular el factorial de un numero </a:t>
            </a:r>
            <a:r>
              <a:rPr lang="es-AR" sz="2400" dirty="0" err="1"/>
              <a:t>leido</a:t>
            </a:r>
            <a:r>
              <a:rPr lang="es-AR" sz="2400" dirty="0"/>
              <a:t> manualmente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Calcular</a:t>
            </a:r>
            <a:r>
              <a:rPr lang="en-US" sz="2400" dirty="0"/>
              <a:t> el </a:t>
            </a:r>
            <a:r>
              <a:rPr lang="en-US" sz="2400" dirty="0" err="1"/>
              <a:t>indice</a:t>
            </a:r>
            <a:r>
              <a:rPr lang="en-US" sz="2400" dirty="0"/>
              <a:t> de </a:t>
            </a:r>
            <a:r>
              <a:rPr lang="en-US" sz="2400" dirty="0" err="1"/>
              <a:t>masa</a:t>
            </a:r>
            <a:r>
              <a:rPr lang="en-US" sz="2400" dirty="0"/>
              <a:t> corporal de </a:t>
            </a:r>
            <a:r>
              <a:rPr lang="en-US" sz="2400" dirty="0" err="1"/>
              <a:t>una</a:t>
            </a:r>
            <a:r>
              <a:rPr lang="en-US" sz="2400" dirty="0"/>
              <a:t> persona (</a:t>
            </a:r>
            <a:r>
              <a:rPr lang="it-IT" sz="2400" dirty="0"/>
              <a:t>IMC = peso (kg) / talla² (mts)²)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Imprima los números del 0 al 100 en pantalla en orden creciente.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la suma de los números de 1 a 100 en pantalla.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los números que hay desde 1 hasta un número ingresado por teclado.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los números del 0 al 100 en pantalla en orden decreciente.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la cantidad de palabras ingresadas por teclado hasta ingresar la palabra “fin”.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 una frase en pantalla leyendo palabra por palabra hasta ingresar la palabra  “fin”</a:t>
            </a:r>
            <a:endParaRPr lang="it-IT" sz="2400" dirty="0"/>
          </a:p>
          <a:p>
            <a:pPr marL="457200" indent="-457200">
              <a:buFont typeface="+mj-lt"/>
              <a:buAutoNum type="arabicPeriod"/>
            </a:pPr>
            <a:endParaRPr lang="es-AR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EB39916E-F8FA-4A43-8477-AA532D00BF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6D54D5C6-11C7-274F-AE2A-EEAA00442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5165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0CC9BE0-44C9-BD4C-BF23-EF5281A2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772816"/>
            <a:ext cx="2952328" cy="340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8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032E41-31A3-054A-8FDA-4FF67C256925}"/>
              </a:ext>
            </a:extLst>
          </p:cNvPr>
          <p:cNvSpPr txBox="1"/>
          <p:nvPr/>
        </p:nvSpPr>
        <p:spPr>
          <a:xfrm>
            <a:off x="467544" y="1244101"/>
            <a:ext cx="570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AR" dirty="0"/>
              <a:t>Calcular el factorial de un numero leido manualmente</a:t>
            </a:r>
          </a:p>
        </p:txBody>
      </p:sp>
    </p:spTree>
    <p:extLst>
      <p:ext uri="{BB962C8B-B14F-4D97-AF65-F5344CB8AC3E}">
        <p14:creationId xmlns:p14="http://schemas.microsoft.com/office/powerpoint/2010/main" val="122024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0E157AF-D033-ED48-9E4E-CE64A461F67F}"/>
              </a:ext>
            </a:extLst>
          </p:cNvPr>
          <p:cNvSpPr txBox="1"/>
          <p:nvPr/>
        </p:nvSpPr>
        <p:spPr>
          <a:xfrm>
            <a:off x="395536" y="1290267"/>
            <a:ext cx="8134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2 - </a:t>
            </a:r>
            <a:r>
              <a:rPr lang="en-US" dirty="0" err="1"/>
              <a:t>Calcular</a:t>
            </a:r>
            <a:r>
              <a:rPr lang="en-US" dirty="0"/>
              <a:t> el </a:t>
            </a:r>
            <a:r>
              <a:rPr lang="en-US" dirty="0" err="1"/>
              <a:t>indice</a:t>
            </a:r>
            <a:r>
              <a:rPr lang="en-US" dirty="0"/>
              <a:t> de masa corporal de </a:t>
            </a:r>
            <a:r>
              <a:rPr lang="en-US" dirty="0" err="1"/>
              <a:t>una</a:t>
            </a:r>
            <a:r>
              <a:rPr lang="en-US" dirty="0"/>
              <a:t> persona (</a:t>
            </a:r>
            <a:r>
              <a:rPr lang="it-IT" dirty="0"/>
              <a:t>IMC = peso (kg) / </a:t>
            </a:r>
            <a:r>
              <a:rPr lang="it-IT" dirty="0" err="1"/>
              <a:t>talla</a:t>
            </a:r>
            <a:r>
              <a:rPr lang="it-IT" dirty="0"/>
              <a:t>² (</a:t>
            </a:r>
            <a:r>
              <a:rPr lang="it-IT" dirty="0" err="1"/>
              <a:t>mts</a:t>
            </a:r>
            <a:r>
              <a:rPr lang="it-IT" dirty="0"/>
              <a:t>)²)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165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FC74EA5-CE0D-0F46-8092-9ECE411F4C74}"/>
              </a:ext>
            </a:extLst>
          </p:cNvPr>
          <p:cNvSpPr txBox="1"/>
          <p:nvPr/>
        </p:nvSpPr>
        <p:spPr>
          <a:xfrm>
            <a:off x="395536" y="1290267"/>
            <a:ext cx="6524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3 - Imprima los números del 0 al 100 en pantalla en orden creciente.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027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6C87BA1-665B-FA4A-8FEF-EFA8005B1C89}"/>
              </a:ext>
            </a:extLst>
          </p:cNvPr>
          <p:cNvSpPr txBox="1"/>
          <p:nvPr/>
        </p:nvSpPr>
        <p:spPr>
          <a:xfrm>
            <a:off x="467544" y="1244101"/>
            <a:ext cx="5687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4 - Imprimir la suma de los números de 1 a 100 en pantalla.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41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844FC8-C67C-AA47-8B19-6317DECE7646}"/>
              </a:ext>
            </a:extLst>
          </p:cNvPr>
          <p:cNvSpPr txBox="1"/>
          <p:nvPr/>
        </p:nvSpPr>
        <p:spPr>
          <a:xfrm>
            <a:off x="323528" y="1196752"/>
            <a:ext cx="7830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5 - Imprimir los números que hay desde 1 hasta un número ingresado por teclado.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0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844FC8-C67C-AA47-8B19-6317DECE7646}"/>
              </a:ext>
            </a:extLst>
          </p:cNvPr>
          <p:cNvSpPr txBox="1"/>
          <p:nvPr/>
        </p:nvSpPr>
        <p:spPr>
          <a:xfrm>
            <a:off x="323528" y="1196752"/>
            <a:ext cx="678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6 - Imprimir los números del 0 al 100 en pantalla en orden decreciente.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224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844FC8-C67C-AA47-8B19-6317DECE7646}"/>
              </a:ext>
            </a:extLst>
          </p:cNvPr>
          <p:cNvSpPr txBox="1"/>
          <p:nvPr/>
        </p:nvSpPr>
        <p:spPr>
          <a:xfrm>
            <a:off x="323528" y="1196752"/>
            <a:ext cx="8498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7 - Imprimir la cantidad de palabras ingresadas por teclado hasta ingresar la palabra “fin”.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202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844FC8-C67C-AA47-8B19-6317DECE7646}"/>
              </a:ext>
            </a:extLst>
          </p:cNvPr>
          <p:cNvSpPr txBox="1"/>
          <p:nvPr/>
        </p:nvSpPr>
        <p:spPr>
          <a:xfrm>
            <a:off x="323528" y="1196752"/>
            <a:ext cx="8829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8 - Imprimir una frase en pantalla leyendo palabra por palabra hasta ingresar la palabra  “fin”</a:t>
            </a:r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761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1208</Words>
  <Application>Microsoft Macintosh PowerPoint</Application>
  <PresentationFormat>On-screen Show (4:3)</PresentationFormat>
  <Paragraphs>187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Helvetica</vt:lpstr>
      <vt:lpstr>Open Sans</vt:lpstr>
      <vt:lpstr>Times New Roman</vt:lpstr>
      <vt:lpstr>Wingdings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Pseudocódigo: Asignación</vt:lpstr>
      <vt:lpstr>Pseudocódigo: Repetición</vt:lpstr>
      <vt:lpstr>Pseudocódigo: Decisión</vt:lpstr>
      <vt:lpstr>Pseudocódigo: Selección</vt:lpstr>
      <vt:lpstr>Pseudocódigo: Iteración</vt:lpstr>
      <vt:lpstr>Practica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PC10</dc:creator>
  <cp:lastModifiedBy>Agustin Ambrossio</cp:lastModifiedBy>
  <cp:revision>79</cp:revision>
  <dcterms:created xsi:type="dcterms:W3CDTF">2020-04-01T12:31:54Z</dcterms:created>
  <dcterms:modified xsi:type="dcterms:W3CDTF">2022-04-28T21:20:07Z</dcterms:modified>
</cp:coreProperties>
</file>