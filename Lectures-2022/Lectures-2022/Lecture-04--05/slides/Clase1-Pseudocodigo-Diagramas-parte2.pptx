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64" r:id="rId3"/>
    <p:sldId id="256" r:id="rId4"/>
    <p:sldId id="302" r:id="rId5"/>
    <p:sldId id="303" r:id="rId6"/>
    <p:sldId id="304" r:id="rId7"/>
    <p:sldId id="258" r:id="rId8"/>
    <p:sldId id="259" r:id="rId9"/>
    <p:sldId id="260" r:id="rId10"/>
    <p:sldId id="261" r:id="rId11"/>
    <p:sldId id="262" r:id="rId12"/>
    <p:sldId id="265" r:id="rId13"/>
    <p:sldId id="284" r:id="rId14"/>
    <p:sldId id="305" r:id="rId15"/>
    <p:sldId id="306" r:id="rId16"/>
    <p:sldId id="307" r:id="rId17"/>
    <p:sldId id="308" r:id="rId18"/>
    <p:sldId id="309" r:id="rId19"/>
    <p:sldId id="310" r:id="rId20"/>
    <p:sldId id="311" r:id="rId21"/>
    <p:sldId id="312" r:id="rId22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49"/>
    <p:restoredTop sz="94643"/>
  </p:normalViewPr>
  <p:slideViewPr>
    <p:cSldViewPr>
      <p:cViewPr varScale="1">
        <p:scale>
          <a:sx n="120" d="100"/>
          <a:sy n="120" d="100"/>
        </p:scale>
        <p:origin x="1392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C9B637-CDC0-4A60-98E8-1AF66D8A2354}" type="datetimeFigureOut">
              <a:rPr lang="es-AR" smtClean="0"/>
              <a:t>20/4/22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7E38B1-1131-4F2F-904D-E2694668282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11465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26965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49556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68753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9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533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38013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A07869-F719-46A4-A563-4E17B2789AE0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24291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20/4/22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9509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20/4/22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3211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20/4/22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5840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20/4/22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6726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20/4/22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2287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20/4/22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41598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20/4/22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558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20/4/22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66431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20/4/22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765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20/4/22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9744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61A7-A2BE-4396-9343-333936956773}" type="datetimeFigureOut">
              <a:rPr lang="es-AR" smtClean="0"/>
              <a:t>20/4/22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4433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3938635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130585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046952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559893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8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316507"/>
      </p:ext>
    </p:extLst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105869"/>
      </p:ext>
    </p:extLst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291956"/>
      </p:ext>
    </p:extLst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29406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42071"/>
      </p:ext>
    </p:extLst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163925"/>
      </p:ext>
    </p:extLst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411269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861A7-A2BE-4396-9343-333936956773}" type="datetimeFigureOut">
              <a:rPr lang="es-AR" smtClean="0"/>
              <a:t>20/4/22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1ABBB6-31A4-4EB2-B986-935752563B8C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766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E01650-D94C-4688-A36C-AA83C0BC343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4/20/22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7C71F-EBF0-4BA3-AA24-8E7B4FA81DF9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586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283968" y="4725144"/>
            <a:ext cx="4689425" cy="1900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Algóritmos</a:t>
            </a: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y </a:t>
            </a: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Estructuras</a:t>
            </a:r>
            <a:r>
              <a:rPr lang="en-US" sz="24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 </a:t>
            </a:r>
            <a:r>
              <a:rPr lang="en-US" sz="24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Datos</a:t>
            </a:r>
            <a:endParaRPr lang="en-US" sz="24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</a:rPr>
              <a:t>-00184-</a:t>
            </a:r>
            <a:endParaRPr lang="en-US" sz="24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Dr. Diego </a:t>
            </a:r>
            <a:r>
              <a:rPr lang="en-US" sz="16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Agustín</a:t>
            </a: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Ambrossio</a:t>
            </a:r>
          </a:p>
          <a:p>
            <a:pPr algn="ctr">
              <a:lnSpc>
                <a:spcPct val="150000"/>
              </a:lnSpc>
            </a:pPr>
            <a:r>
              <a:rPr lang="en-US" sz="1600" b="1" dirty="0" err="1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Anl</a:t>
            </a:r>
            <a:r>
              <a:rPr lang="en-US" sz="16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 Sis. Angel Leonardo Bianco</a:t>
            </a:r>
          </a:p>
        </p:txBody>
      </p:sp>
      <p:sp>
        <p:nvSpPr>
          <p:cNvPr id="4" name="TextShape 2"/>
          <p:cNvSpPr txBox="1"/>
          <p:nvPr/>
        </p:nvSpPr>
        <p:spPr>
          <a:xfrm>
            <a:off x="2843808" y="2060848"/>
            <a:ext cx="7254071" cy="6573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algn="ctr"/>
            <a:r>
              <a:rPr lang="es-AR" sz="4000" b="1" i="1" strike="noStrike" spc="-1" dirty="0">
                <a:solidFill>
                  <a:srgbClr val="FFFFFF"/>
                </a:solidFill>
                <a:latin typeface="Arial"/>
              </a:rPr>
              <a:t>Introducción a la Programación</a:t>
            </a:r>
          </a:p>
          <a:p>
            <a:pPr algn="ctr"/>
            <a:endParaRPr lang="es-AR" sz="40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2590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415853" y="167850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Algoritmos</a:t>
            </a:r>
            <a:r>
              <a:rPr lang="en-US" sz="2000" dirty="0"/>
              <a:t> (Cont.)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Diagramas</a:t>
            </a:r>
            <a:r>
              <a:rPr lang="en-US" sz="2000" dirty="0"/>
              <a:t> de </a:t>
            </a:r>
            <a:r>
              <a:rPr lang="en-US" sz="2000" dirty="0" err="1"/>
              <a:t>Flujo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Pseudocódigo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Asignación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Secuencia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Decisión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Repetición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Selección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000" dirty="0" err="1"/>
              <a:t>Iteración</a:t>
            </a:r>
            <a:r>
              <a:rPr lang="en-US" sz="2000" dirty="0"/>
              <a:t> </a:t>
            </a:r>
          </a:p>
          <a:p>
            <a:pPr lvl="2" algn="just"/>
            <a:endParaRPr lang="es-AR" sz="2200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18069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Contenido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25960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415853" y="167850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150000"/>
              </a:lnSpc>
            </a:pPr>
            <a:endParaRPr lang="en-US" sz="2000" dirty="0"/>
          </a:p>
          <a:p>
            <a:pPr lvl="2" algn="just"/>
            <a:endParaRPr lang="es-AR" sz="2200" spc="-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19111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Algoritmos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61E734-5EA2-B548-9133-E6F286014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224" y="1456763"/>
            <a:ext cx="7856654" cy="535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823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415853" y="167850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dirty="0"/>
              <a:t>Un </a:t>
            </a:r>
            <a:r>
              <a:rPr lang="en-US" b="1" dirty="0" err="1"/>
              <a:t>diagrama</a:t>
            </a:r>
            <a:r>
              <a:rPr lang="en-US" b="1" dirty="0"/>
              <a:t> de </a:t>
            </a:r>
            <a:r>
              <a:rPr lang="en-US" b="1" dirty="0" err="1"/>
              <a:t>flujo</a:t>
            </a:r>
            <a:r>
              <a:rPr lang="en-US" dirty="0"/>
              <a:t> </a:t>
            </a:r>
            <a:r>
              <a:rPr lang="en-US" dirty="0" err="1"/>
              <a:t>representa</a:t>
            </a:r>
            <a:r>
              <a:rPr lang="en-US" dirty="0"/>
              <a:t> la </a:t>
            </a:r>
            <a:r>
              <a:rPr lang="en-US" dirty="0" err="1"/>
              <a:t>esquematización</a:t>
            </a:r>
            <a:r>
              <a:rPr lang="en-US" dirty="0"/>
              <a:t> </a:t>
            </a:r>
            <a:r>
              <a:rPr lang="en-US" dirty="0" err="1"/>
              <a:t>gráfica</a:t>
            </a:r>
            <a:r>
              <a:rPr lang="en-US" dirty="0"/>
              <a:t> de un </a:t>
            </a:r>
            <a:r>
              <a:rPr lang="en-US" dirty="0" err="1"/>
              <a:t>algoritmo</a:t>
            </a:r>
            <a:r>
              <a:rPr lang="en-US" dirty="0"/>
              <a:t>.  </a:t>
            </a:r>
            <a:r>
              <a:rPr lang="en-US" dirty="0" err="1"/>
              <a:t>Muestra</a:t>
            </a:r>
            <a:r>
              <a:rPr lang="en-US" dirty="0"/>
              <a:t> </a:t>
            </a:r>
            <a:r>
              <a:rPr lang="en-US" dirty="0" err="1"/>
              <a:t>gráficamente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pasos</a:t>
            </a:r>
            <a:r>
              <a:rPr lang="en-US" dirty="0"/>
              <a:t> a </a:t>
            </a:r>
            <a:r>
              <a:rPr lang="en-US" dirty="0" err="1"/>
              <a:t>seguir</a:t>
            </a:r>
            <a:r>
              <a:rPr lang="en-US" dirty="0"/>
              <a:t> para </a:t>
            </a:r>
            <a:r>
              <a:rPr lang="en-US" dirty="0" err="1"/>
              <a:t>alcanzar</a:t>
            </a:r>
            <a:r>
              <a:rPr lang="en-US" dirty="0"/>
              <a:t> </a:t>
            </a:r>
            <a:r>
              <a:rPr lang="en-US" dirty="0" err="1"/>
              <a:t>resolución</a:t>
            </a:r>
            <a:r>
              <a:rPr lang="en-US" dirty="0"/>
              <a:t> de un </a:t>
            </a:r>
            <a:r>
              <a:rPr lang="en-US" dirty="0" err="1"/>
              <a:t>problema</a:t>
            </a:r>
            <a:r>
              <a:rPr lang="en-US" dirty="0"/>
              <a:t>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3124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Diagramas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 de </a:t>
            </a:r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Flujo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E16159-F830-4349-A46A-B506C4E9E1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357864"/>
            <a:ext cx="8028384" cy="446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58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8" name="Cuadro de texto 2"/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  <p:sp>
        <p:nvSpPr>
          <p:cNvPr id="9" name="TextShape 3">
            <a:extLst>
              <a:ext uri="{FF2B5EF4-FFF2-40B4-BE49-F238E27FC236}">
                <a16:creationId xmlns:a16="http://schemas.microsoft.com/office/drawing/2014/main" id="{1EE73370-1CB5-184B-A778-C70CB3735C00}"/>
              </a:ext>
            </a:extLst>
          </p:cNvPr>
          <p:cNvSpPr txBox="1"/>
          <p:nvPr/>
        </p:nvSpPr>
        <p:spPr>
          <a:xfrm>
            <a:off x="415853" y="1678502"/>
            <a:ext cx="8100392" cy="5179498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r>
              <a:rPr lang="en-US" dirty="0"/>
              <a:t>El </a:t>
            </a:r>
            <a:r>
              <a:rPr lang="en-US" b="1" dirty="0" err="1"/>
              <a:t>pseudocódigo</a:t>
            </a:r>
            <a:r>
              <a:rPr lang="en-US" dirty="0"/>
              <a:t>,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serie</a:t>
            </a:r>
            <a:r>
              <a:rPr lang="en-US" dirty="0"/>
              <a:t> de palabras </a:t>
            </a:r>
            <a:r>
              <a:rPr lang="en-US" dirty="0" err="1"/>
              <a:t>léxicas</a:t>
            </a:r>
            <a:r>
              <a:rPr lang="en-US" dirty="0"/>
              <a:t> y </a:t>
            </a:r>
            <a:r>
              <a:rPr lang="en-US" dirty="0" err="1"/>
              <a:t>gramaticales</a:t>
            </a:r>
            <a:r>
              <a:rPr lang="en-US" dirty="0"/>
              <a:t> </a:t>
            </a:r>
            <a:r>
              <a:rPr lang="en-US" dirty="0" err="1"/>
              <a:t>referidos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lenguajes</a:t>
            </a:r>
            <a:r>
              <a:rPr lang="en-US" dirty="0"/>
              <a:t> de </a:t>
            </a:r>
            <a:r>
              <a:rPr lang="en-US" dirty="0" err="1"/>
              <a:t>programación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sin </a:t>
            </a:r>
            <a:r>
              <a:rPr lang="en-US" dirty="0" err="1"/>
              <a:t>llegar</a:t>
            </a:r>
            <a:r>
              <a:rPr lang="en-US" dirty="0"/>
              <a:t> a la </a:t>
            </a:r>
            <a:r>
              <a:rPr lang="en-US" dirty="0" err="1"/>
              <a:t>rigidez</a:t>
            </a:r>
            <a:r>
              <a:rPr lang="en-US" dirty="0"/>
              <a:t> de la </a:t>
            </a:r>
            <a:r>
              <a:rPr lang="en-US" dirty="0" err="1"/>
              <a:t>sintaxis</a:t>
            </a:r>
            <a:r>
              <a:rPr lang="en-US" dirty="0"/>
              <a:t> de </a:t>
            </a:r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a la </a:t>
            </a:r>
            <a:r>
              <a:rPr lang="en-US" dirty="0" err="1"/>
              <a:t>fluidez</a:t>
            </a:r>
            <a:r>
              <a:rPr lang="en-US" dirty="0"/>
              <a:t> del </a:t>
            </a:r>
            <a:r>
              <a:rPr lang="en-US" dirty="0" err="1"/>
              <a:t>lenguaje</a:t>
            </a:r>
            <a:r>
              <a:rPr lang="en-US" dirty="0"/>
              <a:t> </a:t>
            </a:r>
            <a:r>
              <a:rPr lang="en-US" dirty="0" err="1"/>
              <a:t>coloquial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2400" dirty="0" err="1"/>
              <a:t>Características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	• </a:t>
            </a:r>
            <a:r>
              <a:rPr lang="en-US" dirty="0" err="1"/>
              <a:t>Codificar</a:t>
            </a:r>
            <a:r>
              <a:rPr lang="en-US" dirty="0"/>
              <a:t> </a:t>
            </a:r>
            <a:r>
              <a:rPr lang="en-US" dirty="0" err="1"/>
              <a:t>programas</a:t>
            </a:r>
            <a:r>
              <a:rPr lang="en-US" dirty="0"/>
              <a:t> con mayor </a:t>
            </a:r>
            <a:r>
              <a:rPr lang="en-US" dirty="0" err="1"/>
              <a:t>agilidad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	• </a:t>
            </a:r>
            <a:r>
              <a:rPr lang="en-US" dirty="0" err="1"/>
              <a:t>Codificar</a:t>
            </a:r>
            <a:r>
              <a:rPr lang="en-US" dirty="0"/>
              <a:t> </a:t>
            </a:r>
            <a:r>
              <a:rPr lang="en-US" dirty="0" err="1"/>
              <a:t>programas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cualquier</a:t>
            </a:r>
            <a:r>
              <a:rPr lang="en-US" dirty="0"/>
              <a:t> </a:t>
            </a:r>
            <a:r>
              <a:rPr lang="en-US" dirty="0" err="1"/>
              <a:t>lenguaje</a:t>
            </a:r>
            <a:r>
              <a:rPr lang="en-US" dirty="0"/>
              <a:t> de </a:t>
            </a:r>
            <a:r>
              <a:rPr lang="en-US" dirty="0" err="1"/>
              <a:t>programación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	• </a:t>
            </a:r>
            <a:r>
              <a:rPr lang="en-US" dirty="0" err="1"/>
              <a:t>Misma</a:t>
            </a:r>
            <a:r>
              <a:rPr lang="en-US" dirty="0"/>
              <a:t> </a:t>
            </a:r>
            <a:r>
              <a:rPr lang="en-US" dirty="0" err="1"/>
              <a:t>validez</a:t>
            </a:r>
            <a:r>
              <a:rPr lang="en-US" dirty="0"/>
              <a:t> </a:t>
            </a:r>
            <a:r>
              <a:rPr lang="en-US" dirty="0" err="1"/>
              <a:t>semántica</a:t>
            </a:r>
            <a:r>
              <a:rPr lang="en-US" dirty="0"/>
              <a:t>. </a:t>
            </a:r>
          </a:p>
          <a:p>
            <a:pPr>
              <a:lnSpc>
                <a:spcPct val="150000"/>
              </a:lnSpc>
            </a:pPr>
            <a:r>
              <a:rPr lang="en-US" dirty="0"/>
              <a:t>	• </a:t>
            </a:r>
            <a:r>
              <a:rPr lang="en-US" dirty="0" err="1"/>
              <a:t>Utiliza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serie</a:t>
            </a:r>
            <a:r>
              <a:rPr lang="en-US" dirty="0"/>
              <a:t> de </a:t>
            </a:r>
            <a:r>
              <a:rPr lang="en-US" dirty="0" err="1"/>
              <a:t>frases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lenguaje</a:t>
            </a:r>
            <a:r>
              <a:rPr lang="en-US" dirty="0"/>
              <a:t> </a:t>
            </a:r>
            <a:r>
              <a:rPr lang="en-US" dirty="0" err="1"/>
              <a:t>común</a:t>
            </a:r>
            <a:r>
              <a:rPr lang="en-US" dirty="0"/>
              <a:t>, </a:t>
            </a:r>
            <a:r>
              <a:rPr lang="en-US" dirty="0" err="1"/>
              <a:t>instrucciones</a:t>
            </a:r>
            <a:r>
              <a:rPr lang="en-US" dirty="0"/>
              <a:t> de 	</a:t>
            </a:r>
            <a:r>
              <a:rPr lang="en-US" dirty="0" err="1"/>
              <a:t>programación</a:t>
            </a:r>
            <a:r>
              <a:rPr lang="en-US" dirty="0"/>
              <a:t>, y palabras clave que </a:t>
            </a:r>
            <a:r>
              <a:rPr lang="en-US" dirty="0" err="1"/>
              <a:t>definen</a:t>
            </a:r>
            <a:r>
              <a:rPr lang="en-US" dirty="0"/>
              <a:t> las </a:t>
            </a:r>
            <a:r>
              <a:rPr lang="en-US" dirty="0" err="1"/>
              <a:t>estructuras</a:t>
            </a:r>
            <a:r>
              <a:rPr lang="en-US" dirty="0"/>
              <a:t> </a:t>
            </a:r>
            <a:r>
              <a:rPr lang="en-US" dirty="0" err="1"/>
              <a:t>básicas</a:t>
            </a:r>
            <a:r>
              <a:rPr lang="en-US" dirty="0"/>
              <a:t>. </a:t>
            </a:r>
          </a:p>
          <a:p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B28B1-6C17-8845-BD55-65F0693B65C3}"/>
              </a:ext>
            </a:extLst>
          </p:cNvPr>
          <p:cNvSpPr txBox="1"/>
          <p:nvPr/>
        </p:nvSpPr>
        <p:spPr>
          <a:xfrm>
            <a:off x="107504" y="1133743"/>
            <a:ext cx="24048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>
                <a:solidFill>
                  <a:schemeClr val="accent1"/>
                </a:solidFill>
                <a:latin typeface="Helvetica" pitchFamily="2" charset="0"/>
              </a:rPr>
              <a:t>Pseudocódigo</a:t>
            </a:r>
            <a:r>
              <a:rPr lang="en-US" sz="2400" b="1" dirty="0">
                <a:solidFill>
                  <a:schemeClr val="accent1"/>
                </a:solidFill>
                <a:latin typeface="Helvetica" pitchFamily="2" charset="0"/>
              </a:rPr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761E71-5E17-6C43-9E9E-3CA34473ED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844" y="5805264"/>
            <a:ext cx="7380312" cy="47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459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6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Pseudocódigo:</a:t>
            </a:r>
            <a:br>
              <a:rPr lang="es-ES_tradnl" sz="2800" dirty="0"/>
            </a:br>
            <a:r>
              <a:rPr lang="es-ES_tradnl" sz="2800" dirty="0"/>
              <a:t>Asignación</a:t>
            </a:r>
            <a:endParaRPr lang="en-GB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- Miaton – Ambrossio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17281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Suponiendo las siguientes instrucciones</a:t>
            </a:r>
          </a:p>
          <a:p>
            <a:r>
              <a:rPr lang="es-AR" sz="2400" dirty="0"/>
              <a:t>A ‐ “Asigne el valor 10 a X”</a:t>
            </a:r>
          </a:p>
          <a:p>
            <a:r>
              <a:rPr lang="es-AR" sz="2400" dirty="0"/>
              <a:t>B ‐ “Asigne el valor 1 a Y”</a:t>
            </a:r>
          </a:p>
          <a:p>
            <a:r>
              <a:rPr lang="es-AR" sz="2400" dirty="0"/>
              <a:t>C ‐ “</a:t>
            </a:r>
            <a:r>
              <a:rPr lang="es-AR" sz="2400" dirty="0" err="1"/>
              <a:t>Reemplace</a:t>
            </a:r>
            <a:r>
              <a:rPr lang="es-AR" sz="2400" dirty="0"/>
              <a:t> el valor de la variable X por el valor de la variable Y”</a:t>
            </a:r>
          </a:p>
          <a:p>
            <a:endParaRPr lang="es-AR" sz="2400" dirty="0"/>
          </a:p>
          <a:p>
            <a:pPr marL="0" indent="0"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grpSp>
        <p:nvGrpSpPr>
          <p:cNvPr id="10" name="Group 9"/>
          <p:cNvGrpSpPr/>
          <p:nvPr/>
        </p:nvGrpSpPr>
        <p:grpSpPr>
          <a:xfrm>
            <a:off x="1403648" y="3068960"/>
            <a:ext cx="6192688" cy="1446393"/>
            <a:chOff x="1109070" y="3350759"/>
            <a:chExt cx="6192688" cy="1446393"/>
          </a:xfrm>
        </p:grpSpPr>
        <p:sp>
          <p:nvSpPr>
            <p:cNvPr id="3" name="Rectangle 2"/>
            <p:cNvSpPr/>
            <p:nvPr/>
          </p:nvSpPr>
          <p:spPr>
            <a:xfrm>
              <a:off x="1403648" y="3573016"/>
              <a:ext cx="1440160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 </a:t>
              </a:r>
              <a:r>
                <a:rPr lang="en-US" dirty="0">
                  <a:sym typeface="Wingdings" pitchFamily="2" charset="2"/>
                </a:rPr>
                <a:t> 1</a:t>
              </a:r>
              <a:r>
                <a:rPr lang="en-US" dirty="0"/>
                <a:t>0</a:t>
              </a:r>
            </a:p>
            <a:p>
              <a:pPr algn="ctr"/>
              <a:r>
                <a:rPr lang="en-US" dirty="0"/>
                <a:t>X = 10</a:t>
              </a:r>
            </a:p>
            <a:p>
              <a:pPr algn="ctr"/>
              <a:r>
                <a:rPr lang="en-US" dirty="0"/>
                <a:t>X := 10</a:t>
              </a:r>
              <a:endParaRPr lang="es-AR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491880" y="3573016"/>
              <a:ext cx="1440160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 </a:t>
              </a:r>
              <a:r>
                <a:rPr lang="en-US" dirty="0">
                  <a:sym typeface="Wingdings" pitchFamily="2" charset="2"/>
                </a:rPr>
                <a:t> 1</a:t>
              </a:r>
              <a:endParaRPr lang="en-US" dirty="0"/>
            </a:p>
            <a:p>
              <a:pPr algn="ctr"/>
              <a:r>
                <a:rPr lang="en-US" dirty="0"/>
                <a:t>Y = 1</a:t>
              </a:r>
            </a:p>
            <a:p>
              <a:pPr algn="ctr"/>
              <a:r>
                <a:rPr lang="en-US" dirty="0"/>
                <a:t>Y := 1</a:t>
              </a:r>
              <a:endParaRPr lang="es-AR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508104" y="3573016"/>
              <a:ext cx="1440160" cy="122413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 </a:t>
              </a:r>
              <a:r>
                <a:rPr lang="en-US" dirty="0">
                  <a:sym typeface="Wingdings" pitchFamily="2" charset="2"/>
                </a:rPr>
                <a:t> Y</a:t>
              </a:r>
              <a:endParaRPr lang="en-US" dirty="0"/>
            </a:p>
            <a:p>
              <a:pPr algn="ctr"/>
              <a:r>
                <a:rPr lang="en-US" dirty="0"/>
                <a:t>X = Y</a:t>
              </a:r>
            </a:p>
            <a:p>
              <a:pPr algn="ctr"/>
              <a:r>
                <a:rPr lang="en-US" dirty="0"/>
                <a:t>X := Y</a:t>
              </a:r>
              <a:endParaRPr lang="es-AR" dirty="0"/>
            </a:p>
          </p:txBody>
        </p:sp>
        <p:sp>
          <p:nvSpPr>
            <p:cNvPr id="4" name="Flowchart: Connector 3"/>
            <p:cNvSpPr/>
            <p:nvPr/>
          </p:nvSpPr>
          <p:spPr>
            <a:xfrm>
              <a:off x="1115616" y="3429000"/>
              <a:ext cx="504056" cy="504056"/>
            </a:xfrm>
            <a:prstGeom prst="flowChartConnecto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  <a:endParaRPr lang="es-AR" b="1" dirty="0"/>
            </a:p>
          </p:txBody>
        </p:sp>
        <p:sp>
          <p:nvSpPr>
            <p:cNvPr id="11" name="Flowchart: Connector 10"/>
            <p:cNvSpPr/>
            <p:nvPr/>
          </p:nvSpPr>
          <p:spPr>
            <a:xfrm>
              <a:off x="3239852" y="3400767"/>
              <a:ext cx="504056" cy="504056"/>
            </a:xfrm>
            <a:prstGeom prst="flowChartConnecto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</a:t>
              </a:r>
              <a:endParaRPr lang="es-AR" b="1" dirty="0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5256076" y="3350759"/>
              <a:ext cx="504056" cy="504056"/>
            </a:xfrm>
            <a:prstGeom prst="flowChartConnector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</a:t>
              </a:r>
              <a:endParaRPr lang="es-AR" b="1" dirty="0"/>
            </a:p>
          </p:txBody>
        </p:sp>
        <p:sp>
          <p:nvSpPr>
            <p:cNvPr id="5" name="Flowchart: Process 4"/>
            <p:cNvSpPr/>
            <p:nvPr/>
          </p:nvSpPr>
          <p:spPr>
            <a:xfrm>
              <a:off x="1109070" y="4339590"/>
              <a:ext cx="6192688" cy="288032"/>
            </a:xfrm>
            <a:prstGeom prst="flowChartProcess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sp>
        <p:nvSpPr>
          <p:cNvPr id="15" name="Rectangle 5"/>
          <p:cNvSpPr txBox="1">
            <a:spLocks noChangeArrowheads="1"/>
          </p:cNvSpPr>
          <p:nvPr/>
        </p:nvSpPr>
        <p:spPr>
          <a:xfrm>
            <a:off x="697590" y="4602038"/>
            <a:ext cx="8066110" cy="17281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Si el valor </a:t>
            </a:r>
            <a:r>
              <a:rPr lang="en-US" sz="2400" dirty="0" err="1"/>
              <a:t>que</a:t>
            </a:r>
            <a:r>
              <a:rPr lang="en-US" sz="2400" dirty="0"/>
              <a:t> se </a:t>
            </a:r>
            <a:r>
              <a:rPr lang="en-US" sz="2400" dirty="0" err="1"/>
              <a:t>desea</a:t>
            </a:r>
            <a:r>
              <a:rPr lang="en-US" sz="2400" dirty="0"/>
              <a:t> </a:t>
            </a:r>
            <a:r>
              <a:rPr lang="en-US" sz="2400" dirty="0" err="1"/>
              <a:t>asignar</a:t>
            </a:r>
            <a:r>
              <a:rPr lang="en-US" sz="2400" dirty="0"/>
              <a:t>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ingresado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teclado</a:t>
            </a:r>
            <a:r>
              <a:rPr lang="en-US" sz="2400" dirty="0"/>
              <a:t>, se </a:t>
            </a:r>
            <a:r>
              <a:rPr lang="en-US" sz="2400" dirty="0" err="1"/>
              <a:t>utiliza</a:t>
            </a:r>
            <a:r>
              <a:rPr lang="en-US" sz="2400" dirty="0"/>
              <a:t> la </a:t>
            </a:r>
            <a:r>
              <a:rPr lang="en-US" sz="2400" dirty="0" err="1"/>
              <a:t>instrucción</a:t>
            </a:r>
            <a:r>
              <a:rPr lang="en-US" sz="2400" dirty="0"/>
              <a:t> leer. Si se </a:t>
            </a:r>
            <a:r>
              <a:rPr lang="en-US" sz="2400" dirty="0" err="1"/>
              <a:t>desea</a:t>
            </a:r>
            <a:r>
              <a:rPr lang="en-US" sz="2400" dirty="0"/>
              <a:t> </a:t>
            </a:r>
            <a:r>
              <a:rPr lang="en-US" sz="2400" dirty="0" err="1"/>
              <a:t>mostrar</a:t>
            </a:r>
            <a:r>
              <a:rPr lang="en-US" sz="2400" dirty="0"/>
              <a:t> el valor de </a:t>
            </a:r>
            <a:r>
              <a:rPr lang="en-US" sz="2400" dirty="0" err="1"/>
              <a:t>una</a:t>
            </a:r>
            <a:r>
              <a:rPr lang="en-US" sz="2400" dirty="0"/>
              <a:t> variable en </a:t>
            </a:r>
            <a:r>
              <a:rPr lang="en-US" sz="2400" dirty="0" err="1"/>
              <a:t>pantalla</a:t>
            </a:r>
            <a:r>
              <a:rPr lang="en-US" sz="2400" dirty="0"/>
              <a:t> se </a:t>
            </a:r>
            <a:r>
              <a:rPr lang="en-US" sz="2400" dirty="0" err="1"/>
              <a:t>utiliza</a:t>
            </a:r>
            <a:r>
              <a:rPr lang="en-US" sz="2400" dirty="0"/>
              <a:t> la </a:t>
            </a:r>
            <a:r>
              <a:rPr lang="en-US" sz="2400" dirty="0" err="1"/>
              <a:t>instrucción</a:t>
            </a:r>
            <a:r>
              <a:rPr lang="en-US" sz="2400" dirty="0"/>
              <a:t> </a:t>
            </a:r>
            <a:r>
              <a:rPr lang="en-US" sz="2400" dirty="0" err="1"/>
              <a:t>escribir</a:t>
            </a:r>
            <a:r>
              <a:rPr lang="en-US" sz="2400" dirty="0"/>
              <a:t>:</a:t>
            </a:r>
          </a:p>
          <a:p>
            <a:pPr lvl="1"/>
            <a:r>
              <a:rPr lang="en-US" sz="2000" dirty="0"/>
              <a:t>Leer (X)</a:t>
            </a:r>
          </a:p>
          <a:p>
            <a:pPr lvl="1"/>
            <a:r>
              <a:rPr lang="en-US" sz="2000" dirty="0" err="1"/>
              <a:t>Escribir</a:t>
            </a:r>
            <a:r>
              <a:rPr lang="en-US" sz="2000" dirty="0"/>
              <a:t> (X)</a:t>
            </a: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pic>
        <p:nvPicPr>
          <p:cNvPr id="16" name="6 Imagen">
            <a:extLst>
              <a:ext uri="{FF2B5EF4-FFF2-40B4-BE49-F238E27FC236}">
                <a16:creationId xmlns:a16="http://schemas.microsoft.com/office/drawing/2014/main" id="{8472A66D-111F-E342-9223-854F4634C96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17" name="Cuadro de texto 2">
            <a:extLst>
              <a:ext uri="{FF2B5EF4-FFF2-40B4-BE49-F238E27FC236}">
                <a16:creationId xmlns:a16="http://schemas.microsoft.com/office/drawing/2014/main" id="{690F1AC4-BC84-3443-94F0-BD21103B0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0859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7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Pseudocódigo:</a:t>
            </a:r>
            <a:br>
              <a:rPr lang="es-ES_tradnl" sz="2800" dirty="0"/>
            </a:br>
            <a:r>
              <a:rPr lang="es-ES_tradnl" sz="2800" dirty="0"/>
              <a:t>Repetición</a:t>
            </a:r>
            <a:endParaRPr lang="en-GB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- Miaton – Ambrossio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273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Se utiliza cuando se desea repetir un determinado bloque de instrucciones sobre un índice i (por convención se usa i, sin embargo se puede usar cualquier identificador):</a:t>
            </a:r>
          </a:p>
          <a:p>
            <a:pPr marL="0" indent="0">
              <a:buNone/>
            </a:pPr>
            <a:r>
              <a:rPr lang="es-AR" sz="2400" dirty="0"/>
              <a:t>Supongamos las siguientes instrucciones:</a:t>
            </a:r>
          </a:p>
          <a:p>
            <a:pPr lvl="1"/>
            <a:r>
              <a:rPr lang="es-AR" sz="2000" dirty="0"/>
              <a:t>“Sumarle 10 veces a X el valor de Y”</a:t>
            </a:r>
          </a:p>
          <a:p>
            <a:pPr lvl="1"/>
            <a:r>
              <a:rPr lang="es-AR" sz="2000" dirty="0"/>
              <a:t>“Mostrar en pantalla el valor de la variable X”</a:t>
            </a:r>
          </a:p>
          <a:p>
            <a:endParaRPr lang="es-AR" sz="2400" dirty="0"/>
          </a:p>
          <a:p>
            <a:pPr marL="0" indent="0"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sp>
        <p:nvSpPr>
          <p:cNvPr id="13" name="Flowchart: Process 12"/>
          <p:cNvSpPr/>
          <p:nvPr/>
        </p:nvSpPr>
        <p:spPr>
          <a:xfrm>
            <a:off x="3347864" y="4077072"/>
            <a:ext cx="2952328" cy="208823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/>
              <a:t>X:= 0</a:t>
            </a:r>
          </a:p>
          <a:p>
            <a:r>
              <a:rPr lang="es-AR" dirty="0"/>
              <a:t>Y:= 1</a:t>
            </a:r>
          </a:p>
          <a:p>
            <a:r>
              <a:rPr lang="es-AR" dirty="0">
                <a:solidFill>
                  <a:srgbClr val="C00000"/>
                </a:solidFill>
              </a:rPr>
              <a:t>para </a:t>
            </a:r>
            <a:r>
              <a:rPr lang="es-AR" dirty="0"/>
              <a:t>I:=0 </a:t>
            </a:r>
            <a:r>
              <a:rPr lang="es-AR" dirty="0">
                <a:solidFill>
                  <a:srgbClr val="C00000"/>
                </a:solidFill>
              </a:rPr>
              <a:t>hasta </a:t>
            </a:r>
            <a:r>
              <a:rPr lang="es-AR" dirty="0"/>
              <a:t>10 </a:t>
            </a:r>
            <a:r>
              <a:rPr lang="es-AR" dirty="0">
                <a:solidFill>
                  <a:srgbClr val="C00000"/>
                </a:solidFill>
              </a:rPr>
              <a:t>hacer</a:t>
            </a:r>
          </a:p>
          <a:p>
            <a:r>
              <a:rPr lang="es-AR" dirty="0"/>
              <a:t>X:= X+Y</a:t>
            </a:r>
          </a:p>
          <a:p>
            <a:r>
              <a:rPr lang="es-AR" dirty="0">
                <a:solidFill>
                  <a:srgbClr val="C00000"/>
                </a:solidFill>
              </a:rPr>
              <a:t>fin para</a:t>
            </a:r>
          </a:p>
          <a:p>
            <a:r>
              <a:rPr lang="es-AR" dirty="0">
                <a:solidFill>
                  <a:schemeClr val="bg1"/>
                </a:solidFill>
              </a:rPr>
              <a:t>escribir (X)</a:t>
            </a:r>
          </a:p>
        </p:txBody>
      </p:sp>
      <p:pic>
        <p:nvPicPr>
          <p:cNvPr id="8" name="6 Imagen">
            <a:extLst>
              <a:ext uri="{FF2B5EF4-FFF2-40B4-BE49-F238E27FC236}">
                <a16:creationId xmlns:a16="http://schemas.microsoft.com/office/drawing/2014/main" id="{CE7E7837-D75F-8841-A5DB-908864C6AC7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9" name="Cuadro de texto 2">
            <a:extLst>
              <a:ext uri="{FF2B5EF4-FFF2-40B4-BE49-F238E27FC236}">
                <a16:creationId xmlns:a16="http://schemas.microsoft.com/office/drawing/2014/main" id="{91DAA04B-D0C5-4944-8706-E9C9C328A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5203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8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Pseudocódigo:</a:t>
            </a:r>
            <a:br>
              <a:rPr lang="es-ES_tradnl" sz="2800" dirty="0"/>
            </a:br>
            <a:r>
              <a:rPr lang="es-ES_tradnl" sz="2800" dirty="0"/>
              <a:t>Decisión</a:t>
            </a:r>
            <a:endParaRPr lang="en-GB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- Miaton – Ambrossio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273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Se utiliza cuando se desea tomar un curso de acción distinto si se verifica una condición.</a:t>
            </a:r>
          </a:p>
          <a:p>
            <a:pPr marL="0" indent="0">
              <a:buNone/>
            </a:pPr>
            <a:r>
              <a:rPr lang="es-AR" sz="2400" dirty="0"/>
              <a:t>Supongamos la siguiente instrucción:</a:t>
            </a:r>
          </a:p>
          <a:p>
            <a:pPr lvl="1"/>
            <a:r>
              <a:rPr lang="es-AR" sz="2000" dirty="0"/>
              <a:t>“Leer un número por teclado e imprimir en pantalla si es negativo o positivo”</a:t>
            </a:r>
            <a:endParaRPr lang="en-US" sz="2000" dirty="0"/>
          </a:p>
          <a:p>
            <a:endParaRPr lang="es-AR" sz="2400" dirty="0"/>
          </a:p>
          <a:p>
            <a:pPr marL="0" indent="0"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sp>
        <p:nvSpPr>
          <p:cNvPr id="13" name="Flowchart: Process 12"/>
          <p:cNvSpPr/>
          <p:nvPr/>
        </p:nvSpPr>
        <p:spPr>
          <a:xfrm>
            <a:off x="2771800" y="3501008"/>
            <a:ext cx="4176464" cy="2664296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/>
              <a:t>Leer(X)</a:t>
            </a:r>
          </a:p>
          <a:p>
            <a:r>
              <a:rPr lang="es-AR" dirty="0">
                <a:solidFill>
                  <a:srgbClr val="C00000"/>
                </a:solidFill>
              </a:rPr>
              <a:t>si</a:t>
            </a:r>
            <a:r>
              <a:rPr lang="es-AR" dirty="0"/>
              <a:t> X&lt;&gt;0 </a:t>
            </a:r>
            <a:r>
              <a:rPr lang="es-AR" dirty="0">
                <a:solidFill>
                  <a:srgbClr val="C00000"/>
                </a:solidFill>
              </a:rPr>
              <a:t>entonces</a:t>
            </a:r>
          </a:p>
          <a:p>
            <a:r>
              <a:rPr lang="es-AR" dirty="0">
                <a:solidFill>
                  <a:srgbClr val="C00000"/>
                </a:solidFill>
              </a:rPr>
              <a:t>	si</a:t>
            </a:r>
            <a:r>
              <a:rPr lang="es-AR" dirty="0"/>
              <a:t> X&gt;0 </a:t>
            </a:r>
            <a:r>
              <a:rPr lang="es-AR" dirty="0">
                <a:solidFill>
                  <a:srgbClr val="C00000"/>
                </a:solidFill>
              </a:rPr>
              <a:t>entonces</a:t>
            </a:r>
          </a:p>
          <a:p>
            <a:r>
              <a:rPr lang="es-AR" dirty="0"/>
              <a:t>		Escribir(“Es positivo”)</a:t>
            </a:r>
          </a:p>
          <a:p>
            <a:r>
              <a:rPr lang="es-AR" dirty="0">
                <a:solidFill>
                  <a:srgbClr val="C00000"/>
                </a:solidFill>
              </a:rPr>
              <a:t>	si no</a:t>
            </a:r>
          </a:p>
          <a:p>
            <a:r>
              <a:rPr lang="es-AR" dirty="0"/>
              <a:t>		Escribir(“Es negativo”)</a:t>
            </a:r>
          </a:p>
          <a:p>
            <a:r>
              <a:rPr lang="es-AR" dirty="0">
                <a:solidFill>
                  <a:srgbClr val="C00000"/>
                </a:solidFill>
              </a:rPr>
              <a:t>	fin si</a:t>
            </a:r>
          </a:p>
          <a:p>
            <a:r>
              <a:rPr lang="es-AR" dirty="0">
                <a:solidFill>
                  <a:srgbClr val="C00000"/>
                </a:solidFill>
              </a:rPr>
              <a:t>si no</a:t>
            </a:r>
          </a:p>
          <a:p>
            <a:r>
              <a:rPr lang="es-AR" dirty="0"/>
              <a:t>	Escribir(“El número es 0”)</a:t>
            </a:r>
          </a:p>
          <a:p>
            <a:r>
              <a:rPr lang="es-AR" dirty="0">
                <a:solidFill>
                  <a:srgbClr val="C00000"/>
                </a:solidFill>
              </a:rPr>
              <a:t>fin si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8" name="6 Imagen">
            <a:extLst>
              <a:ext uri="{FF2B5EF4-FFF2-40B4-BE49-F238E27FC236}">
                <a16:creationId xmlns:a16="http://schemas.microsoft.com/office/drawing/2014/main" id="{31A1AE25-6221-A94F-86C5-D3B2EAD0D2E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9" name="Cuadro de texto 2">
            <a:extLst>
              <a:ext uri="{FF2B5EF4-FFF2-40B4-BE49-F238E27FC236}">
                <a16:creationId xmlns:a16="http://schemas.microsoft.com/office/drawing/2014/main" id="{59A6D657-1158-0E4B-84A1-74A7D8EB6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4821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9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Pseudocódigo:</a:t>
            </a:r>
            <a:br>
              <a:rPr lang="es-ES_tradnl" sz="2800" dirty="0"/>
            </a:br>
            <a:r>
              <a:rPr lang="es-ES_tradnl" sz="2800" dirty="0"/>
              <a:t>Selección</a:t>
            </a:r>
            <a:endParaRPr lang="en-GB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/>
              <a:t>UCALP 2012 - Estructura de Datos y Algoritmos - Miaton</a:t>
            </a:r>
            <a:endParaRPr lang="es-ES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1656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Una construcción similar a la anterior (equivalente en algunos casos)</a:t>
            </a:r>
          </a:p>
          <a:p>
            <a:pPr marL="0" indent="0">
              <a:buNone/>
            </a:pPr>
            <a:r>
              <a:rPr lang="es-AR" sz="2400" dirty="0"/>
              <a:t>Supongamos la siguiente instrucción:</a:t>
            </a:r>
          </a:p>
          <a:p>
            <a:pPr lvl="1"/>
            <a:r>
              <a:rPr lang="es-AR" sz="2000" dirty="0"/>
              <a:t>“Leer una edad por teclado e imprimir en pantalla si es niño, adolescente, adulto o mayor”</a:t>
            </a:r>
            <a:endParaRPr lang="en-US" sz="1600" dirty="0"/>
          </a:p>
          <a:p>
            <a:endParaRPr lang="es-AR" sz="2400" dirty="0"/>
          </a:p>
          <a:p>
            <a:pPr marL="0" indent="0"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sp>
        <p:nvSpPr>
          <p:cNvPr id="13" name="Flowchart: Process 12"/>
          <p:cNvSpPr/>
          <p:nvPr/>
        </p:nvSpPr>
        <p:spPr>
          <a:xfrm>
            <a:off x="2771800" y="2996952"/>
            <a:ext cx="4176464" cy="374441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/>
              <a:t>leer (edad)</a:t>
            </a:r>
          </a:p>
          <a:p>
            <a:r>
              <a:rPr lang="es-AR" dirty="0">
                <a:solidFill>
                  <a:srgbClr val="C00000"/>
                </a:solidFill>
              </a:rPr>
              <a:t>seleccionar (</a:t>
            </a:r>
            <a:r>
              <a:rPr lang="es-AR" dirty="0">
                <a:solidFill>
                  <a:schemeClr val="bg1"/>
                </a:solidFill>
              </a:rPr>
              <a:t>edad</a:t>
            </a:r>
            <a:r>
              <a:rPr lang="es-AR" dirty="0">
                <a:solidFill>
                  <a:srgbClr val="C00000"/>
                </a:solidFill>
              </a:rPr>
              <a:t>)</a:t>
            </a:r>
          </a:p>
          <a:p>
            <a:r>
              <a:rPr lang="es-AR" dirty="0">
                <a:solidFill>
                  <a:srgbClr val="C00000"/>
                </a:solidFill>
              </a:rPr>
              <a:t>caso </a:t>
            </a:r>
            <a:r>
              <a:rPr lang="es-AR" dirty="0">
                <a:solidFill>
                  <a:schemeClr val="bg1"/>
                </a:solidFill>
              </a:rPr>
              <a:t>edad &lt; 10</a:t>
            </a:r>
          </a:p>
          <a:p>
            <a:r>
              <a:rPr lang="es-AR" dirty="0"/>
              <a:t>escribir (“Niño”)</a:t>
            </a:r>
          </a:p>
          <a:p>
            <a:r>
              <a:rPr lang="es-AR" dirty="0">
                <a:solidFill>
                  <a:srgbClr val="C00000"/>
                </a:solidFill>
              </a:rPr>
              <a:t>caso </a:t>
            </a:r>
            <a:r>
              <a:rPr lang="es-AR" dirty="0">
                <a:solidFill>
                  <a:schemeClr val="bg1"/>
                </a:solidFill>
              </a:rPr>
              <a:t>(edad &gt; 10 y edad &lt; 21)</a:t>
            </a:r>
          </a:p>
          <a:p>
            <a:r>
              <a:rPr lang="es-AR" dirty="0"/>
              <a:t>escribir (“Adolescente”)</a:t>
            </a:r>
          </a:p>
          <a:p>
            <a:r>
              <a:rPr lang="es-AR" dirty="0">
                <a:solidFill>
                  <a:srgbClr val="C00000"/>
                </a:solidFill>
              </a:rPr>
              <a:t>caso </a:t>
            </a:r>
            <a:r>
              <a:rPr lang="es-AR" dirty="0">
                <a:solidFill>
                  <a:schemeClr val="bg1"/>
                </a:solidFill>
              </a:rPr>
              <a:t>(edad &gt; 20 y edad &lt; 65)</a:t>
            </a:r>
          </a:p>
          <a:p>
            <a:r>
              <a:rPr lang="es-AR" dirty="0"/>
              <a:t>escribir (“Adulto”)</a:t>
            </a:r>
          </a:p>
          <a:p>
            <a:r>
              <a:rPr lang="es-AR" dirty="0">
                <a:solidFill>
                  <a:srgbClr val="C00000"/>
                </a:solidFill>
              </a:rPr>
              <a:t>caso </a:t>
            </a:r>
            <a:r>
              <a:rPr lang="es-AR" dirty="0">
                <a:solidFill>
                  <a:schemeClr val="bg1"/>
                </a:solidFill>
              </a:rPr>
              <a:t>edad &lt; 64</a:t>
            </a:r>
          </a:p>
          <a:p>
            <a:r>
              <a:rPr lang="es-AR" dirty="0"/>
              <a:t>escribir (“Mayor”)</a:t>
            </a:r>
          </a:p>
          <a:p>
            <a:r>
              <a:rPr lang="es-AR" dirty="0">
                <a:solidFill>
                  <a:srgbClr val="C00000"/>
                </a:solidFill>
              </a:rPr>
              <a:t>en otro caso</a:t>
            </a:r>
          </a:p>
          <a:p>
            <a:r>
              <a:rPr lang="es-AR" dirty="0"/>
              <a:t>escribir (“no esta definido”)</a:t>
            </a:r>
          </a:p>
          <a:p>
            <a:r>
              <a:rPr lang="en-US" dirty="0">
                <a:solidFill>
                  <a:srgbClr val="C00000"/>
                </a:solidFill>
              </a:rPr>
              <a:t>fin </a:t>
            </a:r>
            <a:r>
              <a:rPr lang="en-US" dirty="0" err="1">
                <a:solidFill>
                  <a:srgbClr val="C00000"/>
                </a:solidFill>
              </a:rPr>
              <a:t>seleccionar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8" name="6 Imagen">
            <a:extLst>
              <a:ext uri="{FF2B5EF4-FFF2-40B4-BE49-F238E27FC236}">
                <a16:creationId xmlns:a16="http://schemas.microsoft.com/office/drawing/2014/main" id="{B081748F-1AC2-E543-B9B6-B0112A0E53E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9" name="Cuadro de texto 2">
            <a:extLst>
              <a:ext uri="{FF2B5EF4-FFF2-40B4-BE49-F238E27FC236}">
                <a16:creationId xmlns:a16="http://schemas.microsoft.com/office/drawing/2014/main" id="{7E33692F-C1A4-C54B-9308-B89C3367E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00519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10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Pseudocódigo:</a:t>
            </a:r>
            <a:br>
              <a:rPr lang="es-ES_tradnl" sz="2800" dirty="0"/>
            </a:br>
            <a:r>
              <a:rPr lang="es-ES_tradnl" sz="2800" dirty="0"/>
              <a:t>Iteración</a:t>
            </a:r>
            <a:endParaRPr lang="en-GB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- Miaton – Ambrossio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8066110" cy="266429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El bucle se repite mientras la condición sea cierta, si al llegar por primera vez al bucle mientras la condición es falsa, el cuerpo del bucle no se ejecuta ninguna vez.</a:t>
            </a:r>
          </a:p>
          <a:p>
            <a:endParaRPr lang="es-AR" sz="2400" dirty="0"/>
          </a:p>
          <a:p>
            <a:pPr marL="0" indent="0">
              <a:buNone/>
            </a:pPr>
            <a:r>
              <a:rPr lang="es-AR" sz="2400" dirty="0"/>
              <a:t>Dada la siguiente instrucción:</a:t>
            </a:r>
          </a:p>
          <a:p>
            <a:pPr lvl="1"/>
            <a:r>
              <a:rPr lang="es-AR" sz="2000" dirty="0"/>
              <a:t>“Calcular las potencias de números ingresados por teclado siempre que sean positivos e imprimir en pantalla”</a:t>
            </a:r>
            <a:endParaRPr lang="en-US" sz="20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s-AR" sz="2400" dirty="0"/>
          </a:p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endParaRPr lang="en-US" sz="2400" dirty="0"/>
          </a:p>
        </p:txBody>
      </p:sp>
      <p:sp>
        <p:nvSpPr>
          <p:cNvPr id="13" name="Flowchart: Process 12"/>
          <p:cNvSpPr/>
          <p:nvPr/>
        </p:nvSpPr>
        <p:spPr>
          <a:xfrm>
            <a:off x="2771800" y="4455560"/>
            <a:ext cx="4176464" cy="1547280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/>
              <a:t>leer (numero)</a:t>
            </a:r>
          </a:p>
          <a:p>
            <a:r>
              <a:rPr lang="es-AR" dirty="0">
                <a:solidFill>
                  <a:srgbClr val="C00000"/>
                </a:solidFill>
              </a:rPr>
              <a:t>mientras</a:t>
            </a:r>
            <a:r>
              <a:rPr lang="es-AR" dirty="0"/>
              <a:t> numero &gt; 0</a:t>
            </a:r>
          </a:p>
          <a:p>
            <a:r>
              <a:rPr lang="es-AR" dirty="0"/>
              <a:t>	escribir (numero * numero)</a:t>
            </a:r>
          </a:p>
          <a:p>
            <a:r>
              <a:rPr lang="es-AR" dirty="0"/>
              <a:t>	leer (numero)</a:t>
            </a:r>
          </a:p>
          <a:p>
            <a:r>
              <a:rPr lang="es-AR" dirty="0">
                <a:solidFill>
                  <a:srgbClr val="C00000"/>
                </a:solidFill>
              </a:rPr>
              <a:t>fin mientras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8" name="6 Imagen">
            <a:extLst>
              <a:ext uri="{FF2B5EF4-FFF2-40B4-BE49-F238E27FC236}">
                <a16:creationId xmlns:a16="http://schemas.microsoft.com/office/drawing/2014/main" id="{61963E8E-500E-DC46-BFBF-248AD4B0CB3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9" name="Cuadro de texto 2">
            <a:extLst>
              <a:ext uri="{FF2B5EF4-FFF2-40B4-BE49-F238E27FC236}">
                <a16:creationId xmlns:a16="http://schemas.microsoft.com/office/drawing/2014/main" id="{E1321812-B287-9249-BDE8-9FEBBD61F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6259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40205" y="6356350"/>
            <a:ext cx="2133600" cy="365125"/>
          </a:xfrm>
        </p:spPr>
        <p:txBody>
          <a:bodyPr/>
          <a:lstStyle/>
          <a:p>
            <a:fld id="{924F65C0-D9B1-468F-83FD-2DF4862FB626}" type="slidenum">
              <a:rPr lang="es-ES"/>
              <a:pPr/>
              <a:t>11</a:t>
            </a:fld>
            <a:endParaRPr lang="es-ES"/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255418" y="0"/>
            <a:ext cx="3736181" cy="1219200"/>
          </a:xfrm>
        </p:spPr>
        <p:txBody>
          <a:bodyPr>
            <a:noAutofit/>
          </a:bodyPr>
          <a:lstStyle/>
          <a:p>
            <a:r>
              <a:rPr lang="es-ES_tradnl" sz="2800" dirty="0"/>
              <a:t>Practica</a:t>
            </a:r>
            <a:endParaRPr lang="en-GB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AR" dirty="0"/>
              <a:t>UCALP 2012 - Estructura de Datos y Algoritmos - Miaton – Ambrossio</a:t>
            </a:r>
            <a:endParaRPr lang="es-ES" dirty="0"/>
          </a:p>
        </p:txBody>
      </p:sp>
      <p:sp>
        <p:nvSpPr>
          <p:cNvPr id="27" name="Rectangle 5"/>
          <p:cNvSpPr txBox="1">
            <a:spLocks noChangeArrowheads="1"/>
          </p:cNvSpPr>
          <p:nvPr/>
        </p:nvSpPr>
        <p:spPr>
          <a:xfrm>
            <a:off x="682354" y="1484784"/>
            <a:ext cx="7922094" cy="475252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2400" dirty="0"/>
              <a:t>Antes de codificar, leer atentamente el enunciado apuntado en lenguaje natural cuales son las entradas y salidas del problema y qué proceso de </a:t>
            </a:r>
            <a:r>
              <a:rPr lang="es-AR" sz="2400" dirty="0" err="1"/>
              <a:t>trasnformación</a:t>
            </a:r>
            <a:r>
              <a:rPr lang="es-AR" sz="2400" dirty="0"/>
              <a:t> se realiza.</a:t>
            </a:r>
          </a:p>
          <a:p>
            <a:endParaRPr lang="es-AR" sz="2200" dirty="0"/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Calcular el factorial de un numero </a:t>
            </a:r>
            <a:r>
              <a:rPr lang="es-AR" sz="2400" dirty="0" err="1"/>
              <a:t>leido</a:t>
            </a:r>
            <a:r>
              <a:rPr lang="es-AR" sz="2400" dirty="0"/>
              <a:t> manualmente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err="1"/>
              <a:t>Calcular</a:t>
            </a:r>
            <a:r>
              <a:rPr lang="en-US" sz="2400" dirty="0"/>
              <a:t> el </a:t>
            </a:r>
            <a:r>
              <a:rPr lang="en-US" sz="2400" dirty="0" err="1"/>
              <a:t>indice</a:t>
            </a:r>
            <a:r>
              <a:rPr lang="en-US" sz="2400" dirty="0"/>
              <a:t> de </a:t>
            </a:r>
            <a:r>
              <a:rPr lang="en-US" sz="2400" dirty="0" err="1"/>
              <a:t>masa</a:t>
            </a:r>
            <a:r>
              <a:rPr lang="en-US" sz="2400" dirty="0"/>
              <a:t> corporal de </a:t>
            </a:r>
            <a:r>
              <a:rPr lang="en-US" sz="2400" dirty="0" err="1"/>
              <a:t>una</a:t>
            </a:r>
            <a:r>
              <a:rPr lang="en-US" sz="2400" dirty="0"/>
              <a:t> persona (</a:t>
            </a:r>
            <a:r>
              <a:rPr lang="it-IT" sz="2400" dirty="0"/>
              <a:t>IMC = peso (kg) / talla² (mts)²)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Imprima los números del 0 al 100 en pantalla en orden creciente.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Imprimir la suma de los números de 1 a 100 en pantalla.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Imprimir los números que hay desde 1 hasta un número ingresado por teclado.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Imprimir los números del 0 al 100 en pantalla en orden decreciente.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Imprimir la cantidad de palabras ingresadas por teclado hasta ingresar la palabra “fin”.</a:t>
            </a:r>
          </a:p>
          <a:p>
            <a:pPr marL="457200" indent="-457200">
              <a:buFont typeface="+mj-lt"/>
              <a:buAutoNum type="arabicPeriod"/>
            </a:pPr>
            <a:r>
              <a:rPr lang="es-AR" sz="2400" dirty="0"/>
              <a:t>Imprimir una frase en pantalla leyendo palabra por palabra hasta ingresar la palabra  “fin”</a:t>
            </a:r>
            <a:endParaRPr lang="it-IT" sz="2400" dirty="0"/>
          </a:p>
          <a:p>
            <a:pPr marL="457200" indent="-457200">
              <a:buFont typeface="+mj-lt"/>
              <a:buAutoNum type="arabicPeriod"/>
            </a:pPr>
            <a:endParaRPr lang="es-AR" sz="2400" dirty="0"/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  <p:pic>
        <p:nvPicPr>
          <p:cNvPr id="8" name="6 Imagen">
            <a:extLst>
              <a:ext uri="{FF2B5EF4-FFF2-40B4-BE49-F238E27FC236}">
                <a16:creationId xmlns:a16="http://schemas.microsoft.com/office/drawing/2014/main" id="{EB39916E-F8FA-4A43-8477-AA532D00BF0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080"/>
            <a:ext cx="9144000" cy="1075622"/>
          </a:xfrm>
          <a:prstGeom prst="rect">
            <a:avLst/>
          </a:prstGeom>
        </p:spPr>
      </p:pic>
      <p:sp>
        <p:nvSpPr>
          <p:cNvPr id="9" name="Cuadro de texto 2">
            <a:extLst>
              <a:ext uri="{FF2B5EF4-FFF2-40B4-BE49-F238E27FC236}">
                <a16:creationId xmlns:a16="http://schemas.microsoft.com/office/drawing/2014/main" id="{6D54D5C6-11C7-274F-AE2A-EEAA00442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381141"/>
            <a:ext cx="4252595" cy="29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tabLst>
                <a:tab pos="1219200" algn="l"/>
              </a:tabLst>
            </a:pPr>
            <a:r>
              <a:rPr lang="es-AR" sz="1600" b="1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Introducción a la Programación</a:t>
            </a:r>
            <a:endParaRPr lang="es-AR" sz="1600" dirty="0">
              <a:effectLst/>
              <a:latin typeface="Arial Black" pitchFamily="34" charset="0"/>
              <a:ea typeface="Calibri"/>
              <a:cs typeface="Times New Roman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AR" sz="1400" dirty="0">
                <a:solidFill>
                  <a:srgbClr val="FFFFFF"/>
                </a:solidFill>
                <a:effectLst/>
                <a:latin typeface="Arial Black" pitchFamily="34" charset="0"/>
                <a:ea typeface="Calibri"/>
                <a:cs typeface="Times New Roman"/>
              </a:rPr>
              <a:t> </a:t>
            </a:r>
            <a:endParaRPr lang="es-AR" sz="1100" dirty="0">
              <a:effectLst/>
              <a:latin typeface="Arial Black" pitchFamily="34" charset="0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35165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0CC9BE0-44C9-BD4C-BF23-EF5281A24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1772816"/>
            <a:ext cx="2952328" cy="340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80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A032E41-31A3-054A-8FDA-4FF67C256925}"/>
              </a:ext>
            </a:extLst>
          </p:cNvPr>
          <p:cNvSpPr txBox="1"/>
          <p:nvPr/>
        </p:nvSpPr>
        <p:spPr>
          <a:xfrm>
            <a:off x="467544" y="1244101"/>
            <a:ext cx="5702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AR" dirty="0"/>
              <a:t>Calcular el factorial de un numero leido manualmente</a:t>
            </a:r>
          </a:p>
        </p:txBody>
      </p:sp>
    </p:spTree>
    <p:extLst>
      <p:ext uri="{BB962C8B-B14F-4D97-AF65-F5344CB8AC3E}">
        <p14:creationId xmlns:p14="http://schemas.microsoft.com/office/powerpoint/2010/main" val="1220246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0E157AF-D033-ED48-9E4E-CE64A461F67F}"/>
              </a:ext>
            </a:extLst>
          </p:cNvPr>
          <p:cNvSpPr txBox="1"/>
          <p:nvPr/>
        </p:nvSpPr>
        <p:spPr>
          <a:xfrm>
            <a:off x="395536" y="1290267"/>
            <a:ext cx="81344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2 - </a:t>
            </a:r>
            <a:r>
              <a:rPr lang="en-US" dirty="0" err="1"/>
              <a:t>Calcular</a:t>
            </a:r>
            <a:r>
              <a:rPr lang="en-US" dirty="0"/>
              <a:t> el </a:t>
            </a:r>
            <a:r>
              <a:rPr lang="en-US" dirty="0" err="1"/>
              <a:t>indice</a:t>
            </a:r>
            <a:r>
              <a:rPr lang="en-US" dirty="0"/>
              <a:t> de masa corporal de </a:t>
            </a:r>
            <a:r>
              <a:rPr lang="en-US" dirty="0" err="1"/>
              <a:t>una</a:t>
            </a:r>
            <a:r>
              <a:rPr lang="en-US" dirty="0"/>
              <a:t> persona (</a:t>
            </a:r>
            <a:r>
              <a:rPr lang="it-IT" dirty="0"/>
              <a:t>IMC = peso (kg) / </a:t>
            </a:r>
            <a:r>
              <a:rPr lang="it-IT" dirty="0" err="1"/>
              <a:t>talla</a:t>
            </a:r>
            <a:r>
              <a:rPr lang="it-IT" dirty="0"/>
              <a:t>² (</a:t>
            </a:r>
            <a:r>
              <a:rPr lang="it-IT" dirty="0" err="1"/>
              <a:t>mts</a:t>
            </a:r>
            <a:r>
              <a:rPr lang="it-IT" dirty="0"/>
              <a:t>)²)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165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FC74EA5-CE0D-0F46-8092-9ECE411F4C74}"/>
              </a:ext>
            </a:extLst>
          </p:cNvPr>
          <p:cNvSpPr txBox="1"/>
          <p:nvPr/>
        </p:nvSpPr>
        <p:spPr>
          <a:xfrm>
            <a:off x="395536" y="1290267"/>
            <a:ext cx="6524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3 - Imprima los números del 0 al 100 en pantalla en orden creciente.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027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6C87BA1-665B-FA4A-8FEF-EFA8005B1C89}"/>
              </a:ext>
            </a:extLst>
          </p:cNvPr>
          <p:cNvSpPr txBox="1"/>
          <p:nvPr/>
        </p:nvSpPr>
        <p:spPr>
          <a:xfrm>
            <a:off x="467544" y="1244101"/>
            <a:ext cx="5687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4 - Imprimir la suma de los números de 1 a 100 en pantalla.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741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8844FC8-C67C-AA47-8B19-6317DECE7646}"/>
              </a:ext>
            </a:extLst>
          </p:cNvPr>
          <p:cNvSpPr txBox="1"/>
          <p:nvPr/>
        </p:nvSpPr>
        <p:spPr>
          <a:xfrm>
            <a:off x="323528" y="1196752"/>
            <a:ext cx="7830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5 - Imprimir los números que hay desde 1 hasta un número ingresado por teclado.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602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8844FC8-C67C-AA47-8B19-6317DECE7646}"/>
              </a:ext>
            </a:extLst>
          </p:cNvPr>
          <p:cNvSpPr txBox="1"/>
          <p:nvPr/>
        </p:nvSpPr>
        <p:spPr>
          <a:xfrm>
            <a:off x="323528" y="1196752"/>
            <a:ext cx="67842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6 - Imprimir los números del 0 al 100 en pantalla en orden decreciente.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224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8844FC8-C67C-AA47-8B19-6317DECE7646}"/>
              </a:ext>
            </a:extLst>
          </p:cNvPr>
          <p:cNvSpPr txBox="1"/>
          <p:nvPr/>
        </p:nvSpPr>
        <p:spPr>
          <a:xfrm>
            <a:off x="323528" y="1196752"/>
            <a:ext cx="8498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7 - Imprimir la cantidad de palabras ingresadas por teclado hasta ingresar la palabra “fin”.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202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 Grupo"/>
          <p:cNvGrpSpPr/>
          <p:nvPr/>
        </p:nvGrpSpPr>
        <p:grpSpPr>
          <a:xfrm>
            <a:off x="0" y="0"/>
            <a:ext cx="9144000" cy="1075622"/>
            <a:chOff x="0" y="0"/>
            <a:chExt cx="12192000" cy="1075622"/>
          </a:xfrm>
        </p:grpSpPr>
        <p:pic>
          <p:nvPicPr>
            <p:cNvPr id="7" name="6 Imagen"/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1075622"/>
            </a:xfrm>
            <a:prstGeom prst="rect">
              <a:avLst/>
            </a:prstGeom>
          </p:spPr>
        </p:pic>
        <p:sp>
          <p:nvSpPr>
            <p:cNvPr id="8" name="Cuadro de texto 2"/>
            <p:cNvSpPr txBox="1">
              <a:spLocks noChangeArrowheads="1"/>
            </p:cNvSpPr>
            <p:nvPr/>
          </p:nvSpPr>
          <p:spPr bwMode="auto">
            <a:xfrm>
              <a:off x="3654101" y="537811"/>
              <a:ext cx="5670127" cy="297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tabLst>
                  <a:tab pos="1219200" algn="l"/>
                </a:tabLst>
              </a:pPr>
              <a:r>
                <a:rPr lang="es-AR" sz="1400" b="1" u="sng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METODO AXIOMATICO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AR" sz="1400" dirty="0">
                  <a:solidFill>
                    <a:srgbClr val="FFFFFF"/>
                  </a:solidFill>
                  <a:latin typeface="Arial Black" pitchFamily="34" charset="0"/>
                  <a:ea typeface="Calibri"/>
                  <a:cs typeface="Times New Roman"/>
                </a:rPr>
                <a:t> </a:t>
              </a:r>
              <a:endParaRPr lang="es-AR" sz="1100" dirty="0">
                <a:solidFill>
                  <a:prstClr val="black"/>
                </a:solidFill>
                <a:latin typeface="Arial Black" pitchFamily="34" charset="0"/>
                <a:ea typeface="Calibri"/>
                <a:cs typeface="Times New Roman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8844FC8-C67C-AA47-8B19-6317DECE7646}"/>
              </a:ext>
            </a:extLst>
          </p:cNvPr>
          <p:cNvSpPr txBox="1"/>
          <p:nvPr/>
        </p:nvSpPr>
        <p:spPr>
          <a:xfrm>
            <a:off x="323528" y="1196752"/>
            <a:ext cx="8829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dirty="0"/>
              <a:t>8 - Imprimir una frase en pantalla leyendo palabra por palabra hasta ingresar la palabra  “fin”</a:t>
            </a:r>
            <a:endParaRPr lang="it-IT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761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</TotalTime>
  <Words>1198</Words>
  <Application>Microsoft Macintosh PowerPoint</Application>
  <PresentationFormat>On-screen Show (4:3)</PresentationFormat>
  <Paragraphs>182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Helvetica</vt:lpstr>
      <vt:lpstr>Open Sans</vt:lpstr>
      <vt:lpstr>Times New Roman</vt:lpstr>
      <vt:lpstr>Wingdings</vt:lpstr>
      <vt:lpstr>Tema de Office</vt:lpstr>
      <vt:lpstr>1_Tema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Pseudocódigo: Asignación</vt:lpstr>
      <vt:lpstr>Pseudocódigo: Repetición</vt:lpstr>
      <vt:lpstr>Pseudocódigo: Decisión</vt:lpstr>
      <vt:lpstr>Pseudocódigo: Selección</vt:lpstr>
      <vt:lpstr>Pseudocódigo: Iteración</vt:lpstr>
      <vt:lpstr>Practica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PC10</dc:creator>
  <cp:lastModifiedBy>Agustin Ambrossio</cp:lastModifiedBy>
  <cp:revision>78</cp:revision>
  <dcterms:created xsi:type="dcterms:W3CDTF">2020-04-01T12:31:54Z</dcterms:created>
  <dcterms:modified xsi:type="dcterms:W3CDTF">2022-04-20T00:13:53Z</dcterms:modified>
</cp:coreProperties>
</file>