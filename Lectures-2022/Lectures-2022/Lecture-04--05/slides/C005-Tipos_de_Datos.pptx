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>
      <p:cViewPr varScale="1">
        <p:scale>
          <a:sx n="108" d="100"/>
          <a:sy n="108" d="100"/>
        </p:scale>
        <p:origin x="124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CC3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CC3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3CC3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1535" y="563372"/>
            <a:ext cx="807032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3CC33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3043" y="3201923"/>
            <a:ext cx="4757420" cy="2806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887" y="1906523"/>
            <a:ext cx="3786377" cy="38160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8185" y="872743"/>
            <a:ext cx="52508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0" dirty="0">
                <a:solidFill>
                  <a:srgbClr val="33339A"/>
                </a:solidFill>
                <a:latin typeface="Arial Black"/>
                <a:cs typeface="Arial Black"/>
              </a:rPr>
              <a:t>PROGRAMACIÓN</a:t>
            </a:r>
            <a:r>
              <a:rPr sz="4000" b="0" spc="-75" dirty="0">
                <a:solidFill>
                  <a:srgbClr val="33339A"/>
                </a:solidFill>
                <a:latin typeface="Arial Black"/>
                <a:cs typeface="Arial Black"/>
              </a:rPr>
              <a:t> </a:t>
            </a:r>
            <a:r>
              <a:rPr sz="4000" b="0" dirty="0">
                <a:solidFill>
                  <a:srgbClr val="33339A"/>
                </a:solidFill>
                <a:latin typeface="Arial Black"/>
                <a:cs typeface="Arial Black"/>
              </a:rPr>
              <a:t>1</a:t>
            </a:r>
            <a:endParaRPr sz="40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8390" y="6298691"/>
            <a:ext cx="656864" cy="7048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97335" y="6378194"/>
            <a:ext cx="391858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Arial"/>
                <a:cs typeface="Arial"/>
              </a:rPr>
              <a:t>Universidad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Católica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Plata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Facultad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Ciencias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Exactas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Tecnología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89892" y="6369811"/>
            <a:ext cx="152209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Andrés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Garavaglia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Antonio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Restelli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9814" y="2638297"/>
            <a:ext cx="18218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Tipos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22269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Contenido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0239" y="1306322"/>
            <a:ext cx="7212965" cy="496252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33045" indent="-220979">
              <a:lnSpc>
                <a:spcPct val="100000"/>
              </a:lnSpc>
              <a:spcBef>
                <a:spcPts val="1525"/>
              </a:spcBef>
              <a:buChar char="•"/>
              <a:tabLst>
                <a:tab pos="233679" algn="l"/>
              </a:tabLst>
            </a:pPr>
            <a:r>
              <a:rPr sz="2400" spc="-5" dirty="0">
                <a:latin typeface="Calibri"/>
                <a:cs typeface="Calibri"/>
              </a:rPr>
              <a:t>Tipos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Datos</a:t>
            </a:r>
            <a:endParaRPr sz="2400">
              <a:latin typeface="Calibri"/>
              <a:cs typeface="Calibri"/>
            </a:endParaRPr>
          </a:p>
          <a:p>
            <a:pPr marL="690880" lvl="1" indent="-220979">
              <a:lnSpc>
                <a:spcPct val="100000"/>
              </a:lnSpc>
              <a:spcBef>
                <a:spcPts val="1430"/>
              </a:spcBef>
              <a:buChar char="•"/>
              <a:tabLst>
                <a:tab pos="690880" algn="l"/>
              </a:tabLst>
            </a:pPr>
            <a:r>
              <a:rPr sz="2400" spc="-5" dirty="0">
                <a:latin typeface="Calibri"/>
                <a:cs typeface="Calibri"/>
              </a:rPr>
              <a:t>Definidos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lenguaje</a:t>
            </a:r>
            <a:endParaRPr sz="2400">
              <a:latin typeface="Calibri"/>
              <a:cs typeface="Calibri"/>
            </a:endParaRPr>
          </a:p>
          <a:p>
            <a:pPr marL="1111250" lvl="2" indent="-184785">
              <a:lnSpc>
                <a:spcPct val="100000"/>
              </a:lnSpc>
              <a:spcBef>
                <a:spcPts val="1225"/>
              </a:spcBef>
              <a:buChar char="•"/>
              <a:tabLst>
                <a:tab pos="1111885" algn="l"/>
              </a:tabLst>
            </a:pPr>
            <a:r>
              <a:rPr sz="2000" spc="-5" dirty="0">
                <a:latin typeface="Calibri"/>
                <a:cs typeface="Calibri"/>
              </a:rPr>
              <a:t>Enteros,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Reales,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Cadena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texto,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Operaciones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Funciones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410"/>
              </a:spcBef>
            </a:pPr>
            <a:r>
              <a:rPr sz="2400" dirty="0">
                <a:latin typeface="Calibri"/>
                <a:cs typeface="Calibri"/>
              </a:rPr>
              <a:t>•Definidos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usuario</a:t>
            </a:r>
            <a:endParaRPr sz="2400">
              <a:latin typeface="Calibri"/>
              <a:cs typeface="Calibri"/>
            </a:endParaRPr>
          </a:p>
          <a:p>
            <a:pPr marL="1111250" lvl="2" indent="-184785">
              <a:lnSpc>
                <a:spcPct val="100000"/>
              </a:lnSpc>
              <a:spcBef>
                <a:spcPts val="1225"/>
              </a:spcBef>
              <a:buChar char="•"/>
              <a:tabLst>
                <a:tab pos="1111885" algn="l"/>
              </a:tabLst>
            </a:pPr>
            <a:r>
              <a:rPr sz="2000" spc="-5" dirty="0">
                <a:latin typeface="Calibri"/>
                <a:cs typeface="Calibri"/>
              </a:rPr>
              <a:t>Subrango,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Enumerados,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Conjuntos</a:t>
            </a:r>
            <a:endParaRPr sz="2000">
              <a:latin typeface="Calibri"/>
              <a:cs typeface="Calibri"/>
            </a:endParaRPr>
          </a:p>
          <a:p>
            <a:pPr marL="654050" lvl="1" indent="-185420">
              <a:lnSpc>
                <a:spcPct val="100000"/>
              </a:lnSpc>
              <a:spcBef>
                <a:spcPts val="1405"/>
              </a:spcBef>
              <a:buSzPct val="83333"/>
              <a:buChar char="•"/>
              <a:tabLst>
                <a:tab pos="654685" algn="l"/>
              </a:tabLst>
            </a:pPr>
            <a:r>
              <a:rPr sz="2400" spc="-5" dirty="0">
                <a:latin typeface="Calibri"/>
                <a:cs typeface="Calibri"/>
              </a:rPr>
              <a:t>Estructuras</a:t>
            </a:r>
            <a:endParaRPr sz="2400">
              <a:latin typeface="Calibri"/>
              <a:cs typeface="Calibri"/>
            </a:endParaRPr>
          </a:p>
          <a:p>
            <a:pPr marL="1111250" lvl="2" indent="-184785">
              <a:lnSpc>
                <a:spcPct val="100000"/>
              </a:lnSpc>
              <a:spcBef>
                <a:spcPts val="1230"/>
              </a:spcBef>
              <a:buChar char="•"/>
              <a:tabLst>
                <a:tab pos="1111885" algn="l"/>
              </a:tabLst>
            </a:pPr>
            <a:r>
              <a:rPr sz="2000" spc="-5" dirty="0">
                <a:latin typeface="Calibri"/>
                <a:cs typeface="Calibri"/>
              </a:rPr>
              <a:t>Clasificación</a:t>
            </a:r>
            <a:endParaRPr sz="2000">
              <a:latin typeface="Calibri"/>
              <a:cs typeface="Calibri"/>
            </a:endParaRPr>
          </a:p>
          <a:p>
            <a:pPr marL="1111250" lvl="2" indent="-184785">
              <a:lnSpc>
                <a:spcPct val="100000"/>
              </a:lnSpc>
              <a:spcBef>
                <a:spcPts val="1200"/>
              </a:spcBef>
              <a:buChar char="•"/>
              <a:tabLst>
                <a:tab pos="1111885" algn="l"/>
              </a:tabLst>
            </a:pPr>
            <a:r>
              <a:rPr sz="2000" spc="-5" dirty="0">
                <a:latin typeface="Calibri"/>
                <a:cs typeface="Calibri"/>
              </a:rPr>
              <a:t>Arreglos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(Arrays)</a:t>
            </a:r>
            <a:endParaRPr sz="2000">
              <a:latin typeface="Calibri"/>
              <a:cs typeface="Calibri"/>
            </a:endParaRPr>
          </a:p>
          <a:p>
            <a:pPr marL="1612265" lvl="3" indent="-229235">
              <a:lnSpc>
                <a:spcPct val="100000"/>
              </a:lnSpc>
              <a:spcBef>
                <a:spcPts val="1200"/>
              </a:spcBef>
              <a:buChar char="•"/>
              <a:tabLst>
                <a:tab pos="1612900" algn="l"/>
              </a:tabLst>
            </a:pPr>
            <a:r>
              <a:rPr sz="2000" dirty="0">
                <a:latin typeface="Calibri"/>
                <a:cs typeface="Calibri"/>
              </a:rPr>
              <a:t>Vectores</a:t>
            </a:r>
            <a:endParaRPr sz="2000">
              <a:latin typeface="Calibri"/>
              <a:cs typeface="Calibri"/>
            </a:endParaRPr>
          </a:p>
          <a:p>
            <a:pPr marL="1612265" lvl="3" indent="-229235">
              <a:lnSpc>
                <a:spcPct val="100000"/>
              </a:lnSpc>
              <a:spcBef>
                <a:spcPts val="1200"/>
              </a:spcBef>
              <a:buChar char="•"/>
              <a:tabLst>
                <a:tab pos="1612900" algn="l"/>
              </a:tabLst>
            </a:pPr>
            <a:r>
              <a:rPr sz="2000" dirty="0">
                <a:latin typeface="Calibri"/>
                <a:cs typeface="Calibri"/>
              </a:rPr>
              <a:t>Matrices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34499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Tipos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2461" y="1223772"/>
            <a:ext cx="7200900" cy="1465580"/>
          </a:xfrm>
          <a:prstGeom prst="rect">
            <a:avLst/>
          </a:prstGeom>
          <a:solidFill>
            <a:srgbClr val="FF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 marR="116839" algn="just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latin typeface="Arial"/>
                <a:cs typeface="Arial"/>
              </a:rPr>
              <a:t>A </a:t>
            </a:r>
            <a:r>
              <a:rPr sz="1800" spc="-5" dirty="0">
                <a:latin typeface="Arial"/>
                <a:cs typeface="Arial"/>
              </a:rPr>
              <a:t>toda variable que se desee utilizar en un programa debe </a:t>
            </a:r>
            <a:r>
              <a:rPr sz="1800" spc="-10" dirty="0">
                <a:latin typeface="Arial"/>
                <a:cs typeface="Arial"/>
              </a:rPr>
              <a:t>asignarse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tipo de dato </a:t>
            </a:r>
            <a:r>
              <a:rPr sz="1800" dirty="0">
                <a:latin typeface="Arial"/>
                <a:cs typeface="Arial"/>
              </a:rPr>
              <a:t>específico.</a:t>
            </a:r>
            <a:endParaRPr sz="1800">
              <a:latin typeface="Arial"/>
              <a:cs typeface="Arial"/>
            </a:endParaRPr>
          </a:p>
          <a:p>
            <a:pPr marL="92075" marR="308610" algn="just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Un tipo de dato define el posible rango de valores que una variable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puede tomar al momento de ejecución del programa </a:t>
            </a:r>
            <a:r>
              <a:rPr sz="1800" dirty="0">
                <a:latin typeface="Arial"/>
                <a:cs typeface="Arial"/>
              </a:rPr>
              <a:t>y </a:t>
            </a:r>
            <a:r>
              <a:rPr sz="1800" spc="-5" dirty="0">
                <a:latin typeface="Arial"/>
                <a:cs typeface="Arial"/>
              </a:rPr>
              <a:t>a lo largo </a:t>
            </a:r>
            <a:r>
              <a:rPr sz="1800" spc="-10" dirty="0">
                <a:latin typeface="Arial"/>
                <a:cs typeface="Arial"/>
              </a:rPr>
              <a:t>de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toda la vida útil del programa.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615" y="1223771"/>
            <a:ext cx="936497" cy="9364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9814" y="2996437"/>
            <a:ext cx="611505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2800" spc="-5" dirty="0">
                <a:latin typeface="Calibri"/>
                <a:cs typeface="Calibri"/>
              </a:rPr>
              <a:t>Tipos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datos: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Char char="•"/>
            </a:pPr>
            <a:endParaRPr sz="2350">
              <a:latin typeface="Calibri"/>
              <a:cs typeface="Calibri"/>
            </a:endParaRPr>
          </a:p>
          <a:p>
            <a:pPr marL="643890" lvl="1" indent="-34353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643890" algn="l"/>
                <a:tab pos="644525" algn="l"/>
              </a:tabLst>
            </a:pPr>
            <a:r>
              <a:rPr sz="2400" b="1" dirty="0">
                <a:latin typeface="Calibri"/>
                <a:cs typeface="Calibri"/>
              </a:rPr>
              <a:t>Definidos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por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el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lenguaje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programación.</a:t>
            </a:r>
            <a:endParaRPr sz="2400">
              <a:latin typeface="Calibri"/>
              <a:cs typeface="Calibri"/>
            </a:endParaRPr>
          </a:p>
          <a:p>
            <a:pPr marL="643890" lvl="1" indent="-343535">
              <a:lnSpc>
                <a:spcPct val="100000"/>
              </a:lnSpc>
              <a:spcBef>
                <a:spcPts val="1425"/>
              </a:spcBef>
              <a:buFont typeface="Calibri"/>
              <a:buChar char="•"/>
              <a:tabLst>
                <a:tab pos="643890" algn="l"/>
                <a:tab pos="644525" algn="l"/>
              </a:tabLst>
            </a:pPr>
            <a:r>
              <a:rPr sz="2400" b="1" dirty="0">
                <a:latin typeface="Calibri"/>
                <a:cs typeface="Calibri"/>
              </a:rPr>
              <a:t>Definidos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por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el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usuario.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0239" y="1182116"/>
            <a:ext cx="13893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2800" spc="-5" dirty="0">
                <a:latin typeface="Calibri"/>
                <a:cs typeface="Calibri"/>
              </a:rPr>
              <a:t>Enteros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6384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Definidos</a:t>
            </a:r>
            <a:r>
              <a:rPr spc="-5" dirty="0"/>
              <a:t> </a:t>
            </a:r>
            <a:r>
              <a:rPr dirty="0"/>
              <a:t>por el lenguaje.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924" y="1761064"/>
            <a:ext cx="5869795" cy="18950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10239" y="3788917"/>
            <a:ext cx="1221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280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ea</a:t>
            </a:r>
            <a:r>
              <a:rPr sz="2800" spc="-10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3227" y="4338427"/>
            <a:ext cx="5851146" cy="18895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6384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Definidos</a:t>
            </a:r>
            <a:r>
              <a:rPr spc="-5" dirty="0"/>
              <a:t> </a:t>
            </a:r>
            <a:r>
              <a:rPr dirty="0"/>
              <a:t>por el lenguaje.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281" y="1534668"/>
            <a:ext cx="7780019" cy="8031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5501" y="3032505"/>
            <a:ext cx="7369712" cy="3977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9814" y="1124966"/>
            <a:ext cx="1503680" cy="281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2800" spc="-5" dirty="0">
                <a:latin typeface="Calibri"/>
                <a:cs typeface="Calibri"/>
              </a:rPr>
              <a:t>Char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Char char="•"/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libri"/>
              <a:buChar char="•"/>
            </a:pPr>
            <a:endParaRPr sz="2800">
              <a:latin typeface="Calibri"/>
              <a:cs typeface="Calibri"/>
            </a:endParaRPr>
          </a:p>
          <a:p>
            <a:pPr marL="270510" indent="-258445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2800" spc="-5" dirty="0">
                <a:latin typeface="Calibri"/>
                <a:cs typeface="Calibri"/>
              </a:rPr>
              <a:t>Lógicos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libri"/>
              <a:buChar char="•"/>
            </a:pPr>
            <a:endParaRPr sz="4100">
              <a:latin typeface="Calibri"/>
              <a:cs typeface="Calibri"/>
            </a:endParaRPr>
          </a:p>
          <a:p>
            <a:pPr marL="270510" indent="-258445">
              <a:lnSpc>
                <a:spcPct val="100000"/>
              </a:lnSpc>
              <a:spcBef>
                <a:spcPts val="5"/>
              </a:spcBef>
              <a:buChar char="•"/>
              <a:tabLst>
                <a:tab pos="271145" algn="l"/>
              </a:tabLst>
            </a:pPr>
            <a:r>
              <a:rPr sz="2800" spc="-10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adenas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265" y="4073144"/>
            <a:ext cx="7219573" cy="10708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1711" y="5464171"/>
            <a:ext cx="7216555" cy="387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5895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Cadena</a:t>
            </a:r>
            <a:r>
              <a:rPr spc="-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texto</a:t>
            </a:r>
            <a:r>
              <a:rPr spc="-5" dirty="0"/>
              <a:t> </a:t>
            </a:r>
            <a:r>
              <a:rPr dirty="0"/>
              <a:t>(string)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6558" y="1533397"/>
            <a:ext cx="153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SzPct val="116666"/>
              <a:buChar char="•"/>
              <a:tabLst>
                <a:tab pos="271145" algn="l"/>
              </a:tabLst>
            </a:pPr>
            <a:r>
              <a:rPr sz="2400" dirty="0">
                <a:latin typeface="Calibri"/>
                <a:cs typeface="Calibri"/>
              </a:rPr>
              <a:t>Definición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8689" y="1990344"/>
            <a:ext cx="3961129" cy="201676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307340">
              <a:lnSpc>
                <a:spcPts val="1675"/>
              </a:lnSpc>
              <a:spcBef>
                <a:spcPts val="740"/>
              </a:spcBef>
            </a:pPr>
            <a:r>
              <a:rPr sz="1400" b="1" spc="-5" dirty="0">
                <a:latin typeface="Arial"/>
                <a:cs typeface="Arial"/>
              </a:rPr>
              <a:t>Var</a:t>
            </a:r>
            <a:endParaRPr sz="1400">
              <a:latin typeface="Arial"/>
              <a:cs typeface="Arial"/>
            </a:endParaRPr>
          </a:p>
          <a:p>
            <a:pPr marL="1221740" marR="911225">
              <a:lnSpc>
                <a:spcPts val="1670"/>
              </a:lnSpc>
              <a:spcBef>
                <a:spcPts val="60"/>
              </a:spcBef>
            </a:pPr>
            <a:r>
              <a:rPr sz="1400" b="1" spc="-10" dirty="0">
                <a:latin typeface="Arial"/>
                <a:cs typeface="Arial"/>
              </a:rPr>
              <a:t>MiNombre:string[30]; </a:t>
            </a:r>
            <a:r>
              <a:rPr sz="1400" b="1" spc="-37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MiApellido:string[50];</a:t>
            </a:r>
            <a:endParaRPr sz="1400">
              <a:latin typeface="Arial"/>
              <a:cs typeface="Arial"/>
            </a:endParaRPr>
          </a:p>
          <a:p>
            <a:pPr marL="307340">
              <a:lnSpc>
                <a:spcPts val="1675"/>
              </a:lnSpc>
              <a:spcBef>
                <a:spcPts val="785"/>
              </a:spcBef>
            </a:pPr>
            <a:r>
              <a:rPr sz="1400" b="1" spc="-5" dirty="0">
                <a:latin typeface="Arial"/>
                <a:cs typeface="Arial"/>
              </a:rPr>
              <a:t>Begin</a:t>
            </a:r>
            <a:endParaRPr sz="1400">
              <a:latin typeface="Arial"/>
              <a:cs typeface="Arial"/>
            </a:endParaRPr>
          </a:p>
          <a:p>
            <a:pPr marL="1221740">
              <a:lnSpc>
                <a:spcPts val="1675"/>
              </a:lnSpc>
            </a:pPr>
            <a:r>
              <a:rPr sz="1400" b="1" spc="-5" dirty="0">
                <a:latin typeface="Arial"/>
                <a:cs typeface="Arial"/>
              </a:rPr>
              <a:t>MiNombre:=‘Blas’;</a:t>
            </a:r>
            <a:endParaRPr sz="1400">
              <a:latin typeface="Arial"/>
              <a:cs typeface="Arial"/>
            </a:endParaRPr>
          </a:p>
          <a:p>
            <a:pPr marL="1221740">
              <a:lnSpc>
                <a:spcPct val="100000"/>
              </a:lnSpc>
              <a:spcBef>
                <a:spcPts val="835"/>
              </a:spcBef>
            </a:pPr>
            <a:r>
              <a:rPr sz="1400" b="1" spc="-10" dirty="0">
                <a:latin typeface="Arial"/>
                <a:cs typeface="Arial"/>
              </a:rPr>
              <a:t>MiApellido:=‘Pascal´;</a:t>
            </a:r>
            <a:endParaRPr sz="14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830"/>
              </a:spcBef>
            </a:pPr>
            <a:r>
              <a:rPr sz="1400" b="1" spc="-5" dirty="0">
                <a:latin typeface="Arial"/>
                <a:cs typeface="Arial"/>
              </a:rPr>
              <a:t>end.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0779" y="1547876"/>
            <a:ext cx="2879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SzPct val="116666"/>
              <a:buChar char="•"/>
              <a:tabLst>
                <a:tab pos="271145" algn="l"/>
              </a:tabLst>
            </a:pPr>
            <a:r>
              <a:rPr sz="2400" dirty="0">
                <a:latin typeface="Calibri"/>
                <a:cs typeface="Calibri"/>
              </a:rPr>
              <a:t>Operaciones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básicas: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7691" y="1977389"/>
            <a:ext cx="2807970" cy="201676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18490" indent="-286385">
              <a:lnSpc>
                <a:spcPct val="100000"/>
              </a:lnSpc>
              <a:spcBef>
                <a:spcPts val="1500"/>
              </a:spcBef>
              <a:buChar char="•"/>
              <a:tabLst>
                <a:tab pos="618490" algn="l"/>
                <a:tab pos="619125" algn="l"/>
              </a:tabLst>
            </a:pPr>
            <a:r>
              <a:rPr sz="2000" spc="-5" dirty="0">
                <a:latin typeface="Calibri"/>
                <a:cs typeface="Calibri"/>
              </a:rPr>
              <a:t>Concatenar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(+)</a:t>
            </a:r>
            <a:endParaRPr sz="2000">
              <a:latin typeface="Calibri"/>
              <a:cs typeface="Calibri"/>
            </a:endParaRPr>
          </a:p>
          <a:p>
            <a:pPr marL="618490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618490" algn="l"/>
                <a:tab pos="619125" algn="l"/>
              </a:tabLst>
            </a:pPr>
            <a:r>
              <a:rPr sz="2000" spc="-5" dirty="0">
                <a:latin typeface="Calibri"/>
                <a:cs typeface="Calibri"/>
              </a:rPr>
              <a:t>Comparar(=,&gt;,&lt;,&lt;&gt;)</a:t>
            </a:r>
            <a:endParaRPr sz="2000">
              <a:latin typeface="Calibri"/>
              <a:cs typeface="Calibri"/>
            </a:endParaRPr>
          </a:p>
          <a:p>
            <a:pPr marL="618490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618490" algn="l"/>
                <a:tab pos="619125" algn="l"/>
              </a:tabLst>
            </a:pPr>
            <a:r>
              <a:rPr sz="2000" spc="-5" dirty="0">
                <a:latin typeface="Calibri"/>
                <a:cs typeface="Calibri"/>
              </a:rPr>
              <a:t>Longitud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5983" y="4575242"/>
            <a:ext cx="7887334" cy="15995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b="1" spc="-5" dirty="0">
                <a:latin typeface="Arial"/>
                <a:cs typeface="Arial"/>
              </a:rPr>
              <a:t>Concat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(X1,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X2,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Xn)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Donde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son cadenas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 caracteres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 variables string.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latin typeface="Arial"/>
                <a:cs typeface="Arial"/>
              </a:rPr>
              <a:t>Ejemplo:</a:t>
            </a:r>
            <a:r>
              <a:rPr sz="1600" b="1" spc="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texto:=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concat</a:t>
            </a:r>
            <a:r>
              <a:rPr sz="1600" b="1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(‘hola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‘,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‘Mundo’);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1535"/>
              </a:spcBef>
            </a:pPr>
            <a:r>
              <a:rPr sz="1800" b="1" spc="-5" dirty="0">
                <a:latin typeface="Arial"/>
                <a:cs typeface="Arial"/>
              </a:rPr>
              <a:t>Length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(X)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–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Donde</a:t>
            </a:r>
            <a:r>
              <a:rPr sz="1800" dirty="0">
                <a:latin typeface="Arial"/>
                <a:cs typeface="Arial"/>
              </a:rPr>
              <a:t> X </a:t>
            </a:r>
            <a:r>
              <a:rPr sz="1800" spc="-5" dirty="0">
                <a:latin typeface="Arial"/>
                <a:cs typeface="Arial"/>
              </a:rPr>
              <a:t>es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una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cadena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dirty="0">
                <a:latin typeface="Arial"/>
                <a:cs typeface="Arial"/>
              </a:rPr>
              <a:t> texto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string</a:t>
            </a:r>
            <a:endParaRPr sz="1800">
              <a:latin typeface="Arial"/>
              <a:cs typeface="Arial"/>
            </a:endParaRPr>
          </a:p>
          <a:p>
            <a:pPr marL="946150">
              <a:lnSpc>
                <a:spcPct val="100000"/>
              </a:lnSpc>
              <a:spcBef>
                <a:spcPts val="204"/>
              </a:spcBef>
            </a:pPr>
            <a:r>
              <a:rPr sz="1600" b="1" spc="-5" dirty="0">
                <a:latin typeface="Arial"/>
                <a:cs typeface="Arial"/>
              </a:rPr>
              <a:t>Ejemplo:</a:t>
            </a:r>
            <a:r>
              <a:rPr sz="1600" b="1" spc="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longuitud:= </a:t>
            </a:r>
            <a:r>
              <a:rPr sz="1600" b="1" dirty="0">
                <a:latin typeface="Arial"/>
                <a:cs typeface="Arial"/>
              </a:rPr>
              <a:t>length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(‘Programacion’);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5895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Cadena</a:t>
            </a:r>
            <a:r>
              <a:rPr spc="-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dirty="0"/>
              <a:t>texto</a:t>
            </a:r>
            <a:r>
              <a:rPr spc="-5" dirty="0"/>
              <a:t> </a:t>
            </a:r>
            <a:r>
              <a:rPr dirty="0"/>
              <a:t>(string)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1813" y="1790411"/>
            <a:ext cx="3994280" cy="231254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071885" y="1790314"/>
            <a:ext cx="6214110" cy="3177540"/>
            <a:chOff x="3071885" y="1790314"/>
            <a:chExt cx="6214110" cy="31775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783" y="1790314"/>
              <a:ext cx="3981822" cy="23332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1885" y="4147951"/>
              <a:ext cx="3981822" cy="81951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6558" y="1247647"/>
            <a:ext cx="4935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SzPct val="116666"/>
              <a:buChar char="•"/>
              <a:tabLst>
                <a:tab pos="271145" algn="l"/>
              </a:tabLst>
            </a:pPr>
            <a:r>
              <a:rPr sz="2400" spc="-5" dirty="0">
                <a:latin typeface="Calibri"/>
                <a:cs typeface="Calibri"/>
              </a:rPr>
              <a:t>Funciones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tratamiento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cadenas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3935" y="5005677"/>
            <a:ext cx="7061200" cy="19786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Arial"/>
                <a:cs typeface="Arial"/>
              </a:rPr>
              <a:t>StrtoInt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(X)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– Donde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cadena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 caracteres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string.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04"/>
              </a:spcBef>
            </a:pPr>
            <a:r>
              <a:rPr sz="1600" b="1" spc="-5" dirty="0">
                <a:latin typeface="Arial"/>
                <a:cs typeface="Arial"/>
              </a:rPr>
              <a:t>Ejemplo:</a:t>
            </a:r>
            <a:r>
              <a:rPr sz="1600" b="1" spc="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numero:=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strtoint(‘1234’);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InttoStr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(N) </a:t>
            </a:r>
            <a:r>
              <a:rPr sz="1800" spc="-5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Donde 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es un entero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 una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 </a:t>
            </a:r>
            <a:r>
              <a:rPr sz="1800" spc="-10" dirty="0">
                <a:latin typeface="Arial"/>
                <a:cs typeface="Arial"/>
              </a:rPr>
              <a:t>int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00"/>
              </a:spcBef>
            </a:pPr>
            <a:r>
              <a:rPr sz="1600" b="1" spc="-5" dirty="0">
                <a:latin typeface="Arial"/>
                <a:cs typeface="Arial"/>
              </a:rPr>
              <a:t>Ejemplo:</a:t>
            </a:r>
            <a:r>
              <a:rPr sz="1600" b="1" spc="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texto:=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inttostr(‘4321’);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Arial"/>
              <a:cs typeface="Arial"/>
            </a:endParaRPr>
          </a:p>
          <a:p>
            <a:pPr marL="426720" algn="ctr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Exactamente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igual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para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StrToFloat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FloatToStr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58959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Definidos</a:t>
            </a:r>
            <a:r>
              <a:rPr spc="-5" dirty="0"/>
              <a:t> </a:t>
            </a:r>
            <a:r>
              <a:rPr dirty="0"/>
              <a:t>por</a:t>
            </a:r>
            <a:r>
              <a:rPr spc="-5" dirty="0"/>
              <a:t> </a:t>
            </a:r>
            <a:r>
              <a:rPr dirty="0"/>
              <a:t>el</a:t>
            </a:r>
            <a:r>
              <a:rPr spc="-5" dirty="0"/>
              <a:t> </a:t>
            </a:r>
            <a:r>
              <a:rPr dirty="0"/>
              <a:t>usuario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2461" y="1223772"/>
            <a:ext cx="7200900" cy="1190625"/>
          </a:xfrm>
          <a:prstGeom prst="rect">
            <a:avLst/>
          </a:prstGeom>
          <a:solidFill>
            <a:srgbClr val="FF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 marR="308610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latin typeface="Arial"/>
                <a:cs typeface="Arial"/>
              </a:rPr>
              <a:t>Un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tipo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dato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define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el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posible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rango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valores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que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una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variable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puede tomar al momento de ejecución del programa </a:t>
            </a:r>
            <a:r>
              <a:rPr sz="1800" dirty="0">
                <a:latin typeface="Arial"/>
                <a:cs typeface="Arial"/>
              </a:rPr>
              <a:t>y </a:t>
            </a:r>
            <a:r>
              <a:rPr sz="1800" spc="-5" dirty="0">
                <a:latin typeface="Arial"/>
                <a:cs typeface="Arial"/>
              </a:rPr>
              <a:t>a lo largo </a:t>
            </a:r>
            <a:r>
              <a:rPr sz="1800" spc="-10" dirty="0">
                <a:latin typeface="Arial"/>
                <a:cs typeface="Arial"/>
              </a:rPr>
              <a:t>de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toda la vida útil del programa. Este rango esta definido por </a:t>
            </a:r>
            <a:r>
              <a:rPr sz="1800" spc="-10" dirty="0">
                <a:latin typeface="Arial"/>
                <a:cs typeface="Arial"/>
              </a:rPr>
              <a:t>el 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usuario.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615" y="1223771"/>
            <a:ext cx="936497" cy="9364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9814" y="2996437"/>
            <a:ext cx="5965825" cy="3376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00"/>
              </a:spcBef>
              <a:buChar char="•"/>
              <a:tabLst>
                <a:tab pos="271145" algn="l"/>
              </a:tabLst>
            </a:pPr>
            <a:r>
              <a:rPr sz="2800" spc="-5" dirty="0">
                <a:latin typeface="Calibri"/>
                <a:cs typeface="Calibri"/>
              </a:rPr>
              <a:t>Tipos de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datos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definidos por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el usuario: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alibri"/>
              <a:buChar char="•"/>
            </a:pPr>
            <a:endParaRPr sz="2350">
              <a:latin typeface="Calibri"/>
              <a:cs typeface="Calibri"/>
            </a:endParaRPr>
          </a:p>
          <a:p>
            <a:pPr marL="643890" lvl="1" indent="-34353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643890" algn="l"/>
                <a:tab pos="644525" algn="l"/>
              </a:tabLst>
            </a:pPr>
            <a:r>
              <a:rPr sz="2400" b="1" spc="-5" dirty="0">
                <a:latin typeface="Calibri"/>
                <a:cs typeface="Calibri"/>
              </a:rPr>
              <a:t>Del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tipo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simple</a:t>
            </a:r>
            <a:endParaRPr sz="2400">
              <a:latin typeface="Calibri"/>
              <a:cs typeface="Calibri"/>
            </a:endParaRPr>
          </a:p>
          <a:p>
            <a:pPr marL="1043940" lvl="2" indent="-286385">
              <a:lnSpc>
                <a:spcPct val="100000"/>
              </a:lnSpc>
              <a:spcBef>
                <a:spcPts val="1425"/>
              </a:spcBef>
              <a:buChar char="•"/>
              <a:tabLst>
                <a:tab pos="1043940" algn="l"/>
                <a:tab pos="1044575" algn="l"/>
              </a:tabLst>
            </a:pPr>
            <a:r>
              <a:rPr sz="2400" spc="-5" dirty="0">
                <a:latin typeface="Calibri"/>
                <a:cs typeface="Calibri"/>
              </a:rPr>
              <a:t>Subrango</a:t>
            </a:r>
            <a:endParaRPr sz="2400">
              <a:latin typeface="Calibri"/>
              <a:cs typeface="Calibri"/>
            </a:endParaRPr>
          </a:p>
          <a:p>
            <a:pPr marL="1043940" lvl="2" indent="-286385">
              <a:lnSpc>
                <a:spcPct val="100000"/>
              </a:lnSpc>
              <a:spcBef>
                <a:spcPts val="1435"/>
              </a:spcBef>
              <a:buChar char="•"/>
              <a:tabLst>
                <a:tab pos="1043940" algn="l"/>
                <a:tab pos="1044575" algn="l"/>
              </a:tabLst>
            </a:pPr>
            <a:r>
              <a:rPr sz="2400" spc="-5" dirty="0">
                <a:latin typeface="Calibri"/>
                <a:cs typeface="Calibri"/>
              </a:rPr>
              <a:t>Enumerados</a:t>
            </a:r>
            <a:endParaRPr sz="2400">
              <a:latin typeface="Calibri"/>
              <a:cs typeface="Calibri"/>
            </a:endParaRPr>
          </a:p>
          <a:p>
            <a:pPr marL="643890" lvl="1" indent="-343535">
              <a:lnSpc>
                <a:spcPct val="100000"/>
              </a:lnSpc>
              <a:spcBef>
                <a:spcPts val="1435"/>
              </a:spcBef>
              <a:buFont typeface="Calibri"/>
              <a:buChar char="•"/>
              <a:tabLst>
                <a:tab pos="643890" algn="l"/>
                <a:tab pos="644525" algn="l"/>
              </a:tabLst>
            </a:pPr>
            <a:r>
              <a:rPr sz="2400" b="1" spc="-5" dirty="0">
                <a:latin typeface="Calibri"/>
                <a:cs typeface="Calibri"/>
              </a:rPr>
              <a:t>Del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tipo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estructurado</a:t>
            </a:r>
            <a:endParaRPr sz="2400">
              <a:latin typeface="Calibri"/>
              <a:cs typeface="Calibri"/>
            </a:endParaRPr>
          </a:p>
          <a:p>
            <a:pPr marL="1043940" lvl="2" indent="-286385">
              <a:lnSpc>
                <a:spcPct val="100000"/>
              </a:lnSpc>
              <a:spcBef>
                <a:spcPts val="1435"/>
              </a:spcBef>
              <a:buChar char="•"/>
              <a:tabLst>
                <a:tab pos="1043940" algn="l"/>
                <a:tab pos="1044575" algn="l"/>
              </a:tabLst>
            </a:pPr>
            <a:r>
              <a:rPr sz="2400" spc="-5" dirty="0">
                <a:latin typeface="Calibri"/>
                <a:cs typeface="Calibri"/>
              </a:rPr>
              <a:t>Conjunto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3205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Tipo</a:t>
            </a:r>
            <a:r>
              <a:rPr spc="-50" dirty="0"/>
              <a:t> </a:t>
            </a:r>
            <a:r>
              <a:rPr dirty="0"/>
              <a:t>Subrango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8185" y="1630171"/>
            <a:ext cx="7820025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har char="•"/>
              <a:tabLst>
                <a:tab pos="233679" algn="l"/>
              </a:tabLst>
            </a:pPr>
            <a:r>
              <a:rPr sz="2400" dirty="0">
                <a:latin typeface="Calibri"/>
                <a:cs typeface="Calibri"/>
              </a:rPr>
              <a:t>Se define a </a:t>
            </a:r>
            <a:r>
              <a:rPr sz="2400" spc="-5" dirty="0">
                <a:latin typeface="Calibri"/>
                <a:cs typeface="Calibri"/>
              </a:rPr>
              <a:t>partir de </a:t>
            </a:r>
            <a:r>
              <a:rPr sz="2400" dirty="0">
                <a:latin typeface="Calibri"/>
                <a:cs typeface="Calibri"/>
              </a:rPr>
              <a:t>un ordinal estableciendo </a:t>
            </a:r>
            <a:r>
              <a:rPr sz="2400" spc="-5" dirty="0">
                <a:latin typeface="Calibri"/>
                <a:cs typeface="Calibri"/>
              </a:rPr>
              <a:t>los límites </a:t>
            </a:r>
            <a:r>
              <a:rPr sz="2400" dirty="0">
                <a:latin typeface="Calibri"/>
                <a:cs typeface="Calibri"/>
              </a:rPr>
              <a:t> superiores e </a:t>
            </a:r>
            <a:r>
              <a:rPr sz="2400" spc="-5" dirty="0">
                <a:latin typeface="Calibri"/>
                <a:cs typeface="Calibri"/>
              </a:rPr>
              <a:t>inferiores,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5" dirty="0">
                <a:latin typeface="Calibri"/>
                <a:cs typeface="Calibri"/>
              </a:rPr>
              <a:t>subrangos se utilizan </a:t>
            </a:r>
            <a:r>
              <a:rPr sz="2400" dirty="0">
                <a:latin typeface="Calibri"/>
                <a:cs typeface="Calibri"/>
              </a:rPr>
              <a:t>para </a:t>
            </a:r>
            <a:r>
              <a:rPr sz="2400" spc="-5" dirty="0">
                <a:latin typeface="Calibri"/>
                <a:cs typeface="Calibri"/>
              </a:rPr>
              <a:t>darle una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mayor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legibilidad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los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programas.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5389" y="3057144"/>
            <a:ext cx="4053204" cy="151130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450"/>
              </a:spcBef>
            </a:pPr>
            <a:r>
              <a:rPr sz="1800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969644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Subrango=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lim_inf..lim_sup;</a:t>
            </a:r>
            <a:endParaRPr sz="18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969644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s:Subrango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2911" y="3057144"/>
            <a:ext cx="2845435" cy="151384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450"/>
              </a:spcBef>
            </a:pPr>
            <a:r>
              <a:rPr sz="1800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116014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Meses=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1..12;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116014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mes:Meses;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2911" y="4641341"/>
            <a:ext cx="2845435" cy="151384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450"/>
              </a:spcBef>
            </a:pPr>
            <a:r>
              <a:rPr sz="1800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116014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Dias=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1..7;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116014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dia:Dias;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344995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Tipo</a:t>
            </a:r>
            <a:r>
              <a:rPr spc="-50" dirty="0"/>
              <a:t> </a:t>
            </a:r>
            <a:r>
              <a:rPr dirty="0"/>
              <a:t>Enumerado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7906" y="1331468"/>
            <a:ext cx="809434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Char char="•"/>
              <a:tabLst>
                <a:tab pos="197485" algn="l"/>
              </a:tabLst>
            </a:pPr>
            <a:r>
              <a:rPr sz="2000" spc="-5" dirty="0">
                <a:latin typeface="Calibri"/>
                <a:cs typeface="Calibri"/>
              </a:rPr>
              <a:t>Han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 </a:t>
            </a:r>
            <a:r>
              <a:rPr sz="2000" spc="-5" dirty="0">
                <a:latin typeface="Calibri"/>
                <a:cs typeface="Calibri"/>
              </a:rPr>
              <a:t>tipo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ordinal.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establecen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valores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poder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tomar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variables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mediante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especificación 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lista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identificadores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válidos.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identificadores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comenzar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carácter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pueden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repetir.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No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es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posible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leer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desde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teclado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ni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imprimir directamente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sobra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la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variable.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9565" y="2914650"/>
            <a:ext cx="8084820" cy="151130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445"/>
              </a:spcBef>
            </a:pPr>
            <a:r>
              <a:rPr sz="1800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969644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Dias=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(Lunes,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Martes,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Miercoles,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Jueves, Viernes,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Sabado,</a:t>
            </a:r>
            <a:r>
              <a:rPr sz="1800" spc="-10" dirty="0">
                <a:latin typeface="Arial"/>
                <a:cs typeface="Arial"/>
              </a:rPr>
              <a:t> Domingo)</a:t>
            </a:r>
            <a:endParaRPr sz="18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969644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Dia:Dias;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3469" y="4570476"/>
            <a:ext cx="2844800" cy="2232025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445"/>
              </a:spcBef>
            </a:pPr>
            <a:r>
              <a:rPr sz="1800" spc="-5" dirty="0">
                <a:latin typeface="Arial"/>
                <a:cs typeface="Arial"/>
              </a:rPr>
              <a:t>Begin</a:t>
            </a:r>
            <a:endParaRPr sz="1800">
              <a:latin typeface="Arial"/>
              <a:cs typeface="Arial"/>
            </a:endParaRPr>
          </a:p>
          <a:p>
            <a:pPr marL="245745" marR="41783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dia:= </a:t>
            </a:r>
            <a:r>
              <a:rPr sz="1800" dirty="0">
                <a:latin typeface="Arial"/>
                <a:cs typeface="Arial"/>
              </a:rPr>
              <a:t>Jueves; 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Ord(dia); // 3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Pred(dia) </a:t>
            </a:r>
            <a:r>
              <a:rPr sz="1800" dirty="0">
                <a:latin typeface="Arial"/>
                <a:cs typeface="Arial"/>
              </a:rPr>
              <a:t>// </a:t>
            </a:r>
            <a:r>
              <a:rPr sz="1800" spc="-5" dirty="0">
                <a:latin typeface="Arial"/>
                <a:cs typeface="Arial"/>
              </a:rPr>
              <a:t>Miercoles </a:t>
            </a:r>
            <a:r>
              <a:rPr sz="1800" spc="-4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Succ(dia) </a:t>
            </a:r>
            <a:r>
              <a:rPr sz="1800" dirty="0">
                <a:latin typeface="Arial"/>
                <a:cs typeface="Arial"/>
              </a:rPr>
              <a:t>// </a:t>
            </a:r>
            <a:r>
              <a:rPr sz="1800" spc="-5" dirty="0">
                <a:latin typeface="Arial"/>
                <a:cs typeface="Arial"/>
              </a:rPr>
              <a:t>Viernes 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End.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0799" y="4565713"/>
            <a:ext cx="5123815" cy="2241550"/>
            <a:chOff x="4260799" y="4565713"/>
            <a:chExt cx="5123815" cy="22415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8109" y="4832790"/>
              <a:ext cx="3770623" cy="16166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65561" y="4570476"/>
              <a:ext cx="5114290" cy="2232025"/>
            </a:xfrm>
            <a:custGeom>
              <a:avLst/>
              <a:gdLst/>
              <a:ahLst/>
              <a:cxnLst/>
              <a:rect l="l" t="t" r="r" b="b"/>
              <a:pathLst>
                <a:path w="5114290" h="2232025">
                  <a:moveTo>
                    <a:pt x="0" y="0"/>
                  </a:moveTo>
                  <a:lnTo>
                    <a:pt x="0" y="2231898"/>
                  </a:lnTo>
                  <a:lnTo>
                    <a:pt x="5113782" y="2231898"/>
                  </a:lnTo>
                  <a:lnTo>
                    <a:pt x="5113782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99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3205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Tipo</a:t>
            </a:r>
            <a:r>
              <a:rPr spc="-50" dirty="0"/>
              <a:t> </a:t>
            </a:r>
            <a:r>
              <a:rPr dirty="0"/>
              <a:t>Conjunto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8869" y="3851147"/>
            <a:ext cx="5508625" cy="2447925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10489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869"/>
              </a:spcBef>
            </a:pPr>
            <a:r>
              <a:rPr sz="1800" b="1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162560" marR="237172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dias_mes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set of 0..31;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mayusculas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set of 'A'..'Z';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caracteres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char;</a:t>
            </a:r>
            <a:endParaRPr sz="1800">
              <a:latin typeface="Arial"/>
              <a:cs typeface="Arial"/>
            </a:endParaRPr>
          </a:p>
          <a:p>
            <a:pPr marL="162560" marR="15049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equipos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(Boca, River, Racing, Independiente);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futbol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 </a:t>
            </a:r>
            <a:r>
              <a:rPr sz="1800" b="1" spc="-5" dirty="0">
                <a:latin typeface="Arial"/>
                <a:cs typeface="Arial"/>
              </a:rPr>
              <a:t>set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equipos;</a:t>
            </a:r>
            <a:endParaRPr sz="1800">
              <a:latin typeface="Arial"/>
              <a:cs typeface="Arial"/>
            </a:endParaRPr>
          </a:p>
          <a:p>
            <a:pPr marL="16256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16256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GrupoA,GrupoB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futbol;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2461" y="1242822"/>
            <a:ext cx="7200900" cy="916305"/>
          </a:xfrm>
          <a:prstGeom prst="rect">
            <a:avLst/>
          </a:prstGeom>
          <a:solidFill>
            <a:srgbClr val="FF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 marR="472440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latin typeface="Arial"/>
                <a:cs typeface="Arial"/>
              </a:rPr>
              <a:t>Un conjunto es una colección de objetos relacionados. </a:t>
            </a:r>
            <a:r>
              <a:rPr sz="1800" spc="-10" dirty="0">
                <a:latin typeface="Arial"/>
                <a:cs typeface="Arial"/>
              </a:rPr>
              <a:t>Cada </a:t>
            </a:r>
            <a:r>
              <a:rPr sz="1800" spc="-5" dirty="0">
                <a:latin typeface="Arial"/>
                <a:cs typeface="Arial"/>
              </a:rPr>
              <a:t> elemento dentro del conjunto es llamado miembro o elemento </a:t>
            </a:r>
            <a:r>
              <a:rPr sz="1800" spc="-10" dirty="0">
                <a:latin typeface="Arial"/>
                <a:cs typeface="Arial"/>
              </a:rPr>
              <a:t>del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conjunto.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615" y="1242821"/>
            <a:ext cx="936497" cy="93649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8185" y="2086104"/>
            <a:ext cx="7819390" cy="134302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233679" indent="-220979">
              <a:lnSpc>
                <a:spcPct val="100000"/>
              </a:lnSpc>
              <a:spcBef>
                <a:spcPts val="1445"/>
              </a:spcBef>
              <a:buSzPct val="120000"/>
              <a:buChar char="•"/>
              <a:tabLst>
                <a:tab pos="233679" algn="l"/>
              </a:tabLst>
            </a:pPr>
            <a:r>
              <a:rPr sz="2000" spc="-5" dirty="0">
                <a:latin typeface="Calibri"/>
                <a:cs typeface="Calibri"/>
              </a:rPr>
              <a:t>Aunque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matemáticas</a:t>
            </a:r>
            <a:r>
              <a:rPr sz="2000" spc="-5" dirty="0">
                <a:latin typeface="Calibri"/>
                <a:cs typeface="Calibri"/>
              </a:rPr>
              <a:t> no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restricciones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pascal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objetos:</a:t>
            </a:r>
            <a:endParaRPr sz="2000">
              <a:latin typeface="Calibri"/>
              <a:cs typeface="Calibri"/>
            </a:endParaRPr>
          </a:p>
          <a:p>
            <a:pPr marL="755015" lvl="1" indent="-285750">
              <a:lnSpc>
                <a:spcPct val="100000"/>
              </a:lnSpc>
              <a:spcBef>
                <a:spcPts val="1215"/>
              </a:spcBef>
              <a:buChar char="•"/>
              <a:tabLst>
                <a:tab pos="755015" algn="l"/>
                <a:tab pos="755650" algn="l"/>
              </a:tabLst>
            </a:pP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elementos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conjunto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deben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 </a:t>
            </a:r>
            <a:r>
              <a:rPr sz="1800" dirty="0">
                <a:latin typeface="Calibri"/>
                <a:cs typeface="Calibri"/>
              </a:rPr>
              <a:t>del mismo</a:t>
            </a:r>
            <a:r>
              <a:rPr sz="1800" spc="-5" dirty="0">
                <a:latin typeface="Calibri"/>
                <a:cs typeface="Calibri"/>
              </a:rPr>
              <a:t> tipo, </a:t>
            </a:r>
            <a:r>
              <a:rPr sz="1800" dirty="0">
                <a:latin typeface="Calibri"/>
                <a:cs typeface="Calibri"/>
              </a:rPr>
              <a:t>llamado</a:t>
            </a:r>
            <a:r>
              <a:rPr sz="1800" spc="-5" dirty="0">
                <a:latin typeface="Calibri"/>
                <a:cs typeface="Calibri"/>
              </a:rPr>
              <a:t> tipo</a:t>
            </a:r>
            <a:r>
              <a:rPr sz="1800" dirty="0">
                <a:latin typeface="Calibri"/>
                <a:cs typeface="Calibri"/>
              </a:rPr>
              <a:t> base.</a:t>
            </a:r>
            <a:endParaRPr sz="1800">
              <a:latin typeface="Calibri"/>
              <a:cs typeface="Calibri"/>
            </a:endParaRPr>
          </a:p>
          <a:p>
            <a:pPr marL="755650" lvl="1" indent="-286385">
              <a:lnSpc>
                <a:spcPct val="100000"/>
              </a:lnSpc>
              <a:spcBef>
                <a:spcPts val="1090"/>
              </a:spcBef>
              <a:buChar char="•"/>
              <a:tabLst>
                <a:tab pos="755650" algn="l"/>
                <a:tab pos="756285" algn="l"/>
              </a:tabLst>
            </a:pP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tipo</a:t>
            </a:r>
            <a:r>
              <a:rPr sz="1800" spc="-5" dirty="0">
                <a:latin typeface="Calibri"/>
                <a:cs typeface="Calibri"/>
              </a:rPr>
              <a:t> base</a:t>
            </a:r>
            <a:r>
              <a:rPr sz="1800" dirty="0">
                <a:latin typeface="Calibri"/>
                <a:cs typeface="Calibri"/>
              </a:rPr>
              <a:t> debe </a:t>
            </a:r>
            <a:r>
              <a:rPr sz="1800" spc="-5" dirty="0">
                <a:latin typeface="Calibri"/>
                <a:cs typeface="Calibri"/>
              </a:rPr>
              <a:t>ser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tipo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excepto </a:t>
            </a:r>
            <a:r>
              <a:rPr sz="1800" spc="-5" dirty="0">
                <a:latin typeface="Calibri"/>
                <a:cs typeface="Calibri"/>
              </a:rPr>
              <a:t>el</a:t>
            </a:r>
            <a:r>
              <a:rPr sz="1800" dirty="0">
                <a:latin typeface="Calibri"/>
                <a:cs typeface="Calibri"/>
              </a:rPr>
              <a:t> real.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3205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Tipo</a:t>
            </a:r>
            <a:r>
              <a:rPr spc="-50" dirty="0"/>
              <a:t> </a:t>
            </a:r>
            <a:r>
              <a:rPr dirty="0"/>
              <a:t>Conjunto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93927" y="3628453"/>
          <a:ext cx="8422005" cy="2881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 gridSpan="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Operadores</a:t>
                      </a:r>
                      <a:r>
                        <a:rPr sz="1400" b="1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400" b="1" spc="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relación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400" b="1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conjuntos</a:t>
                      </a:r>
                      <a:r>
                        <a:rPr sz="1400" b="1" spc="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Operador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479425" marR="367665" indent="-1047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Nombre</a:t>
                      </a:r>
                      <a:r>
                        <a:rPr sz="1400" b="1" spc="-6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del </a:t>
                      </a:r>
                      <a:r>
                        <a:rPr sz="1400" b="1" spc="-37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operador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1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Resultado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=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Subconjunto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54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675"/>
                        </a:lnSpc>
                        <a:spcBef>
                          <a:spcPts val="31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El valor de A&lt;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 es true.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cada elemento de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 es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también de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ts val="1675"/>
                        </a:lnSpc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B.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caso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contrario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es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false.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=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Igualdad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74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El valor de A = B es true si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cada elemento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de A está en B y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cada </a:t>
                      </a:r>
                      <a:r>
                        <a:rPr sz="1400" b="1" spc="-3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elemento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de B está en A.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En caso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contrario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A =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es falso,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A=B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equivale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 (A&lt;=B) and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(B&lt;=A).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&gt;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Desigualdad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33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El valor de A &lt; &gt; B es true si el valor de A = B es false y </a:t>
                      </a:r>
                      <a:r>
                        <a:rPr sz="1400" b="1" spc="-3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viceversa.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&gt;</a:t>
                      </a:r>
                      <a:r>
                        <a:rPr sz="14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=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Superconjunto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A &lt; &gt;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equivale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a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not (A =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B), A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&gt;=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 es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true si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B&lt;=A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true.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0775" y="1252537"/>
          <a:ext cx="8583930" cy="215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7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Operaciones sobre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dos conjuntos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A</a:t>
                      </a:r>
                      <a:r>
                        <a:rPr sz="1400" b="1" spc="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0000A0"/>
                          </a:solidFill>
                          <a:latin typeface="Arial"/>
                          <a:cs typeface="Arial"/>
                        </a:rPr>
                        <a:t>y 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1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Operación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330200" marR="225425" indent="-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Notación  Pascal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1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Conjunto</a:t>
                      </a:r>
                      <a:r>
                        <a:rPr sz="1400" b="1" spc="-2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resultante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Unión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4637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A+B es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conjunto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que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contiene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todos los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elementos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que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están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400" b="1" spc="-3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A,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en B o en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ambos.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6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Intersección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817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A*B es el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conjunto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cuyos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elementos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pertenecen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 A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y B </a:t>
                      </a:r>
                      <a:r>
                        <a:rPr sz="1400" b="1" spc="-3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simultáneamente.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Diferencia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-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400" b="1" spc="-5" dirty="0">
                          <a:latin typeface="Arial"/>
                          <a:cs typeface="Arial"/>
                        </a:rPr>
                        <a:t>A-B es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conjunto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cuyos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elementos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son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pero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B.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27158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Estructuras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9814" y="1290131"/>
            <a:ext cx="7630159" cy="3973829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b="1" spc="-5" dirty="0">
                <a:latin typeface="Calibri"/>
                <a:cs typeface="Calibri"/>
              </a:rPr>
              <a:t>Clasificación:</a:t>
            </a:r>
            <a:endParaRPr sz="2400">
              <a:latin typeface="Calibri"/>
              <a:cs typeface="Calibri"/>
            </a:endParaRPr>
          </a:p>
          <a:p>
            <a:pPr marL="755015" indent="-286385">
              <a:lnSpc>
                <a:spcPct val="100000"/>
              </a:lnSpc>
              <a:spcBef>
                <a:spcPts val="1230"/>
              </a:spcBef>
              <a:buFont typeface="Calibri"/>
              <a:buChar char="•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Calibri"/>
                <a:cs typeface="Calibri"/>
              </a:rPr>
              <a:t>Respecto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al número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componentes.</a:t>
            </a:r>
            <a:endParaRPr sz="2000">
              <a:latin typeface="Calibri"/>
              <a:cs typeface="Calibri"/>
            </a:endParaRPr>
          </a:p>
          <a:p>
            <a:pPr marL="1155700" marR="54610" lvl="1" indent="-229235">
              <a:lnSpc>
                <a:spcPct val="100000"/>
              </a:lnSpc>
              <a:spcBef>
                <a:spcPts val="1105"/>
              </a:spcBef>
              <a:buFont typeface="Calibri"/>
              <a:buChar char="•"/>
              <a:tabLst>
                <a:tab pos="1155700" algn="l"/>
              </a:tabLst>
            </a:pPr>
            <a:r>
              <a:rPr sz="1800" b="1" spc="-5" dirty="0">
                <a:latin typeface="Calibri"/>
                <a:cs typeface="Calibri"/>
              </a:rPr>
              <a:t>Estáticas: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dirty="0">
                <a:latin typeface="Calibri"/>
                <a:cs typeface="Calibri"/>
              </a:rPr>
              <a:t>número de componentes </a:t>
            </a:r>
            <a:r>
              <a:rPr sz="1800" spc="-5" dirty="0">
                <a:latin typeface="Calibri"/>
                <a:cs typeface="Calibri"/>
              </a:rPr>
              <a:t>es </a:t>
            </a:r>
            <a:r>
              <a:rPr sz="1800" dirty="0">
                <a:latin typeface="Calibri"/>
                <a:cs typeface="Calibri"/>
              </a:rPr>
              <a:t>fijo </a:t>
            </a:r>
            <a:r>
              <a:rPr sz="1800" spc="-5" dirty="0">
                <a:latin typeface="Calibri"/>
                <a:cs typeface="Calibri"/>
              </a:rPr>
              <a:t>durante </a:t>
            </a:r>
            <a:r>
              <a:rPr sz="1800" dirty="0">
                <a:latin typeface="Calibri"/>
                <a:cs typeface="Calibri"/>
              </a:rPr>
              <a:t>la ejecución del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programa.</a:t>
            </a:r>
            <a:endParaRPr sz="1800">
              <a:latin typeface="Calibri"/>
              <a:cs typeface="Calibri"/>
            </a:endParaRPr>
          </a:p>
          <a:p>
            <a:pPr marL="1155700" marR="5080" lvl="1" indent="-229235">
              <a:lnSpc>
                <a:spcPct val="100000"/>
              </a:lnSpc>
              <a:spcBef>
                <a:spcPts val="1090"/>
              </a:spcBef>
              <a:buFont typeface="Calibri"/>
              <a:buChar char="•"/>
              <a:tabLst>
                <a:tab pos="1156335" algn="l"/>
              </a:tabLst>
            </a:pPr>
            <a:r>
              <a:rPr sz="1800" b="1" spc="-5" dirty="0">
                <a:latin typeface="Calibri"/>
                <a:cs typeface="Calibri"/>
              </a:rPr>
              <a:t>Dinámicas: </a:t>
            </a:r>
            <a:r>
              <a:rPr sz="1800" spc="-5" dirty="0">
                <a:latin typeface="Calibri"/>
                <a:cs typeface="Calibri"/>
              </a:rPr>
              <a:t>el </a:t>
            </a:r>
            <a:r>
              <a:rPr sz="1800" dirty="0">
                <a:latin typeface="Calibri"/>
                <a:cs typeface="Calibri"/>
              </a:rPr>
              <a:t>número de componentes varia durante la ejecución del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programa.</a:t>
            </a:r>
            <a:endParaRPr sz="1800">
              <a:latin typeface="Calibri"/>
              <a:cs typeface="Calibri"/>
            </a:endParaRPr>
          </a:p>
          <a:p>
            <a:pPr marL="755015" indent="-286385">
              <a:lnSpc>
                <a:spcPct val="100000"/>
              </a:lnSpc>
              <a:spcBef>
                <a:spcPts val="1190"/>
              </a:spcBef>
              <a:buFont typeface="Calibri"/>
              <a:buChar char="•"/>
              <a:tabLst>
                <a:tab pos="755015" algn="l"/>
                <a:tab pos="755650" algn="l"/>
              </a:tabLst>
            </a:pPr>
            <a:r>
              <a:rPr sz="2000" b="1" spc="-5" dirty="0">
                <a:latin typeface="Calibri"/>
                <a:cs typeface="Calibri"/>
              </a:rPr>
              <a:t>Respecto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al </a:t>
            </a:r>
            <a:r>
              <a:rPr sz="2000" b="1" spc="-10" dirty="0">
                <a:latin typeface="Calibri"/>
                <a:cs typeface="Calibri"/>
              </a:rPr>
              <a:t>tipo</a:t>
            </a:r>
            <a:r>
              <a:rPr sz="2000" b="1" spc="-5" dirty="0">
                <a:latin typeface="Calibri"/>
                <a:cs typeface="Calibri"/>
              </a:rPr>
              <a:t> de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los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componentes.</a:t>
            </a:r>
            <a:endParaRPr sz="20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1105"/>
              </a:spcBef>
              <a:buFont typeface="Calibri"/>
              <a:buChar char="•"/>
              <a:tabLst>
                <a:tab pos="1155700" algn="l"/>
              </a:tabLst>
            </a:pPr>
            <a:r>
              <a:rPr sz="1800" b="1" spc="-5" dirty="0">
                <a:latin typeface="Calibri"/>
                <a:cs typeface="Calibri"/>
              </a:rPr>
              <a:t>Por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combinación de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datos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de diferentes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tipos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(registros).</a:t>
            </a:r>
            <a:endParaRPr sz="1800">
              <a:latin typeface="Calibri"/>
              <a:cs typeface="Calibri"/>
            </a:endParaRPr>
          </a:p>
          <a:p>
            <a:pPr marL="1155700" marR="130175" lvl="1" indent="-229235">
              <a:lnSpc>
                <a:spcPct val="100000"/>
              </a:lnSpc>
              <a:spcBef>
                <a:spcPts val="1090"/>
              </a:spcBef>
              <a:buFont typeface="Calibri"/>
              <a:buChar char="•"/>
              <a:tabLst>
                <a:tab pos="1156335" algn="l"/>
              </a:tabLst>
            </a:pPr>
            <a:r>
              <a:rPr sz="1800" b="1" spc="-5" dirty="0">
                <a:latin typeface="Calibri"/>
                <a:cs typeface="Calibri"/>
              </a:rPr>
              <a:t>Por repetición de datos </a:t>
            </a:r>
            <a:r>
              <a:rPr sz="1800" b="1" spc="-10" dirty="0">
                <a:latin typeface="Calibri"/>
                <a:cs typeface="Calibri"/>
              </a:rPr>
              <a:t>del </a:t>
            </a:r>
            <a:r>
              <a:rPr sz="1800" b="1" spc="-5" dirty="0">
                <a:latin typeface="Calibri"/>
                <a:cs typeface="Calibri"/>
              </a:rPr>
              <a:t>mismo tipo </a:t>
            </a:r>
            <a:r>
              <a:rPr sz="1800" spc="-5" dirty="0">
                <a:latin typeface="Calibri"/>
                <a:cs typeface="Calibri"/>
              </a:rPr>
              <a:t>(arrays, </a:t>
            </a:r>
            <a:r>
              <a:rPr sz="1800" dirty="0">
                <a:latin typeface="Calibri"/>
                <a:cs typeface="Calibri"/>
              </a:rPr>
              <a:t>conjuntos, archivos,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listas,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árboles,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etc.).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41833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Arreglos</a:t>
            </a:r>
            <a:r>
              <a:rPr spc="-40" dirty="0"/>
              <a:t> </a:t>
            </a:r>
            <a:r>
              <a:rPr dirty="0"/>
              <a:t>(Arrays)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2461" y="1328166"/>
            <a:ext cx="7200900" cy="916940"/>
          </a:xfrm>
          <a:prstGeom prst="rect">
            <a:avLst/>
          </a:prstGeom>
          <a:solidFill>
            <a:srgbClr val="FFFF66"/>
          </a:solidFill>
        </p:spPr>
        <p:txBody>
          <a:bodyPr vert="horz" wrap="square" lIns="0" tIns="39370" rIns="0" bIns="0" rtlCol="0">
            <a:spAutoFit/>
          </a:bodyPr>
          <a:lstStyle/>
          <a:p>
            <a:pPr marL="92075" marR="459740" algn="just">
              <a:lnSpc>
                <a:spcPct val="100000"/>
              </a:lnSpc>
              <a:spcBef>
                <a:spcPts val="310"/>
              </a:spcBef>
            </a:pPr>
            <a:r>
              <a:rPr sz="1800" spc="-5" dirty="0">
                <a:latin typeface="Arial"/>
                <a:cs typeface="Arial"/>
              </a:rPr>
              <a:t>Es una estructura homogénea de datos de tamaño constante. </a:t>
            </a:r>
            <a:r>
              <a:rPr sz="1800" spc="-10" dirty="0">
                <a:latin typeface="Arial"/>
                <a:cs typeface="Arial"/>
              </a:rPr>
              <a:t>La </a:t>
            </a:r>
            <a:r>
              <a:rPr sz="1800" spc="-5" dirty="0">
                <a:latin typeface="Arial"/>
                <a:cs typeface="Arial"/>
              </a:rPr>
              <a:t> forma de acceder a cada uno de sus elementos es a través de </a:t>
            </a:r>
            <a:r>
              <a:rPr sz="1800" spc="-10" dirty="0">
                <a:latin typeface="Arial"/>
                <a:cs typeface="Arial"/>
              </a:rPr>
              <a:t>un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identificador común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 uno o varios </a:t>
            </a:r>
            <a:r>
              <a:rPr sz="1800" dirty="0">
                <a:latin typeface="Arial"/>
                <a:cs typeface="Arial"/>
              </a:rPr>
              <a:t>índices.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615" y="1328927"/>
            <a:ext cx="936497" cy="9364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76661" y="2268219"/>
            <a:ext cx="8086725" cy="350647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270510" indent="-258445">
              <a:lnSpc>
                <a:spcPct val="100000"/>
              </a:lnSpc>
              <a:spcBef>
                <a:spcPts val="1700"/>
              </a:spcBef>
              <a:buSzPct val="116666"/>
              <a:buChar char="•"/>
              <a:tabLst>
                <a:tab pos="271145" algn="l"/>
              </a:tabLst>
            </a:pPr>
            <a:r>
              <a:rPr sz="2400" spc="-5" dirty="0">
                <a:latin typeface="Calibri"/>
                <a:cs typeface="Calibri"/>
              </a:rPr>
              <a:t>Características:</a:t>
            </a:r>
            <a:endParaRPr sz="2400">
              <a:latin typeface="Calibri"/>
              <a:cs typeface="Calibri"/>
            </a:endParaRPr>
          </a:p>
          <a:p>
            <a:pPr marL="755015" lvl="1" indent="-285750">
              <a:lnSpc>
                <a:spcPct val="100000"/>
              </a:lnSpc>
              <a:spcBef>
                <a:spcPts val="1330"/>
              </a:spcBef>
              <a:buChar char="•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Todos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elementos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 </a:t>
            </a:r>
            <a:r>
              <a:rPr sz="2000" spc="-5" dirty="0">
                <a:latin typeface="Calibri"/>
                <a:cs typeface="Calibri"/>
              </a:rPr>
              <a:t>array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del</a:t>
            </a:r>
            <a:r>
              <a:rPr sz="2000" dirty="0">
                <a:latin typeface="Calibri"/>
                <a:cs typeface="Calibri"/>
              </a:rPr>
              <a:t> mismo </a:t>
            </a:r>
            <a:r>
              <a:rPr sz="2000" spc="-5" dirty="0">
                <a:latin typeface="Calibri"/>
                <a:cs typeface="Calibri"/>
              </a:rPr>
              <a:t>tipo.</a:t>
            </a:r>
            <a:endParaRPr sz="2000">
              <a:latin typeface="Calibri"/>
              <a:cs typeface="Calibri"/>
            </a:endParaRPr>
          </a:p>
          <a:p>
            <a:pPr marL="755015" lvl="1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número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ellos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varía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durante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ejecución del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programa.</a:t>
            </a:r>
            <a:endParaRPr sz="2000">
              <a:latin typeface="Calibri"/>
              <a:cs typeface="Calibri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1200"/>
              </a:spcBef>
              <a:buChar char="•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número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máximo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posibles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pueda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tomar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cada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índice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se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denomina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rango de</a:t>
            </a:r>
            <a:r>
              <a:rPr sz="2000" dirty="0">
                <a:latin typeface="Calibri"/>
                <a:cs typeface="Calibri"/>
              </a:rPr>
              <a:t> esa</a:t>
            </a:r>
            <a:r>
              <a:rPr sz="2000" spc="-5" dirty="0">
                <a:latin typeface="Calibri"/>
                <a:cs typeface="Calibri"/>
              </a:rPr>
              <a:t> dimensión.</a:t>
            </a:r>
            <a:endParaRPr sz="2000">
              <a:latin typeface="Calibri"/>
              <a:cs typeface="Calibri"/>
            </a:endParaRPr>
          </a:p>
          <a:p>
            <a:pPr marL="755015" lvl="1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755015" algn="l"/>
                <a:tab pos="755650" algn="l"/>
              </a:tabLst>
            </a:pPr>
            <a:r>
              <a:rPr sz="2000" spc="-5" dirty="0">
                <a:latin typeface="Calibri"/>
                <a:cs typeface="Calibri"/>
              </a:rPr>
              <a:t>Los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valores han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consecutivos, por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que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índice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ordinal.</a:t>
            </a:r>
            <a:endParaRPr sz="2000">
              <a:latin typeface="Calibri"/>
              <a:cs typeface="Calibri"/>
            </a:endParaRPr>
          </a:p>
          <a:p>
            <a:pPr marL="755015" marR="35560" lvl="1" indent="-286385">
              <a:lnSpc>
                <a:spcPct val="100000"/>
              </a:lnSpc>
              <a:spcBef>
                <a:spcPts val="1200"/>
              </a:spcBef>
              <a:buChar char="•"/>
              <a:tabLst>
                <a:tab pos="755015" algn="l"/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accede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estructura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mediante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identificador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común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nombre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array)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y un índice.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736345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Arreglos (Arrays)una</a:t>
            </a:r>
            <a:r>
              <a:rPr spc="5" dirty="0"/>
              <a:t> </a:t>
            </a:r>
            <a:r>
              <a:rPr dirty="0"/>
              <a:t>dimensión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909" y="1824989"/>
            <a:ext cx="4104640" cy="151384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450"/>
              </a:spcBef>
            </a:pPr>
            <a:r>
              <a:rPr sz="1800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75311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vector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array[1..5]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integer;</a:t>
            </a:r>
            <a:endParaRPr sz="1800">
              <a:latin typeface="Arial"/>
              <a:cs typeface="Arial"/>
            </a:endParaRPr>
          </a:p>
          <a:p>
            <a:pPr marL="24574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75311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Mivector: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vector;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97297" y="2109787"/>
            <a:ext cx="875665" cy="512445"/>
            <a:chOff x="5197297" y="2109787"/>
            <a:chExt cx="875665" cy="512445"/>
          </a:xfrm>
        </p:grpSpPr>
        <p:sp>
          <p:nvSpPr>
            <p:cNvPr id="5" name="object 5"/>
            <p:cNvSpPr/>
            <p:nvPr/>
          </p:nvSpPr>
          <p:spPr>
            <a:xfrm>
              <a:off x="5202059" y="2114550"/>
              <a:ext cx="866140" cy="502920"/>
            </a:xfrm>
            <a:custGeom>
              <a:avLst/>
              <a:gdLst/>
              <a:ahLst/>
              <a:cxnLst/>
              <a:rect l="l" t="t" r="r" b="b"/>
              <a:pathLst>
                <a:path w="866139" h="502919">
                  <a:moveTo>
                    <a:pt x="865631" y="502919"/>
                  </a:moveTo>
                  <a:lnTo>
                    <a:pt x="865631" y="0"/>
                  </a:lnTo>
                  <a:lnTo>
                    <a:pt x="0" y="0"/>
                  </a:lnTo>
                  <a:lnTo>
                    <a:pt x="0" y="502919"/>
                  </a:lnTo>
                  <a:lnTo>
                    <a:pt x="865631" y="502919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02059" y="2114550"/>
              <a:ext cx="866140" cy="502920"/>
            </a:xfrm>
            <a:custGeom>
              <a:avLst/>
              <a:gdLst/>
              <a:ahLst/>
              <a:cxnLst/>
              <a:rect l="l" t="t" r="r" b="b"/>
              <a:pathLst>
                <a:path w="866139" h="502919">
                  <a:moveTo>
                    <a:pt x="0" y="0"/>
                  </a:moveTo>
                  <a:lnTo>
                    <a:pt x="0" y="502919"/>
                  </a:lnTo>
                  <a:lnTo>
                    <a:pt x="865631" y="502919"/>
                  </a:lnTo>
                  <a:lnTo>
                    <a:pt x="865631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02059" y="2690622"/>
            <a:ext cx="866140" cy="35941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800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9319" y="2690622"/>
            <a:ext cx="864869" cy="35941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800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69531" y="2109787"/>
            <a:ext cx="874394" cy="512445"/>
            <a:chOff x="7069531" y="2109787"/>
            <a:chExt cx="874394" cy="512445"/>
          </a:xfrm>
        </p:grpSpPr>
        <p:sp>
          <p:nvSpPr>
            <p:cNvPr id="10" name="object 10"/>
            <p:cNvSpPr/>
            <p:nvPr/>
          </p:nvSpPr>
          <p:spPr>
            <a:xfrm>
              <a:off x="7074293" y="2114550"/>
              <a:ext cx="864869" cy="502920"/>
            </a:xfrm>
            <a:custGeom>
              <a:avLst/>
              <a:gdLst/>
              <a:ahLst/>
              <a:cxnLst/>
              <a:rect l="l" t="t" r="r" b="b"/>
              <a:pathLst>
                <a:path w="864870" h="502919">
                  <a:moveTo>
                    <a:pt x="864870" y="502919"/>
                  </a:moveTo>
                  <a:lnTo>
                    <a:pt x="864870" y="0"/>
                  </a:lnTo>
                  <a:lnTo>
                    <a:pt x="0" y="0"/>
                  </a:lnTo>
                  <a:lnTo>
                    <a:pt x="0" y="502919"/>
                  </a:lnTo>
                  <a:lnTo>
                    <a:pt x="864870" y="502919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74293" y="2114550"/>
              <a:ext cx="864869" cy="502920"/>
            </a:xfrm>
            <a:custGeom>
              <a:avLst/>
              <a:gdLst/>
              <a:ahLst/>
              <a:cxnLst/>
              <a:rect l="l" t="t" r="r" b="b"/>
              <a:pathLst>
                <a:path w="864870" h="502919">
                  <a:moveTo>
                    <a:pt x="0" y="0"/>
                  </a:moveTo>
                  <a:lnTo>
                    <a:pt x="0" y="502919"/>
                  </a:lnTo>
                  <a:lnTo>
                    <a:pt x="864870" y="502919"/>
                  </a:lnTo>
                  <a:lnTo>
                    <a:pt x="86487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074293" y="2690622"/>
            <a:ext cx="864869" cy="35941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800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10791" y="2690622"/>
            <a:ext cx="864869" cy="35941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800" spc="-5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941003" y="2109787"/>
            <a:ext cx="874394" cy="512445"/>
            <a:chOff x="8941003" y="2109787"/>
            <a:chExt cx="874394" cy="512445"/>
          </a:xfrm>
        </p:grpSpPr>
        <p:sp>
          <p:nvSpPr>
            <p:cNvPr id="15" name="object 15"/>
            <p:cNvSpPr/>
            <p:nvPr/>
          </p:nvSpPr>
          <p:spPr>
            <a:xfrm>
              <a:off x="8945765" y="2114550"/>
              <a:ext cx="864869" cy="502920"/>
            </a:xfrm>
            <a:custGeom>
              <a:avLst/>
              <a:gdLst/>
              <a:ahLst/>
              <a:cxnLst/>
              <a:rect l="l" t="t" r="r" b="b"/>
              <a:pathLst>
                <a:path w="864870" h="502919">
                  <a:moveTo>
                    <a:pt x="864870" y="502919"/>
                  </a:moveTo>
                  <a:lnTo>
                    <a:pt x="864870" y="0"/>
                  </a:lnTo>
                  <a:lnTo>
                    <a:pt x="0" y="0"/>
                  </a:lnTo>
                  <a:lnTo>
                    <a:pt x="0" y="502919"/>
                  </a:lnTo>
                  <a:lnTo>
                    <a:pt x="864870" y="502919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45765" y="2114550"/>
              <a:ext cx="864869" cy="502920"/>
            </a:xfrm>
            <a:custGeom>
              <a:avLst/>
              <a:gdLst/>
              <a:ahLst/>
              <a:cxnLst/>
              <a:rect l="l" t="t" r="r" b="b"/>
              <a:pathLst>
                <a:path w="864870" h="502919">
                  <a:moveTo>
                    <a:pt x="0" y="0"/>
                  </a:moveTo>
                  <a:lnTo>
                    <a:pt x="0" y="502919"/>
                  </a:lnTo>
                  <a:lnTo>
                    <a:pt x="864870" y="502919"/>
                  </a:lnTo>
                  <a:lnTo>
                    <a:pt x="86487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945765" y="2690622"/>
            <a:ext cx="864869" cy="35941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800" spc="-5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8705" y="3731767"/>
            <a:ext cx="7367905" cy="223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Mivector[1]:=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10;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Mivector[3]:=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20;</a:t>
            </a:r>
            <a:endParaRPr sz="1800">
              <a:latin typeface="Arial"/>
              <a:cs typeface="Arial"/>
            </a:endParaRPr>
          </a:p>
          <a:p>
            <a:pPr marL="22225">
              <a:lnSpc>
                <a:spcPct val="100000"/>
              </a:lnSpc>
              <a:spcBef>
                <a:spcPts val="1750"/>
              </a:spcBef>
            </a:pPr>
            <a:r>
              <a:rPr sz="1800" b="1" dirty="0">
                <a:latin typeface="Arial"/>
                <a:cs typeface="Arial"/>
              </a:rPr>
              <a:t>Longitud:=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length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(Mivector)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//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Cantidad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elementos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vector</a:t>
            </a:r>
            <a:r>
              <a:rPr sz="1800" b="1" spc="-10" dirty="0">
                <a:latin typeface="Arial"/>
                <a:cs typeface="Arial"/>
              </a:rPr>
              <a:t> (5)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Arial"/>
              <a:cs typeface="Arial"/>
            </a:endParaRPr>
          </a:p>
          <a:p>
            <a:pPr marL="130937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Recorrer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vector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94489" y="3122676"/>
            <a:ext cx="3821429" cy="149225"/>
            <a:chOff x="5594489" y="3122676"/>
            <a:chExt cx="3821429" cy="149225"/>
          </a:xfrm>
        </p:grpSpPr>
        <p:sp>
          <p:nvSpPr>
            <p:cNvPr id="20" name="object 20"/>
            <p:cNvSpPr/>
            <p:nvPr/>
          </p:nvSpPr>
          <p:spPr>
            <a:xfrm>
              <a:off x="5632589" y="3266694"/>
              <a:ext cx="3745229" cy="0"/>
            </a:xfrm>
            <a:custGeom>
              <a:avLst/>
              <a:gdLst/>
              <a:ahLst/>
              <a:cxnLst/>
              <a:rect l="l" t="t" r="r" b="b"/>
              <a:pathLst>
                <a:path w="3745229">
                  <a:moveTo>
                    <a:pt x="0" y="0"/>
                  </a:moveTo>
                  <a:lnTo>
                    <a:pt x="374522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4489" y="3122676"/>
              <a:ext cx="76200" cy="1485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0974" y="3122676"/>
              <a:ext cx="76200" cy="1485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5948" y="3122676"/>
              <a:ext cx="76200" cy="1485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2446" y="3122676"/>
              <a:ext cx="76200" cy="14858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9719" y="3122676"/>
              <a:ext cx="76200" cy="14858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287901" y="3293617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Índices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522861" y="1821942"/>
            <a:ext cx="3821429" cy="149860"/>
            <a:chOff x="5522861" y="1821942"/>
            <a:chExt cx="3821429" cy="149860"/>
          </a:xfrm>
        </p:grpSpPr>
        <p:sp>
          <p:nvSpPr>
            <p:cNvPr id="28" name="object 28"/>
            <p:cNvSpPr/>
            <p:nvPr/>
          </p:nvSpPr>
          <p:spPr>
            <a:xfrm>
              <a:off x="5560961" y="1827276"/>
              <a:ext cx="3745229" cy="0"/>
            </a:xfrm>
            <a:custGeom>
              <a:avLst/>
              <a:gdLst/>
              <a:ahLst/>
              <a:cxnLst/>
              <a:rect l="l" t="t" r="r" b="b"/>
              <a:pathLst>
                <a:path w="3745229">
                  <a:moveTo>
                    <a:pt x="3745229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2861" y="1821942"/>
              <a:ext cx="76200" cy="14935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59359" y="1821942"/>
              <a:ext cx="76187" cy="1493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94320" y="1821942"/>
              <a:ext cx="76200" cy="1493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31593" y="1821942"/>
              <a:ext cx="76200" cy="14935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68091" y="1821942"/>
              <a:ext cx="76200" cy="14935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143883" y="1493773"/>
            <a:ext cx="1104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Elementos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39319" y="2114550"/>
            <a:ext cx="864869" cy="50292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alibri"/>
                <a:cs typeface="Calibri"/>
              </a:rPr>
              <a:t>10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010791" y="2114550"/>
            <a:ext cx="864869" cy="50292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alibri"/>
                <a:cs typeface="Calibri"/>
              </a:rPr>
              <a:t>20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26143" y="6009894"/>
            <a:ext cx="4320540" cy="936625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28905" rIns="0" bIns="0" rtlCol="0">
            <a:spAutoFit/>
          </a:bodyPr>
          <a:lstStyle/>
          <a:p>
            <a:pPr marL="1167765" marR="293370" indent="-914400">
              <a:lnSpc>
                <a:spcPct val="100000"/>
              </a:lnSpc>
              <a:spcBef>
                <a:spcPts val="1015"/>
              </a:spcBef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i:=0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Length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(Mivector)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Writeln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(Mivector[i]);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78524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Arreglos</a:t>
            </a:r>
            <a:r>
              <a:rPr spc="5" dirty="0"/>
              <a:t> </a:t>
            </a:r>
            <a:r>
              <a:rPr dirty="0"/>
              <a:t>(Arrays)dos</a:t>
            </a:r>
            <a:r>
              <a:rPr spc="5" dirty="0"/>
              <a:t> </a:t>
            </a:r>
            <a:r>
              <a:rPr dirty="0"/>
              <a:t>dimensiones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317" y="1401317"/>
            <a:ext cx="4608830" cy="151384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450"/>
              </a:spcBef>
            </a:pPr>
            <a:r>
              <a:rPr sz="1800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100393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matriz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array[1..4,1..4]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integer;</a:t>
            </a:r>
            <a:endParaRPr sz="1800">
              <a:latin typeface="Arial"/>
              <a:cs typeface="Arial"/>
            </a:endParaRPr>
          </a:p>
          <a:p>
            <a:pPr marL="49657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10039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Mimatriz: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matriz;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3043" y="3633215"/>
            <a:ext cx="4895850" cy="0"/>
          </a:xfrm>
          <a:custGeom>
            <a:avLst/>
            <a:gdLst/>
            <a:ahLst/>
            <a:cxnLst/>
            <a:rect l="l" t="t" r="r" b="b"/>
            <a:pathLst>
              <a:path w="4895850">
                <a:moveTo>
                  <a:pt x="0" y="0"/>
                </a:moveTo>
                <a:lnTo>
                  <a:pt x="48958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83043" y="3201923"/>
          <a:ext cx="4757420" cy="2806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1165">
                <a:tc>
                  <a:txBody>
                    <a:bodyPr/>
                    <a:lstStyle/>
                    <a:p>
                      <a:pPr marR="121285" algn="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Índices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477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555">
                <a:tc>
                  <a:txBody>
                    <a:bodyPr/>
                    <a:lstStyle/>
                    <a:p>
                      <a:pPr marR="156210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112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R="156210" algn="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4139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04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988443" y="1128753"/>
            <a:ext cx="2038985" cy="1745614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800" b="1" spc="-5" dirty="0">
                <a:latin typeface="Arial"/>
                <a:cs typeface="Arial"/>
              </a:rPr>
              <a:t>Mimatriz[0][0]:=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1;</a:t>
            </a:r>
            <a:endParaRPr sz="18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235"/>
              </a:spcBef>
            </a:pPr>
            <a:r>
              <a:rPr sz="1800" b="1" spc="-5" dirty="0">
                <a:latin typeface="Arial"/>
                <a:cs typeface="Arial"/>
              </a:rPr>
              <a:t>Mimatriz[1][1]:=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1;</a:t>
            </a:r>
            <a:endParaRPr sz="18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195"/>
              </a:spcBef>
            </a:pPr>
            <a:r>
              <a:rPr sz="1800" b="1" spc="-5" dirty="0">
                <a:latin typeface="Arial"/>
                <a:cs typeface="Arial"/>
              </a:rPr>
              <a:t>Mimatriz[2][2]:=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1;</a:t>
            </a:r>
            <a:endParaRPr sz="1800">
              <a:latin typeface="Arial"/>
              <a:cs typeface="Arial"/>
            </a:endParaRPr>
          </a:p>
          <a:p>
            <a:pPr marL="64135">
              <a:lnSpc>
                <a:spcPct val="100000"/>
              </a:lnSpc>
              <a:spcBef>
                <a:spcPts val="1235"/>
              </a:spcBef>
            </a:pPr>
            <a:r>
              <a:rPr sz="1800" b="1" spc="-5" dirty="0">
                <a:latin typeface="Arial"/>
                <a:cs typeface="Arial"/>
              </a:rPr>
              <a:t>Mimatriz[3][3]:=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1;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5676" y="3444494"/>
            <a:ext cx="2184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Recorrer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una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matriz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2911" y="3777996"/>
            <a:ext cx="3672204" cy="1793875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209550" rIns="0" bIns="0" rtlCol="0">
            <a:spAutoFit/>
          </a:bodyPr>
          <a:lstStyle/>
          <a:p>
            <a:pPr marL="229870" marR="2081530">
              <a:lnSpc>
                <a:spcPct val="100000"/>
              </a:lnSpc>
              <a:spcBef>
                <a:spcPts val="1650"/>
              </a:spcBef>
            </a:pPr>
            <a:r>
              <a:rPr sz="1800" b="1" spc="-5" dirty="0">
                <a:latin typeface="Arial"/>
                <a:cs typeface="Arial"/>
              </a:rPr>
              <a:t>fila:=4;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columna:=4;</a:t>
            </a:r>
            <a:endParaRPr sz="18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i:=0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fila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  <a:p>
            <a:pPr marL="546735" marR="691515" indent="-1905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j:=0 </a:t>
            </a:r>
            <a:r>
              <a:rPr sz="1800" b="1" dirty="0">
                <a:latin typeface="Arial"/>
                <a:cs typeface="Arial"/>
              </a:rPr>
              <a:t>to columna do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Writeln</a:t>
            </a:r>
            <a:r>
              <a:rPr sz="1800" b="1" spc="-10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(Mimatriz[i][j]);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4249" y="6468871"/>
            <a:ext cx="7124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Nota: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el </a:t>
            </a:r>
            <a:r>
              <a:rPr sz="1800" b="1" dirty="0">
                <a:latin typeface="Arial"/>
                <a:cs typeface="Arial"/>
              </a:rPr>
              <a:t>orden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declaración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matriz es </a:t>
            </a:r>
            <a:r>
              <a:rPr sz="1800" b="1" dirty="0">
                <a:latin typeface="Arial"/>
                <a:cs typeface="Arial"/>
              </a:rPr>
              <a:t>fila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y </a:t>
            </a:r>
            <a:r>
              <a:rPr sz="1800" b="1" dirty="0">
                <a:latin typeface="Arial"/>
                <a:cs typeface="Arial"/>
              </a:rPr>
              <a:t>luego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columna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41833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Arreglos</a:t>
            </a:r>
            <a:r>
              <a:rPr spc="-40" dirty="0"/>
              <a:t> </a:t>
            </a:r>
            <a:r>
              <a:rPr dirty="0"/>
              <a:t>vectores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0317" y="1401317"/>
            <a:ext cx="4608830" cy="151384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4150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450"/>
              </a:spcBef>
            </a:pPr>
            <a:r>
              <a:rPr sz="1800" b="1" spc="-5" dirty="0">
                <a:latin typeface="Arial"/>
                <a:cs typeface="Arial"/>
              </a:rPr>
              <a:t>Type</a:t>
            </a:r>
            <a:endParaRPr sz="1800">
              <a:latin typeface="Arial"/>
              <a:cs typeface="Arial"/>
            </a:endParaRPr>
          </a:p>
          <a:p>
            <a:pPr marL="100393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texto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=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array[1..10]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of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char;</a:t>
            </a:r>
            <a:endParaRPr sz="1800">
              <a:latin typeface="Arial"/>
              <a:cs typeface="Arial"/>
            </a:endParaRPr>
          </a:p>
          <a:p>
            <a:pPr marL="49657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100393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t: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texto;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8913" y="1401317"/>
            <a:ext cx="3672204" cy="2232025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1440"/>
              </a:spcBef>
            </a:pPr>
            <a:r>
              <a:rPr sz="1800" b="1" spc="-5" dirty="0">
                <a:latin typeface="Arial"/>
                <a:cs typeface="Arial"/>
              </a:rPr>
              <a:t>T[0]:=‘H’;</a:t>
            </a:r>
            <a:endParaRPr sz="18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T[1]:=‘O’;</a:t>
            </a:r>
            <a:endParaRPr sz="18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T[2]:=‘L’;</a:t>
            </a:r>
            <a:endParaRPr sz="18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T[3]:=‘A’;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i:=0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length(t)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  <a:p>
            <a:pPr marL="114427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Writeln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(t[i]);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4315" y="3849623"/>
            <a:ext cx="4608830" cy="172847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496570">
              <a:lnSpc>
                <a:spcPct val="100000"/>
              </a:lnSpc>
              <a:spcBef>
                <a:spcPts val="1445"/>
              </a:spcBef>
            </a:pPr>
            <a:r>
              <a:rPr sz="1800" b="1" spc="-5" dirty="0">
                <a:latin typeface="Arial"/>
                <a:cs typeface="Arial"/>
              </a:rPr>
              <a:t>Var</a:t>
            </a:r>
            <a:endParaRPr sz="1800">
              <a:latin typeface="Arial"/>
              <a:cs typeface="Arial"/>
            </a:endParaRPr>
          </a:p>
          <a:p>
            <a:pPr marL="496570" marR="2668905" indent="5073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t: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string;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Begin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t:=‘HOLA’;</a:t>
            </a:r>
            <a:endParaRPr sz="1800">
              <a:latin typeface="Arial"/>
              <a:cs typeface="Arial"/>
            </a:endParaRPr>
          </a:p>
          <a:p>
            <a:pPr marL="49657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End.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2911" y="3849623"/>
            <a:ext cx="3672204" cy="1512570"/>
          </a:xfrm>
          <a:prstGeom prst="rect">
            <a:avLst/>
          </a:prstGeom>
          <a:ln w="9525">
            <a:solidFill>
              <a:srgbClr val="99CC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29870">
              <a:lnSpc>
                <a:spcPct val="100000"/>
              </a:lnSpc>
              <a:spcBef>
                <a:spcPts val="1300"/>
              </a:spcBef>
            </a:pP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i:=0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length(t)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  <a:p>
            <a:pPr marL="114427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Writeln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(t[i]);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9820" y="5965190"/>
            <a:ext cx="782383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Nota: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las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cadenas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texto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(string) </a:t>
            </a:r>
            <a:r>
              <a:rPr sz="1800" b="1" spc="-5" dirty="0">
                <a:latin typeface="Arial"/>
                <a:cs typeface="Arial"/>
              </a:rPr>
              <a:t>se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manejan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como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si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fueran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vectores.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Podría</a:t>
            </a:r>
            <a:r>
              <a:rPr sz="1800" b="1" spc="-5" dirty="0">
                <a:latin typeface="Arial"/>
                <a:cs typeface="Arial"/>
              </a:rPr>
              <a:t> decir </a:t>
            </a:r>
            <a:r>
              <a:rPr sz="1800" b="1" dirty="0">
                <a:latin typeface="Arial"/>
                <a:cs typeface="Arial"/>
              </a:rPr>
              <a:t>que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son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un</a:t>
            </a:r>
            <a:r>
              <a:rPr sz="1800" b="1" spc="-5" dirty="0">
                <a:latin typeface="Arial"/>
                <a:cs typeface="Arial"/>
              </a:rPr>
              <a:t> vector </a:t>
            </a:r>
            <a:r>
              <a:rPr sz="1800" b="1" dirty="0">
                <a:latin typeface="Arial"/>
                <a:cs typeface="Arial"/>
              </a:rPr>
              <a:t>de </a:t>
            </a:r>
            <a:r>
              <a:rPr sz="1800" b="1" spc="-5" dirty="0">
                <a:latin typeface="Arial"/>
                <a:cs typeface="Arial"/>
              </a:rPr>
              <a:t>caracteres (char)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535" y="563372"/>
            <a:ext cx="54063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Practica</a:t>
            </a:r>
            <a:r>
              <a:rPr spc="-10" dirty="0"/>
              <a:t> </a:t>
            </a:r>
            <a:r>
              <a:rPr dirty="0"/>
              <a:t>para</a:t>
            </a:r>
            <a:r>
              <a:rPr spc="-5" dirty="0"/>
              <a:t> </a:t>
            </a:r>
            <a:r>
              <a:rPr dirty="0"/>
              <a:t>la</a:t>
            </a:r>
            <a:r>
              <a:rPr spc="-5" dirty="0"/>
              <a:t> </a:t>
            </a:r>
            <a:r>
              <a:rPr dirty="0"/>
              <a:t>clase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8185" y="1558544"/>
            <a:ext cx="8129270" cy="304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Escriba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un programa que almacene en un vector los días de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la </a:t>
            </a:r>
            <a:r>
              <a:rPr sz="1800" b="1" spc="-10" dirty="0">
                <a:latin typeface="Arial"/>
                <a:cs typeface="Arial"/>
              </a:rPr>
              <a:t>semana.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1850">
              <a:latin typeface="Arial"/>
              <a:cs typeface="Arial"/>
            </a:endParaRPr>
          </a:p>
          <a:p>
            <a:pPr marL="265430" marR="83820" indent="-25336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b="1" spc="-5" dirty="0">
                <a:latin typeface="Arial"/>
                <a:cs typeface="Arial"/>
              </a:rPr>
              <a:t>Escriba un programa que almacene </a:t>
            </a:r>
            <a:r>
              <a:rPr sz="1800" b="1" dirty="0">
                <a:latin typeface="Arial"/>
                <a:cs typeface="Arial"/>
              </a:rPr>
              <a:t>en un </a:t>
            </a:r>
            <a:r>
              <a:rPr sz="1800" b="1" spc="-5" dirty="0">
                <a:latin typeface="Arial"/>
                <a:cs typeface="Arial"/>
              </a:rPr>
              <a:t>vector </a:t>
            </a:r>
            <a:r>
              <a:rPr sz="1800" b="1" dirty="0">
                <a:latin typeface="Arial"/>
                <a:cs typeface="Arial"/>
              </a:rPr>
              <a:t>los números </a:t>
            </a:r>
            <a:r>
              <a:rPr sz="1800" b="1" spc="-5" dirty="0">
                <a:latin typeface="Arial"/>
                <a:cs typeface="Arial"/>
              </a:rPr>
              <a:t>pares </a:t>
            </a:r>
            <a:r>
              <a:rPr sz="1800" b="1" dirty="0">
                <a:latin typeface="Arial"/>
                <a:cs typeface="Arial"/>
              </a:rPr>
              <a:t>del </a:t>
            </a:r>
            <a:r>
              <a:rPr sz="1800" b="1" spc="-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 </a:t>
            </a:r>
            <a:r>
              <a:rPr sz="1800" b="1" dirty="0">
                <a:latin typeface="Arial"/>
                <a:cs typeface="Arial"/>
              </a:rPr>
              <a:t>al 10.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/>
            </a:pPr>
            <a:endParaRPr sz="1850">
              <a:latin typeface="Arial"/>
              <a:cs typeface="Arial"/>
            </a:endParaRPr>
          </a:p>
          <a:p>
            <a:pPr marL="265430" marR="1059815" indent="-25336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b="1" dirty="0">
                <a:latin typeface="Arial"/>
                <a:cs typeface="Arial"/>
              </a:rPr>
              <a:t>Escriba un programa que lea las dimensiones de una matriz,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visualice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matriz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y </a:t>
            </a:r>
            <a:r>
              <a:rPr sz="1800" b="1" dirty="0">
                <a:latin typeface="Arial"/>
                <a:cs typeface="Arial"/>
              </a:rPr>
              <a:t>que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encuentre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menor</a:t>
            </a:r>
            <a:r>
              <a:rPr sz="1800" b="1" spc="-5" dirty="0">
                <a:latin typeface="Arial"/>
                <a:cs typeface="Arial"/>
              </a:rPr>
              <a:t> 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mayor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elemento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esa matriz y </a:t>
            </a:r>
            <a:r>
              <a:rPr sz="1800" b="1" dirty="0">
                <a:latin typeface="Arial"/>
                <a:cs typeface="Arial"/>
              </a:rPr>
              <a:t>sus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posiciones.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850">
              <a:latin typeface="Arial"/>
              <a:cs typeface="Arial"/>
            </a:endParaRPr>
          </a:p>
          <a:p>
            <a:pPr marL="266065" marR="183515" indent="-254000">
              <a:lnSpc>
                <a:spcPct val="100000"/>
              </a:lnSpc>
              <a:buAutoNum type="arabicPeriod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Escribir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programa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una</a:t>
            </a:r>
            <a:r>
              <a:rPr sz="1800" b="1" spc="-5" dirty="0">
                <a:latin typeface="Arial"/>
                <a:cs typeface="Arial"/>
              </a:rPr>
              <a:t> matriz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almacene </a:t>
            </a:r>
            <a:r>
              <a:rPr sz="1800" b="1" dirty="0">
                <a:latin typeface="Arial"/>
                <a:cs typeface="Arial"/>
              </a:rPr>
              <a:t>los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números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primos </a:t>
            </a:r>
            <a:r>
              <a:rPr sz="1800" b="1" spc="-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 </a:t>
            </a:r>
            <a:r>
              <a:rPr sz="1800" b="1" dirty="0">
                <a:latin typeface="Arial"/>
                <a:cs typeface="Arial"/>
              </a:rPr>
              <a:t>al</a:t>
            </a:r>
            <a:r>
              <a:rPr sz="1800" b="1" spc="-5" dirty="0">
                <a:latin typeface="Arial"/>
                <a:cs typeface="Arial"/>
              </a:rPr>
              <a:t> 100.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1437</Words>
  <Application>Microsoft Macintosh PowerPoint</Application>
  <PresentationFormat>Custom</PresentationFormat>
  <Paragraphs>226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Black</vt:lpstr>
      <vt:lpstr>Calibri</vt:lpstr>
      <vt:lpstr>Courier New</vt:lpstr>
      <vt:lpstr>Times New Roman</vt:lpstr>
      <vt:lpstr>Office Theme</vt:lpstr>
      <vt:lpstr>PROGRAMACIÓN 1</vt:lpstr>
      <vt:lpstr>Contenido</vt:lpstr>
      <vt:lpstr>Tipos de datos</vt:lpstr>
      <vt:lpstr>Definidos por el lenguaje.</vt:lpstr>
      <vt:lpstr>Definidos por el lenguaje.</vt:lpstr>
      <vt:lpstr>Cadena de texto (string)</vt:lpstr>
      <vt:lpstr>Cadena de texto (string)</vt:lpstr>
      <vt:lpstr>Definidos por el usuario</vt:lpstr>
      <vt:lpstr>Tipo Subrango</vt:lpstr>
      <vt:lpstr>Tipo Enumerado</vt:lpstr>
      <vt:lpstr>Tipo Conjunto</vt:lpstr>
      <vt:lpstr>Tipo Conjunto</vt:lpstr>
      <vt:lpstr>Estructuras</vt:lpstr>
      <vt:lpstr>Arreglos (Arrays)</vt:lpstr>
      <vt:lpstr>Arreglos (Arrays)una dimensión</vt:lpstr>
      <vt:lpstr>Arreglos (Arrays)dos dimensiones</vt:lpstr>
      <vt:lpstr>Arreglos vectores</vt:lpstr>
      <vt:lpstr>Practica para la clase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Tipos de Datos.ppt</dc:title>
  <dc:creator>cgaravaglia</dc:creator>
  <cp:lastModifiedBy>Microsoft Office User</cp:lastModifiedBy>
  <cp:revision>1</cp:revision>
  <dcterms:created xsi:type="dcterms:W3CDTF">2022-04-26T20:34:59Z</dcterms:created>
  <dcterms:modified xsi:type="dcterms:W3CDTF">2022-04-26T20:38:33Z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2009-05-26T00:00:00Z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2022-04-26T00:00:00Z</vt:filetime>
  </property>
</Properties>
</file>