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7F3F4"/>
          </a:solidFill>
        </a:fill>
      </a:tcStyle>
    </a:wholeTbl>
    <a:band2H>
      <a:tcTxStyle b="def" i="def"/>
      <a:tcStyle>
        <a:tcBdr/>
        <a:fill>
          <a:solidFill>
            <a:srgbClr val="F3F9FA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>
        <a:latin typeface="+mj-lt"/>
        <a:ea typeface="+mj-ea"/>
        <a:cs typeface="+mj-cs"/>
        <a:sym typeface="Helvetica Neue"/>
      </a:defRPr>
    </a:lvl1pPr>
    <a:lvl2pPr indent="228600" latinLnBrk="0">
      <a:defRPr>
        <a:latin typeface="+mj-lt"/>
        <a:ea typeface="+mj-ea"/>
        <a:cs typeface="+mj-cs"/>
        <a:sym typeface="Helvetica Neue"/>
      </a:defRPr>
    </a:lvl2pPr>
    <a:lvl3pPr indent="457200" latinLnBrk="0">
      <a:defRPr>
        <a:latin typeface="+mj-lt"/>
        <a:ea typeface="+mj-ea"/>
        <a:cs typeface="+mj-cs"/>
        <a:sym typeface="Helvetica Neue"/>
      </a:defRPr>
    </a:lvl3pPr>
    <a:lvl4pPr indent="685800" latinLnBrk="0">
      <a:defRPr>
        <a:latin typeface="+mj-lt"/>
        <a:ea typeface="+mj-ea"/>
        <a:cs typeface="+mj-cs"/>
        <a:sym typeface="Helvetica Neue"/>
      </a:defRPr>
    </a:lvl4pPr>
    <a:lvl5pPr indent="914400" latinLnBrk="0">
      <a:defRPr>
        <a:latin typeface="+mj-lt"/>
        <a:ea typeface="+mj-ea"/>
        <a:cs typeface="+mj-cs"/>
        <a:sym typeface="Helvetica Neue"/>
      </a:defRPr>
    </a:lvl5pPr>
    <a:lvl6pPr indent="1143000" latinLnBrk="0">
      <a:defRPr>
        <a:latin typeface="+mj-lt"/>
        <a:ea typeface="+mj-ea"/>
        <a:cs typeface="+mj-cs"/>
        <a:sym typeface="Helvetica Neue"/>
      </a:defRPr>
    </a:lvl6pPr>
    <a:lvl7pPr indent="1371600" latinLnBrk="0">
      <a:defRPr>
        <a:latin typeface="+mj-lt"/>
        <a:ea typeface="+mj-ea"/>
        <a:cs typeface="+mj-cs"/>
        <a:sym typeface="Helvetica Neue"/>
      </a:defRPr>
    </a:lvl7pPr>
    <a:lvl8pPr indent="1600200" latinLnBrk="0">
      <a:defRPr>
        <a:latin typeface="+mj-lt"/>
        <a:ea typeface="+mj-ea"/>
        <a:cs typeface="+mj-cs"/>
        <a:sym typeface="Helvetica Neue"/>
      </a:defRPr>
    </a:lvl8pPr>
    <a:lvl9pPr indent="1828800" latinLnBrk="0">
      <a:defRPr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92074"/>
            <a:ext cx="82296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384892" y="6245225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defRPr sz="14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2352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6924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1496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6068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40640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"/>
        <a:tabLst/>
        <a:defRPr b="0" baseline="0" cap="none" i="0" spc="0" strike="noStrike" sz="3200" u="none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RSI - Litigation Support, Imaging, Coding, OCR, Branding, Bates Numbering, Redaction, Kansas City" descr="RSI - Litigation Support, Imaging, Coding, OCR, Branding, Bates Numbering, Redaction, Kansas City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03800" y="1557337"/>
            <a:ext cx="3786188" cy="381635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PROGRAMACIÓN 1"/>
          <p:cNvSpPr txBox="1"/>
          <p:nvPr>
            <p:ph type="title" idx="4294967295"/>
          </p:nvPr>
        </p:nvSpPr>
        <p:spPr>
          <a:xfrm>
            <a:off x="323850" y="404812"/>
            <a:ext cx="7200900" cy="936626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l">
              <a:defRPr sz="4000">
                <a:solidFill>
                  <a:schemeClr val="accen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PROGRAMACIÓN 1</a:t>
            </a:r>
          </a:p>
        </p:txBody>
      </p:sp>
      <p:pic>
        <p:nvPicPr>
          <p:cNvPr id="22" name="clip_image003" descr="clip_image00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5287" y="5949950"/>
            <a:ext cx="695326" cy="704850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Universidad Católica de La Plata…"/>
          <p:cNvSpPr txBox="1"/>
          <p:nvPr/>
        </p:nvSpPr>
        <p:spPr>
          <a:xfrm>
            <a:off x="1188719" y="6000749"/>
            <a:ext cx="3974665" cy="541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sz="1600"/>
            </a:pPr>
            <a:r>
              <a:t>Universidad Católica de La Plata</a:t>
            </a:r>
          </a:p>
          <a:p>
            <a:pPr>
              <a:defRPr sz="1600"/>
            </a:pPr>
            <a:r>
              <a:t>Facultad de Ciencias Exactas y Tecnología</a:t>
            </a:r>
          </a:p>
        </p:txBody>
      </p:sp>
      <p:sp>
        <p:nvSpPr>
          <p:cNvPr id="24" name="Andrés Garavaglia…"/>
          <p:cNvSpPr txBox="1"/>
          <p:nvPr/>
        </p:nvSpPr>
        <p:spPr>
          <a:xfrm>
            <a:off x="7081202" y="6000750"/>
            <a:ext cx="1588454" cy="574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r">
              <a:defRPr sz="1600">
                <a:latin typeface="Calibri"/>
                <a:ea typeface="Calibri"/>
                <a:cs typeface="Calibri"/>
                <a:sym typeface="Calibri"/>
              </a:defRPr>
            </a:pPr>
            <a:r>
              <a:t>Andrés Garavaglia</a:t>
            </a:r>
          </a:p>
          <a:p>
            <a:pPr algn="r">
              <a:defRPr sz="1600">
                <a:latin typeface="Calibri"/>
                <a:ea typeface="Calibri"/>
                <a:cs typeface="Calibri"/>
                <a:sym typeface="Calibri"/>
              </a:defRPr>
            </a:pPr>
            <a:r>
              <a:t>Antonio Restelli</a:t>
            </a:r>
          </a:p>
        </p:txBody>
      </p:sp>
      <p:sp>
        <p:nvSpPr>
          <p:cNvPr id="25" name="Datos"/>
          <p:cNvSpPr txBox="1"/>
          <p:nvPr/>
        </p:nvSpPr>
        <p:spPr>
          <a:xfrm>
            <a:off x="441007" y="2276475"/>
            <a:ext cx="3653474" cy="4597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40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Datos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Contenido"/>
          <p:cNvSpPr txBox="1"/>
          <p:nvPr/>
        </p:nvSpPr>
        <p:spPr>
          <a:xfrm>
            <a:off x="502919" y="239236"/>
            <a:ext cx="81381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2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Contenido</a:t>
            </a:r>
          </a:p>
        </p:txBody>
      </p:sp>
      <p:sp>
        <p:nvSpPr>
          <p:cNvPr id="28" name="Introducción…"/>
          <p:cNvSpPr txBox="1"/>
          <p:nvPr/>
        </p:nvSpPr>
        <p:spPr>
          <a:xfrm>
            <a:off x="801369" y="1125537"/>
            <a:ext cx="7973062" cy="3215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400"/>
              </a:spcBef>
              <a:buSzPct val="1000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pPr>
            <a:r>
              <a:t> Introducción</a:t>
            </a:r>
          </a:p>
          <a:p>
            <a:pPr>
              <a:spcBef>
                <a:spcPts val="1400"/>
              </a:spcBef>
              <a:buSzPct val="1000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pPr>
            <a:r>
              <a:t> El tipo integer (entero)</a:t>
            </a:r>
          </a:p>
          <a:p>
            <a:pPr>
              <a:spcBef>
                <a:spcPts val="1400"/>
              </a:spcBef>
              <a:buSzPct val="1000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pPr>
            <a:r>
              <a:t> El tipo real</a:t>
            </a:r>
          </a:p>
          <a:p>
            <a:pPr>
              <a:spcBef>
                <a:spcPts val="1400"/>
              </a:spcBef>
              <a:buSzPct val="1000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pPr>
            <a:r>
              <a:t> El tipo char (carácter)</a:t>
            </a:r>
          </a:p>
          <a:p>
            <a:pPr>
              <a:spcBef>
                <a:spcPts val="1400"/>
              </a:spcBef>
              <a:buSzPct val="1000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pPr>
            <a:r>
              <a:t> El tipo boolean</a:t>
            </a:r>
          </a:p>
          <a:p>
            <a:pPr>
              <a:spcBef>
                <a:spcPts val="1400"/>
              </a:spcBef>
              <a:buSzPct val="100000"/>
              <a:buChar char="•"/>
              <a:defRPr sz="2400">
                <a:latin typeface="Calibri"/>
                <a:ea typeface="Calibri"/>
                <a:cs typeface="Calibri"/>
                <a:sym typeface="Calibri"/>
              </a:defRPr>
            </a:pPr>
            <a:r>
              <a:t> Operadores relacionales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Datos"/>
          <p:cNvSpPr txBox="1"/>
          <p:nvPr/>
        </p:nvSpPr>
        <p:spPr>
          <a:xfrm>
            <a:off x="502919" y="239236"/>
            <a:ext cx="81381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2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Datos</a:t>
            </a:r>
          </a:p>
        </p:txBody>
      </p:sp>
      <p:sp>
        <p:nvSpPr>
          <p:cNvPr id="31" name="Un dato es simplemente la representación de un objeto mediante símbolos manejables por una computadora."/>
          <p:cNvSpPr txBox="1"/>
          <p:nvPr/>
        </p:nvSpPr>
        <p:spPr>
          <a:xfrm>
            <a:off x="1547812" y="1142999"/>
            <a:ext cx="7200901" cy="701041"/>
          </a:xfrm>
          <a:prstGeom prst="rect">
            <a:avLst/>
          </a:prstGeom>
          <a:solidFill>
            <a:srgbClr val="FFFF6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200"/>
              </a:spcBef>
              <a:defRPr sz="2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Un dato es simplemente la representación de un objeto mediante símbolos manejables por una computadora.</a:t>
            </a:r>
          </a:p>
        </p:txBody>
      </p:sp>
      <p:pic>
        <p:nvPicPr>
          <p:cNvPr id="32" name="info" descr="info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1337" y="1052512"/>
            <a:ext cx="936626" cy="936626"/>
          </a:xfrm>
          <a:prstGeom prst="rect">
            <a:avLst/>
          </a:prstGeom>
          <a:ln w="12700">
            <a:miter lim="400000"/>
          </a:ln>
        </p:spPr>
      </p:pic>
      <p:sp>
        <p:nvSpPr>
          <p:cNvPr id="33" name="Los algoritmos se organizan en dos aspectos inseparables:"/>
          <p:cNvSpPr txBox="1"/>
          <p:nvPr/>
        </p:nvSpPr>
        <p:spPr>
          <a:xfrm>
            <a:off x="441007" y="2060575"/>
            <a:ext cx="7973061" cy="980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 Los algoritmos se organizan en dos aspectos inseparables:</a:t>
            </a:r>
          </a:p>
        </p:txBody>
      </p:sp>
      <p:sp>
        <p:nvSpPr>
          <p:cNvPr id="34" name="ALGORITMO = ACCIONES Y DATOS"/>
          <p:cNvSpPr txBox="1"/>
          <p:nvPr/>
        </p:nvSpPr>
        <p:spPr>
          <a:xfrm>
            <a:off x="1042987" y="3068637"/>
            <a:ext cx="6411551" cy="659766"/>
          </a:xfrm>
          <a:prstGeom prst="rect">
            <a:avLst/>
          </a:prstGeom>
          <a:ln>
            <a:solidFill>
              <a:srgbClr val="FF0000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36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ALGORITMO = ACCIONES Y DATOS</a:t>
            </a:r>
          </a:p>
        </p:txBody>
      </p:sp>
      <p:sp>
        <p:nvSpPr>
          <p:cNvPr id="35" name="Las entradas colección inicial de datos.…"/>
          <p:cNvSpPr txBox="1"/>
          <p:nvPr/>
        </p:nvSpPr>
        <p:spPr>
          <a:xfrm>
            <a:off x="441007" y="3860800"/>
            <a:ext cx="7973061" cy="1193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pPr>
            <a:r>
              <a:t> Las entradas colección inicial de datos.</a:t>
            </a:r>
          </a:p>
          <a:p>
            <a: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pPr>
            <a:r>
              <a:t> Las salidas conjunto de datos resultantes.</a:t>
            </a:r>
          </a:p>
        </p:txBody>
      </p:sp>
      <p:grpSp>
        <p:nvGrpSpPr>
          <p:cNvPr id="38" name="Group"/>
          <p:cNvGrpSpPr/>
          <p:nvPr/>
        </p:nvGrpSpPr>
        <p:grpSpPr>
          <a:xfrm>
            <a:off x="389099" y="5157787"/>
            <a:ext cx="8364214" cy="1008063"/>
            <a:chOff x="0" y="0"/>
            <a:chExt cx="8364212" cy="1008062"/>
          </a:xfrm>
        </p:grpSpPr>
        <p:sp>
          <p:nvSpPr>
            <p:cNvPr id="36" name="Rectangle"/>
            <p:cNvSpPr/>
            <p:nvPr/>
          </p:nvSpPr>
          <p:spPr>
            <a:xfrm>
              <a:off x="6187" y="0"/>
              <a:ext cx="8351838" cy="1008063"/>
            </a:xfrm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37" name="Las entradas antes de convertirse en salidas, pueden pasar por un sinfín de…"/>
            <p:cNvSpPr txBox="1"/>
            <p:nvPr/>
          </p:nvSpPr>
          <p:spPr>
            <a:xfrm>
              <a:off x="0" y="195350"/>
              <a:ext cx="8364213" cy="617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/>
            <a:p>
              <a:pPr algn="ctr"/>
              <a:r>
                <a:t>Las entradas antes de convertirse en salidas, pueden pasar por un sinfín de </a:t>
              </a:r>
            </a:p>
            <a:p>
              <a:pPr algn="ctr"/>
              <a:r>
                <a:t>resultados provisionales antes de convertirse en un conjunto de datos resultantes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El tipo Integer (Entero)"/>
          <p:cNvSpPr txBox="1"/>
          <p:nvPr/>
        </p:nvSpPr>
        <p:spPr>
          <a:xfrm>
            <a:off x="514032" y="59848"/>
            <a:ext cx="81381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El tipo Integer (Entero)</a:t>
            </a:r>
          </a:p>
        </p:txBody>
      </p:sp>
      <p:sp>
        <p:nvSpPr>
          <p:cNvPr id="41" name="Dominio:…"/>
          <p:cNvSpPr txBox="1"/>
          <p:nvPr/>
        </p:nvSpPr>
        <p:spPr>
          <a:xfrm>
            <a:off x="369569" y="1125537"/>
            <a:ext cx="7973062" cy="208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pPr>
            <a:r>
              <a:t> Dominio:</a:t>
            </a:r>
          </a:p>
          <a:p>
            <a:pPr lvl="1" marL="742950" indent="-285750">
              <a:spcBef>
                <a:spcPts val="1600"/>
              </a:spcBef>
              <a:buSzPct val="100000"/>
              <a:buChar char="•"/>
              <a:defRPr sz="2800">
                <a:latin typeface="Calibri"/>
                <a:ea typeface="Calibri"/>
                <a:cs typeface="Calibri"/>
                <a:sym typeface="Calibri"/>
              </a:defRPr>
            </a:pPr>
            <a:r>
              <a:t>Son todos los números enteros positivos y negativos. El rango de valores {-32.768..32.768}</a:t>
            </a:r>
            <a:br/>
            <a:r>
              <a:t>(depende de cada lenguaje)</a:t>
            </a:r>
          </a:p>
        </p:txBody>
      </p:sp>
      <p:sp>
        <p:nvSpPr>
          <p:cNvPr id="42" name="Operaciones y Funciones:"/>
          <p:cNvSpPr txBox="1"/>
          <p:nvPr/>
        </p:nvSpPr>
        <p:spPr>
          <a:xfrm>
            <a:off x="514032" y="3573462"/>
            <a:ext cx="7973061" cy="980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800">
                <a:latin typeface="Calibri"/>
                <a:ea typeface="Calibri"/>
                <a:cs typeface="Calibri"/>
                <a:sym typeface="Calibri"/>
              </a:defRPr>
            </a:pPr>
            <a:r>
              <a:t> Operaciones y Funciones:</a:t>
            </a:r>
            <a:br/>
            <a:r>
              <a:t>	</a:t>
            </a:r>
          </a:p>
        </p:txBody>
      </p:sp>
      <p:grpSp>
        <p:nvGrpSpPr>
          <p:cNvPr id="45" name="Group"/>
          <p:cNvGrpSpPr/>
          <p:nvPr/>
        </p:nvGrpSpPr>
        <p:grpSpPr>
          <a:xfrm>
            <a:off x="1035050" y="4470488"/>
            <a:ext cx="288925" cy="350662"/>
            <a:chOff x="0" y="0"/>
            <a:chExt cx="288925" cy="350661"/>
          </a:xfrm>
        </p:grpSpPr>
        <p:sp>
          <p:nvSpPr>
            <p:cNvPr id="43" name="Square"/>
            <p:cNvSpPr/>
            <p:nvPr/>
          </p:nvSpPr>
          <p:spPr>
            <a:xfrm>
              <a:off x="0" y="31661"/>
              <a:ext cx="288925" cy="287339"/>
            </a:xfrm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44" name="+"/>
            <p:cNvSpPr txBox="1"/>
            <p:nvPr/>
          </p:nvSpPr>
          <p:spPr>
            <a:xfrm>
              <a:off x="25643" y="0"/>
              <a:ext cx="237639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+</a:t>
              </a:r>
            </a:p>
          </p:txBody>
        </p:sp>
      </p:grpSp>
      <p:grpSp>
        <p:nvGrpSpPr>
          <p:cNvPr id="48" name="Group"/>
          <p:cNvGrpSpPr/>
          <p:nvPr/>
        </p:nvGrpSpPr>
        <p:grpSpPr>
          <a:xfrm>
            <a:off x="1035050" y="4830850"/>
            <a:ext cx="288925" cy="350662"/>
            <a:chOff x="0" y="0"/>
            <a:chExt cx="288925" cy="350661"/>
          </a:xfrm>
        </p:grpSpPr>
        <p:sp>
          <p:nvSpPr>
            <p:cNvPr id="46" name="Square"/>
            <p:cNvSpPr/>
            <p:nvPr/>
          </p:nvSpPr>
          <p:spPr>
            <a:xfrm>
              <a:off x="0" y="31661"/>
              <a:ext cx="288925" cy="287339"/>
            </a:xfrm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47" name="-"/>
            <p:cNvSpPr txBox="1"/>
            <p:nvPr/>
          </p:nvSpPr>
          <p:spPr>
            <a:xfrm>
              <a:off x="54329" y="0"/>
              <a:ext cx="180267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-</a:t>
              </a:r>
            </a:p>
          </p:txBody>
        </p:sp>
      </p:grpSp>
      <p:grpSp>
        <p:nvGrpSpPr>
          <p:cNvPr id="51" name="Group"/>
          <p:cNvGrpSpPr/>
          <p:nvPr/>
        </p:nvGrpSpPr>
        <p:grpSpPr>
          <a:xfrm>
            <a:off x="1035050" y="5178928"/>
            <a:ext cx="288925" cy="375231"/>
            <a:chOff x="0" y="0"/>
            <a:chExt cx="288925" cy="375230"/>
          </a:xfrm>
        </p:grpSpPr>
        <p:sp>
          <p:nvSpPr>
            <p:cNvPr id="49" name="Square"/>
            <p:cNvSpPr/>
            <p:nvPr/>
          </p:nvSpPr>
          <p:spPr>
            <a:xfrm>
              <a:off x="0" y="43946"/>
              <a:ext cx="288925" cy="287338"/>
            </a:xfrm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2000"/>
              </a:pPr>
            </a:p>
          </p:txBody>
        </p:sp>
        <p:sp>
          <p:nvSpPr>
            <p:cNvPr id="50" name="*"/>
            <p:cNvSpPr txBox="1"/>
            <p:nvPr/>
          </p:nvSpPr>
          <p:spPr>
            <a:xfrm>
              <a:off x="42969" y="0"/>
              <a:ext cx="202987" cy="3752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>
                <a:defRPr sz="2000"/>
              </a:lvl1pPr>
            </a:lstStyle>
            <a:p>
              <a:pPr/>
              <a:r>
                <a:t>*</a:t>
              </a:r>
            </a:p>
          </p:txBody>
        </p:sp>
      </p:grpSp>
      <p:sp>
        <p:nvSpPr>
          <p:cNvPr id="52" name="SUMA"/>
          <p:cNvSpPr txBox="1"/>
          <p:nvPr/>
        </p:nvSpPr>
        <p:spPr>
          <a:xfrm>
            <a:off x="1441132" y="4430712"/>
            <a:ext cx="764603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SUMA</a:t>
            </a:r>
          </a:p>
        </p:txBody>
      </p:sp>
      <p:sp>
        <p:nvSpPr>
          <p:cNvPr id="53" name="RESTA"/>
          <p:cNvSpPr txBox="1"/>
          <p:nvPr/>
        </p:nvSpPr>
        <p:spPr>
          <a:xfrm>
            <a:off x="1441132" y="4789487"/>
            <a:ext cx="849323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RESTA</a:t>
            </a:r>
          </a:p>
        </p:txBody>
      </p:sp>
      <p:sp>
        <p:nvSpPr>
          <p:cNvPr id="54" name="MULTIPLICACION"/>
          <p:cNvSpPr txBox="1"/>
          <p:nvPr/>
        </p:nvSpPr>
        <p:spPr>
          <a:xfrm>
            <a:off x="1441132" y="5149850"/>
            <a:ext cx="2005160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MULTIPLICACION</a:t>
            </a:r>
          </a:p>
        </p:txBody>
      </p:sp>
      <p:grpSp>
        <p:nvGrpSpPr>
          <p:cNvPr id="57" name="Group"/>
          <p:cNvGrpSpPr/>
          <p:nvPr/>
        </p:nvGrpSpPr>
        <p:grpSpPr>
          <a:xfrm>
            <a:off x="4203700" y="4548275"/>
            <a:ext cx="576263" cy="350662"/>
            <a:chOff x="0" y="0"/>
            <a:chExt cx="576262" cy="350661"/>
          </a:xfrm>
        </p:grpSpPr>
        <p:sp>
          <p:nvSpPr>
            <p:cNvPr id="55" name="Rectangle"/>
            <p:cNvSpPr/>
            <p:nvPr/>
          </p:nvSpPr>
          <p:spPr>
            <a:xfrm>
              <a:off x="0" y="31661"/>
              <a:ext cx="576263" cy="287339"/>
            </a:xfrm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56" name="DIV"/>
            <p:cNvSpPr txBox="1"/>
            <p:nvPr/>
          </p:nvSpPr>
          <p:spPr>
            <a:xfrm>
              <a:off x="45524" y="0"/>
              <a:ext cx="485215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DIV</a:t>
              </a:r>
            </a:p>
          </p:txBody>
        </p:sp>
      </p:grpSp>
      <p:grpSp>
        <p:nvGrpSpPr>
          <p:cNvPr id="60" name="Group"/>
          <p:cNvGrpSpPr/>
          <p:nvPr/>
        </p:nvGrpSpPr>
        <p:grpSpPr>
          <a:xfrm>
            <a:off x="4173098" y="5046750"/>
            <a:ext cx="637467" cy="350662"/>
            <a:chOff x="0" y="0"/>
            <a:chExt cx="637465" cy="350661"/>
          </a:xfrm>
        </p:grpSpPr>
        <p:sp>
          <p:nvSpPr>
            <p:cNvPr id="58" name="Rectangle"/>
            <p:cNvSpPr/>
            <p:nvPr/>
          </p:nvSpPr>
          <p:spPr>
            <a:xfrm>
              <a:off x="30601" y="31661"/>
              <a:ext cx="576264" cy="287339"/>
            </a:xfrm>
            <a:prstGeom prst="rect">
              <a:avLst/>
            </a:prstGeom>
            <a:solidFill>
              <a:schemeClr val="accent1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sp>
          <p:nvSpPr>
            <p:cNvPr id="59" name="MOD"/>
            <p:cNvSpPr txBox="1"/>
            <p:nvPr/>
          </p:nvSpPr>
          <p:spPr>
            <a:xfrm>
              <a:off x="0" y="0"/>
              <a:ext cx="637466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ctr">
              <a:spAutoFit/>
            </a:bodyPr>
            <a:lstStyle>
              <a:lvl1pPr algn="ctr"/>
            </a:lstStyle>
            <a:p>
              <a:pPr/>
              <a:r>
                <a:t>MOD</a:t>
              </a:r>
            </a:p>
          </p:txBody>
        </p:sp>
      </p:grpSp>
      <p:sp>
        <p:nvSpPr>
          <p:cNvPr id="61" name="DIVISION ENTERA"/>
          <p:cNvSpPr txBox="1"/>
          <p:nvPr/>
        </p:nvSpPr>
        <p:spPr>
          <a:xfrm>
            <a:off x="4825682" y="4502150"/>
            <a:ext cx="2098363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DIVISION ENTERA</a:t>
            </a:r>
          </a:p>
        </p:txBody>
      </p:sp>
      <p:sp>
        <p:nvSpPr>
          <p:cNvPr id="62" name="RESTO DE LA DIVISION ENTERA"/>
          <p:cNvSpPr txBox="1"/>
          <p:nvPr/>
        </p:nvSpPr>
        <p:spPr>
          <a:xfrm>
            <a:off x="4825682" y="5006975"/>
            <a:ext cx="3656817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RESTO DE LA DIVISION ENTERA</a:t>
            </a:r>
          </a:p>
        </p:txBody>
      </p:sp>
      <p:sp>
        <p:nvSpPr>
          <p:cNvPr id="63" name="Rectangle"/>
          <p:cNvSpPr/>
          <p:nvPr/>
        </p:nvSpPr>
        <p:spPr>
          <a:xfrm>
            <a:off x="611187" y="4221162"/>
            <a:ext cx="8137526" cy="1584326"/>
          </a:xfrm>
          <a:prstGeom prst="rect">
            <a:avLst/>
          </a:prstGeom>
          <a:ln>
            <a:solidFill>
              <a:srgbClr val="99CC00"/>
            </a:solidFill>
          </a:ln>
        </p:spPr>
        <p:txBody>
          <a:bodyPr lIns="45719" rIns="45719" anchor="ctr"/>
          <a:lstStyle/>
          <a:p>
            <a:pPr/>
          </a:p>
        </p:txBody>
      </p:sp>
      <p:grpSp>
        <p:nvGrpSpPr>
          <p:cNvPr id="68" name="Group"/>
          <p:cNvGrpSpPr/>
          <p:nvPr/>
        </p:nvGrpSpPr>
        <p:grpSpPr>
          <a:xfrm>
            <a:off x="611187" y="1989137"/>
            <a:ext cx="7596188" cy="3168651"/>
            <a:chOff x="0" y="0"/>
            <a:chExt cx="7596187" cy="3168650"/>
          </a:xfrm>
        </p:grpSpPr>
        <p:grpSp>
          <p:nvGrpSpPr>
            <p:cNvPr id="66" name="Group"/>
            <p:cNvGrpSpPr/>
            <p:nvPr/>
          </p:nvGrpSpPr>
          <p:grpSpPr>
            <a:xfrm>
              <a:off x="0" y="0"/>
              <a:ext cx="7596188" cy="3168650"/>
              <a:chOff x="0" y="0"/>
              <a:chExt cx="7596187" cy="3168650"/>
            </a:xfrm>
          </p:grpSpPr>
          <p:sp>
            <p:nvSpPr>
              <p:cNvPr id="64" name="Rectangle"/>
              <p:cNvSpPr/>
              <p:nvPr/>
            </p:nvSpPr>
            <p:spPr>
              <a:xfrm>
                <a:off x="0" y="0"/>
                <a:ext cx="7596188" cy="3168650"/>
              </a:xfrm>
              <a:prstGeom prst="rect">
                <a:avLst/>
              </a:prstGeom>
              <a:solidFill>
                <a:srgbClr val="CCFF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65" name="DIVIDENDO = DIVISOR * COCIENTE + RESTO"/>
              <p:cNvSpPr txBox="1"/>
              <p:nvPr/>
            </p:nvSpPr>
            <p:spPr>
              <a:xfrm>
                <a:off x="1290192" y="608894"/>
                <a:ext cx="5015804" cy="19508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 algn="ctr"/>
              </a:p>
              <a:p>
                <a:pPr algn="ctr"/>
              </a:p>
              <a:p>
                <a:pPr algn="ctr"/>
              </a:p>
              <a:p>
                <a:pPr algn="ctr"/>
              </a:p>
              <a:p>
                <a:pPr algn="ctr"/>
              </a:p>
              <a:p>
                <a:pPr algn="ctr"/>
              </a:p>
              <a:p>
                <a:pPr algn="ctr"/>
                <a:r>
                  <a:t>DIVIDENDO = DIVISOR * COCIENTE + RESTO</a:t>
                </a:r>
              </a:p>
            </p:txBody>
          </p:sp>
        </p:grpSp>
        <p:pic>
          <p:nvPicPr>
            <p:cNvPr id="67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88925" y="287337"/>
              <a:ext cx="6985000" cy="1754188"/>
            </a:xfrm>
            <a:prstGeom prst="rect">
              <a:avLst/>
            </a:prstGeom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</p:pic>
      </p:grpSp>
      <p:pic>
        <p:nvPicPr>
          <p:cNvPr id="69" name="info" descr="info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5287" y="5876925"/>
            <a:ext cx="720726" cy="720725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Las limitaciones que pesan sobre el tipo integer afectan a las operaciones y funciones, cuyo resultado será correcto solo si no sobrepasan los límites del dominio"/>
          <p:cNvSpPr txBox="1"/>
          <p:nvPr/>
        </p:nvSpPr>
        <p:spPr>
          <a:xfrm>
            <a:off x="1116012" y="5949950"/>
            <a:ext cx="7200901" cy="574040"/>
          </a:xfrm>
          <a:prstGeom prst="rect">
            <a:avLst/>
          </a:prstGeom>
          <a:solidFill>
            <a:srgbClr val="FFFF6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90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Las limitaciones que pesan sobre el tipo integer afectan a las operaciones y funciones, cuyo resultado será correcto solo si no sobrepasan los límites del dominio</a:t>
            </a:r>
          </a:p>
        </p:txBody>
      </p:sp>
      <p:grpSp>
        <p:nvGrpSpPr>
          <p:cNvPr id="74" name="Group"/>
          <p:cNvGrpSpPr/>
          <p:nvPr/>
        </p:nvGrpSpPr>
        <p:grpSpPr>
          <a:xfrm>
            <a:off x="2051050" y="2349500"/>
            <a:ext cx="5329238" cy="2303463"/>
            <a:chOff x="0" y="0"/>
            <a:chExt cx="5329237" cy="2303462"/>
          </a:xfrm>
        </p:grpSpPr>
        <p:sp>
          <p:nvSpPr>
            <p:cNvPr id="71" name="Rectangle"/>
            <p:cNvSpPr/>
            <p:nvPr/>
          </p:nvSpPr>
          <p:spPr>
            <a:xfrm>
              <a:off x="0" y="0"/>
              <a:ext cx="5329238" cy="2303463"/>
            </a:xfrm>
            <a:prstGeom prst="rect">
              <a:avLst/>
            </a:prstGeom>
            <a:solidFill>
              <a:srgbClr val="CCFFCC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pic>
          <p:nvPicPr>
            <p:cNvPr id="72" name="image.png" descr="imag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60362" y="427037"/>
              <a:ext cx="4506913" cy="173196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3" name="Funciones predefinidas"/>
            <p:cNvSpPr txBox="1"/>
            <p:nvPr/>
          </p:nvSpPr>
          <p:spPr>
            <a:xfrm>
              <a:off x="1271269" y="65087"/>
              <a:ext cx="2467830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/>
              <a:r>
                <a:t>Funciones predefinidas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1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822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822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xit" nodeType="clickEffect" presetSubtype="32" presetID="23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16" presetID="4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ox(in)" transition="in">
                                      <p:cBhvr>
                                        <p:cTn id="1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4" grpId="3"/>
      <p:bldP build="whole" bldLvl="1" animBg="1" rev="0" advAuto="0" spid="68" grpId="1"/>
      <p:bldP build="whole" bldLvl="1" animBg="1" rev="0" advAuto="0" spid="68" grpId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El tipo Integer (Entero)"/>
          <p:cNvSpPr txBox="1"/>
          <p:nvPr/>
        </p:nvSpPr>
        <p:spPr>
          <a:xfrm>
            <a:off x="514032" y="59848"/>
            <a:ext cx="81381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El tipo Integer (Entero)</a:t>
            </a:r>
          </a:p>
        </p:txBody>
      </p:sp>
      <p:sp>
        <p:nvSpPr>
          <p:cNvPr id="77" name="Precedencia de operaciones:…"/>
          <p:cNvSpPr txBox="1"/>
          <p:nvPr/>
        </p:nvSpPr>
        <p:spPr>
          <a:xfrm>
            <a:off x="369569" y="1125537"/>
            <a:ext cx="7973062" cy="222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 Precedencia de operaciones:</a:t>
            </a:r>
          </a:p>
          <a:p>
            <a:pPr lvl="1" marL="285750" indent="171450">
              <a:spcBef>
                <a:spcPts val="1200"/>
              </a:spcBef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	Al igual que en las matemáticas la precedencia de las operaciones de multiplicación, división, resto y funciones predefinidas es mayor que las otras.</a:t>
            </a:r>
          </a:p>
          <a:p>
            <a:pPr lvl="1" marL="285750" indent="171450">
              <a:spcBef>
                <a:spcPts val="1200"/>
              </a:spcBef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	Cuando una operación se presenta ambigua (igual precedencia) se valoriza la operación asumiendo la asociatividad a la izquierda</a:t>
            </a:r>
          </a:p>
        </p:txBody>
      </p:sp>
      <p:grpSp>
        <p:nvGrpSpPr>
          <p:cNvPr id="80" name="Group"/>
          <p:cNvGrpSpPr/>
          <p:nvPr/>
        </p:nvGrpSpPr>
        <p:grpSpPr>
          <a:xfrm>
            <a:off x="1476375" y="3500437"/>
            <a:ext cx="5689600" cy="792163"/>
            <a:chOff x="0" y="0"/>
            <a:chExt cx="5689599" cy="792162"/>
          </a:xfrm>
        </p:grpSpPr>
        <p:sp>
          <p:nvSpPr>
            <p:cNvPr id="78" name="Rectangle"/>
            <p:cNvSpPr/>
            <p:nvPr/>
          </p:nvSpPr>
          <p:spPr>
            <a:xfrm>
              <a:off x="0" y="0"/>
              <a:ext cx="5689600" cy="792163"/>
            </a:xfrm>
            <a:prstGeom prst="rect">
              <a:avLst/>
            </a:prstGeom>
            <a:solidFill>
              <a:srgbClr val="CCFFCC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pic>
          <p:nvPicPr>
            <p:cNvPr id="79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93662" y="204787"/>
              <a:ext cx="5472113" cy="4318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86" name="Group"/>
          <p:cNvGrpSpPr/>
          <p:nvPr/>
        </p:nvGrpSpPr>
        <p:grpSpPr>
          <a:xfrm>
            <a:off x="2268537" y="4437062"/>
            <a:ext cx="6599948" cy="792163"/>
            <a:chOff x="0" y="0"/>
            <a:chExt cx="6599946" cy="792162"/>
          </a:xfrm>
        </p:grpSpPr>
        <p:grpSp>
          <p:nvGrpSpPr>
            <p:cNvPr id="83" name="Group"/>
            <p:cNvGrpSpPr/>
            <p:nvPr/>
          </p:nvGrpSpPr>
          <p:grpSpPr>
            <a:xfrm>
              <a:off x="0" y="0"/>
              <a:ext cx="3816350" cy="792163"/>
              <a:chOff x="0" y="0"/>
              <a:chExt cx="3816350" cy="792162"/>
            </a:xfrm>
          </p:grpSpPr>
          <p:sp>
            <p:nvSpPr>
              <p:cNvPr id="81" name="Rectangle"/>
              <p:cNvSpPr/>
              <p:nvPr/>
            </p:nvSpPr>
            <p:spPr>
              <a:xfrm>
                <a:off x="0" y="0"/>
                <a:ext cx="3816350" cy="792163"/>
              </a:xfrm>
              <a:prstGeom prst="rect">
                <a:avLst/>
              </a:prstGeom>
              <a:solidFill>
                <a:srgbClr val="CCFF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pic>
            <p:nvPicPr>
              <p:cNvPr id="82" name="image.png" descr="image.png"/>
              <p:cNvPicPr>
                <a:picLocks noChangeAspect="1"/>
              </p:cNvPicPr>
              <p:nvPr/>
            </p:nvPicPr>
            <p:blipFill>
              <a:blip r:embed="rId3">
                <a:extLst/>
              </a:blip>
              <a:stretch>
                <a:fillRect/>
              </a:stretch>
            </p:blipFill>
            <p:spPr>
              <a:xfrm>
                <a:off x="142875" y="119062"/>
                <a:ext cx="3529013" cy="528638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</p:grpSp>
        <p:sp>
          <p:nvSpPr>
            <p:cNvPr id="84" name="Asociatividad a la izquierda"/>
            <p:cNvSpPr txBox="1"/>
            <p:nvPr/>
          </p:nvSpPr>
          <p:spPr>
            <a:xfrm>
              <a:off x="3985894" y="171450"/>
              <a:ext cx="2614053" cy="370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Asociatividad a la izquierda</a:t>
              </a:r>
            </a:p>
          </p:txBody>
        </p:sp>
        <p:sp>
          <p:nvSpPr>
            <p:cNvPr id="85" name="Shape"/>
            <p:cNvSpPr/>
            <p:nvPr/>
          </p:nvSpPr>
          <p:spPr>
            <a:xfrm>
              <a:off x="4103687" y="504825"/>
              <a:ext cx="2303463" cy="2159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200" y="0"/>
                  </a:moveTo>
                  <a:lnTo>
                    <a:pt x="16200" y="5400"/>
                  </a:lnTo>
                  <a:lnTo>
                    <a:pt x="3375" y="5400"/>
                  </a:lnTo>
                  <a:lnTo>
                    <a:pt x="3375" y="16200"/>
                  </a:lnTo>
                  <a:lnTo>
                    <a:pt x="16200" y="16200"/>
                  </a:lnTo>
                  <a:lnTo>
                    <a:pt x="16200" y="21600"/>
                  </a:lnTo>
                  <a:lnTo>
                    <a:pt x="21600" y="10800"/>
                  </a:lnTo>
                  <a:close/>
                  <a:moveTo>
                    <a:pt x="1350" y="5400"/>
                  </a:moveTo>
                  <a:lnTo>
                    <a:pt x="1350" y="16200"/>
                  </a:lnTo>
                  <a:lnTo>
                    <a:pt x="2700" y="16200"/>
                  </a:lnTo>
                  <a:lnTo>
                    <a:pt x="2700" y="5400"/>
                  </a:lnTo>
                  <a:close/>
                  <a:moveTo>
                    <a:pt x="0" y="5400"/>
                  </a:moveTo>
                  <a:lnTo>
                    <a:pt x="0" y="16200"/>
                  </a:lnTo>
                  <a:lnTo>
                    <a:pt x="675" y="16200"/>
                  </a:lnTo>
                  <a:lnTo>
                    <a:pt x="675" y="5400"/>
                  </a:lnTo>
                  <a:close/>
                </a:path>
              </a:pathLst>
            </a:custGeom>
            <a:solidFill>
              <a:srgbClr val="FFFF99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90" name="Group"/>
          <p:cNvGrpSpPr/>
          <p:nvPr/>
        </p:nvGrpSpPr>
        <p:grpSpPr>
          <a:xfrm>
            <a:off x="2268537" y="5516562"/>
            <a:ext cx="6620784" cy="792163"/>
            <a:chOff x="0" y="0"/>
            <a:chExt cx="6620782" cy="792162"/>
          </a:xfrm>
        </p:grpSpPr>
        <p:sp>
          <p:nvSpPr>
            <p:cNvPr id="87" name="Rectangle"/>
            <p:cNvSpPr/>
            <p:nvPr/>
          </p:nvSpPr>
          <p:spPr>
            <a:xfrm>
              <a:off x="0" y="0"/>
              <a:ext cx="3816350" cy="792163"/>
            </a:xfrm>
            <a:prstGeom prst="rect">
              <a:avLst/>
            </a:prstGeom>
            <a:solidFill>
              <a:srgbClr val="CCFFCC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pic>
          <p:nvPicPr>
            <p:cNvPr id="88" name="image.png" descr="imag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42875" y="142875"/>
              <a:ext cx="3600450" cy="4889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9" name="Forzar orden de evaluación"/>
            <p:cNvSpPr txBox="1"/>
            <p:nvPr/>
          </p:nvSpPr>
          <p:spPr>
            <a:xfrm>
              <a:off x="4004944" y="209550"/>
              <a:ext cx="2615839" cy="3708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>
                <a:defRPr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Forzar orden de evaluación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clickEffect" presetSubtype="4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90" grpId="3"/>
      <p:bldP build="whole" bldLvl="1" animBg="1" rev="0" advAuto="0" spid="80" grpId="1"/>
      <p:bldP build="whole" bldLvl="1" animBg="1" rev="0" advAuto="0" spid="86" grpId="2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El tipo Real"/>
          <p:cNvSpPr txBox="1"/>
          <p:nvPr/>
        </p:nvSpPr>
        <p:spPr>
          <a:xfrm>
            <a:off x="514032" y="59848"/>
            <a:ext cx="81381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El tipo Real</a:t>
            </a:r>
          </a:p>
        </p:txBody>
      </p:sp>
      <p:sp>
        <p:nvSpPr>
          <p:cNvPr id="93" name="Dominio:…"/>
          <p:cNvSpPr txBox="1"/>
          <p:nvPr/>
        </p:nvSpPr>
        <p:spPr>
          <a:xfrm>
            <a:off x="369569" y="692150"/>
            <a:ext cx="7973062" cy="2072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 Dominio:</a:t>
            </a:r>
          </a:p>
          <a:p>
            <a:pPr lvl="1" marL="742950" indent="-285750"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Incluye valores numéricos con parte decimal. Las limitaciones en la representación son afectadas por dos aspectos:</a:t>
            </a:r>
          </a:p>
          <a:p>
            <a:pPr lvl="2" marL="1143000" indent="-228600"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La magnitud de los valores incluidos</a:t>
            </a:r>
          </a:p>
          <a:p>
            <a:pPr lvl="2" marL="1143000" indent="-228600"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 Y la precisión (hasta 10 cifras significativas)</a:t>
            </a:r>
          </a:p>
        </p:txBody>
      </p:sp>
      <p:sp>
        <p:nvSpPr>
          <p:cNvPr id="94" name="Operaciones y Funciones:"/>
          <p:cNvSpPr txBox="1"/>
          <p:nvPr/>
        </p:nvSpPr>
        <p:spPr>
          <a:xfrm>
            <a:off x="514032" y="2874962"/>
            <a:ext cx="7973061" cy="53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 Operaciones y Funciones:</a:t>
            </a:r>
          </a:p>
        </p:txBody>
      </p:sp>
      <p:pic>
        <p:nvPicPr>
          <p:cNvPr id="95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397500" y="1933575"/>
            <a:ext cx="1223963" cy="30321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3" name="Group"/>
          <p:cNvGrpSpPr/>
          <p:nvPr/>
        </p:nvGrpSpPr>
        <p:grpSpPr>
          <a:xfrm>
            <a:off x="828675" y="3644900"/>
            <a:ext cx="3095625" cy="2209800"/>
            <a:chOff x="0" y="0"/>
            <a:chExt cx="3095625" cy="2209800"/>
          </a:xfrm>
        </p:grpSpPr>
        <p:grpSp>
          <p:nvGrpSpPr>
            <p:cNvPr id="98" name="Group"/>
            <p:cNvGrpSpPr/>
            <p:nvPr/>
          </p:nvGrpSpPr>
          <p:grpSpPr>
            <a:xfrm>
              <a:off x="287337" y="184238"/>
              <a:ext cx="288926" cy="350662"/>
              <a:chOff x="0" y="0"/>
              <a:chExt cx="288925" cy="350661"/>
            </a:xfrm>
          </p:grpSpPr>
          <p:sp>
            <p:nvSpPr>
              <p:cNvPr id="96" name="Square"/>
              <p:cNvSpPr/>
              <p:nvPr/>
            </p:nvSpPr>
            <p:spPr>
              <a:xfrm>
                <a:off x="0" y="31661"/>
                <a:ext cx="288925" cy="287339"/>
              </a:xfrm>
              <a:prstGeom prst="rect">
                <a:avLst/>
              </a:prstGeom>
              <a:solidFill>
                <a:schemeClr val="accent1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97" name="+"/>
              <p:cNvSpPr txBox="1"/>
              <p:nvPr/>
            </p:nvSpPr>
            <p:spPr>
              <a:xfrm>
                <a:off x="25643" y="0"/>
                <a:ext cx="237639" cy="3506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/>
              </a:lstStyle>
              <a:p>
                <a:pPr/>
                <a:r>
                  <a:t>+</a:t>
                </a:r>
              </a:p>
            </p:txBody>
          </p:sp>
        </p:grpSp>
        <p:grpSp>
          <p:nvGrpSpPr>
            <p:cNvPr id="101" name="Group"/>
            <p:cNvGrpSpPr/>
            <p:nvPr/>
          </p:nvGrpSpPr>
          <p:grpSpPr>
            <a:xfrm>
              <a:off x="287337" y="544600"/>
              <a:ext cx="288926" cy="350662"/>
              <a:chOff x="0" y="0"/>
              <a:chExt cx="288925" cy="350661"/>
            </a:xfrm>
          </p:grpSpPr>
          <p:sp>
            <p:nvSpPr>
              <p:cNvPr id="99" name="Square"/>
              <p:cNvSpPr/>
              <p:nvPr/>
            </p:nvSpPr>
            <p:spPr>
              <a:xfrm>
                <a:off x="0" y="31661"/>
                <a:ext cx="288925" cy="287339"/>
              </a:xfrm>
              <a:prstGeom prst="rect">
                <a:avLst/>
              </a:prstGeom>
              <a:solidFill>
                <a:schemeClr val="accent1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/>
              </a:p>
            </p:txBody>
          </p:sp>
          <p:sp>
            <p:nvSpPr>
              <p:cNvPr id="100" name="-"/>
              <p:cNvSpPr txBox="1"/>
              <p:nvPr/>
            </p:nvSpPr>
            <p:spPr>
              <a:xfrm>
                <a:off x="54329" y="0"/>
                <a:ext cx="180267" cy="3506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/>
              </a:lstStyle>
              <a:p>
                <a:pPr/>
                <a:r>
                  <a:t>-</a:t>
                </a:r>
              </a:p>
            </p:txBody>
          </p:sp>
        </p:grpSp>
        <p:grpSp>
          <p:nvGrpSpPr>
            <p:cNvPr id="104" name="Group"/>
            <p:cNvGrpSpPr/>
            <p:nvPr/>
          </p:nvGrpSpPr>
          <p:grpSpPr>
            <a:xfrm>
              <a:off x="287337" y="892678"/>
              <a:ext cx="288926" cy="375231"/>
              <a:chOff x="0" y="0"/>
              <a:chExt cx="288925" cy="375230"/>
            </a:xfrm>
          </p:grpSpPr>
          <p:sp>
            <p:nvSpPr>
              <p:cNvPr id="102" name="Square"/>
              <p:cNvSpPr/>
              <p:nvPr/>
            </p:nvSpPr>
            <p:spPr>
              <a:xfrm>
                <a:off x="0" y="43946"/>
                <a:ext cx="288925" cy="287338"/>
              </a:xfrm>
              <a:prstGeom prst="rect">
                <a:avLst/>
              </a:prstGeom>
              <a:solidFill>
                <a:schemeClr val="accent1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000"/>
                </a:pPr>
              </a:p>
            </p:txBody>
          </p:sp>
          <p:sp>
            <p:nvSpPr>
              <p:cNvPr id="103" name="*"/>
              <p:cNvSpPr txBox="1"/>
              <p:nvPr/>
            </p:nvSpPr>
            <p:spPr>
              <a:xfrm>
                <a:off x="42969" y="0"/>
                <a:ext cx="202987" cy="3752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2000"/>
                </a:lvl1pPr>
              </a:lstStyle>
              <a:p>
                <a:pPr/>
                <a:r>
                  <a:t>*</a:t>
                </a:r>
              </a:p>
            </p:txBody>
          </p:sp>
        </p:grpSp>
        <p:sp>
          <p:nvSpPr>
            <p:cNvPr id="105" name="SUMA"/>
            <p:cNvSpPr txBox="1"/>
            <p:nvPr/>
          </p:nvSpPr>
          <p:spPr>
            <a:xfrm>
              <a:off x="693419" y="144462"/>
              <a:ext cx="764604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/>
              <a:r>
                <a:t>SUMA</a:t>
              </a:r>
            </a:p>
          </p:txBody>
        </p:sp>
        <p:sp>
          <p:nvSpPr>
            <p:cNvPr id="106" name="RESTA"/>
            <p:cNvSpPr txBox="1"/>
            <p:nvPr/>
          </p:nvSpPr>
          <p:spPr>
            <a:xfrm>
              <a:off x="693419" y="503237"/>
              <a:ext cx="849324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/>
              <a:r>
                <a:t>RESTA</a:t>
              </a:r>
            </a:p>
          </p:txBody>
        </p:sp>
        <p:sp>
          <p:nvSpPr>
            <p:cNvPr id="107" name="MULTIPLICACION"/>
            <p:cNvSpPr txBox="1"/>
            <p:nvPr/>
          </p:nvSpPr>
          <p:spPr>
            <a:xfrm>
              <a:off x="693419" y="863600"/>
              <a:ext cx="2005160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/>
              <a:r>
                <a:t>MULTIPLICACION</a:t>
              </a:r>
            </a:p>
          </p:txBody>
        </p:sp>
        <p:grpSp>
          <p:nvGrpSpPr>
            <p:cNvPr id="110" name="Group"/>
            <p:cNvGrpSpPr/>
            <p:nvPr/>
          </p:nvGrpSpPr>
          <p:grpSpPr>
            <a:xfrm>
              <a:off x="300037" y="1292728"/>
              <a:ext cx="288926" cy="375231"/>
              <a:chOff x="0" y="0"/>
              <a:chExt cx="288925" cy="375230"/>
            </a:xfrm>
          </p:grpSpPr>
          <p:sp>
            <p:nvSpPr>
              <p:cNvPr id="108" name="Square"/>
              <p:cNvSpPr/>
              <p:nvPr/>
            </p:nvSpPr>
            <p:spPr>
              <a:xfrm>
                <a:off x="0" y="43946"/>
                <a:ext cx="288925" cy="287338"/>
              </a:xfrm>
              <a:prstGeom prst="rect">
                <a:avLst/>
              </a:prstGeom>
              <a:solidFill>
                <a:schemeClr val="accent1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 sz="2000"/>
                </a:pPr>
              </a:p>
            </p:txBody>
          </p:sp>
          <p:sp>
            <p:nvSpPr>
              <p:cNvPr id="109" name="/"/>
              <p:cNvSpPr txBox="1"/>
              <p:nvPr/>
            </p:nvSpPr>
            <p:spPr>
              <a:xfrm>
                <a:off x="57107" y="0"/>
                <a:ext cx="174711" cy="37523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>
                <a:lvl1pPr algn="ctr">
                  <a:defRPr sz="2000"/>
                </a:lvl1pPr>
              </a:lstStyle>
              <a:p>
                <a:pPr/>
                <a:r>
                  <a:t>/</a:t>
                </a:r>
              </a:p>
            </p:txBody>
          </p:sp>
        </p:grpSp>
        <p:sp>
          <p:nvSpPr>
            <p:cNvPr id="111" name="DIVISION"/>
            <p:cNvSpPr txBox="1"/>
            <p:nvPr/>
          </p:nvSpPr>
          <p:spPr>
            <a:xfrm>
              <a:off x="706120" y="1263650"/>
              <a:ext cx="1107614" cy="350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/>
            <a:p>
              <a:pPr/>
              <a:r>
                <a:t>DIVISION</a:t>
              </a:r>
            </a:p>
          </p:txBody>
        </p:sp>
        <p:sp>
          <p:nvSpPr>
            <p:cNvPr id="112" name="Rectangle"/>
            <p:cNvSpPr/>
            <p:nvPr/>
          </p:nvSpPr>
          <p:spPr>
            <a:xfrm>
              <a:off x="0" y="0"/>
              <a:ext cx="3095625" cy="2209800"/>
            </a:xfrm>
            <a:prstGeom prst="rect">
              <a:avLst/>
            </a:prstGeom>
            <a:noFill/>
            <a:ln w="9525" cap="flat">
              <a:solidFill>
                <a:srgbClr val="99CC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116" name="Group"/>
          <p:cNvGrpSpPr/>
          <p:nvPr/>
        </p:nvGrpSpPr>
        <p:grpSpPr>
          <a:xfrm>
            <a:off x="4140200" y="3644900"/>
            <a:ext cx="3095625" cy="2209800"/>
            <a:chOff x="0" y="0"/>
            <a:chExt cx="3095625" cy="2209800"/>
          </a:xfrm>
        </p:grpSpPr>
        <p:pic>
          <p:nvPicPr>
            <p:cNvPr id="114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44462" y="0"/>
              <a:ext cx="2886076" cy="216217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5" name="Rectangle"/>
            <p:cNvSpPr/>
            <p:nvPr/>
          </p:nvSpPr>
          <p:spPr>
            <a:xfrm>
              <a:off x="0" y="0"/>
              <a:ext cx="3095625" cy="2209800"/>
            </a:xfrm>
            <a:prstGeom prst="rect">
              <a:avLst/>
            </a:prstGeom>
            <a:noFill/>
            <a:ln w="9525" cap="flat">
              <a:solidFill>
                <a:srgbClr val="99CC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121" name="Group"/>
          <p:cNvGrpSpPr/>
          <p:nvPr/>
        </p:nvGrpSpPr>
        <p:grpSpPr>
          <a:xfrm>
            <a:off x="1187450" y="859154"/>
            <a:ext cx="6408738" cy="4561842"/>
            <a:chOff x="0" y="0"/>
            <a:chExt cx="6408737" cy="4561840"/>
          </a:xfrm>
        </p:grpSpPr>
        <p:grpSp>
          <p:nvGrpSpPr>
            <p:cNvPr id="119" name="Group"/>
            <p:cNvGrpSpPr/>
            <p:nvPr/>
          </p:nvGrpSpPr>
          <p:grpSpPr>
            <a:xfrm>
              <a:off x="0" y="-1"/>
              <a:ext cx="6408738" cy="4561842"/>
              <a:chOff x="0" y="0"/>
              <a:chExt cx="6408737" cy="4561840"/>
            </a:xfrm>
          </p:grpSpPr>
          <p:sp>
            <p:nvSpPr>
              <p:cNvPr id="117" name="Rectangle"/>
              <p:cNvSpPr/>
              <p:nvPr/>
            </p:nvSpPr>
            <p:spPr>
              <a:xfrm>
                <a:off x="0" y="48895"/>
                <a:ext cx="6408738" cy="4464051"/>
              </a:xfrm>
              <a:prstGeom prst="rect">
                <a:avLst/>
              </a:prstGeom>
              <a:solidFill>
                <a:srgbClr val="CCFFCC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118" name="El lenguaje se muestra flexible a la hora de reconocer la…"/>
              <p:cNvSpPr txBox="1"/>
              <p:nvPr/>
            </p:nvSpPr>
            <p:spPr>
              <a:xfrm>
                <a:off x="50482" y="0"/>
                <a:ext cx="6151214" cy="45618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45719" tIns="45719" rIns="45719" bIns="45719" numCol="1" anchor="ctr">
                <a:spAutoFit/>
              </a:bodyPr>
              <a:lstStyle/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El lenguaje se muestra flexible a la hora de reconocer la</a:t>
                </a: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Inclusión de los números enteros dentro de los reales.</a:t>
                </a: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Toda operación que requiera expresamente una cantidad </a:t>
                </a: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Real aceptará una de tipo entero, realizando automáticamente </a:t>
                </a: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la conversión.</a:t>
                </a: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En caso contrario la conversión no se realiza automáticamente. </a:t>
                </a: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Para ello se utilizan las funciones:</a:t>
                </a: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	TRUNC (Truncamiento. Eliminación de la parte decimal)</a:t>
                </a: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	ROUND (Redondeo al entero mas próximo)</a:t>
                </a: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</a:p>
            </p:txBody>
          </p:sp>
        </p:grpSp>
        <p:pic>
          <p:nvPicPr>
            <p:cNvPr id="120" name="image.png" descr="imag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584324" y="3146107"/>
              <a:ext cx="2752726" cy="12001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4" presetID="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2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El tipo Char (Carácter)"/>
          <p:cNvSpPr txBox="1"/>
          <p:nvPr/>
        </p:nvSpPr>
        <p:spPr>
          <a:xfrm>
            <a:off x="514032" y="59848"/>
            <a:ext cx="81381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El tipo Char (Carácter)</a:t>
            </a:r>
          </a:p>
        </p:txBody>
      </p:sp>
      <p:sp>
        <p:nvSpPr>
          <p:cNvPr id="124" name="Dominio:…"/>
          <p:cNvSpPr txBox="1"/>
          <p:nvPr/>
        </p:nvSpPr>
        <p:spPr>
          <a:xfrm>
            <a:off x="369569" y="692150"/>
            <a:ext cx="7973062" cy="2319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 Dominio:</a:t>
            </a:r>
          </a:p>
          <a:p>
            <a:pPr lvl="1" marL="742950" indent="-285750"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Incluye el juego de caracteres disponibles en la computadora. La mayoría de los lenguajes reconoce la codificación ASCII de 8 bits. Por lo que existen hasta 256 caracteres que se recogen de la siguiente tabla de códigos.</a:t>
            </a:r>
          </a:p>
          <a:p>
            <a:pPr lvl="1" marL="742950" indent="-285750">
              <a:spcBef>
                <a:spcPts val="14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El tipo char o carácter se escribe entre apostrofes. </a:t>
            </a:r>
            <a:r>
              <a:rPr b="1" sz="2400"/>
              <a:t>Ej. ‘A’</a:t>
            </a:r>
          </a:p>
        </p:txBody>
      </p:sp>
      <p:sp>
        <p:nvSpPr>
          <p:cNvPr id="125" name="Operaciones y Funciones:"/>
          <p:cNvSpPr txBox="1"/>
          <p:nvPr/>
        </p:nvSpPr>
        <p:spPr>
          <a:xfrm>
            <a:off x="514032" y="2981325"/>
            <a:ext cx="7973061" cy="535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8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 Operaciones y Funciones:</a:t>
            </a:r>
          </a:p>
        </p:txBody>
      </p:sp>
      <p:sp>
        <p:nvSpPr>
          <p:cNvPr id="126" name="No existen operaciones internas entre caracteres. Lo que si existen son las funciones:…"/>
          <p:cNvSpPr txBox="1"/>
          <p:nvPr/>
        </p:nvSpPr>
        <p:spPr>
          <a:xfrm>
            <a:off x="369569" y="3429000"/>
            <a:ext cx="7973062" cy="2484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 marL="742950" indent="-285750"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 No existen operaciones internas entre caracteres. Lo que si existen son las funciones: </a:t>
            </a:r>
          </a:p>
          <a:p>
            <a:pPr lvl="1" marL="742950" indent="-285750">
              <a:spcBef>
                <a:spcPts val="10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lvl="1" marL="742950" indent="-285750">
              <a:spcBef>
                <a:spcPts val="10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lvl="1" marL="742950" indent="-285750"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pPr>
            <a:r>
              <a:t>Y las funciones de conversión entre carácter y enteros:</a:t>
            </a:r>
          </a:p>
        </p:txBody>
      </p:sp>
      <p:pic>
        <p:nvPicPr>
          <p:cNvPr id="127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32137" y="4005262"/>
            <a:ext cx="2352676" cy="61912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0" name="Group"/>
          <p:cNvGrpSpPr/>
          <p:nvPr/>
        </p:nvGrpSpPr>
        <p:grpSpPr>
          <a:xfrm>
            <a:off x="1331912" y="765175"/>
            <a:ext cx="5976938" cy="3168650"/>
            <a:chOff x="0" y="0"/>
            <a:chExt cx="5976937" cy="3168650"/>
          </a:xfrm>
        </p:grpSpPr>
        <p:sp>
          <p:nvSpPr>
            <p:cNvPr id="128" name="Rectangle"/>
            <p:cNvSpPr/>
            <p:nvPr/>
          </p:nvSpPr>
          <p:spPr>
            <a:xfrm>
              <a:off x="0" y="0"/>
              <a:ext cx="5976938" cy="3168650"/>
            </a:xfrm>
            <a:prstGeom prst="rect">
              <a:avLst/>
            </a:prstGeom>
            <a:solidFill>
              <a:srgbClr val="CCFFCC"/>
            </a:solidFill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/>
            </a:p>
          </p:txBody>
        </p:sp>
        <p:pic>
          <p:nvPicPr>
            <p:cNvPr id="129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647700" y="576262"/>
              <a:ext cx="4614863" cy="20034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31" name="Rectangle"/>
          <p:cNvSpPr/>
          <p:nvPr/>
        </p:nvSpPr>
        <p:spPr>
          <a:xfrm>
            <a:off x="3132137" y="4005262"/>
            <a:ext cx="2376488" cy="647701"/>
          </a:xfrm>
          <a:prstGeom prst="rect">
            <a:avLst/>
          </a:prstGeom>
          <a:ln>
            <a:solidFill>
              <a:srgbClr val="99CC00"/>
            </a:solidFill>
          </a:ln>
        </p:spPr>
        <p:txBody>
          <a:bodyPr lIns="45719" rIns="45719" anchor="ctr"/>
          <a:lstStyle/>
          <a:p>
            <a:pPr/>
          </a:p>
        </p:txBody>
      </p:sp>
      <p:grpSp>
        <p:nvGrpSpPr>
          <p:cNvPr id="134" name="Group"/>
          <p:cNvGrpSpPr/>
          <p:nvPr/>
        </p:nvGrpSpPr>
        <p:grpSpPr>
          <a:xfrm>
            <a:off x="1763712" y="5516562"/>
            <a:ext cx="5472113" cy="647701"/>
            <a:chOff x="0" y="0"/>
            <a:chExt cx="5472112" cy="647700"/>
          </a:xfrm>
        </p:grpSpPr>
        <p:pic>
          <p:nvPicPr>
            <p:cNvPr id="132" name="image.png" descr="image.png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33337" y="0"/>
              <a:ext cx="5438776" cy="5905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3" name="Rectangle"/>
            <p:cNvSpPr/>
            <p:nvPr/>
          </p:nvSpPr>
          <p:spPr>
            <a:xfrm>
              <a:off x="0" y="0"/>
              <a:ext cx="5400675" cy="647700"/>
            </a:xfrm>
            <a:prstGeom prst="rect">
              <a:avLst/>
            </a:prstGeom>
            <a:noFill/>
            <a:ln w="9525" cap="flat">
              <a:solidFill>
                <a:srgbClr val="99CC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pic>
        <p:nvPicPr>
          <p:cNvPr id="135" name="image.png" descr="imag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084887" y="4076700"/>
            <a:ext cx="2800351" cy="7810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6" name="image.png" descr="imag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828800" y="44450"/>
            <a:ext cx="5486400" cy="67706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xit" nodeType="clickEffect" presetSubtype="32" presetID="23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1" presetID="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822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822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36" grpId="2"/>
      <p:bldP build="whole" bldLvl="1" animBg="1" rev="0" advAuto="0" spid="130" grpId="3"/>
      <p:bldP build="whole" bldLvl="1" animBg="1" rev="0" advAuto="0" spid="136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El tipo boolean"/>
          <p:cNvSpPr txBox="1"/>
          <p:nvPr/>
        </p:nvSpPr>
        <p:spPr>
          <a:xfrm>
            <a:off x="514032" y="59848"/>
            <a:ext cx="81381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El tipo boolean</a:t>
            </a:r>
          </a:p>
        </p:txBody>
      </p:sp>
      <p:sp>
        <p:nvSpPr>
          <p:cNvPr id="139" name="Dominio:…"/>
          <p:cNvSpPr txBox="1"/>
          <p:nvPr/>
        </p:nvSpPr>
        <p:spPr>
          <a:xfrm>
            <a:off x="369569" y="1125537"/>
            <a:ext cx="7973062" cy="1463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  <a:lvl2pPr marL="742950" indent="-285750"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2pPr>
          </a:lstStyle>
          <a:p>
            <a:pPr/>
            <a:r>
              <a:t> Dominio:</a:t>
            </a:r>
          </a:p>
          <a:p>
            <a:pPr lvl="1"/>
            <a:r>
              <a:t>Este tipo proviene del álgebra de bool. Su dominio obtiene dos valores lógicos. Verdadero o Falso. (True y False). Es util para las tareas de control de bucles y selecciones</a:t>
            </a:r>
          </a:p>
        </p:txBody>
      </p:sp>
      <p:sp>
        <p:nvSpPr>
          <p:cNvPr id="140" name="Operaciones y Funciones:"/>
          <p:cNvSpPr txBox="1"/>
          <p:nvPr/>
        </p:nvSpPr>
        <p:spPr>
          <a:xfrm>
            <a:off x="514032" y="2874962"/>
            <a:ext cx="797306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 Operaciones y Funciones:</a:t>
            </a:r>
          </a:p>
        </p:txBody>
      </p:sp>
      <p:pic>
        <p:nvPicPr>
          <p:cNvPr id="141" name="image.png" descr="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7087" y="3357562"/>
            <a:ext cx="4962526" cy="866776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Rectangle"/>
          <p:cNvSpPr/>
          <p:nvPr/>
        </p:nvSpPr>
        <p:spPr>
          <a:xfrm>
            <a:off x="611187" y="3357562"/>
            <a:ext cx="5400676" cy="863601"/>
          </a:xfrm>
          <a:prstGeom prst="rect">
            <a:avLst/>
          </a:prstGeom>
          <a:ln>
            <a:solidFill>
              <a:srgbClr val="99CC00"/>
            </a:solidFill>
          </a:ln>
        </p:spPr>
        <p:txBody>
          <a:bodyPr lIns="45719" rIns="45719" anchor="ctr"/>
          <a:lstStyle/>
          <a:p>
            <a:pPr/>
          </a:p>
        </p:txBody>
      </p:sp>
      <p:pic>
        <p:nvPicPr>
          <p:cNvPr id="143" name="image.png" descr="ima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95512" y="4724400"/>
            <a:ext cx="4324351" cy="1562100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Su funcionamiento viene dado por la siguiente tabla de verdad"/>
          <p:cNvSpPr txBox="1"/>
          <p:nvPr/>
        </p:nvSpPr>
        <p:spPr>
          <a:xfrm>
            <a:off x="585469" y="4292600"/>
            <a:ext cx="797306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Su funcionamiento viene dado por la siguiente tabla de verdad</a:t>
            </a:r>
          </a:p>
        </p:txBody>
      </p:sp>
      <p:pic>
        <p:nvPicPr>
          <p:cNvPr id="145" name="image.png" descr="imag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00787" y="2997200"/>
            <a:ext cx="2257426" cy="11525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Operadores relacionales"/>
          <p:cNvSpPr txBox="1"/>
          <p:nvPr/>
        </p:nvSpPr>
        <p:spPr>
          <a:xfrm>
            <a:off x="514032" y="59848"/>
            <a:ext cx="81381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Operadores relacionales</a:t>
            </a:r>
          </a:p>
        </p:txBody>
      </p:sp>
      <p:sp>
        <p:nvSpPr>
          <p:cNvPr id="148" name="Son las operaciones binarias de comparación:"/>
          <p:cNvSpPr txBox="1"/>
          <p:nvPr/>
        </p:nvSpPr>
        <p:spPr>
          <a:xfrm>
            <a:off x="298132" y="693737"/>
            <a:ext cx="7973061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200"/>
              </a:spcBef>
              <a:buSzPct val="100000"/>
              <a:buChar char="•"/>
              <a:defRPr sz="2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 Son las operaciones binarias de comparación:</a:t>
            </a:r>
          </a:p>
        </p:txBody>
      </p:sp>
      <p:grpSp>
        <p:nvGrpSpPr>
          <p:cNvPr id="151" name="Group"/>
          <p:cNvGrpSpPr/>
          <p:nvPr/>
        </p:nvGrpSpPr>
        <p:grpSpPr>
          <a:xfrm>
            <a:off x="2700337" y="1196975"/>
            <a:ext cx="2114551" cy="1655763"/>
            <a:chOff x="0" y="0"/>
            <a:chExt cx="2114550" cy="1655762"/>
          </a:xfrm>
        </p:grpSpPr>
        <p:pic>
          <p:nvPicPr>
            <p:cNvPr id="149" name="image.png" descr="image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2114550" cy="16097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0" name="Rectangle"/>
            <p:cNvSpPr/>
            <p:nvPr/>
          </p:nvSpPr>
          <p:spPr>
            <a:xfrm>
              <a:off x="73025" y="0"/>
              <a:ext cx="2016125" cy="1655763"/>
            </a:xfrm>
            <a:prstGeom prst="rect">
              <a:avLst/>
            </a:prstGeom>
            <a:noFill/>
            <a:ln w="9525" cap="flat">
              <a:solidFill>
                <a:srgbClr val="99CC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sp>
        <p:nvSpPr>
          <p:cNvPr id="152" name="Las operaciones relacionales permiten comparar cualquiera de los tipos básicos. Resultando de ello un valor lógico."/>
          <p:cNvSpPr txBox="1"/>
          <p:nvPr/>
        </p:nvSpPr>
        <p:spPr>
          <a:xfrm>
            <a:off x="298132" y="2997199"/>
            <a:ext cx="7973061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200"/>
              </a:spcBef>
              <a:defRPr sz="2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Las operaciones relacionales permiten comparar cualquiera de los tipos básicos. Resultando de ello un valor lógico. </a:t>
            </a:r>
          </a:p>
        </p:txBody>
      </p:sp>
      <p:grpSp>
        <p:nvGrpSpPr>
          <p:cNvPr id="155" name="Group"/>
          <p:cNvGrpSpPr/>
          <p:nvPr/>
        </p:nvGrpSpPr>
        <p:grpSpPr>
          <a:xfrm>
            <a:off x="684212" y="3933825"/>
            <a:ext cx="2962276" cy="1150938"/>
            <a:chOff x="0" y="0"/>
            <a:chExt cx="2962275" cy="1150937"/>
          </a:xfrm>
        </p:grpSpPr>
        <p:pic>
          <p:nvPicPr>
            <p:cNvPr id="153" name="image.png" descr="image.png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962275" cy="11049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4" name="Rectangle"/>
            <p:cNvSpPr/>
            <p:nvPr/>
          </p:nvSpPr>
          <p:spPr>
            <a:xfrm>
              <a:off x="0" y="0"/>
              <a:ext cx="2952750" cy="1150938"/>
            </a:xfrm>
            <a:prstGeom prst="rect">
              <a:avLst/>
            </a:prstGeom>
            <a:noFill/>
            <a:ln w="9525" cap="flat">
              <a:solidFill>
                <a:srgbClr val="99CC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/>
            </a:p>
          </p:txBody>
        </p:sp>
      </p:grpSp>
      <p:sp>
        <p:nvSpPr>
          <p:cNvPr id="156" name="En cuanto a la comparación de datos no numéricos el símbolo &lt; o &gt; significa anterior o posterior.…"/>
          <p:cNvSpPr txBox="1"/>
          <p:nvPr/>
        </p:nvSpPr>
        <p:spPr>
          <a:xfrm>
            <a:off x="323850" y="5661025"/>
            <a:ext cx="8604250" cy="937261"/>
          </a:xfrm>
          <a:prstGeom prst="rect">
            <a:avLst/>
          </a:prstGeom>
          <a:solidFill>
            <a:srgbClr val="FFFF6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90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  <a:r>
              <a:t>En cuanto a la comparación de datos no numéricos el símbolo &lt; o &gt; significa anterior o posterior. </a:t>
            </a:r>
          </a:p>
          <a:p>
            <a:pPr>
              <a:spcBef>
                <a:spcPts val="900"/>
              </a:spcBef>
              <a:defRPr b="1" sz="1600">
                <a:latin typeface="Calibri"/>
                <a:ea typeface="Calibri"/>
                <a:cs typeface="Calibri"/>
                <a:sym typeface="Calibri"/>
              </a:defRPr>
            </a:pPr>
            <a:r>
              <a:t>En el caso del tipo char</a:t>
            </a:r>
            <a:r>
              <a:rPr b="0"/>
              <a:t>, se considera por el orden establecido en la tabla ASCII</a:t>
            </a:r>
            <a:br>
              <a:rPr b="0"/>
            </a:br>
            <a:r>
              <a:t>En el caso del tipo bool</a:t>
            </a:r>
            <a:r>
              <a:rPr b="0"/>
              <a:t>, se considera false anterior a true.</a:t>
            </a:r>
          </a:p>
        </p:txBody>
      </p:sp>
      <p:pic>
        <p:nvPicPr>
          <p:cNvPr id="157" name="image.png" descr="imag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140200" y="3716337"/>
            <a:ext cx="4229100" cy="14763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Ejercicios para hacer en clase"/>
          <p:cNvSpPr txBox="1"/>
          <p:nvPr/>
        </p:nvSpPr>
        <p:spPr>
          <a:xfrm>
            <a:off x="514032" y="59848"/>
            <a:ext cx="81381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8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Ejercicios para hacer en clase</a:t>
            </a:r>
          </a:p>
        </p:txBody>
      </p:sp>
      <p:sp>
        <p:nvSpPr>
          <p:cNvPr id="160" name="1 -  Expresar cuales de las siguientes afirmaciones son verdaderas y cuales falsas."/>
          <p:cNvSpPr txBox="1"/>
          <p:nvPr/>
        </p:nvSpPr>
        <p:spPr>
          <a:xfrm>
            <a:off x="369569" y="1125537"/>
            <a:ext cx="7973062" cy="701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1200"/>
              </a:spcBef>
              <a:defRPr sz="20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1 -  Expresar cuales de las siguientes afirmaciones son verdaderas y cuales falsas. </a:t>
            </a:r>
          </a:p>
        </p:txBody>
      </p:sp>
      <p:sp>
        <p:nvSpPr>
          <p:cNvPr id="161" name="A) 2 * 2 div 4 = 2 * (2 div 4)"/>
          <p:cNvSpPr txBox="1"/>
          <p:nvPr/>
        </p:nvSpPr>
        <p:spPr>
          <a:xfrm>
            <a:off x="656907" y="2276475"/>
            <a:ext cx="2905830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A) 2 * 2 div 4 = 2 * (2 div 4) </a:t>
            </a:r>
          </a:p>
        </p:txBody>
      </p:sp>
      <p:sp>
        <p:nvSpPr>
          <p:cNvPr id="162" name="B) suma: integer;       suma:= 2*240+10000 * 3"/>
          <p:cNvSpPr txBox="1"/>
          <p:nvPr/>
        </p:nvSpPr>
        <p:spPr>
          <a:xfrm>
            <a:off x="656907" y="2781300"/>
            <a:ext cx="3014549" cy="61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B) suma: integer; </a:t>
            </a:r>
            <a:br/>
            <a:r>
              <a:t>     suma:= 2*240+10000 * 3 </a:t>
            </a:r>
          </a:p>
        </p:txBody>
      </p:sp>
      <p:sp>
        <p:nvSpPr>
          <p:cNvPr id="163" name="C) resultado:integer       resultado:= 2/240+10000 * 3"/>
          <p:cNvSpPr txBox="1"/>
          <p:nvPr/>
        </p:nvSpPr>
        <p:spPr>
          <a:xfrm>
            <a:off x="656907" y="3500437"/>
            <a:ext cx="3306997" cy="61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C) resultado:integer </a:t>
            </a:r>
            <a:br/>
            <a:r>
              <a:t>     resultado:= 2/240+10000 * 3</a:t>
            </a:r>
          </a:p>
        </p:txBody>
      </p:sp>
      <p:sp>
        <p:nvSpPr>
          <p:cNvPr id="164" name="D) resul:real;…"/>
          <p:cNvSpPr txBox="1"/>
          <p:nvPr/>
        </p:nvSpPr>
        <p:spPr>
          <a:xfrm>
            <a:off x="652144" y="4292600"/>
            <a:ext cx="2518841" cy="61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D) resul:real;</a:t>
            </a:r>
          </a:p>
          <a:p>
            <a:pPr/>
            <a:r>
              <a:t>     resul:= 35000 + 375;</a:t>
            </a:r>
          </a:p>
        </p:txBody>
      </p:sp>
      <p:sp>
        <p:nvSpPr>
          <p:cNvPr id="165" name="E) 5 + (5 mod 2) =  10"/>
          <p:cNvSpPr txBox="1"/>
          <p:nvPr/>
        </p:nvSpPr>
        <p:spPr>
          <a:xfrm>
            <a:off x="672782" y="5157787"/>
            <a:ext cx="2340470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E) 5 + (5 mod 2) =  10</a:t>
            </a:r>
          </a:p>
        </p:txBody>
      </p:sp>
      <p:sp>
        <p:nvSpPr>
          <p:cNvPr id="166" name="F) Succ(‘1’) + 276 = 277"/>
          <p:cNvSpPr txBox="1"/>
          <p:nvPr/>
        </p:nvSpPr>
        <p:spPr>
          <a:xfrm>
            <a:off x="4633594" y="2276475"/>
            <a:ext cx="2619969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F) Succ(‘1’) + 276 = 277 </a:t>
            </a:r>
          </a:p>
        </p:txBody>
      </p:sp>
      <p:sp>
        <p:nvSpPr>
          <p:cNvPr id="167" name="G) Pred(‘J’) &gt; Succ(‘I’)"/>
          <p:cNvSpPr txBox="1"/>
          <p:nvPr/>
        </p:nvSpPr>
        <p:spPr>
          <a:xfrm>
            <a:off x="4633594" y="2781300"/>
            <a:ext cx="2358664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G) Pred(‘J’) &gt; Succ(‘I’)</a:t>
            </a:r>
          </a:p>
        </p:txBody>
      </p:sp>
      <p:sp>
        <p:nvSpPr>
          <p:cNvPr id="168" name="H) A:=true;…"/>
          <p:cNvSpPr txBox="1"/>
          <p:nvPr/>
        </p:nvSpPr>
        <p:spPr>
          <a:xfrm>
            <a:off x="4633594" y="3500437"/>
            <a:ext cx="2701899" cy="61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H) A:=true;</a:t>
            </a:r>
          </a:p>
          <a:p>
            <a:pPr/>
            <a:r>
              <a:t>	A = Succ(False) </a:t>
            </a:r>
          </a:p>
        </p:txBody>
      </p:sp>
      <p:sp>
        <p:nvSpPr>
          <p:cNvPr id="169" name="I) variableA:real;…"/>
          <p:cNvSpPr txBox="1"/>
          <p:nvPr/>
        </p:nvSpPr>
        <p:spPr>
          <a:xfrm>
            <a:off x="4628832" y="4292600"/>
            <a:ext cx="2549871" cy="61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I) variableA:real;</a:t>
            </a:r>
          </a:p>
          <a:p>
            <a:pPr/>
            <a:r>
              <a:t>	variableA:= 10;</a:t>
            </a:r>
          </a:p>
        </p:txBody>
      </p:sp>
      <p:sp>
        <p:nvSpPr>
          <p:cNvPr id="170" name="J) resultado:integer;…"/>
          <p:cNvSpPr txBox="1"/>
          <p:nvPr/>
        </p:nvSpPr>
        <p:spPr>
          <a:xfrm>
            <a:off x="4649469" y="5157787"/>
            <a:ext cx="3057524" cy="617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  <a:r>
              <a:t>J) resultado:integer;</a:t>
            </a:r>
          </a:p>
          <a:p>
            <a:pPr/>
            <a:r>
              <a:t>	resultado:= Ord(‘Z’);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racias…"/>
          <p:cNvSpPr txBox="1"/>
          <p:nvPr/>
        </p:nvSpPr>
        <p:spPr>
          <a:xfrm>
            <a:off x="3249294" y="2817336"/>
            <a:ext cx="2270762" cy="561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3200">
                <a:solidFill>
                  <a:srgbClr val="33CC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Gracias…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Diseño predeterminado">
  <a:themeElements>
    <a:clrScheme name="Diseño predeterminad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iseño predeterminado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iseño predeterminad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Diseño predeterminado">
  <a:themeElements>
    <a:clrScheme name="Diseño predeterminado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Diseño predeterminado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iseño predeterminad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