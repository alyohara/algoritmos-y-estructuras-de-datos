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>
      <p:cViewPr varScale="1">
        <p:scale>
          <a:sx n="120" d="100"/>
          <a:sy n="120" d="100"/>
        </p:scale>
        <p:origin x="14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0A7880-2F28-4A53-A5B0-2EE9ED92631E}" type="datetimeFigureOut">
              <a:rPr lang="es-AR" smtClean="0"/>
              <a:t>12/4/22</a:t>
            </a:fld>
            <a:endParaRPr lang="es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DCDD0-8F0E-44E5-9485-EF16C55D84F4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095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7210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1687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39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005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9373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3058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2321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758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506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168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434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3764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F41BD-17BD-49DE-A483-6D6A6F75F090}" type="datetimeFigureOut">
              <a:rPr lang="es-AR" smtClean="0"/>
              <a:t>12/4/22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42DDD-9C8E-4337-8DFE-4A9F66C9C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36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" y="1700808"/>
            <a:ext cx="9143999" cy="1008112"/>
          </a:xfrm>
        </p:spPr>
        <p:txBody>
          <a:bodyPr>
            <a:normAutofit/>
          </a:bodyPr>
          <a:lstStyle/>
          <a:p>
            <a:r>
              <a:rPr lang="es-ES" sz="4000" b="1" dirty="0"/>
              <a:t>Introducción a la Programación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" y="3645024"/>
            <a:ext cx="9143999" cy="1800200"/>
          </a:xfrm>
        </p:spPr>
        <p:txBody>
          <a:bodyPr>
            <a:noAutofit/>
          </a:bodyPr>
          <a:lstStyle/>
          <a:p>
            <a:endParaRPr lang="es-ES" sz="2800" dirty="0"/>
          </a:p>
          <a:p>
            <a:r>
              <a:rPr lang="es-ES" sz="2800" dirty="0"/>
              <a:t>Pseudocódigo</a:t>
            </a:r>
          </a:p>
          <a:p>
            <a:endParaRPr lang="es-E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– Miaton – Ambrossio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FC46-6AD7-4819-A110-1F0702C493D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5300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2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– Miaton – Ambrossio</a:t>
            </a:r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4680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Un pseudocódigo, es una serie de palabras léxicas y gramaticales referidos a los lenguajes de programación, pero sin llegar a la rigidez de la sintaxis de estos ni a la fluidez del lenguaje coloquial.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s-AR" sz="2400" dirty="0"/>
              <a:t>Características</a:t>
            </a:r>
          </a:p>
          <a:p>
            <a:r>
              <a:rPr lang="es-AR" sz="2400" dirty="0"/>
              <a:t>Codificar programas con mayor agilidad.</a:t>
            </a:r>
          </a:p>
          <a:p>
            <a:r>
              <a:rPr lang="es-AR" sz="2400" dirty="0"/>
              <a:t>Codificar programas en cualquier lenguaje de programación.</a:t>
            </a:r>
          </a:p>
          <a:p>
            <a:r>
              <a:rPr lang="es-AR" sz="2400" dirty="0"/>
              <a:t>Misma validez semántica.</a:t>
            </a:r>
          </a:p>
          <a:p>
            <a:r>
              <a:rPr lang="es-AR" sz="2400" dirty="0"/>
              <a:t>Utiliza una serie de frases en lenguaje común, instrucciones de programación y palabras claves que definen las estructuras básicas</a:t>
            </a:r>
          </a:p>
          <a:p>
            <a:pPr marL="0" indent="0">
              <a:buNone/>
            </a:pPr>
            <a:endParaRPr lang="es-AR" sz="2400" dirty="0"/>
          </a:p>
          <a:p>
            <a:pPr marL="0" indent="0" algn="ctr">
              <a:buNone/>
            </a:pPr>
            <a:r>
              <a:rPr lang="es-AR" sz="2400" b="1" dirty="0"/>
              <a:t>Pseudocódigo = Pseudo (Supuesto) + Código (Instrucción)</a:t>
            </a:r>
          </a:p>
        </p:txBody>
      </p:sp>
    </p:spTree>
    <p:extLst>
      <p:ext uri="{BB962C8B-B14F-4D97-AF65-F5344CB8AC3E}">
        <p14:creationId xmlns:p14="http://schemas.microsoft.com/office/powerpoint/2010/main" val="271200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3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Asignación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1728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Suponiendo las siguientes instrucciones</a:t>
            </a:r>
          </a:p>
          <a:p>
            <a:r>
              <a:rPr lang="es-AR" sz="2400" dirty="0"/>
              <a:t>A ‐ “Asigne el valor 10 a X”</a:t>
            </a:r>
          </a:p>
          <a:p>
            <a:r>
              <a:rPr lang="es-AR" sz="2400" dirty="0"/>
              <a:t>B ‐ “Asigne el valor 1 a Y”</a:t>
            </a:r>
          </a:p>
          <a:p>
            <a:r>
              <a:rPr lang="es-AR" sz="2400" dirty="0"/>
              <a:t>C ‐ “</a:t>
            </a:r>
            <a:r>
              <a:rPr lang="es-AR" sz="2400" dirty="0" err="1"/>
              <a:t>Reemplace</a:t>
            </a:r>
            <a:r>
              <a:rPr lang="es-AR" sz="2400" dirty="0"/>
              <a:t> el valor de la variable X por el valor de la variable Y”</a:t>
            </a:r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403648" y="3068960"/>
            <a:ext cx="6192688" cy="1446393"/>
            <a:chOff x="1109070" y="3350759"/>
            <a:chExt cx="6192688" cy="1446393"/>
          </a:xfrm>
        </p:grpSpPr>
        <p:sp>
          <p:nvSpPr>
            <p:cNvPr id="3" name="Rectangle 2"/>
            <p:cNvSpPr/>
            <p:nvPr/>
          </p:nvSpPr>
          <p:spPr>
            <a:xfrm>
              <a:off x="1403648" y="3573016"/>
              <a:ext cx="144016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 </a:t>
              </a:r>
              <a:r>
                <a:rPr lang="en-US" dirty="0">
                  <a:sym typeface="Wingdings" pitchFamily="2" charset="2"/>
                </a:rPr>
                <a:t> 1</a:t>
              </a:r>
              <a:r>
                <a:rPr lang="en-US" dirty="0"/>
                <a:t>0</a:t>
              </a:r>
            </a:p>
            <a:p>
              <a:pPr algn="ctr"/>
              <a:r>
                <a:rPr lang="en-US" dirty="0"/>
                <a:t>X = 10</a:t>
              </a:r>
            </a:p>
            <a:p>
              <a:pPr algn="ctr"/>
              <a:r>
                <a:rPr lang="en-US" dirty="0"/>
                <a:t>X := 10</a:t>
              </a:r>
              <a:endParaRPr lang="es-AR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491880" y="3573016"/>
              <a:ext cx="144016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 </a:t>
              </a:r>
              <a:r>
                <a:rPr lang="en-US" dirty="0">
                  <a:sym typeface="Wingdings" pitchFamily="2" charset="2"/>
                </a:rPr>
                <a:t> 1</a:t>
              </a:r>
              <a:endParaRPr lang="en-US" dirty="0"/>
            </a:p>
            <a:p>
              <a:pPr algn="ctr"/>
              <a:r>
                <a:rPr lang="en-US" dirty="0"/>
                <a:t>Y = 1</a:t>
              </a:r>
            </a:p>
            <a:p>
              <a:pPr algn="ctr"/>
              <a:r>
                <a:rPr lang="en-US" dirty="0"/>
                <a:t>Y := 1</a:t>
              </a:r>
              <a:endParaRPr lang="es-AR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508104" y="3573016"/>
              <a:ext cx="144016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 </a:t>
              </a:r>
              <a:r>
                <a:rPr lang="en-US" dirty="0">
                  <a:sym typeface="Wingdings" pitchFamily="2" charset="2"/>
                </a:rPr>
                <a:t> Y</a:t>
              </a:r>
              <a:endParaRPr lang="en-US" dirty="0"/>
            </a:p>
            <a:p>
              <a:pPr algn="ctr"/>
              <a:r>
                <a:rPr lang="en-US" dirty="0"/>
                <a:t>X = Y</a:t>
              </a:r>
            </a:p>
            <a:p>
              <a:pPr algn="ctr"/>
              <a:r>
                <a:rPr lang="en-US" dirty="0"/>
                <a:t>X := Y</a:t>
              </a:r>
              <a:endParaRPr lang="es-AR" dirty="0"/>
            </a:p>
          </p:txBody>
        </p:sp>
        <p:sp>
          <p:nvSpPr>
            <p:cNvPr id="4" name="Flowchart: Connector 3"/>
            <p:cNvSpPr/>
            <p:nvPr/>
          </p:nvSpPr>
          <p:spPr>
            <a:xfrm>
              <a:off x="1115616" y="3429000"/>
              <a:ext cx="504056" cy="504056"/>
            </a:xfrm>
            <a:prstGeom prst="flowChartConnecto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s-AR" b="1" dirty="0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3239852" y="3400767"/>
              <a:ext cx="504056" cy="504056"/>
            </a:xfrm>
            <a:prstGeom prst="flowChartConnecto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s-AR" b="1" dirty="0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256076" y="3350759"/>
              <a:ext cx="504056" cy="504056"/>
            </a:xfrm>
            <a:prstGeom prst="flowChartConnecto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s-AR" b="1" dirty="0"/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1109070" y="4339590"/>
              <a:ext cx="6192688" cy="288032"/>
            </a:xfrm>
            <a:prstGeom prst="flowChartProcess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5" name="Rectangle 5"/>
          <p:cNvSpPr txBox="1">
            <a:spLocks noChangeArrowheads="1"/>
          </p:cNvSpPr>
          <p:nvPr/>
        </p:nvSpPr>
        <p:spPr>
          <a:xfrm>
            <a:off x="697590" y="4602038"/>
            <a:ext cx="8066110" cy="1728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Si el valor </a:t>
            </a:r>
            <a:r>
              <a:rPr lang="en-US" sz="2400" dirty="0" err="1"/>
              <a:t>que</a:t>
            </a:r>
            <a:r>
              <a:rPr lang="en-US" sz="2400" dirty="0"/>
              <a:t> se </a:t>
            </a:r>
            <a:r>
              <a:rPr lang="en-US" sz="2400" dirty="0" err="1"/>
              <a:t>desea</a:t>
            </a:r>
            <a:r>
              <a:rPr lang="en-US" sz="2400" dirty="0"/>
              <a:t> </a:t>
            </a:r>
            <a:r>
              <a:rPr lang="en-US" sz="2400" dirty="0" err="1"/>
              <a:t>asignar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ingresado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teclado</a:t>
            </a:r>
            <a:r>
              <a:rPr lang="en-US" sz="2400" dirty="0"/>
              <a:t>, se </a:t>
            </a:r>
            <a:r>
              <a:rPr lang="en-US" sz="2400" dirty="0" err="1"/>
              <a:t>utiliza</a:t>
            </a:r>
            <a:r>
              <a:rPr lang="en-US" sz="2400" dirty="0"/>
              <a:t> la </a:t>
            </a:r>
            <a:r>
              <a:rPr lang="en-US" sz="2400" dirty="0" err="1"/>
              <a:t>instrucción</a:t>
            </a:r>
            <a:r>
              <a:rPr lang="en-US" sz="2400" dirty="0"/>
              <a:t> leer. Si se </a:t>
            </a:r>
            <a:r>
              <a:rPr lang="en-US" sz="2400" dirty="0" err="1"/>
              <a:t>desea</a:t>
            </a:r>
            <a:r>
              <a:rPr lang="en-US" sz="2400" dirty="0"/>
              <a:t> </a:t>
            </a:r>
            <a:r>
              <a:rPr lang="en-US" sz="2400" dirty="0" err="1"/>
              <a:t>mostrar</a:t>
            </a:r>
            <a:r>
              <a:rPr lang="en-US" sz="2400" dirty="0"/>
              <a:t> el valor de </a:t>
            </a:r>
            <a:r>
              <a:rPr lang="en-US" sz="2400" dirty="0" err="1"/>
              <a:t>una</a:t>
            </a:r>
            <a:r>
              <a:rPr lang="en-US" sz="2400" dirty="0"/>
              <a:t> variable en </a:t>
            </a:r>
            <a:r>
              <a:rPr lang="en-US" sz="2400" dirty="0" err="1"/>
              <a:t>pantalla</a:t>
            </a:r>
            <a:r>
              <a:rPr lang="en-US" sz="2400" dirty="0"/>
              <a:t> se </a:t>
            </a:r>
            <a:r>
              <a:rPr lang="en-US" sz="2400" dirty="0" err="1"/>
              <a:t>utiliza</a:t>
            </a:r>
            <a:r>
              <a:rPr lang="en-US" sz="2400" dirty="0"/>
              <a:t> la </a:t>
            </a:r>
            <a:r>
              <a:rPr lang="en-US" sz="2400" dirty="0" err="1"/>
              <a:t>instrucción</a:t>
            </a:r>
            <a:r>
              <a:rPr lang="en-US" sz="2400" dirty="0"/>
              <a:t> </a:t>
            </a:r>
            <a:r>
              <a:rPr lang="en-US" sz="2400" dirty="0" err="1"/>
              <a:t>escribir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Leer (X)</a:t>
            </a:r>
          </a:p>
          <a:p>
            <a:pPr lvl="1"/>
            <a:r>
              <a:rPr lang="en-US" sz="2000" dirty="0" err="1"/>
              <a:t>Escribir</a:t>
            </a:r>
            <a:r>
              <a:rPr lang="en-US" sz="2000" dirty="0"/>
              <a:t> (X)</a:t>
            </a: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11197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4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Repetición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Se utiliza cuando se desea repetir un determinado bloque de instrucciones sobre un índice i (por convención se usa i, sin embargo se puede usar cualquier identificador):</a:t>
            </a:r>
          </a:p>
          <a:p>
            <a:pPr marL="0" indent="0">
              <a:buNone/>
            </a:pPr>
            <a:r>
              <a:rPr lang="es-AR" sz="2400" dirty="0"/>
              <a:t>Supongamos las siguientes instrucciones:</a:t>
            </a:r>
          </a:p>
          <a:p>
            <a:pPr lvl="1"/>
            <a:r>
              <a:rPr lang="es-AR" sz="2000" dirty="0"/>
              <a:t>“Sumarle 10 veces a X el valor de Y”</a:t>
            </a:r>
          </a:p>
          <a:p>
            <a:pPr lvl="1"/>
            <a:r>
              <a:rPr lang="es-AR" sz="2000" dirty="0"/>
              <a:t>“Mostrar en pantalla el valor de la variable X”</a:t>
            </a:r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3347864" y="4077072"/>
            <a:ext cx="2952328" cy="208823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X:= 0</a:t>
            </a:r>
          </a:p>
          <a:p>
            <a:r>
              <a:rPr lang="es-AR" dirty="0"/>
              <a:t>Y:= 1</a:t>
            </a:r>
          </a:p>
          <a:p>
            <a:r>
              <a:rPr lang="es-AR" dirty="0">
                <a:solidFill>
                  <a:srgbClr val="C00000"/>
                </a:solidFill>
              </a:rPr>
              <a:t>para </a:t>
            </a:r>
            <a:r>
              <a:rPr lang="es-AR" dirty="0"/>
              <a:t>I:=0 </a:t>
            </a:r>
            <a:r>
              <a:rPr lang="es-AR" dirty="0">
                <a:solidFill>
                  <a:srgbClr val="C00000"/>
                </a:solidFill>
              </a:rPr>
              <a:t>hasta </a:t>
            </a:r>
            <a:r>
              <a:rPr lang="es-AR" dirty="0"/>
              <a:t>10 </a:t>
            </a:r>
            <a:r>
              <a:rPr lang="es-AR" dirty="0">
                <a:solidFill>
                  <a:srgbClr val="C00000"/>
                </a:solidFill>
              </a:rPr>
              <a:t>hacer</a:t>
            </a:r>
          </a:p>
          <a:p>
            <a:r>
              <a:rPr lang="es-AR" dirty="0"/>
              <a:t>X:= X+Y</a:t>
            </a:r>
          </a:p>
          <a:p>
            <a:r>
              <a:rPr lang="es-AR" dirty="0">
                <a:solidFill>
                  <a:srgbClr val="C00000"/>
                </a:solidFill>
              </a:rPr>
              <a:t>fin para</a:t>
            </a:r>
          </a:p>
          <a:p>
            <a:r>
              <a:rPr lang="es-AR" dirty="0">
                <a:solidFill>
                  <a:schemeClr val="bg1"/>
                </a:solidFill>
              </a:rPr>
              <a:t>escribir (X)</a:t>
            </a:r>
          </a:p>
        </p:txBody>
      </p:sp>
    </p:spTree>
    <p:extLst>
      <p:ext uri="{BB962C8B-B14F-4D97-AF65-F5344CB8AC3E}">
        <p14:creationId xmlns:p14="http://schemas.microsoft.com/office/powerpoint/2010/main" val="292383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5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Decisión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Se utiliza cuando se desea tomar un curso de acción distinto si se verifica una condición.</a:t>
            </a:r>
          </a:p>
          <a:p>
            <a:pPr marL="0" indent="0">
              <a:buNone/>
            </a:pPr>
            <a:r>
              <a:rPr lang="es-AR" sz="2400" dirty="0"/>
              <a:t>Supongamos la siguiente instrucción:</a:t>
            </a:r>
          </a:p>
          <a:p>
            <a:pPr lvl="1"/>
            <a:r>
              <a:rPr lang="es-AR" sz="2000" dirty="0"/>
              <a:t>“Leer un número por teclado e imprimir en pantalla si es negativo o positivo”</a:t>
            </a:r>
            <a:endParaRPr lang="en-US" sz="2000" dirty="0"/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2771800" y="3501008"/>
            <a:ext cx="4176464" cy="266429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Leer(X)</a:t>
            </a:r>
          </a:p>
          <a:p>
            <a:r>
              <a:rPr lang="es-AR" dirty="0">
                <a:solidFill>
                  <a:srgbClr val="C00000"/>
                </a:solidFill>
              </a:rPr>
              <a:t>si</a:t>
            </a:r>
            <a:r>
              <a:rPr lang="es-AR" dirty="0"/>
              <a:t> X&lt;&gt;0 </a:t>
            </a:r>
            <a:r>
              <a:rPr lang="es-AR" dirty="0">
                <a:solidFill>
                  <a:srgbClr val="C00000"/>
                </a:solidFill>
              </a:rPr>
              <a:t>entonces</a:t>
            </a:r>
          </a:p>
          <a:p>
            <a:r>
              <a:rPr lang="es-AR" dirty="0">
                <a:solidFill>
                  <a:srgbClr val="C00000"/>
                </a:solidFill>
              </a:rPr>
              <a:t>	si</a:t>
            </a:r>
            <a:r>
              <a:rPr lang="es-AR" dirty="0"/>
              <a:t> X&gt;0 </a:t>
            </a:r>
            <a:r>
              <a:rPr lang="es-AR" dirty="0">
                <a:solidFill>
                  <a:srgbClr val="C00000"/>
                </a:solidFill>
              </a:rPr>
              <a:t>entonces</a:t>
            </a:r>
          </a:p>
          <a:p>
            <a:r>
              <a:rPr lang="es-AR" dirty="0"/>
              <a:t>		Escribir(“Es positivo”)</a:t>
            </a:r>
          </a:p>
          <a:p>
            <a:r>
              <a:rPr lang="es-AR" dirty="0">
                <a:solidFill>
                  <a:srgbClr val="C00000"/>
                </a:solidFill>
              </a:rPr>
              <a:t>	si no</a:t>
            </a:r>
          </a:p>
          <a:p>
            <a:r>
              <a:rPr lang="es-AR" dirty="0"/>
              <a:t>		Escribir(“Es negativo”)</a:t>
            </a:r>
          </a:p>
          <a:p>
            <a:r>
              <a:rPr lang="es-AR" dirty="0">
                <a:solidFill>
                  <a:srgbClr val="C00000"/>
                </a:solidFill>
              </a:rPr>
              <a:t>	fin si</a:t>
            </a:r>
          </a:p>
          <a:p>
            <a:r>
              <a:rPr lang="es-AR" dirty="0">
                <a:solidFill>
                  <a:srgbClr val="C00000"/>
                </a:solidFill>
              </a:rPr>
              <a:t>si no</a:t>
            </a:r>
          </a:p>
          <a:p>
            <a:r>
              <a:rPr lang="es-AR" dirty="0"/>
              <a:t>	Escribir(“El número es 0”)</a:t>
            </a:r>
          </a:p>
          <a:p>
            <a:r>
              <a:rPr lang="es-AR" dirty="0">
                <a:solidFill>
                  <a:srgbClr val="C00000"/>
                </a:solidFill>
              </a:rPr>
              <a:t>fin si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27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6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Selección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UCALP 2012 - Estructura de Datos y Algoritmos - Miaton</a:t>
            </a:r>
            <a:endParaRPr lang="es-ES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1656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Una construcción similar a la anterior (equivalente en algunos casos)</a:t>
            </a:r>
          </a:p>
          <a:p>
            <a:pPr marL="0" indent="0">
              <a:buNone/>
            </a:pPr>
            <a:r>
              <a:rPr lang="es-AR" sz="2400" dirty="0"/>
              <a:t>Supongamos la siguiente instrucción:</a:t>
            </a:r>
          </a:p>
          <a:p>
            <a:pPr lvl="1"/>
            <a:r>
              <a:rPr lang="es-AR" sz="2000" dirty="0"/>
              <a:t>“Leer una edad por teclado e imprimir en pantalla si es niño, adolescente, adulto o mayor”</a:t>
            </a:r>
            <a:endParaRPr lang="en-US" sz="1600" dirty="0"/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2771800" y="2996952"/>
            <a:ext cx="4176464" cy="37444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leer (edad)</a:t>
            </a:r>
          </a:p>
          <a:p>
            <a:r>
              <a:rPr lang="es-AR" dirty="0">
                <a:solidFill>
                  <a:srgbClr val="C00000"/>
                </a:solidFill>
              </a:rPr>
              <a:t>seleccionar (</a:t>
            </a:r>
            <a:r>
              <a:rPr lang="es-AR" dirty="0">
                <a:solidFill>
                  <a:schemeClr val="bg1"/>
                </a:solidFill>
              </a:rPr>
              <a:t>edad</a:t>
            </a:r>
            <a:r>
              <a:rPr lang="es-AR" dirty="0">
                <a:solidFill>
                  <a:srgbClr val="C00000"/>
                </a:solidFill>
              </a:rPr>
              <a:t>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edad &lt; 10</a:t>
            </a:r>
          </a:p>
          <a:p>
            <a:r>
              <a:rPr lang="es-AR" dirty="0"/>
              <a:t>escribir (“Niño”)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(edad &gt; 10 y edad &lt; 21)</a:t>
            </a:r>
          </a:p>
          <a:p>
            <a:r>
              <a:rPr lang="es-AR" dirty="0"/>
              <a:t>escribir (“Adolescente”)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(edad &gt; 20 y edad &lt; 65)</a:t>
            </a:r>
          </a:p>
          <a:p>
            <a:r>
              <a:rPr lang="es-AR" dirty="0"/>
              <a:t>escribir (“Adulto”)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edad &lt; 64</a:t>
            </a:r>
          </a:p>
          <a:p>
            <a:r>
              <a:rPr lang="es-AR" dirty="0"/>
              <a:t>escribir (“Mayor”)</a:t>
            </a:r>
          </a:p>
          <a:p>
            <a:r>
              <a:rPr lang="es-AR" dirty="0">
                <a:solidFill>
                  <a:srgbClr val="C00000"/>
                </a:solidFill>
              </a:rPr>
              <a:t>en otro caso</a:t>
            </a:r>
          </a:p>
          <a:p>
            <a:r>
              <a:rPr lang="es-AR" dirty="0"/>
              <a:t>escribir (“no esta definido”)</a:t>
            </a:r>
          </a:p>
          <a:p>
            <a:r>
              <a:rPr lang="en-US" dirty="0">
                <a:solidFill>
                  <a:srgbClr val="C00000"/>
                </a:solidFill>
              </a:rPr>
              <a:t>fin </a:t>
            </a:r>
            <a:r>
              <a:rPr lang="en-US" dirty="0" err="1">
                <a:solidFill>
                  <a:srgbClr val="C00000"/>
                </a:solidFill>
              </a:rPr>
              <a:t>seleccionar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112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7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Iteración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26642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El bucle se repite mientras la condición sea cierta, si al llegar por primera vez al bucle mientras la condición es falsa, el cuerpo del bucle no se ejecuta ninguna vez.</a:t>
            </a:r>
          </a:p>
          <a:p>
            <a:endParaRPr lang="es-AR" sz="2400" dirty="0"/>
          </a:p>
          <a:p>
            <a:pPr marL="0" indent="0">
              <a:buNone/>
            </a:pPr>
            <a:r>
              <a:rPr lang="es-AR" sz="2400" dirty="0"/>
              <a:t>Dada la siguiente instrucción:</a:t>
            </a:r>
          </a:p>
          <a:p>
            <a:pPr lvl="1"/>
            <a:r>
              <a:rPr lang="es-AR" sz="2000" dirty="0"/>
              <a:t>“Calcular las potencias de números ingresados por teclado siempre que sean positivos e imprimir en pantalla”</a:t>
            </a:r>
            <a:endParaRPr lang="en-US" sz="20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2771800" y="4455560"/>
            <a:ext cx="4176464" cy="154728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leer (numero)</a:t>
            </a:r>
          </a:p>
          <a:p>
            <a:r>
              <a:rPr lang="es-AR" dirty="0">
                <a:solidFill>
                  <a:srgbClr val="C00000"/>
                </a:solidFill>
              </a:rPr>
              <a:t>mientras</a:t>
            </a:r>
            <a:r>
              <a:rPr lang="es-AR" dirty="0"/>
              <a:t> numero &gt; 0</a:t>
            </a:r>
          </a:p>
          <a:p>
            <a:r>
              <a:rPr lang="es-AR" dirty="0"/>
              <a:t>	escribir (numero * numero)</a:t>
            </a:r>
          </a:p>
          <a:p>
            <a:r>
              <a:rPr lang="es-AR" dirty="0"/>
              <a:t>	leer (numero)</a:t>
            </a:r>
          </a:p>
          <a:p>
            <a:r>
              <a:rPr lang="es-AR" dirty="0">
                <a:solidFill>
                  <a:srgbClr val="C00000"/>
                </a:solidFill>
              </a:rPr>
              <a:t>fin mientras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73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8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Practica</a:t>
            </a:r>
            <a:endParaRPr lang="en-GB" sz="2800" dirty="0"/>
          </a:p>
        </p:txBody>
      </p:sp>
      <p:pic>
        <p:nvPicPr>
          <p:cNvPr id="7" name="3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t="62991" r="38746" b="21003"/>
          <a:stretch/>
        </p:blipFill>
        <p:spPr>
          <a:xfrm>
            <a:off x="1" y="0"/>
            <a:ext cx="5255418" cy="125015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7922094" cy="47525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Antes de codificar, leer atentamente el enunciado apuntado en lenguaje natural cuales son las entradas y salidas del problema y qué proceso de </a:t>
            </a:r>
            <a:r>
              <a:rPr lang="es-AR" sz="2400" dirty="0" err="1"/>
              <a:t>trasnformación</a:t>
            </a:r>
            <a:r>
              <a:rPr lang="es-AR" sz="2400" dirty="0"/>
              <a:t> se realiza.</a:t>
            </a:r>
          </a:p>
          <a:p>
            <a:endParaRPr lang="es-AR" sz="2200" dirty="0"/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Calcular el factorial de un numero </a:t>
            </a:r>
            <a:r>
              <a:rPr lang="es-AR" sz="2400" dirty="0" err="1"/>
              <a:t>leido</a:t>
            </a:r>
            <a:r>
              <a:rPr lang="es-AR" sz="2400" dirty="0"/>
              <a:t> manualmente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Calcular</a:t>
            </a:r>
            <a:r>
              <a:rPr lang="en-US" sz="2400" dirty="0"/>
              <a:t> el </a:t>
            </a:r>
            <a:r>
              <a:rPr lang="en-US" sz="2400" dirty="0" err="1"/>
              <a:t>indice</a:t>
            </a:r>
            <a:r>
              <a:rPr lang="en-US" sz="2400" dirty="0"/>
              <a:t> de </a:t>
            </a:r>
            <a:r>
              <a:rPr lang="en-US" sz="2400" dirty="0" err="1"/>
              <a:t>masa</a:t>
            </a:r>
            <a:r>
              <a:rPr lang="en-US" sz="2400" dirty="0"/>
              <a:t> corporal de </a:t>
            </a:r>
            <a:r>
              <a:rPr lang="en-US" sz="2400" dirty="0" err="1"/>
              <a:t>una</a:t>
            </a:r>
            <a:r>
              <a:rPr lang="en-US" sz="2400" dirty="0"/>
              <a:t> persona (</a:t>
            </a:r>
            <a:r>
              <a:rPr lang="it-IT" sz="2400" dirty="0"/>
              <a:t>IMC = peso (kg) / talla² (mts)²)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Imprima los números del 0 al 100 en pantalla en orden creciente.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la suma de los números de 1 a 100 en pantalla.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los números que hay desde 1 hasta un número ingresado por teclado.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los números del 0 al 100 en pantalla en orden decreciente.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la cantidad de palabras ingresadas por teclado hasta ingresar la palabra “fin”.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 una frase en pantalla leyendo palabra por palabra hasta ingresar la palabra  “fin”</a:t>
            </a:r>
            <a:endParaRPr lang="it-IT" sz="2400" dirty="0"/>
          </a:p>
          <a:p>
            <a:pPr marL="457200" indent="-457200">
              <a:buFont typeface="+mj-lt"/>
              <a:buAutoNum type="arabicPeriod"/>
            </a:pPr>
            <a:endParaRPr lang="es-AR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743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910</Words>
  <Application>Microsoft Macintosh PowerPoint</Application>
  <PresentationFormat>On-screen Show (4:3)</PresentationFormat>
  <Paragraphs>127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Introducción a la Programación</vt:lpstr>
      <vt:lpstr>Pseudocódigo</vt:lpstr>
      <vt:lpstr>Pseudocódigo: Asignación</vt:lpstr>
      <vt:lpstr>Pseudocódigo: Repetición</vt:lpstr>
      <vt:lpstr>Pseudocódigo: Decisión</vt:lpstr>
      <vt:lpstr>Pseudocódigo: Selección</vt:lpstr>
      <vt:lpstr>Pseudocódigo: Iteración</vt:lpstr>
      <vt:lpstr>Practica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</dc:title>
  <dc:creator>Leo Miaton</dc:creator>
  <cp:lastModifiedBy>Agustin Ambrossio</cp:lastModifiedBy>
  <cp:revision>2</cp:revision>
  <dcterms:created xsi:type="dcterms:W3CDTF">2012-04-11T12:40:59Z</dcterms:created>
  <dcterms:modified xsi:type="dcterms:W3CDTF">2022-04-12T15:11:23Z</dcterms:modified>
</cp:coreProperties>
</file>