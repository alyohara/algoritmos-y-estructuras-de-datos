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4" r:id="rId2"/>
    <p:sldId id="266" r:id="rId3"/>
    <p:sldId id="281" r:id="rId4"/>
    <p:sldId id="283" r:id="rId5"/>
    <p:sldId id="282" r:id="rId6"/>
    <p:sldId id="273" r:id="rId7"/>
    <p:sldId id="284" r:id="rId8"/>
    <p:sldId id="285" r:id="rId9"/>
    <p:sldId id="277" r:id="rId10"/>
    <p:sldId id="289" r:id="rId11"/>
    <p:sldId id="286" r:id="rId12"/>
    <p:sldId id="288" r:id="rId13"/>
    <p:sldId id="287" r:id="rId14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A7880-2F28-4A53-A5B0-2EE9ED92631E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DCDD0-8F0E-44E5-9485-EF16C55D84F4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095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1687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39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005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9373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3058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232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758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506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168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434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376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F41BD-17BD-49DE-A483-6D6A6F75F090}" type="datetimeFigureOut">
              <a:rPr lang="es-AR" smtClean="0"/>
              <a:t>13/08/2012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36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" y="1700808"/>
            <a:ext cx="9143999" cy="1008112"/>
          </a:xfrm>
        </p:spPr>
        <p:txBody>
          <a:bodyPr>
            <a:normAutofit/>
          </a:bodyPr>
          <a:lstStyle/>
          <a:p>
            <a:r>
              <a:rPr lang="es-ES" sz="4000" b="1" dirty="0" smtClean="0"/>
              <a:t>Punteros</a:t>
            </a:r>
            <a:endParaRPr lang="es-ES" sz="4000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252536" y="3645024"/>
            <a:ext cx="9143999" cy="1800200"/>
          </a:xfrm>
        </p:spPr>
        <p:txBody>
          <a:bodyPr>
            <a:noAutofit/>
          </a:bodyPr>
          <a:lstStyle/>
          <a:p>
            <a:endParaRPr lang="es-ES" sz="2800" dirty="0" smtClean="0"/>
          </a:p>
          <a:p>
            <a:r>
              <a:rPr lang="es-ES" sz="2800" dirty="0" smtClean="0"/>
              <a:t>Programación I</a:t>
            </a:r>
          </a:p>
          <a:p>
            <a:endParaRPr lang="es-E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FC46-6AD7-4819-A110-1F0702C493D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530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2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Que son los Punteros?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4680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 dirty="0" smtClean="0"/>
              <a:t>Un puntero es </a:t>
            </a:r>
            <a:r>
              <a:rPr lang="es-ES" sz="2800" dirty="0"/>
              <a:t>un tipo especial de variable cuyo valor es una dirección de una posición de memoria, es decir, un puntero contiene la dirección de otra variable.</a:t>
            </a:r>
          </a:p>
          <a:p>
            <a:pPr marL="0" indent="0">
              <a:buNone/>
            </a:pPr>
            <a:endParaRPr lang="es-AR" sz="2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203" y="3287292"/>
            <a:ext cx="3673475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442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3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Declaración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4680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 dirty="0"/>
              <a:t>Para declarar una variable puntero en Pascal se debe especificar el nombre de la variable y el tipo del valor que se almacenará en la posición de memoria a la que el puntero se refiere.</a:t>
            </a:r>
          </a:p>
          <a:p>
            <a:pPr marL="0" indent="0">
              <a:buNone/>
            </a:pPr>
            <a:endParaRPr lang="es-AR" sz="2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10" name="3 CuadroTexto"/>
          <p:cNvSpPr txBox="1">
            <a:spLocks noChangeArrowheads="1"/>
          </p:cNvSpPr>
          <p:nvPr/>
        </p:nvSpPr>
        <p:spPr bwMode="auto">
          <a:xfrm>
            <a:off x="2087561" y="4437112"/>
            <a:ext cx="4968875" cy="83026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sz="2400" dirty="0" err="1">
                <a:latin typeface="Rockwell" pitchFamily="18" charset="0"/>
              </a:rPr>
              <a:t>Type</a:t>
            </a:r>
            <a:endParaRPr lang="es-ES" sz="2400" dirty="0">
              <a:latin typeface="Rockwell" pitchFamily="18" charset="0"/>
            </a:endParaRPr>
          </a:p>
          <a:p>
            <a:pPr eaLnBrk="1" hangingPunct="1"/>
            <a:r>
              <a:rPr lang="es-ES" sz="2400" dirty="0">
                <a:latin typeface="Rockwell" pitchFamily="18" charset="0"/>
              </a:rPr>
              <a:t>	tipo-puntero= ^ tipo dato</a:t>
            </a:r>
          </a:p>
        </p:txBody>
      </p:sp>
    </p:spTree>
    <p:extLst>
      <p:ext uri="{BB962C8B-B14F-4D97-AF65-F5344CB8AC3E}">
        <p14:creationId xmlns:p14="http://schemas.microsoft.com/office/powerpoint/2010/main" val="50210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4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Ejemplo declaración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4680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 dirty="0"/>
              <a:t>Una variable de tipo </a:t>
            </a:r>
            <a:r>
              <a:rPr lang="es-ES" sz="2800" dirty="0" err="1"/>
              <a:t>tipo_puntero</a:t>
            </a:r>
            <a:r>
              <a:rPr lang="es-ES" sz="2800" dirty="0"/>
              <a:t> es un puntero hacia un dato de tipo nombre del tipo. </a:t>
            </a:r>
            <a:r>
              <a:rPr lang="es-ES" sz="2800" dirty="0"/>
              <a:t>El signo </a:t>
            </a:r>
            <a:r>
              <a:rPr lang="es-ES" sz="2800" dirty="0" smtClean="0"/>
              <a:t>“^” </a:t>
            </a:r>
            <a:r>
              <a:rPr lang="es-ES" sz="2800" dirty="0"/>
              <a:t>se lee </a:t>
            </a:r>
            <a:r>
              <a:rPr lang="es-ES" sz="2800" dirty="0" smtClean="0"/>
              <a:t>“apunta hacia”.</a:t>
            </a:r>
          </a:p>
          <a:p>
            <a:pPr marL="0" indent="0">
              <a:buNone/>
            </a:pPr>
            <a:endParaRPr lang="es-AR" sz="2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10" name="2 Marcador de contenido"/>
          <p:cNvSpPr>
            <a:spLocks noGrp="1"/>
          </p:cNvSpPr>
          <p:nvPr/>
        </p:nvSpPr>
        <p:spPr bwMode="auto">
          <a:xfrm>
            <a:off x="457125" y="2780928"/>
            <a:ext cx="4906963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92100" indent="-2921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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1905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0" indent="-51435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ES" sz="2000" dirty="0" smtClean="0"/>
              <a:t>	1. </a:t>
            </a:r>
            <a:r>
              <a:rPr lang="es-ES" sz="2000" dirty="0" err="1" smtClean="0"/>
              <a:t>Type</a:t>
            </a:r>
            <a:endParaRPr lang="es-ES" sz="2000" dirty="0" smtClean="0"/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			</a:t>
            </a:r>
            <a:r>
              <a:rPr lang="es-ES" sz="2000" dirty="0" err="1" smtClean="0"/>
              <a:t>Tipo_puntero</a:t>
            </a:r>
            <a:r>
              <a:rPr lang="es-ES" sz="2000" dirty="0" smtClean="0"/>
              <a:t>= ^</a:t>
            </a:r>
            <a:r>
              <a:rPr lang="es-ES" sz="2000" dirty="0" err="1" smtClean="0"/>
              <a:t>integer</a:t>
            </a:r>
            <a:r>
              <a:rPr lang="es-ES" sz="2000" dirty="0" smtClean="0"/>
              <a:t>;</a:t>
            </a:r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	Var</a:t>
            </a:r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			P: </a:t>
            </a:r>
            <a:r>
              <a:rPr lang="es-ES" sz="2000" dirty="0" err="1" smtClean="0"/>
              <a:t>Tipo_puntero</a:t>
            </a:r>
            <a:r>
              <a:rPr lang="es-ES" sz="2000" dirty="0" smtClean="0"/>
              <a:t>;</a:t>
            </a:r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2. </a:t>
            </a:r>
            <a:r>
              <a:rPr lang="es-ES" sz="2000" dirty="0" err="1" smtClean="0"/>
              <a:t>Type</a:t>
            </a:r>
            <a:endParaRPr lang="es-ES" sz="2000" dirty="0" smtClean="0"/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	</a:t>
            </a:r>
            <a:r>
              <a:rPr lang="es-ES" sz="2000" dirty="0" err="1" smtClean="0"/>
              <a:t>PunteroEntero</a:t>
            </a:r>
            <a:r>
              <a:rPr lang="es-ES" sz="2000" dirty="0" smtClean="0"/>
              <a:t> = ^</a:t>
            </a:r>
            <a:r>
              <a:rPr lang="es-ES" sz="2000" dirty="0" err="1" smtClean="0"/>
              <a:t>integer</a:t>
            </a:r>
            <a:r>
              <a:rPr lang="es-ES" sz="2000" dirty="0" smtClean="0"/>
              <a:t>;</a:t>
            </a:r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    </a:t>
            </a:r>
            <a:r>
              <a:rPr lang="es-ES" sz="2000" dirty="0" err="1" smtClean="0"/>
              <a:t>Type</a:t>
            </a:r>
            <a:endParaRPr lang="es-ES" sz="2000" dirty="0" smtClean="0"/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	</a:t>
            </a:r>
            <a:r>
              <a:rPr lang="es-ES" sz="2000" dirty="0" err="1" smtClean="0"/>
              <a:t>PunteraCar</a:t>
            </a:r>
            <a:r>
              <a:rPr lang="es-ES" sz="2000" dirty="0" smtClean="0"/>
              <a:t>= ^</a:t>
            </a:r>
            <a:r>
              <a:rPr lang="es-ES" sz="2000" dirty="0" err="1" smtClean="0"/>
              <a:t>Char</a:t>
            </a:r>
            <a:r>
              <a:rPr lang="es-ES" sz="2000" dirty="0" smtClean="0"/>
              <a:t>;</a:t>
            </a:r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    Var</a:t>
            </a:r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	P,Q: </a:t>
            </a:r>
            <a:r>
              <a:rPr lang="es-ES" sz="2000" dirty="0" err="1" smtClean="0"/>
              <a:t>PunteroEntero</a:t>
            </a:r>
            <a:r>
              <a:rPr lang="es-ES" sz="2000" dirty="0" smtClean="0"/>
              <a:t>;</a:t>
            </a:r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2000" dirty="0" smtClean="0"/>
              <a:t>	R: </a:t>
            </a:r>
            <a:r>
              <a:rPr lang="es-ES" sz="2000" dirty="0" err="1" smtClean="0"/>
              <a:t>PunteroCar</a:t>
            </a:r>
            <a:r>
              <a:rPr lang="es-ES" sz="2000" dirty="0" smtClean="0"/>
              <a:t>;</a:t>
            </a:r>
          </a:p>
          <a:p>
            <a:pPr marL="862330" lvl="1" indent="-514350" eaLnBrk="1" fontAlgn="auto" hangingPunct="1">
              <a:spcAft>
                <a:spcPts val="0"/>
              </a:spcAft>
              <a:buFontTx/>
              <a:buNone/>
              <a:defRPr/>
            </a:pPr>
            <a:endParaRPr lang="es-ES" dirty="0"/>
          </a:p>
        </p:txBody>
      </p:sp>
      <p:sp>
        <p:nvSpPr>
          <p:cNvPr id="11" name="3 CuadroTexto"/>
          <p:cNvSpPr txBox="1">
            <a:spLocks noChangeArrowheads="1"/>
          </p:cNvSpPr>
          <p:nvPr/>
        </p:nvSpPr>
        <p:spPr bwMode="auto">
          <a:xfrm>
            <a:off x="5724128" y="3140968"/>
            <a:ext cx="31686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>
                <a:latin typeface="+mn-lt"/>
              </a:rPr>
              <a:t>Define tipo cuyos valores apuntan a posiciones que contienen enteros.</a:t>
            </a:r>
          </a:p>
          <a:p>
            <a:pPr eaLnBrk="1" hangingPunct="1"/>
            <a:endParaRPr lang="es-ES" dirty="0">
              <a:latin typeface="+mn-lt"/>
            </a:endParaRPr>
          </a:p>
          <a:p>
            <a:pPr eaLnBrk="1" hangingPunct="1"/>
            <a:r>
              <a:rPr lang="es-ES" dirty="0">
                <a:latin typeface="+mn-lt"/>
              </a:rPr>
              <a:t>Define tipo cuyos valores apuntan a posiciones que contienen caracteres.</a:t>
            </a:r>
          </a:p>
          <a:p>
            <a:pPr eaLnBrk="1" hangingPunct="1"/>
            <a:endParaRPr lang="es-ES" dirty="0">
              <a:latin typeface="+mn-lt"/>
            </a:endParaRPr>
          </a:p>
          <a:p>
            <a:pPr eaLnBrk="1" hangingPunct="1"/>
            <a:r>
              <a:rPr lang="es-ES" dirty="0">
                <a:latin typeface="+mn-lt"/>
              </a:rPr>
              <a:t>P y q apuntan a posiciones que contienen enteros.</a:t>
            </a:r>
          </a:p>
          <a:p>
            <a:pPr eaLnBrk="1" hangingPunct="1"/>
            <a:r>
              <a:rPr lang="es-ES" dirty="0">
                <a:latin typeface="+mn-lt"/>
              </a:rPr>
              <a:t>R apunta a posiciones que contienen caracteres.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4355976" y="3645024"/>
            <a:ext cx="1368152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4211960" y="4725144"/>
            <a:ext cx="1512168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851920" y="5805264"/>
            <a:ext cx="1872208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93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5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Ejemplo declaración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10" name="2 Marcador de contenido"/>
          <p:cNvSpPr>
            <a:spLocks noGrp="1"/>
          </p:cNvSpPr>
          <p:nvPr/>
        </p:nvSpPr>
        <p:spPr bwMode="auto">
          <a:xfrm>
            <a:off x="457124" y="1584824"/>
            <a:ext cx="4906963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92100" indent="-2921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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1905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0" indent="-51435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ES" sz="2000" dirty="0" smtClean="0"/>
              <a:t>3.</a:t>
            </a:r>
          </a:p>
          <a:p>
            <a:pPr eaLnBrk="1" hangingPunct="1">
              <a:buNone/>
            </a:pPr>
            <a:r>
              <a:rPr lang="es-ES" sz="2400" dirty="0" err="1"/>
              <a:t>Type</a:t>
            </a:r>
            <a:endParaRPr lang="es-ES" sz="2400" dirty="0"/>
          </a:p>
          <a:p>
            <a:pPr eaLnBrk="1" hangingPunct="1">
              <a:buNone/>
            </a:pPr>
            <a:r>
              <a:rPr lang="es-ES" sz="2400" dirty="0"/>
              <a:t>     Entrada= RECORD</a:t>
            </a:r>
          </a:p>
          <a:p>
            <a:pPr eaLnBrk="1" hangingPunct="1">
              <a:buNone/>
            </a:pPr>
            <a:r>
              <a:rPr lang="es-ES" sz="2400" dirty="0"/>
              <a:t>	               Nombre: </a:t>
            </a:r>
            <a:r>
              <a:rPr lang="es-ES" sz="2400" dirty="0" err="1"/>
              <a:t>String</a:t>
            </a:r>
            <a:r>
              <a:rPr lang="es-ES" sz="2400" dirty="0"/>
              <a:t>[20];</a:t>
            </a:r>
          </a:p>
          <a:p>
            <a:pPr eaLnBrk="1" hangingPunct="1">
              <a:buNone/>
            </a:pPr>
            <a:r>
              <a:rPr lang="es-ES" sz="2400" dirty="0"/>
              <a:t>                   ID           : 1..maxint;</a:t>
            </a:r>
          </a:p>
          <a:p>
            <a:pPr eaLnBrk="1" hangingPunct="1">
              <a:buNone/>
            </a:pPr>
            <a:r>
              <a:rPr lang="es-ES" sz="2400" dirty="0"/>
              <a:t>		       Costo    : real;</a:t>
            </a:r>
          </a:p>
          <a:p>
            <a:pPr eaLnBrk="1" hangingPunct="1">
              <a:buNone/>
            </a:pPr>
            <a:r>
              <a:rPr lang="es-ES" sz="2400" dirty="0"/>
              <a:t>			</a:t>
            </a:r>
            <a:r>
              <a:rPr lang="es-ES" sz="2400" dirty="0" err="1"/>
              <a:t>End</a:t>
            </a:r>
            <a:r>
              <a:rPr lang="es-ES" sz="2400" dirty="0"/>
              <a:t>;</a:t>
            </a:r>
          </a:p>
          <a:p>
            <a:pPr eaLnBrk="1" hangingPunct="1">
              <a:buNone/>
            </a:pPr>
            <a:r>
              <a:rPr lang="es-ES" sz="2400" dirty="0"/>
              <a:t>Var</a:t>
            </a:r>
          </a:p>
          <a:p>
            <a:pPr eaLnBrk="1" hangingPunct="1">
              <a:buNone/>
            </a:pPr>
            <a:r>
              <a:rPr lang="es-ES" sz="2400" dirty="0"/>
              <a:t>	P: ^</a:t>
            </a:r>
            <a:r>
              <a:rPr lang="es-ES" sz="2400" dirty="0" err="1"/>
              <a:t>integer</a:t>
            </a:r>
            <a:r>
              <a:rPr lang="es-ES" sz="2400" dirty="0"/>
              <a:t>;</a:t>
            </a:r>
          </a:p>
          <a:p>
            <a:pPr eaLnBrk="1" hangingPunct="1">
              <a:buNone/>
            </a:pPr>
            <a:r>
              <a:rPr lang="es-ES" sz="2400" dirty="0"/>
              <a:t>	Q: ^</a:t>
            </a:r>
            <a:r>
              <a:rPr lang="es-ES" sz="2400" dirty="0" err="1"/>
              <a:t>Char</a:t>
            </a:r>
            <a:r>
              <a:rPr lang="es-ES" sz="2400" dirty="0"/>
              <a:t>;</a:t>
            </a:r>
          </a:p>
          <a:p>
            <a:pPr eaLnBrk="1" hangingPunct="1">
              <a:buNone/>
            </a:pPr>
            <a:r>
              <a:rPr lang="es-ES" sz="2400" dirty="0"/>
              <a:t>	R: ^Entrada;</a:t>
            </a:r>
          </a:p>
          <a:p>
            <a:pPr eaLnBrk="1" hangingPunct="1">
              <a:buNone/>
            </a:pPr>
            <a:endParaRPr lang="es-ES" sz="2400" dirty="0"/>
          </a:p>
        </p:txBody>
      </p:sp>
      <p:sp>
        <p:nvSpPr>
          <p:cNvPr id="11" name="3 CuadroTexto"/>
          <p:cNvSpPr txBox="1">
            <a:spLocks noChangeArrowheads="1"/>
          </p:cNvSpPr>
          <p:nvPr/>
        </p:nvSpPr>
        <p:spPr bwMode="auto">
          <a:xfrm>
            <a:off x="4689542" y="4797152"/>
            <a:ext cx="41767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dirty="0" smtClean="0"/>
              <a:t>En este ejemplo se define </a:t>
            </a:r>
            <a:r>
              <a:rPr lang="es-ES" dirty="0"/>
              <a:t>tres variables puntero P, Q y R</a:t>
            </a:r>
            <a:r>
              <a:rPr lang="es-ES" dirty="0" smtClean="0"/>
              <a:t>.</a:t>
            </a:r>
          </a:p>
          <a:p>
            <a:r>
              <a:rPr lang="es-ES" dirty="0" smtClean="0"/>
              <a:t>P </a:t>
            </a:r>
            <a:r>
              <a:rPr lang="es-ES" dirty="0"/>
              <a:t>se limita a datos enteros, Q se limita a datos carácter y R se limita a datos de tipo registro ‘Entrada’.</a:t>
            </a:r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552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6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Creación y Eliminación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>
          <a:xfrm>
            <a:off x="655260" y="1484784"/>
            <a:ext cx="8066110" cy="4680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lang="es-ES" sz="2800" dirty="0" smtClean="0"/>
              <a:t>Supongamos </a:t>
            </a:r>
            <a:r>
              <a:rPr lang="es-ES" sz="2800" dirty="0"/>
              <a:t>las siguientes instrucciones:</a:t>
            </a:r>
          </a:p>
          <a:p>
            <a:pPr lvl="1">
              <a:spcBef>
                <a:spcPts val="0"/>
              </a:spcBef>
              <a:defRPr/>
            </a:pPr>
            <a:r>
              <a:rPr lang="es-ES" sz="2400" dirty="0"/>
              <a:t>P^:= 1000       </a:t>
            </a:r>
            <a:r>
              <a:rPr lang="es-ES" sz="2400" dirty="0" smtClean="0"/>
              <a:t>  </a:t>
            </a:r>
            <a:r>
              <a:rPr lang="es-ES" sz="2400" dirty="0"/>
              <a:t>el valor de P^ es 1000</a:t>
            </a:r>
          </a:p>
          <a:p>
            <a:pPr lvl="1">
              <a:spcBef>
                <a:spcPts val="0"/>
              </a:spcBef>
              <a:defRPr/>
            </a:pPr>
            <a:r>
              <a:rPr lang="es-ES" sz="2400" dirty="0"/>
              <a:t>3 * P^ + 500     toma el valor de 3500</a:t>
            </a:r>
          </a:p>
          <a:p>
            <a:pPr>
              <a:spcBef>
                <a:spcPts val="0"/>
              </a:spcBef>
              <a:defRPr/>
            </a:pPr>
            <a:endParaRPr lang="es-ES" sz="2800" dirty="0"/>
          </a:p>
          <a:p>
            <a:pPr marL="0" indent="0">
              <a:buNone/>
              <a:defRPr/>
            </a:pPr>
            <a:r>
              <a:rPr lang="es-ES" sz="2800" dirty="0"/>
              <a:t>Antes de que un programa utilice un puntero, se requiere primero espacio para el tipo de dato objeto de la dirección del puntero. </a:t>
            </a:r>
            <a:r>
              <a:rPr lang="es-ES" sz="2800" dirty="0"/>
              <a:t>En otras palabras, un programa debe inicializar sus punteros, su declaración no basta; para inicializar un puntero se debe utilizar el procedimiento </a:t>
            </a:r>
            <a:r>
              <a:rPr lang="es-ES" sz="2800" dirty="0" smtClean="0"/>
              <a:t>NEW -&gt; </a:t>
            </a:r>
          </a:p>
        </p:txBody>
      </p:sp>
    </p:spTree>
    <p:extLst>
      <p:ext uri="{BB962C8B-B14F-4D97-AF65-F5344CB8AC3E}">
        <p14:creationId xmlns:p14="http://schemas.microsoft.com/office/powerpoint/2010/main" val="272295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7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Creación: NEW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10" name="2 Marcador de contenido"/>
          <p:cNvSpPr>
            <a:spLocks noGrp="1"/>
          </p:cNvSpPr>
          <p:nvPr/>
        </p:nvSpPr>
        <p:spPr bwMode="auto">
          <a:xfrm>
            <a:off x="457200" y="1383507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92100" indent="-2921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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1905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>
              <a:buFont typeface="Arial" pitchFamily="34" charset="0"/>
              <a:buChar char="•"/>
            </a:pPr>
            <a:r>
              <a:rPr lang="es-ES" dirty="0" smtClean="0"/>
              <a:t>El procedimiento </a:t>
            </a:r>
            <a:r>
              <a:rPr lang="es-ES" b="1" dirty="0" smtClean="0"/>
              <a:t>New </a:t>
            </a:r>
            <a:r>
              <a:rPr lang="es-ES" dirty="0" smtClean="0"/>
              <a:t>crea una nueva variable dinámica y establece que una variable puntero apunte a ella.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s-ES" dirty="0" smtClean="0"/>
              <a:t>Formato:</a:t>
            </a:r>
          </a:p>
          <a:p>
            <a:pPr eaLnBrk="1" hangingPunct="1">
              <a:buFont typeface="Arial" pitchFamily="34" charset="0"/>
              <a:buChar char="•"/>
            </a:pPr>
            <a:endParaRPr lang="es-ES" dirty="0" smtClean="0"/>
          </a:p>
          <a:p>
            <a:pPr eaLnBrk="1" hangingPunct="1">
              <a:buFont typeface="Arial" pitchFamily="34" charset="0"/>
              <a:buChar char="•"/>
            </a:pPr>
            <a:endParaRPr lang="es-ES" dirty="0" smtClean="0"/>
          </a:p>
          <a:p>
            <a:pPr eaLnBrk="1" hangingPunct="1">
              <a:buFont typeface="Arial" pitchFamily="34" charset="0"/>
              <a:buChar char="•"/>
            </a:pPr>
            <a:r>
              <a:rPr lang="es-ES" dirty="0" smtClean="0"/>
              <a:t>Ejemplo:   New(P)</a:t>
            </a:r>
          </a:p>
        </p:txBody>
      </p:sp>
      <p:sp>
        <p:nvSpPr>
          <p:cNvPr id="11" name="3 CuadroTexto"/>
          <p:cNvSpPr txBox="1">
            <a:spLocks noChangeArrowheads="1"/>
          </p:cNvSpPr>
          <p:nvPr/>
        </p:nvSpPr>
        <p:spPr bwMode="auto">
          <a:xfrm>
            <a:off x="2700338" y="3526632"/>
            <a:ext cx="1511300" cy="368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>
                <a:latin typeface="+mn-lt"/>
              </a:rPr>
              <a:t>New(P)</a:t>
            </a:r>
          </a:p>
        </p:txBody>
      </p:sp>
      <p:sp>
        <p:nvSpPr>
          <p:cNvPr id="12" name="4 CuadroTexto"/>
          <p:cNvSpPr txBox="1">
            <a:spLocks noChangeArrowheads="1"/>
          </p:cNvSpPr>
          <p:nvPr/>
        </p:nvSpPr>
        <p:spPr bwMode="auto">
          <a:xfrm>
            <a:off x="2700338" y="3886994"/>
            <a:ext cx="28082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>
                <a:latin typeface="+mn-lt"/>
              </a:rPr>
              <a:t>P variable puntero</a:t>
            </a:r>
          </a:p>
        </p:txBody>
      </p:sp>
      <p:sp>
        <p:nvSpPr>
          <p:cNvPr id="13" name="5 CuadroTexto"/>
          <p:cNvSpPr txBox="1">
            <a:spLocks noChangeArrowheads="1"/>
          </p:cNvSpPr>
          <p:nvPr/>
        </p:nvSpPr>
        <p:spPr bwMode="auto">
          <a:xfrm>
            <a:off x="1590754" y="4891002"/>
            <a:ext cx="1512887" cy="3698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s-AR">
              <a:latin typeface="+mn-lt"/>
            </a:endParaRPr>
          </a:p>
        </p:txBody>
      </p:sp>
      <p:cxnSp>
        <p:nvCxnSpPr>
          <p:cNvPr id="15" name="7 Conector recto de flecha"/>
          <p:cNvCxnSpPr>
            <a:stCxn id="13" idx="3"/>
          </p:cNvCxnSpPr>
          <p:nvPr/>
        </p:nvCxnSpPr>
        <p:spPr>
          <a:xfrm>
            <a:off x="3103641" y="5076739"/>
            <a:ext cx="2016125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8 CuadroTexto"/>
          <p:cNvSpPr txBox="1">
            <a:spLocks noChangeArrowheads="1"/>
          </p:cNvSpPr>
          <p:nvPr/>
        </p:nvSpPr>
        <p:spPr bwMode="auto">
          <a:xfrm>
            <a:off x="1303218" y="4918784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>
                <a:latin typeface="+mn-lt"/>
              </a:rPr>
              <a:t>P</a:t>
            </a:r>
          </a:p>
        </p:txBody>
      </p:sp>
      <p:sp>
        <p:nvSpPr>
          <p:cNvPr id="17" name="9 CuadroTexto"/>
          <p:cNvSpPr txBox="1">
            <a:spLocks noChangeArrowheads="1"/>
          </p:cNvSpPr>
          <p:nvPr/>
        </p:nvSpPr>
        <p:spPr bwMode="auto">
          <a:xfrm>
            <a:off x="1591250" y="5375865"/>
            <a:ext cx="1512888" cy="3698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s-AR">
              <a:latin typeface="+mn-lt"/>
            </a:endParaRPr>
          </a:p>
        </p:txBody>
      </p:sp>
      <p:sp>
        <p:nvSpPr>
          <p:cNvPr id="18" name="10 CuadroTexto"/>
          <p:cNvSpPr txBox="1">
            <a:spLocks noChangeArrowheads="1"/>
          </p:cNvSpPr>
          <p:nvPr/>
        </p:nvSpPr>
        <p:spPr bwMode="auto">
          <a:xfrm>
            <a:off x="5048329" y="5375865"/>
            <a:ext cx="1511300" cy="3698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endParaRPr lang="es-ES" dirty="0">
              <a:latin typeface="+mn-lt"/>
            </a:endParaRPr>
          </a:p>
        </p:txBody>
      </p:sp>
      <p:cxnSp>
        <p:nvCxnSpPr>
          <p:cNvPr id="19" name="11 Conector recto de flecha"/>
          <p:cNvCxnSpPr>
            <a:stCxn id="17" idx="3"/>
            <a:endCxn id="18" idx="1"/>
          </p:cNvCxnSpPr>
          <p:nvPr/>
        </p:nvCxnSpPr>
        <p:spPr>
          <a:xfrm>
            <a:off x="3104138" y="5560809"/>
            <a:ext cx="19441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2 CuadroTexto"/>
          <p:cNvSpPr txBox="1">
            <a:spLocks noChangeArrowheads="1"/>
          </p:cNvSpPr>
          <p:nvPr/>
        </p:nvSpPr>
        <p:spPr bwMode="auto">
          <a:xfrm>
            <a:off x="1303143" y="5435377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>
                <a:latin typeface="+mn-lt"/>
              </a:rPr>
              <a:t>P</a:t>
            </a:r>
          </a:p>
        </p:txBody>
      </p:sp>
      <p:sp>
        <p:nvSpPr>
          <p:cNvPr id="21" name="13 CuadroTexto"/>
          <p:cNvSpPr txBox="1">
            <a:spLocks noChangeArrowheads="1"/>
          </p:cNvSpPr>
          <p:nvPr/>
        </p:nvSpPr>
        <p:spPr bwMode="auto">
          <a:xfrm>
            <a:off x="6804719" y="4822145"/>
            <a:ext cx="266382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 smtClean="0">
                <a:latin typeface="+mn-lt"/>
              </a:rPr>
              <a:t>P</a:t>
            </a:r>
          </a:p>
          <a:p>
            <a:pPr eaLnBrk="1" hangingPunct="1"/>
            <a:endParaRPr lang="es-ES" dirty="0">
              <a:latin typeface="+mn-lt"/>
            </a:endParaRPr>
          </a:p>
          <a:p>
            <a:pPr eaLnBrk="1" hangingPunct="1"/>
            <a:r>
              <a:rPr lang="es-ES" dirty="0" smtClean="0">
                <a:latin typeface="+mn-lt"/>
              </a:rPr>
              <a:t>New(P)</a:t>
            </a:r>
          </a:p>
          <a:p>
            <a:pPr eaLnBrk="1" hangingPunct="1"/>
            <a:endParaRPr lang="es-ES" dirty="0">
              <a:latin typeface="+mn-lt"/>
            </a:endParaRPr>
          </a:p>
          <a:p>
            <a:pPr eaLnBrk="1" hangingPunct="1"/>
            <a:r>
              <a:rPr lang="es-ES" dirty="0" smtClean="0">
                <a:latin typeface="+mn-lt"/>
              </a:rPr>
              <a:t>P</a:t>
            </a:r>
            <a:r>
              <a:rPr lang="es-ES" dirty="0">
                <a:latin typeface="+mn-lt"/>
              </a:rPr>
              <a:t>^:= </a:t>
            </a:r>
            <a:r>
              <a:rPr lang="es-ES" dirty="0" smtClean="0">
                <a:latin typeface="+mn-lt"/>
              </a:rPr>
              <a:t>25.0</a:t>
            </a:r>
            <a:endParaRPr lang="es-ES" dirty="0">
              <a:latin typeface="+mn-lt"/>
            </a:endParaRPr>
          </a:p>
        </p:txBody>
      </p:sp>
      <p:sp>
        <p:nvSpPr>
          <p:cNvPr id="22" name="9 CuadroTexto"/>
          <p:cNvSpPr txBox="1">
            <a:spLocks noChangeArrowheads="1"/>
          </p:cNvSpPr>
          <p:nvPr/>
        </p:nvSpPr>
        <p:spPr bwMode="auto">
          <a:xfrm>
            <a:off x="1591325" y="5879921"/>
            <a:ext cx="1512888" cy="3698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s-AR">
              <a:latin typeface="+mn-lt"/>
            </a:endParaRPr>
          </a:p>
        </p:txBody>
      </p:sp>
      <p:sp>
        <p:nvSpPr>
          <p:cNvPr id="23" name="10 CuadroTexto"/>
          <p:cNvSpPr txBox="1">
            <a:spLocks noChangeArrowheads="1"/>
          </p:cNvSpPr>
          <p:nvPr/>
        </p:nvSpPr>
        <p:spPr bwMode="auto">
          <a:xfrm>
            <a:off x="5048404" y="5879921"/>
            <a:ext cx="1511300" cy="3698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s-ES">
                <a:latin typeface="+mn-lt"/>
              </a:rPr>
              <a:t>25.0</a:t>
            </a:r>
          </a:p>
        </p:txBody>
      </p:sp>
      <p:cxnSp>
        <p:nvCxnSpPr>
          <p:cNvPr id="24" name="11 Conector recto de flecha"/>
          <p:cNvCxnSpPr>
            <a:stCxn id="22" idx="3"/>
            <a:endCxn id="23" idx="1"/>
          </p:cNvCxnSpPr>
          <p:nvPr/>
        </p:nvCxnSpPr>
        <p:spPr>
          <a:xfrm>
            <a:off x="3104213" y="6064865"/>
            <a:ext cx="19441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12 CuadroTexto"/>
          <p:cNvSpPr txBox="1">
            <a:spLocks noChangeArrowheads="1"/>
          </p:cNvSpPr>
          <p:nvPr/>
        </p:nvSpPr>
        <p:spPr bwMode="auto">
          <a:xfrm>
            <a:off x="1303218" y="5939433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>
                <a:latin typeface="+mn-lt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64131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8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Eliminación/Liberar: DISPOSE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10" name="2 Marcador de contenido"/>
          <p:cNvSpPr>
            <a:spLocks noGrp="1"/>
          </p:cNvSpPr>
          <p:nvPr/>
        </p:nvSpPr>
        <p:spPr bwMode="auto">
          <a:xfrm>
            <a:off x="457200" y="1383507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92100" indent="-2921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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1905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>
              <a:buFont typeface="Arial" pitchFamily="34" charset="0"/>
              <a:buChar char="•"/>
            </a:pPr>
            <a:r>
              <a:rPr lang="es-ES" dirty="0" smtClean="0"/>
              <a:t>El procedimiento </a:t>
            </a:r>
            <a:r>
              <a:rPr lang="es-ES" b="1" dirty="0" err="1" smtClean="0"/>
              <a:t>Dispose</a:t>
            </a:r>
            <a:r>
              <a:rPr lang="es-ES" b="1" dirty="0" smtClean="0"/>
              <a:t> </a:t>
            </a:r>
            <a:r>
              <a:rPr lang="es-ES" dirty="0" smtClean="0"/>
              <a:t>libera </a:t>
            </a:r>
            <a:r>
              <a:rPr lang="es-ES" dirty="0" smtClean="0"/>
              <a:t>la posición de memoria ocupada por una variable dinámica:</a:t>
            </a:r>
          </a:p>
          <a:p>
            <a:pPr eaLnBrk="1" hangingPunct="1">
              <a:buFont typeface="Arial" pitchFamily="34" charset="0"/>
              <a:buChar char="•"/>
            </a:pPr>
            <a:endParaRPr lang="es-ES" dirty="0" smtClean="0"/>
          </a:p>
          <a:p>
            <a:pPr eaLnBrk="1" hangingPunct="1">
              <a:buFont typeface="Arial" pitchFamily="34" charset="0"/>
              <a:buChar char="•"/>
            </a:pPr>
            <a:r>
              <a:rPr lang="es-ES" dirty="0" smtClean="0"/>
              <a:t>Formato:</a:t>
            </a:r>
          </a:p>
          <a:p>
            <a:pPr eaLnBrk="1" hangingPunct="1">
              <a:buFont typeface="Arial" pitchFamily="34" charset="0"/>
              <a:buChar char="•"/>
            </a:pPr>
            <a:endParaRPr lang="es-ES" dirty="0" smtClean="0"/>
          </a:p>
          <a:p>
            <a:pPr eaLnBrk="1" hangingPunct="1">
              <a:buFont typeface="Arial" pitchFamily="34" charset="0"/>
              <a:buChar char="•"/>
            </a:pPr>
            <a:endParaRPr lang="es-ES" dirty="0" smtClean="0"/>
          </a:p>
          <a:p>
            <a:pPr eaLnBrk="1" hangingPunct="1">
              <a:buFont typeface="Arial" pitchFamily="34" charset="0"/>
              <a:buChar char="•"/>
            </a:pPr>
            <a:r>
              <a:rPr lang="es-ES" dirty="0" smtClean="0"/>
              <a:t>Ejemplo</a:t>
            </a:r>
            <a:r>
              <a:rPr lang="es-ES" dirty="0" smtClean="0"/>
              <a:t>:</a:t>
            </a:r>
            <a:endParaRPr lang="es-ES" dirty="0" smtClean="0"/>
          </a:p>
        </p:txBody>
      </p:sp>
      <p:sp>
        <p:nvSpPr>
          <p:cNvPr id="11" name="3 CuadroTexto"/>
          <p:cNvSpPr txBox="1">
            <a:spLocks noChangeArrowheads="1"/>
          </p:cNvSpPr>
          <p:nvPr/>
        </p:nvSpPr>
        <p:spPr bwMode="auto">
          <a:xfrm>
            <a:off x="2700338" y="3526632"/>
            <a:ext cx="1511300" cy="368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 err="1" smtClean="0">
                <a:latin typeface="+mn-lt"/>
              </a:rPr>
              <a:t>Dispose</a:t>
            </a:r>
            <a:r>
              <a:rPr lang="es-ES" dirty="0" smtClean="0">
                <a:latin typeface="+mn-lt"/>
              </a:rPr>
              <a:t>(P</a:t>
            </a:r>
            <a:r>
              <a:rPr lang="es-ES" dirty="0">
                <a:latin typeface="+mn-lt"/>
              </a:rPr>
              <a:t>)</a:t>
            </a:r>
          </a:p>
        </p:txBody>
      </p:sp>
      <p:sp>
        <p:nvSpPr>
          <p:cNvPr id="12" name="4 CuadroTexto"/>
          <p:cNvSpPr txBox="1">
            <a:spLocks noChangeArrowheads="1"/>
          </p:cNvSpPr>
          <p:nvPr/>
        </p:nvSpPr>
        <p:spPr bwMode="auto">
          <a:xfrm>
            <a:off x="2700338" y="3886994"/>
            <a:ext cx="28082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>
                <a:latin typeface="+mn-lt"/>
              </a:rPr>
              <a:t>P variable puntero</a:t>
            </a:r>
          </a:p>
        </p:txBody>
      </p:sp>
      <p:sp>
        <p:nvSpPr>
          <p:cNvPr id="17" name="9 CuadroTexto"/>
          <p:cNvSpPr txBox="1">
            <a:spLocks noChangeArrowheads="1"/>
          </p:cNvSpPr>
          <p:nvPr/>
        </p:nvSpPr>
        <p:spPr bwMode="auto">
          <a:xfrm>
            <a:off x="1591250" y="5375865"/>
            <a:ext cx="1512888" cy="3698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s-AR">
              <a:latin typeface="+mn-lt"/>
            </a:endParaRPr>
          </a:p>
        </p:txBody>
      </p:sp>
      <p:sp>
        <p:nvSpPr>
          <p:cNvPr id="18" name="10 CuadroTexto"/>
          <p:cNvSpPr txBox="1">
            <a:spLocks noChangeArrowheads="1"/>
          </p:cNvSpPr>
          <p:nvPr/>
        </p:nvSpPr>
        <p:spPr bwMode="auto">
          <a:xfrm>
            <a:off x="5048329" y="5375865"/>
            <a:ext cx="1511300" cy="3698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endParaRPr lang="es-ES" dirty="0">
              <a:latin typeface="+mn-lt"/>
            </a:endParaRPr>
          </a:p>
        </p:txBody>
      </p:sp>
      <p:cxnSp>
        <p:nvCxnSpPr>
          <p:cNvPr id="19" name="11 Conector recto de flecha"/>
          <p:cNvCxnSpPr>
            <a:stCxn id="17" idx="3"/>
            <a:endCxn id="18" idx="1"/>
          </p:cNvCxnSpPr>
          <p:nvPr/>
        </p:nvCxnSpPr>
        <p:spPr>
          <a:xfrm>
            <a:off x="3104138" y="5560809"/>
            <a:ext cx="19441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2 CuadroTexto"/>
          <p:cNvSpPr txBox="1">
            <a:spLocks noChangeArrowheads="1"/>
          </p:cNvSpPr>
          <p:nvPr/>
        </p:nvSpPr>
        <p:spPr bwMode="auto">
          <a:xfrm>
            <a:off x="1303143" y="5435377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>
                <a:latin typeface="+mn-lt"/>
              </a:rPr>
              <a:t>P</a:t>
            </a:r>
          </a:p>
        </p:txBody>
      </p:sp>
      <p:sp>
        <p:nvSpPr>
          <p:cNvPr id="21" name="13 CuadroTexto"/>
          <p:cNvSpPr txBox="1">
            <a:spLocks noChangeArrowheads="1"/>
          </p:cNvSpPr>
          <p:nvPr/>
        </p:nvSpPr>
        <p:spPr bwMode="auto">
          <a:xfrm>
            <a:off x="6912297" y="5376420"/>
            <a:ext cx="2124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 smtClean="0">
                <a:latin typeface="+mn-lt"/>
              </a:rPr>
              <a:t>Situación inicial</a:t>
            </a:r>
          </a:p>
          <a:p>
            <a:pPr eaLnBrk="1" hangingPunct="1"/>
            <a:endParaRPr lang="es-ES" dirty="0">
              <a:latin typeface="+mn-lt"/>
            </a:endParaRPr>
          </a:p>
          <a:p>
            <a:pPr eaLnBrk="1" hangingPunct="1"/>
            <a:r>
              <a:rPr lang="es-ES" dirty="0" smtClean="0">
                <a:latin typeface="+mn-lt"/>
              </a:rPr>
              <a:t>Situación después del </a:t>
            </a:r>
            <a:r>
              <a:rPr lang="es-ES" dirty="0" err="1" smtClean="0">
                <a:latin typeface="+mn-lt"/>
              </a:rPr>
              <a:t>Dispose</a:t>
            </a:r>
            <a:r>
              <a:rPr lang="es-ES" dirty="0" smtClean="0">
                <a:latin typeface="+mn-lt"/>
              </a:rPr>
              <a:t> P</a:t>
            </a:r>
            <a:endParaRPr lang="es-ES" dirty="0">
              <a:latin typeface="+mn-lt"/>
            </a:endParaRPr>
          </a:p>
        </p:txBody>
      </p:sp>
      <p:sp>
        <p:nvSpPr>
          <p:cNvPr id="22" name="9 CuadroTexto"/>
          <p:cNvSpPr txBox="1">
            <a:spLocks noChangeArrowheads="1"/>
          </p:cNvSpPr>
          <p:nvPr/>
        </p:nvSpPr>
        <p:spPr bwMode="auto">
          <a:xfrm>
            <a:off x="1591325" y="5879921"/>
            <a:ext cx="1512888" cy="3698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endParaRPr lang="es-AR">
              <a:latin typeface="+mn-lt"/>
            </a:endParaRPr>
          </a:p>
        </p:txBody>
      </p:sp>
      <p:cxnSp>
        <p:nvCxnSpPr>
          <p:cNvPr id="24" name="11 Conector recto de flecha"/>
          <p:cNvCxnSpPr>
            <a:stCxn id="22" idx="3"/>
          </p:cNvCxnSpPr>
          <p:nvPr/>
        </p:nvCxnSpPr>
        <p:spPr>
          <a:xfrm>
            <a:off x="3104213" y="6064865"/>
            <a:ext cx="19441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12 CuadroTexto"/>
          <p:cNvSpPr txBox="1">
            <a:spLocks noChangeArrowheads="1"/>
          </p:cNvSpPr>
          <p:nvPr/>
        </p:nvSpPr>
        <p:spPr bwMode="auto">
          <a:xfrm>
            <a:off x="1303218" y="5939433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>
                <a:latin typeface="+mn-lt"/>
              </a:rPr>
              <a:t>P</a:t>
            </a:r>
          </a:p>
        </p:txBody>
      </p:sp>
      <p:sp>
        <p:nvSpPr>
          <p:cNvPr id="26" name="12 CuadroTexto"/>
          <p:cNvSpPr txBox="1">
            <a:spLocks noChangeArrowheads="1"/>
          </p:cNvSpPr>
          <p:nvPr/>
        </p:nvSpPr>
        <p:spPr bwMode="auto">
          <a:xfrm>
            <a:off x="6516216" y="5373216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 smtClean="0">
                <a:latin typeface="+mn-lt"/>
              </a:rPr>
              <a:t>P^</a:t>
            </a:r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5923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9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Constante NIL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8" name="2 Marcador de contenido"/>
          <p:cNvSpPr>
            <a:spLocks noGrp="1"/>
          </p:cNvSpPr>
          <p:nvPr/>
        </p:nvSpPr>
        <p:spPr bwMode="auto">
          <a:xfrm>
            <a:off x="430738" y="170080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92100" indent="-2921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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1905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2400" dirty="0" smtClean="0"/>
              <a:t>Pascal proporciona  una constante predefinida</a:t>
            </a:r>
            <a:r>
              <a:rPr lang="es-ES" sz="2400" b="1" dirty="0" smtClean="0"/>
              <a:t>, </a:t>
            </a:r>
            <a:r>
              <a:rPr lang="es-ES" sz="2400" b="1" dirty="0" err="1" smtClean="0"/>
              <a:t>nil</a:t>
            </a:r>
            <a:r>
              <a:rPr lang="es-ES" sz="2400" b="1" dirty="0" smtClean="0"/>
              <a:t> </a:t>
            </a:r>
            <a:r>
              <a:rPr lang="es-ES" sz="2400" dirty="0" smtClean="0"/>
              <a:t>(nulo). La constante </a:t>
            </a:r>
            <a:r>
              <a:rPr lang="es-ES" sz="2400" dirty="0" err="1" smtClean="0"/>
              <a:t>nil</a:t>
            </a:r>
            <a:r>
              <a:rPr lang="es-ES" sz="2400" dirty="0" smtClean="0"/>
              <a:t> se utiliza para dar un valor a una variable puntero que no apunta a ninguna posición. </a:t>
            </a:r>
            <a:r>
              <a:rPr lang="es-ES" sz="2400" dirty="0" err="1" smtClean="0"/>
              <a:t>Nil</a:t>
            </a:r>
            <a:r>
              <a:rPr lang="es-ES" sz="2400" dirty="0" smtClean="0"/>
              <a:t> puede ser asignada a un puntero de cualquier tipo.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s-ES" sz="2400" dirty="0" smtClean="0"/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s-ES" sz="2400" dirty="0" smtClean="0"/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2400" dirty="0" smtClean="0"/>
              <a:t>Como </a:t>
            </a:r>
            <a:r>
              <a:rPr lang="es-ES" sz="2400" dirty="0" err="1" smtClean="0"/>
              <a:t>nil</a:t>
            </a:r>
            <a:r>
              <a:rPr lang="es-ES" sz="2400" dirty="0" smtClean="0"/>
              <a:t> no apunta a ninguna dirección de memoria, una referencia a p^ es ilegal si el valor de p es </a:t>
            </a:r>
            <a:r>
              <a:rPr lang="es-ES" sz="2400" dirty="0" err="1" smtClean="0"/>
              <a:t>nil</a:t>
            </a:r>
            <a:r>
              <a:rPr lang="es-ES" sz="2400" dirty="0" smtClean="0"/>
              <a:t>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2400" dirty="0" smtClean="0"/>
              <a:t>     p := </a:t>
            </a:r>
            <a:r>
              <a:rPr lang="es-ES" sz="2400" dirty="0" err="1" smtClean="0"/>
              <a:t>nil</a:t>
            </a:r>
            <a:r>
              <a:rPr lang="es-ES" sz="2400" dirty="0" smtClean="0"/>
              <a:t>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ES" sz="2400" dirty="0" smtClean="0"/>
              <a:t>     p^:= 5        es ilegal ya que se instruye a la computadora a almacenar 5 en la posición apuntada por p, pero debido a la primera sentencia (p:=</a:t>
            </a:r>
            <a:r>
              <a:rPr lang="es-ES" sz="2400" dirty="0" err="1" smtClean="0"/>
              <a:t>nil</a:t>
            </a:r>
            <a:r>
              <a:rPr lang="es-ES" sz="2400" dirty="0" smtClean="0"/>
              <a:t>), p no apunta a ninguna dirección.</a:t>
            </a:r>
            <a:endParaRPr lang="es-ES" sz="2400" dirty="0"/>
          </a:p>
        </p:txBody>
      </p:sp>
      <p:sp>
        <p:nvSpPr>
          <p:cNvPr id="9" name="4 CuadroTexto"/>
          <p:cNvSpPr txBox="1">
            <a:spLocks noChangeArrowheads="1"/>
          </p:cNvSpPr>
          <p:nvPr/>
        </p:nvSpPr>
        <p:spPr bwMode="auto">
          <a:xfrm>
            <a:off x="2600851" y="3339108"/>
            <a:ext cx="1512887" cy="3698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>
                <a:latin typeface="Rockwell" pitchFamily="18" charset="0"/>
              </a:rPr>
              <a:t>P:= nil</a:t>
            </a:r>
          </a:p>
        </p:txBody>
      </p:sp>
    </p:spTree>
    <p:extLst>
      <p:ext uri="{BB962C8B-B14F-4D97-AF65-F5344CB8AC3E}">
        <p14:creationId xmlns:p14="http://schemas.microsoft.com/office/powerpoint/2010/main" val="101218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10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Comparación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8" name="2 Marcador de contenido"/>
          <p:cNvSpPr>
            <a:spLocks noGrp="1"/>
          </p:cNvSpPr>
          <p:nvPr/>
        </p:nvSpPr>
        <p:spPr bwMode="auto">
          <a:xfrm>
            <a:off x="430738" y="170080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92100" indent="-2921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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1905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buFont typeface="Arial" pitchFamily="34" charset="0"/>
              <a:buChar char="•"/>
            </a:pPr>
            <a:r>
              <a:rPr lang="en-US" sz="2400" dirty="0"/>
              <a:t>Los </a:t>
            </a:r>
            <a:r>
              <a:rPr lang="en-US" sz="2400" dirty="0" err="1"/>
              <a:t>punteros</a:t>
            </a:r>
            <a:r>
              <a:rPr lang="en-US" sz="2400" dirty="0"/>
              <a:t> </a:t>
            </a:r>
            <a:r>
              <a:rPr lang="en-US" sz="2400" dirty="0" err="1"/>
              <a:t>pueden</a:t>
            </a:r>
            <a:r>
              <a:rPr lang="en-US" sz="2400" dirty="0"/>
              <a:t> </a:t>
            </a:r>
            <a:r>
              <a:rPr lang="en-US" sz="2400" dirty="0" err="1"/>
              <a:t>ser</a:t>
            </a:r>
            <a:r>
              <a:rPr lang="en-US" sz="2400" dirty="0"/>
              <a:t> </a:t>
            </a:r>
            <a:r>
              <a:rPr lang="en-US" sz="2400" dirty="0" err="1"/>
              <a:t>comparados</a:t>
            </a:r>
            <a:r>
              <a:rPr lang="en-US" sz="2400" dirty="0"/>
              <a:t> SOLO en </a:t>
            </a:r>
            <a:r>
              <a:rPr lang="en-US" sz="2400" dirty="0" err="1"/>
              <a:t>expresiones</a:t>
            </a:r>
            <a:r>
              <a:rPr lang="en-US" sz="2400" dirty="0"/>
              <a:t> de </a:t>
            </a:r>
            <a:r>
              <a:rPr lang="en-US" sz="2400" dirty="0" err="1"/>
              <a:t>igualdad</a:t>
            </a: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	If (</a:t>
            </a:r>
            <a:r>
              <a:rPr lang="en-US" sz="2400" dirty="0" err="1"/>
              <a:t>PunteroA</a:t>
            </a:r>
            <a:r>
              <a:rPr lang="en-US" sz="2400" dirty="0"/>
              <a:t> = </a:t>
            </a:r>
            <a:r>
              <a:rPr lang="en-US" sz="2400" dirty="0" err="1"/>
              <a:t>PunteroB</a:t>
            </a:r>
            <a:r>
              <a:rPr lang="en-US" sz="2400" dirty="0"/>
              <a:t>) then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dirty="0" err="1"/>
              <a:t>sentencia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If (</a:t>
            </a:r>
            <a:r>
              <a:rPr lang="en-US" sz="2400" dirty="0" err="1"/>
              <a:t>PunteroA</a:t>
            </a:r>
            <a:r>
              <a:rPr lang="en-US" sz="2400" dirty="0"/>
              <a:t> &lt;&gt; </a:t>
            </a:r>
            <a:r>
              <a:rPr lang="en-US" sz="2400" dirty="0" err="1"/>
              <a:t>PunteroB</a:t>
            </a:r>
            <a:r>
              <a:rPr lang="en-US" sz="2400" dirty="0"/>
              <a:t>) then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dirty="0" err="1"/>
              <a:t>sentencia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Pero</a:t>
            </a:r>
            <a:r>
              <a:rPr lang="en-US" sz="2400" dirty="0"/>
              <a:t>, no hay </a:t>
            </a:r>
            <a:r>
              <a:rPr lang="en-US" sz="2400" dirty="0" err="1"/>
              <a:t>ningun</a:t>
            </a:r>
            <a:r>
              <a:rPr lang="en-US" sz="2400" dirty="0"/>
              <a:t> </a:t>
            </a:r>
            <a:r>
              <a:rPr lang="en-US" sz="2400" dirty="0" err="1"/>
              <a:t>problema</a:t>
            </a:r>
            <a:r>
              <a:rPr lang="en-US" sz="2400" dirty="0"/>
              <a:t> con </a:t>
            </a:r>
            <a:r>
              <a:rPr lang="en-US" sz="2400" dirty="0" err="1"/>
              <a:t>comparar</a:t>
            </a:r>
            <a:r>
              <a:rPr lang="en-US" sz="2400" dirty="0"/>
              <a:t> los </a:t>
            </a:r>
            <a:r>
              <a:rPr lang="en-US" sz="2400" dirty="0" err="1"/>
              <a:t>elementos</a:t>
            </a:r>
            <a:r>
              <a:rPr lang="en-US" sz="2400" dirty="0"/>
              <a:t>  a los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apuntan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2023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11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Punteros a Registros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482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  <a:defRPr/>
            </a:pPr>
            <a:r>
              <a:rPr lang="es-ES" sz="2800" dirty="0"/>
              <a:t>Las variables de puntero pueden contener la dirección de tipos de datos simples o datos de tipo compuesto. En las estructuras de dinámicas de datos es frecuente el uso de registros como elementos. Se suelen conocer con el nombre de </a:t>
            </a:r>
            <a:r>
              <a:rPr lang="es-ES" sz="2800" i="1" dirty="0"/>
              <a:t>nodos, </a:t>
            </a:r>
            <a:r>
              <a:rPr lang="es-ES" sz="2800" dirty="0"/>
              <a:t>aunque en realidad el término se extiende tanto a datos simples como compuestos. Consideremos un ejemplo con variables dinámicas tipo registro.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41029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12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Punteros a Registros</a:t>
            </a:r>
            <a:br>
              <a:rPr lang="es-ES_tradnl" sz="2800" dirty="0" smtClean="0"/>
            </a:br>
            <a:r>
              <a:rPr lang="es-ES_tradnl" sz="2800" dirty="0" smtClean="0"/>
              <a:t>Ejemplo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482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 dirty="0" err="1"/>
              <a:t>Type</a:t>
            </a:r>
            <a:endParaRPr lang="es-ES" sz="2800" dirty="0"/>
          </a:p>
          <a:p>
            <a:pPr marL="0" indent="0">
              <a:buNone/>
            </a:pPr>
            <a:r>
              <a:rPr lang="es-ES" sz="2800" dirty="0"/>
              <a:t>      Estudiante = record</a:t>
            </a:r>
          </a:p>
          <a:p>
            <a:pPr marL="0" indent="0">
              <a:buNone/>
            </a:pPr>
            <a:r>
              <a:rPr lang="es-ES" sz="2800" dirty="0"/>
              <a:t>                              nombre: </a:t>
            </a:r>
            <a:r>
              <a:rPr lang="es-ES" sz="2800" dirty="0" err="1"/>
              <a:t>string</a:t>
            </a:r>
            <a:r>
              <a:rPr lang="es-ES" sz="2800" dirty="0"/>
              <a:t>[20];</a:t>
            </a:r>
          </a:p>
          <a:p>
            <a:pPr marL="0" indent="0">
              <a:buNone/>
            </a:pPr>
            <a:r>
              <a:rPr lang="es-ES" sz="2800" dirty="0"/>
              <a:t>                              edad     : </a:t>
            </a:r>
            <a:r>
              <a:rPr lang="es-ES" sz="2800" dirty="0" err="1"/>
              <a:t>integer</a:t>
            </a:r>
            <a:endParaRPr lang="es-ES" sz="2800" dirty="0"/>
          </a:p>
          <a:p>
            <a:pPr marL="0" indent="0">
              <a:buNone/>
            </a:pPr>
            <a:r>
              <a:rPr lang="es-ES" sz="2800" dirty="0"/>
              <a:t>                              </a:t>
            </a:r>
            <a:r>
              <a:rPr lang="es-ES" sz="2800" dirty="0" err="1"/>
              <a:t>end</a:t>
            </a:r>
            <a:r>
              <a:rPr lang="es-ES" sz="2800" dirty="0"/>
              <a:t>;</a:t>
            </a:r>
          </a:p>
          <a:p>
            <a:pPr marL="0" indent="0">
              <a:buNone/>
            </a:pPr>
            <a:r>
              <a:rPr lang="es-ES" sz="2800" dirty="0"/>
              <a:t>      </a:t>
            </a:r>
            <a:r>
              <a:rPr lang="es-ES" sz="2800" dirty="0" err="1"/>
              <a:t>PunteroEst</a:t>
            </a:r>
            <a:r>
              <a:rPr lang="es-ES" sz="2800" dirty="0"/>
              <a:t>= ^Estudiante;</a:t>
            </a:r>
          </a:p>
          <a:p>
            <a:pPr marL="0" indent="0">
              <a:buNone/>
            </a:pPr>
            <a:r>
              <a:rPr lang="es-ES" sz="2800" dirty="0"/>
              <a:t>Var</a:t>
            </a:r>
          </a:p>
          <a:p>
            <a:pPr marL="0" indent="0">
              <a:buNone/>
            </a:pPr>
            <a:r>
              <a:rPr lang="es-ES" sz="2800" dirty="0"/>
              <a:t>      P1,P2,P3: </a:t>
            </a:r>
            <a:r>
              <a:rPr lang="es-ES" sz="2800" dirty="0" err="1"/>
              <a:t>PunteroEst</a:t>
            </a:r>
            <a:r>
              <a:rPr lang="es-ES" sz="2800" dirty="0"/>
              <a:t>;</a:t>
            </a:r>
          </a:p>
          <a:p>
            <a:pPr marL="0" indent="0">
              <a:buNone/>
            </a:pPr>
            <a:r>
              <a:rPr lang="es-ES" sz="2800" dirty="0"/>
              <a:t>      </a:t>
            </a:r>
            <a:r>
              <a:rPr lang="es-ES" sz="2800" dirty="0" err="1"/>
              <a:t>Write</a:t>
            </a:r>
            <a:r>
              <a:rPr lang="es-ES" sz="2800" dirty="0"/>
              <a:t> (P1^.nombre, P2^.nombre, P3^.nombre);</a:t>
            </a:r>
          </a:p>
        </p:txBody>
      </p:sp>
    </p:spTree>
    <p:extLst>
      <p:ext uri="{BB962C8B-B14F-4D97-AF65-F5344CB8AC3E}">
        <p14:creationId xmlns:p14="http://schemas.microsoft.com/office/powerpoint/2010/main" val="414022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13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 smtClean="0"/>
              <a:t>Ejercicios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597352"/>
            <a:ext cx="9144000" cy="260648"/>
          </a:xfrm>
        </p:spPr>
        <p:txBody>
          <a:bodyPr/>
          <a:lstStyle/>
          <a:p>
            <a:r>
              <a:rPr lang="es-AR" dirty="0" smtClean="0"/>
              <a:t>UCALP 2012 - Estructura de Datos y Algoritmos - </a:t>
            </a:r>
            <a:r>
              <a:rPr lang="es-AR" dirty="0" err="1" smtClean="0"/>
              <a:t>Miaton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482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s-AR" sz="2400" dirty="0" smtClean="0"/>
              <a:t>Cuál es la salida de este programa?</a:t>
            </a:r>
            <a:endParaRPr lang="en-US" sz="2400" dirty="0" smtClean="0"/>
          </a:p>
        </p:txBody>
      </p:sp>
      <p:sp>
        <p:nvSpPr>
          <p:cNvPr id="8" name="2 Marcador de contenido"/>
          <p:cNvSpPr>
            <a:spLocks noGrp="1"/>
          </p:cNvSpPr>
          <p:nvPr/>
        </p:nvSpPr>
        <p:spPr bwMode="auto">
          <a:xfrm>
            <a:off x="598934" y="1916832"/>
            <a:ext cx="3829050" cy="4525962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92100" indent="-2921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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1905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82563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l" rtl="0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>
              <a:buFont typeface="Wingdings 2" pitchFamily="18" charset="2"/>
              <a:buNone/>
            </a:pPr>
            <a:r>
              <a:rPr lang="es-ES" sz="1800" dirty="0" err="1" smtClean="0"/>
              <a:t>Program</a:t>
            </a:r>
            <a:r>
              <a:rPr lang="es-ES" sz="1800" dirty="0" smtClean="0"/>
              <a:t> test;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err="1" smtClean="0"/>
              <a:t>Type</a:t>
            </a:r>
            <a:endParaRPr lang="es-ES" sz="1800" dirty="0" smtClean="0"/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  Estudiante = record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                            Letra : </a:t>
            </a:r>
            <a:r>
              <a:rPr lang="es-ES" sz="1800" dirty="0" err="1" smtClean="0"/>
              <a:t>char</a:t>
            </a:r>
            <a:r>
              <a:rPr lang="es-ES" sz="1800" dirty="0" smtClean="0"/>
              <a:t>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                            Edad : </a:t>
            </a:r>
            <a:r>
              <a:rPr lang="es-ES" sz="1800" dirty="0" err="1" smtClean="0"/>
              <a:t>integer</a:t>
            </a:r>
            <a:r>
              <a:rPr lang="es-ES" sz="1800" dirty="0" smtClean="0"/>
              <a:t>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                          </a:t>
            </a:r>
            <a:r>
              <a:rPr lang="es-ES" sz="1800" dirty="0" err="1" smtClean="0"/>
              <a:t>End</a:t>
            </a:r>
            <a:r>
              <a:rPr lang="es-ES" sz="1800" dirty="0" smtClean="0"/>
              <a:t>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  </a:t>
            </a:r>
            <a:r>
              <a:rPr lang="es-ES" sz="1800" dirty="0" err="1" smtClean="0"/>
              <a:t>PuntEstu</a:t>
            </a:r>
            <a:r>
              <a:rPr lang="es-ES" sz="1800" dirty="0" smtClean="0"/>
              <a:t> = ^Estudiante;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Var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  P1, P2 : </a:t>
            </a:r>
            <a:r>
              <a:rPr lang="es-ES" sz="1800" dirty="0" err="1" smtClean="0"/>
              <a:t>PuntEstu</a:t>
            </a:r>
            <a:r>
              <a:rPr lang="es-ES" sz="1800" dirty="0" smtClean="0"/>
              <a:t>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err="1" smtClean="0"/>
              <a:t>Begin</a:t>
            </a:r>
            <a:endParaRPr lang="es-ES" sz="1800" dirty="0" smtClean="0"/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New(P1);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P1 ^.Edad := 1;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P1 ^.Letra := ‘A’;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</a:t>
            </a:r>
            <a:r>
              <a:rPr lang="es-ES" sz="1800" dirty="0" err="1" smtClean="0"/>
              <a:t>Writeln</a:t>
            </a:r>
            <a:r>
              <a:rPr lang="es-ES" sz="1800" dirty="0" smtClean="0"/>
              <a:t>(P1 ^.Edad, P1 ^.Letra);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New(P2),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z="1800" dirty="0" smtClean="0"/>
              <a:t>   P2 ^.Edad := 2;</a:t>
            </a: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 bwMode="auto">
          <a:xfrm>
            <a:off x="4775398" y="1916832"/>
            <a:ext cx="3829050" cy="4525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>
                <a:latin typeface="+mn-lt"/>
              </a:rPr>
              <a:t>   P2</a:t>
            </a:r>
            <a:r>
              <a:rPr lang="es-ES" dirty="0"/>
              <a:t> ^.Letra := ‘B’;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>
                <a:latin typeface="+mn-lt"/>
              </a:rPr>
              <a:t>   </a:t>
            </a:r>
            <a:r>
              <a:rPr lang="es-ES" dirty="0" err="1">
                <a:latin typeface="+mn-lt"/>
              </a:rPr>
              <a:t>Writeln</a:t>
            </a:r>
            <a:r>
              <a:rPr lang="es-ES" dirty="0">
                <a:latin typeface="+mn-lt"/>
              </a:rPr>
              <a:t>(P2</a:t>
            </a:r>
            <a:r>
              <a:rPr lang="es-ES" dirty="0"/>
              <a:t> ^.Edad, P2 ^.Letra);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/>
              <a:t>   P1 := P2;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/>
              <a:t>   P2 ^.Edad := 3;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/>
              <a:t>   P2 ^.Letra := ‘C’;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/>
              <a:t>   </a:t>
            </a:r>
            <a:r>
              <a:rPr lang="es-ES" dirty="0" err="1"/>
              <a:t>Writeln</a:t>
            </a:r>
            <a:r>
              <a:rPr lang="es-ES" dirty="0"/>
              <a:t>(P1 ^.Edad, P1 ^.Letra);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/>
              <a:t>   </a:t>
            </a:r>
            <a:r>
              <a:rPr lang="es-ES" dirty="0" err="1"/>
              <a:t>Writeln</a:t>
            </a:r>
            <a:r>
              <a:rPr lang="es-ES" dirty="0"/>
              <a:t>(P2 ^.Edad, P2.Letra)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 err="1"/>
              <a:t>End</a:t>
            </a:r>
            <a:r>
              <a:rPr lang="es-ES" dirty="0"/>
              <a:t>.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endParaRPr lang="es-ES" dirty="0"/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/>
              <a:t>Ejecución: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endParaRPr lang="es-ES" dirty="0"/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/>
              <a:t>1A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/>
              <a:t>2B</a:t>
            </a:r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s-ES" dirty="0"/>
              <a:t>3C </a:t>
            </a:r>
            <a:r>
              <a:rPr lang="es-ES" dirty="0" err="1"/>
              <a:t>3C</a:t>
            </a:r>
            <a:endParaRPr lang="es-ES" dirty="0"/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endParaRPr lang="es-ES" dirty="0"/>
          </a:p>
          <a:p>
            <a:pPr marL="292100" indent="-2921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406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896</Words>
  <Application>Microsoft Office PowerPoint</Application>
  <PresentationFormat>On-screen Show (4:3)</PresentationFormat>
  <Paragraphs>179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Punteros</vt:lpstr>
      <vt:lpstr>Que son los Punteros?</vt:lpstr>
      <vt:lpstr>Declaración</vt:lpstr>
      <vt:lpstr>Ejemplo declaración</vt:lpstr>
      <vt:lpstr>Ejemplo declaración</vt:lpstr>
      <vt:lpstr>Creación y Eliminación</vt:lpstr>
      <vt:lpstr>Creación: NEW</vt:lpstr>
      <vt:lpstr>Eliminación/Liberar: DISPOSE</vt:lpstr>
      <vt:lpstr>Constante NIL</vt:lpstr>
      <vt:lpstr>Comparación</vt:lpstr>
      <vt:lpstr>Punteros a Registros</vt:lpstr>
      <vt:lpstr>Punteros a Registros Ejemplo</vt:lpstr>
      <vt:lpstr>Ejercicios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</dc:title>
  <dc:creator>Leo Miaton</dc:creator>
  <cp:lastModifiedBy>Leo Miaton</cp:lastModifiedBy>
  <cp:revision>18</cp:revision>
  <dcterms:created xsi:type="dcterms:W3CDTF">2012-04-11T12:40:59Z</dcterms:created>
  <dcterms:modified xsi:type="dcterms:W3CDTF">2012-08-13T19:39:42Z</dcterms:modified>
</cp:coreProperties>
</file>