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57" r:id="rId3"/>
    <p:sldId id="266" r:id="rId4"/>
    <p:sldId id="267" r:id="rId5"/>
    <p:sldId id="268" r:id="rId6"/>
    <p:sldId id="270" r:id="rId7"/>
    <p:sldId id="281" r:id="rId8"/>
    <p:sldId id="271" r:id="rId9"/>
    <p:sldId id="272" r:id="rId10"/>
    <p:sldId id="258" r:id="rId11"/>
    <p:sldId id="273" r:id="rId12"/>
    <p:sldId id="269" r:id="rId13"/>
    <p:sldId id="274" r:id="rId14"/>
    <p:sldId id="275" r:id="rId15"/>
    <p:sldId id="276" r:id="rId16"/>
    <p:sldId id="278" r:id="rId17"/>
    <p:sldId id="277" r:id="rId18"/>
    <p:sldId id="279" r:id="rId19"/>
    <p:sldId id="280" r:id="rId20"/>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33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0A7880-2F28-4A53-A5B0-2EE9ED92631E}" type="datetimeFigureOut">
              <a:rPr lang="es-AR" smtClean="0"/>
              <a:t>31/07/2012</a:t>
            </a:fld>
            <a:endParaRPr lang="es-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DCDD0-8F0E-44E5-9485-EF16C55D84F4}" type="slidenum">
              <a:rPr lang="es-AR" smtClean="0"/>
              <a:t>‹#›</a:t>
            </a:fld>
            <a:endParaRPr lang="es-AR"/>
          </a:p>
        </p:txBody>
      </p:sp>
    </p:spTree>
    <p:extLst>
      <p:ext uri="{BB962C8B-B14F-4D97-AF65-F5344CB8AC3E}">
        <p14:creationId xmlns:p14="http://schemas.microsoft.com/office/powerpoint/2010/main" val="337095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Separamos</a:t>
            </a:r>
            <a:r>
              <a:rPr lang="en-US" dirty="0" smtClean="0"/>
              <a:t> en </a:t>
            </a:r>
            <a:r>
              <a:rPr lang="en-US" dirty="0" err="1" smtClean="0"/>
              <a:t>problemas</a:t>
            </a:r>
            <a:r>
              <a:rPr lang="en-US" dirty="0" smtClean="0"/>
              <a:t> </a:t>
            </a:r>
            <a:r>
              <a:rPr lang="en-US" dirty="0" err="1" smtClean="0"/>
              <a:t>pequenos</a:t>
            </a:r>
            <a:r>
              <a:rPr lang="en-US" dirty="0" smtClean="0"/>
              <a:t>, </a:t>
            </a:r>
            <a:r>
              <a:rPr lang="en-US" dirty="0" err="1" smtClean="0"/>
              <a:t>luego</a:t>
            </a:r>
            <a:r>
              <a:rPr lang="en-US" dirty="0" smtClean="0"/>
              <a:t> los </a:t>
            </a:r>
            <a:r>
              <a:rPr lang="en-US" dirty="0" err="1" smtClean="0"/>
              <a:t>juntamos</a:t>
            </a:r>
            <a:r>
              <a:rPr lang="en-US" dirty="0" smtClean="0"/>
              <a:t> y </a:t>
            </a:r>
            <a:r>
              <a:rPr lang="en-US" dirty="0" err="1" smtClean="0"/>
              <a:t>tenemos</a:t>
            </a:r>
            <a:r>
              <a:rPr lang="en-US" dirty="0" smtClean="0"/>
              <a:t> la </a:t>
            </a:r>
            <a:r>
              <a:rPr lang="en-US" dirty="0" err="1" smtClean="0"/>
              <a:t>solucion</a:t>
            </a:r>
            <a:r>
              <a:rPr lang="en-US" dirty="0" smtClean="0"/>
              <a:t> a </a:t>
            </a:r>
            <a:r>
              <a:rPr lang="en-US" dirty="0" err="1" smtClean="0"/>
              <a:t>nuestro</a:t>
            </a:r>
            <a:r>
              <a:rPr lang="en-US" dirty="0" smtClean="0"/>
              <a:t> </a:t>
            </a:r>
            <a:r>
              <a:rPr lang="en-US" dirty="0" err="1" smtClean="0"/>
              <a:t>problema</a:t>
            </a:r>
            <a:r>
              <a:rPr lang="en-US" baseline="0" dirty="0" smtClean="0"/>
              <a:t> </a:t>
            </a:r>
            <a:r>
              <a:rPr lang="en-US" baseline="0" smtClean="0"/>
              <a:t>mayor.</a:t>
            </a:r>
            <a:endParaRPr lang="en-US" baseline="0" dirty="0" smtClean="0"/>
          </a:p>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2</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3</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200" dirty="0" smtClean="0"/>
              <a:t>Desde </a:t>
            </a:r>
            <a:r>
              <a:rPr lang="es-AR" sz="1200" i="1" dirty="0" smtClean="0"/>
              <a:t>Turbo pascal</a:t>
            </a:r>
            <a:r>
              <a:rPr lang="es-AR" sz="1200" dirty="0" smtClean="0"/>
              <a:t> se incorpora además el concepto de unidad (</a:t>
            </a:r>
            <a:r>
              <a:rPr lang="es-AR" sz="1200" dirty="0" err="1" smtClean="0"/>
              <a:t>unit</a:t>
            </a:r>
            <a:r>
              <a:rPr lang="es-AR" sz="1200" dirty="0" smtClean="0"/>
              <a:t>), que permite aprovechar módulos independientes ya compilados.</a:t>
            </a:r>
          </a:p>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4</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5</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6</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7</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8</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9</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10</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11</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12</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13</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15</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17</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18</a:t>
            </a:fld>
            <a:endParaRPr lang="es-AR"/>
          </a:p>
        </p:txBody>
      </p:sp>
    </p:spTree>
    <p:extLst>
      <p:ext uri="{BB962C8B-B14F-4D97-AF65-F5344CB8AC3E}">
        <p14:creationId xmlns:p14="http://schemas.microsoft.com/office/powerpoint/2010/main" val="3687210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C3A07869-F719-46A4-A563-4E17B2789AE0}" type="slidenum">
              <a:rPr lang="es-AR" smtClean="0"/>
              <a:t>19</a:t>
            </a:fld>
            <a:endParaRPr lang="es-AR"/>
          </a:p>
        </p:txBody>
      </p:sp>
    </p:spTree>
    <p:extLst>
      <p:ext uri="{BB962C8B-B14F-4D97-AF65-F5344CB8AC3E}">
        <p14:creationId xmlns:p14="http://schemas.microsoft.com/office/powerpoint/2010/main" val="3687210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s-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s-AR"/>
          </a:p>
        </p:txBody>
      </p:sp>
      <p:sp>
        <p:nvSpPr>
          <p:cNvPr id="4" name="Date Placeholder 3"/>
          <p:cNvSpPr>
            <a:spLocks noGrp="1"/>
          </p:cNvSpPr>
          <p:nvPr>
            <p:ph type="dt" sz="half" idx="10"/>
          </p:nvPr>
        </p:nvSpPr>
        <p:spPr/>
        <p:txBody>
          <a:bodyPr/>
          <a:lstStyle/>
          <a:p>
            <a:fld id="{77FF41BD-17BD-49DE-A483-6D6A6F75F090}" type="datetimeFigureOut">
              <a:rPr lang="es-AR" smtClean="0"/>
              <a:t>31/07/2012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3016879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s-A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Date Placeholder 3"/>
          <p:cNvSpPr>
            <a:spLocks noGrp="1"/>
          </p:cNvSpPr>
          <p:nvPr>
            <p:ph type="dt" sz="half" idx="10"/>
          </p:nvPr>
        </p:nvSpPr>
        <p:spPr/>
        <p:txBody>
          <a:bodyPr/>
          <a:lstStyle/>
          <a:p>
            <a:fld id="{77FF41BD-17BD-49DE-A483-6D6A6F75F090}" type="datetimeFigureOut">
              <a:rPr lang="es-AR" smtClean="0"/>
              <a:t>31/07/2012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125393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s-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FF41BD-17BD-49DE-A483-6D6A6F75F090}" type="datetimeFigureOut">
              <a:rPr lang="es-AR" smtClean="0"/>
              <a:t>31/07/2012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128005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s-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5" name="Date Placeholder 4"/>
          <p:cNvSpPr>
            <a:spLocks noGrp="1"/>
          </p:cNvSpPr>
          <p:nvPr>
            <p:ph type="dt" sz="half" idx="10"/>
          </p:nvPr>
        </p:nvSpPr>
        <p:spPr/>
        <p:txBody>
          <a:bodyPr/>
          <a:lstStyle/>
          <a:p>
            <a:fld id="{77FF41BD-17BD-49DE-A483-6D6A6F75F090}" type="datetimeFigureOut">
              <a:rPr lang="es-AR" smtClean="0"/>
              <a:t>31/07/2012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3093736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s-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7" name="Date Placeholder 6"/>
          <p:cNvSpPr>
            <a:spLocks noGrp="1"/>
          </p:cNvSpPr>
          <p:nvPr>
            <p:ph type="dt" sz="half" idx="10"/>
          </p:nvPr>
        </p:nvSpPr>
        <p:spPr/>
        <p:txBody>
          <a:bodyPr/>
          <a:lstStyle/>
          <a:p>
            <a:fld id="{77FF41BD-17BD-49DE-A483-6D6A6F75F090}" type="datetimeFigureOut">
              <a:rPr lang="es-AR" smtClean="0"/>
              <a:t>31/07/2012</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25305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s-AR"/>
          </a:p>
        </p:txBody>
      </p:sp>
      <p:sp>
        <p:nvSpPr>
          <p:cNvPr id="3" name="Date Placeholder 2"/>
          <p:cNvSpPr>
            <a:spLocks noGrp="1"/>
          </p:cNvSpPr>
          <p:nvPr>
            <p:ph type="dt" sz="half" idx="10"/>
          </p:nvPr>
        </p:nvSpPr>
        <p:spPr/>
        <p:txBody>
          <a:bodyPr/>
          <a:lstStyle/>
          <a:p>
            <a:fld id="{77FF41BD-17BD-49DE-A483-6D6A6F75F090}" type="datetimeFigureOut">
              <a:rPr lang="es-AR" smtClean="0"/>
              <a:t>31/07/2012</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4212321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FF41BD-17BD-49DE-A483-6D6A6F75F090}" type="datetimeFigureOut">
              <a:rPr lang="es-AR" smtClean="0"/>
              <a:t>31/07/2012</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2737582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s-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FF41BD-17BD-49DE-A483-6D6A6F75F090}" type="datetimeFigureOut">
              <a:rPr lang="es-AR" smtClean="0"/>
              <a:t>31/07/2012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3255060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s-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FF41BD-17BD-49DE-A483-6D6A6F75F090}" type="datetimeFigureOut">
              <a:rPr lang="es-AR" smtClean="0"/>
              <a:t>31/07/2012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3511680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s-A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Date Placeholder 3"/>
          <p:cNvSpPr>
            <a:spLocks noGrp="1"/>
          </p:cNvSpPr>
          <p:nvPr>
            <p:ph type="dt" sz="half" idx="10"/>
          </p:nvPr>
        </p:nvSpPr>
        <p:spPr/>
        <p:txBody>
          <a:bodyPr/>
          <a:lstStyle/>
          <a:p>
            <a:fld id="{77FF41BD-17BD-49DE-A483-6D6A6F75F090}" type="datetimeFigureOut">
              <a:rPr lang="es-AR" smtClean="0"/>
              <a:t>31/07/2012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894340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s-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Date Placeholder 3"/>
          <p:cNvSpPr>
            <a:spLocks noGrp="1"/>
          </p:cNvSpPr>
          <p:nvPr>
            <p:ph type="dt" sz="half" idx="10"/>
          </p:nvPr>
        </p:nvSpPr>
        <p:spPr/>
        <p:txBody>
          <a:bodyPr/>
          <a:lstStyle/>
          <a:p>
            <a:fld id="{77FF41BD-17BD-49DE-A483-6D6A6F75F090}" type="datetimeFigureOut">
              <a:rPr lang="es-AR" smtClean="0"/>
              <a:t>31/07/2012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3F42DDD-9C8E-4337-8DFE-4A9F66C9CF3C}" type="slidenum">
              <a:rPr lang="es-AR" smtClean="0"/>
              <a:t>‹#›</a:t>
            </a:fld>
            <a:endParaRPr lang="es-AR"/>
          </a:p>
        </p:txBody>
      </p:sp>
    </p:spTree>
    <p:extLst>
      <p:ext uri="{BB962C8B-B14F-4D97-AF65-F5344CB8AC3E}">
        <p14:creationId xmlns:p14="http://schemas.microsoft.com/office/powerpoint/2010/main" val="66376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s-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FF41BD-17BD-49DE-A483-6D6A6F75F090}" type="datetimeFigureOut">
              <a:rPr lang="es-AR" smtClean="0"/>
              <a:t>31/07/2012</a:t>
            </a:fld>
            <a:endParaRPr lang="es-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42DDD-9C8E-4337-8DFE-4A9F66C9CF3C}" type="slidenum">
              <a:rPr lang="es-AR" smtClean="0"/>
              <a:t>‹#›</a:t>
            </a:fld>
            <a:endParaRPr lang="es-AR"/>
          </a:p>
        </p:txBody>
      </p:sp>
    </p:spTree>
    <p:extLst>
      <p:ext uri="{BB962C8B-B14F-4D97-AF65-F5344CB8AC3E}">
        <p14:creationId xmlns:p14="http://schemas.microsoft.com/office/powerpoint/2010/main" val="893683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p:cNvPicPr>
            <a:picLocks noChangeAspect="1"/>
          </p:cNvPicPr>
          <p:nvPr/>
        </p:nvPicPr>
        <p:blipFill rotWithShape="1">
          <a:blip r:embed="rId2">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1 Título"/>
          <p:cNvSpPr>
            <a:spLocks noGrp="1"/>
          </p:cNvSpPr>
          <p:nvPr>
            <p:ph type="ctrTitle"/>
          </p:nvPr>
        </p:nvSpPr>
        <p:spPr>
          <a:xfrm>
            <a:off x="1" y="1700808"/>
            <a:ext cx="9143999" cy="1008112"/>
          </a:xfrm>
        </p:spPr>
        <p:txBody>
          <a:bodyPr>
            <a:normAutofit/>
          </a:bodyPr>
          <a:lstStyle/>
          <a:p>
            <a:r>
              <a:rPr lang="es-ES" sz="4000" b="1" dirty="0" smtClean="0"/>
              <a:t>Procedimientos y Funciones</a:t>
            </a:r>
            <a:endParaRPr lang="es-ES" sz="4000" b="1" dirty="0"/>
          </a:p>
        </p:txBody>
      </p:sp>
      <p:sp>
        <p:nvSpPr>
          <p:cNvPr id="3" name="2 Subtítulo"/>
          <p:cNvSpPr>
            <a:spLocks noGrp="1"/>
          </p:cNvSpPr>
          <p:nvPr>
            <p:ph type="subTitle" idx="1"/>
          </p:nvPr>
        </p:nvSpPr>
        <p:spPr>
          <a:xfrm>
            <a:off x="-252536" y="3645024"/>
            <a:ext cx="9143999" cy="1800200"/>
          </a:xfrm>
        </p:spPr>
        <p:txBody>
          <a:bodyPr>
            <a:noAutofit/>
          </a:bodyPr>
          <a:lstStyle/>
          <a:p>
            <a:endParaRPr lang="es-ES" sz="2800" dirty="0" smtClean="0"/>
          </a:p>
          <a:p>
            <a:r>
              <a:rPr lang="es-ES" sz="2800" dirty="0" smtClean="0"/>
              <a:t>Programación I</a:t>
            </a:r>
            <a:endParaRPr lang="es-ES" sz="2800" dirty="0" smtClean="0"/>
          </a:p>
          <a:p>
            <a:endParaRPr lang="es-ES" sz="2800" dirty="0"/>
          </a:p>
        </p:txBody>
      </p:sp>
      <p:sp>
        <p:nvSpPr>
          <p:cNvPr id="4"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6" name="Slide Number Placeholder 5"/>
          <p:cNvSpPr>
            <a:spLocks noGrp="1"/>
          </p:cNvSpPr>
          <p:nvPr>
            <p:ph type="sldNum" sz="quarter" idx="12"/>
          </p:nvPr>
        </p:nvSpPr>
        <p:spPr/>
        <p:txBody>
          <a:bodyPr/>
          <a:lstStyle/>
          <a:p>
            <a:fld id="{90BEFC46-6AD7-4819-A110-1F0702C493D1}" type="slidenum">
              <a:rPr lang="es-ES" smtClean="0"/>
              <a:t>1</a:t>
            </a:fld>
            <a:endParaRPr lang="es-ES"/>
          </a:p>
        </p:txBody>
      </p:sp>
    </p:spTree>
    <p:extLst>
      <p:ext uri="{BB962C8B-B14F-4D97-AF65-F5344CB8AC3E}">
        <p14:creationId xmlns:p14="http://schemas.microsoft.com/office/powerpoint/2010/main" val="29653007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2</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Modularidad</a:t>
            </a:r>
            <a:endParaRPr lang="en-GB" sz="2800" dirty="0"/>
          </a:p>
        </p:txBody>
      </p:sp>
      <p:pic>
        <p:nvPicPr>
          <p:cNvPr id="7" name="3 Imagen"/>
          <p:cNvPicPr>
            <a:picLocks noChangeAspect="1"/>
          </p:cNvPicPr>
          <p:nvPr/>
        </p:nvPicPr>
        <p:blipFill rotWithShape="1">
          <a:blip r:embed="rId4">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46805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800" dirty="0" smtClean="0"/>
              <a:t>Cuando </a:t>
            </a:r>
            <a:r>
              <a:rPr lang="es-ES" sz="2800" dirty="0"/>
              <a:t>nos encontramos frente a un gran problema, lo mejor que podemos hacer para solucionarlo es dividirlo en pequeños problemas</a:t>
            </a:r>
            <a:r>
              <a:rPr lang="es-ES" sz="2800" dirty="0" smtClean="0"/>
              <a:t>.</a:t>
            </a:r>
            <a:endParaRPr lang="es-ES" sz="2800" dirty="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9" name="Rectangle 8"/>
          <p:cNvSpPr txBox="1">
            <a:spLocks noChangeArrowheads="1"/>
          </p:cNvSpPr>
          <p:nvPr/>
        </p:nvSpPr>
        <p:spPr>
          <a:xfrm>
            <a:off x="665194" y="2682044"/>
            <a:ext cx="77724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sz="6000" b="1" dirty="0" smtClean="0">
                <a:latin typeface="+mn-lt"/>
              </a:rPr>
              <a:t>DIVIDE Y VENCERÁS</a:t>
            </a:r>
            <a:endParaRPr lang="es-ES" sz="6000" b="1" dirty="0" smtClean="0">
              <a:latin typeface="+mn-lt"/>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3183055566"/>
              </p:ext>
            </p:extLst>
          </p:nvPr>
        </p:nvGraphicFramePr>
        <p:xfrm>
          <a:off x="4139952" y="3717032"/>
          <a:ext cx="1041400" cy="2819400"/>
        </p:xfrm>
        <a:graphic>
          <a:graphicData uri="http://schemas.openxmlformats.org/presentationml/2006/ole">
            <mc:AlternateContent xmlns:mc="http://schemas.openxmlformats.org/markup-compatibility/2006">
              <mc:Choice xmlns:v="urn:schemas-microsoft-com:vml" Requires="v">
                <p:oleObj spid="_x0000_s1034" name="Imagen" r:id="rId5" imgW="2149475" imgH="5813425" progId="MS_ClipArt_Gallery.2">
                  <p:embed/>
                </p:oleObj>
              </mc:Choice>
              <mc:Fallback>
                <p:oleObj name="Imagen" r:id="rId5" imgW="2149475" imgH="5813425"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952" y="3717032"/>
                        <a:ext cx="104140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 name="AutoShape 12"/>
          <p:cNvSpPr>
            <a:spLocks noChangeArrowheads="1"/>
          </p:cNvSpPr>
          <p:nvPr/>
        </p:nvSpPr>
        <p:spPr bwMode="auto">
          <a:xfrm>
            <a:off x="304800" y="2971800"/>
            <a:ext cx="3579813" cy="2170113"/>
          </a:xfrm>
          <a:prstGeom prst="irregularSeal2">
            <a:avLst/>
          </a:prstGeom>
          <a:noFill/>
          <a:ln w="12700" cap="sq">
            <a:solidFill>
              <a:schemeClr val="accent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0" lang="es-ES_tradnl"/>
              <a:t>Gran</a:t>
            </a:r>
          </a:p>
          <a:p>
            <a:pPr algn="ctr">
              <a:spcBef>
                <a:spcPct val="50000"/>
              </a:spcBef>
            </a:pPr>
            <a:r>
              <a:rPr kumimoji="0" lang="es-ES_tradnl"/>
              <a:t> problema</a:t>
            </a:r>
          </a:p>
        </p:txBody>
      </p:sp>
      <p:sp>
        <p:nvSpPr>
          <p:cNvPr id="12" name="AutoShape 13"/>
          <p:cNvSpPr>
            <a:spLocks noChangeArrowheads="1"/>
          </p:cNvSpPr>
          <p:nvPr/>
        </p:nvSpPr>
        <p:spPr bwMode="auto">
          <a:xfrm>
            <a:off x="3886200" y="3200400"/>
            <a:ext cx="1676400" cy="304800"/>
          </a:xfrm>
          <a:prstGeom prst="rightArrow">
            <a:avLst>
              <a:gd name="adj1" fmla="val 50000"/>
              <a:gd name="adj2" fmla="val 137500"/>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AR"/>
          </a:p>
        </p:txBody>
      </p:sp>
      <p:grpSp>
        <p:nvGrpSpPr>
          <p:cNvPr id="13" name="Group 29"/>
          <p:cNvGrpSpPr>
            <a:grpSpLocks/>
          </p:cNvGrpSpPr>
          <p:nvPr/>
        </p:nvGrpSpPr>
        <p:grpSpPr bwMode="auto">
          <a:xfrm>
            <a:off x="5257800" y="2743200"/>
            <a:ext cx="3579813" cy="2170113"/>
            <a:chOff x="3312" y="1728"/>
            <a:chExt cx="2255" cy="1367"/>
          </a:xfrm>
        </p:grpSpPr>
        <p:sp>
          <p:nvSpPr>
            <p:cNvPr id="14" name="AutoShape 18"/>
            <p:cNvSpPr>
              <a:spLocks noChangeArrowheads="1"/>
            </p:cNvSpPr>
            <p:nvPr/>
          </p:nvSpPr>
          <p:spPr bwMode="auto">
            <a:xfrm>
              <a:off x="3312" y="1728"/>
              <a:ext cx="2255" cy="1367"/>
            </a:xfrm>
            <a:prstGeom prst="irregularSeal2">
              <a:avLst/>
            </a:prstGeom>
            <a:noFill/>
            <a:ln w="12700" cap="sq">
              <a:solidFill>
                <a:schemeClr val="accent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0" lang="es-ES_tradnl"/>
                <a:t>P2</a:t>
              </a:r>
            </a:p>
            <a:p>
              <a:pPr algn="ctr">
                <a:spcBef>
                  <a:spcPct val="50000"/>
                </a:spcBef>
              </a:pPr>
              <a:r>
                <a:rPr kumimoji="0" lang="es-ES_tradnl"/>
                <a:t> </a:t>
              </a:r>
            </a:p>
          </p:txBody>
        </p:sp>
        <p:grpSp>
          <p:nvGrpSpPr>
            <p:cNvPr id="15" name="Group 28"/>
            <p:cNvGrpSpPr>
              <a:grpSpLocks/>
            </p:cNvGrpSpPr>
            <p:nvPr/>
          </p:nvGrpSpPr>
          <p:grpSpPr bwMode="auto">
            <a:xfrm>
              <a:off x="3456" y="2160"/>
              <a:ext cx="1680" cy="768"/>
              <a:chOff x="3456" y="2160"/>
              <a:chExt cx="1680" cy="768"/>
            </a:xfrm>
          </p:grpSpPr>
          <p:sp>
            <p:nvSpPr>
              <p:cNvPr id="16" name="Line 19"/>
              <p:cNvSpPr>
                <a:spLocks noChangeShapeType="1"/>
              </p:cNvSpPr>
              <p:nvPr/>
            </p:nvSpPr>
            <p:spPr bwMode="auto">
              <a:xfrm flipH="1">
                <a:off x="3696" y="2160"/>
                <a:ext cx="480" cy="720"/>
              </a:xfrm>
              <a:prstGeom prst="line">
                <a:avLst/>
              </a:prstGeom>
              <a:noFill/>
              <a:ln w="12700" cap="sq">
                <a:solidFill>
                  <a:srgbClr val="66CC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AR"/>
              </a:p>
            </p:txBody>
          </p:sp>
          <p:sp>
            <p:nvSpPr>
              <p:cNvPr id="17" name="Line 20"/>
              <p:cNvSpPr>
                <a:spLocks noChangeShapeType="1"/>
              </p:cNvSpPr>
              <p:nvPr/>
            </p:nvSpPr>
            <p:spPr bwMode="auto">
              <a:xfrm flipV="1">
                <a:off x="3984" y="2160"/>
                <a:ext cx="1104" cy="336"/>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AR"/>
              </a:p>
            </p:txBody>
          </p:sp>
          <p:sp>
            <p:nvSpPr>
              <p:cNvPr id="18" name="Line 21"/>
              <p:cNvSpPr>
                <a:spLocks noChangeShapeType="1"/>
              </p:cNvSpPr>
              <p:nvPr/>
            </p:nvSpPr>
            <p:spPr bwMode="auto">
              <a:xfrm flipH="1">
                <a:off x="4608" y="2208"/>
                <a:ext cx="288" cy="528"/>
              </a:xfrm>
              <a:prstGeom prst="line">
                <a:avLst/>
              </a:prstGeom>
              <a:noFill/>
              <a:ln w="12700" cap="sq">
                <a:solidFill>
                  <a:srgbClr val="CC99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AR"/>
              </a:p>
            </p:txBody>
          </p:sp>
          <p:sp>
            <p:nvSpPr>
              <p:cNvPr id="19" name="Rectangle 22"/>
              <p:cNvSpPr>
                <a:spLocks noChangeArrowheads="1"/>
              </p:cNvSpPr>
              <p:nvPr/>
            </p:nvSpPr>
            <p:spPr bwMode="auto">
              <a:xfrm>
                <a:off x="3456" y="2160"/>
                <a:ext cx="62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s-ES_tradnl"/>
                  <a:t>  P1</a:t>
                </a:r>
              </a:p>
            </p:txBody>
          </p:sp>
          <p:sp>
            <p:nvSpPr>
              <p:cNvPr id="20" name="Line 23"/>
              <p:cNvSpPr>
                <a:spLocks noChangeShapeType="1"/>
              </p:cNvSpPr>
              <p:nvPr/>
            </p:nvSpPr>
            <p:spPr bwMode="auto">
              <a:xfrm>
                <a:off x="3984" y="2496"/>
                <a:ext cx="336" cy="384"/>
              </a:xfrm>
              <a:prstGeom prst="line">
                <a:avLst/>
              </a:prstGeom>
              <a:noFill/>
              <a:ln w="12700" cap="sq">
                <a:solidFill>
                  <a:srgbClr val="FF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AR"/>
              </a:p>
            </p:txBody>
          </p:sp>
          <p:sp>
            <p:nvSpPr>
              <p:cNvPr id="21" name="Text Box 24"/>
              <p:cNvSpPr txBox="1">
                <a:spLocks noChangeArrowheads="1"/>
              </p:cNvSpPr>
              <p:nvPr/>
            </p:nvSpPr>
            <p:spPr bwMode="auto">
              <a:xfrm>
                <a:off x="4224" y="24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a:defRPr>
                </a:lvl1pPr>
                <a:lvl2pPr marL="742950" indent="-285750">
                  <a:defRPr kumimoji="1" sz="2400">
                    <a:solidFill>
                      <a:schemeClr val="tx1"/>
                    </a:solidFill>
                    <a:latin typeface="Times New Roman"/>
                  </a:defRPr>
                </a:lvl2pPr>
                <a:lvl3pPr marL="1143000" indent="-228600">
                  <a:defRPr kumimoji="1" sz="2400">
                    <a:solidFill>
                      <a:schemeClr val="tx1"/>
                    </a:solidFill>
                    <a:latin typeface="Times New Roman"/>
                  </a:defRPr>
                </a:lvl3pPr>
                <a:lvl4pPr marL="1600200" indent="-228600">
                  <a:defRPr kumimoji="1" sz="2400">
                    <a:solidFill>
                      <a:schemeClr val="tx1"/>
                    </a:solidFill>
                    <a:latin typeface="Times New Roman"/>
                  </a:defRPr>
                </a:lvl4pPr>
                <a:lvl5pPr marL="2057400" indent="-228600">
                  <a:defRPr kumimoji="1" sz="2400">
                    <a:solidFill>
                      <a:schemeClr val="tx1"/>
                    </a:solidFill>
                    <a:latin typeface="Times New Roman"/>
                  </a:defRPr>
                </a:lvl5pPr>
                <a:lvl6pPr marL="2514600" indent="-228600" eaLnBrk="0" fontAlgn="base" hangingPunct="0">
                  <a:spcBef>
                    <a:spcPct val="0"/>
                  </a:spcBef>
                  <a:spcAft>
                    <a:spcPct val="0"/>
                  </a:spcAft>
                  <a:defRPr kumimoji="1" sz="2400">
                    <a:solidFill>
                      <a:schemeClr val="tx1"/>
                    </a:solidFill>
                    <a:latin typeface="Times New Roman"/>
                  </a:defRPr>
                </a:lvl6pPr>
                <a:lvl7pPr marL="2971800" indent="-228600" eaLnBrk="0" fontAlgn="base" hangingPunct="0">
                  <a:spcBef>
                    <a:spcPct val="0"/>
                  </a:spcBef>
                  <a:spcAft>
                    <a:spcPct val="0"/>
                  </a:spcAft>
                  <a:defRPr kumimoji="1" sz="2400">
                    <a:solidFill>
                      <a:schemeClr val="tx1"/>
                    </a:solidFill>
                    <a:latin typeface="Times New Roman"/>
                  </a:defRPr>
                </a:lvl7pPr>
                <a:lvl8pPr marL="3429000" indent="-228600" eaLnBrk="0" fontAlgn="base" hangingPunct="0">
                  <a:spcBef>
                    <a:spcPct val="0"/>
                  </a:spcBef>
                  <a:spcAft>
                    <a:spcPct val="0"/>
                  </a:spcAft>
                  <a:defRPr kumimoji="1" sz="2400">
                    <a:solidFill>
                      <a:schemeClr val="tx1"/>
                    </a:solidFill>
                    <a:latin typeface="Times New Roman"/>
                  </a:defRPr>
                </a:lvl8pPr>
                <a:lvl9pPr marL="3886200" indent="-228600" eaLnBrk="0" fontAlgn="base" hangingPunct="0">
                  <a:spcBef>
                    <a:spcPct val="0"/>
                  </a:spcBef>
                  <a:spcAft>
                    <a:spcPct val="0"/>
                  </a:spcAft>
                  <a:defRPr kumimoji="1" sz="2400">
                    <a:solidFill>
                      <a:schemeClr val="tx1"/>
                    </a:solidFill>
                    <a:latin typeface="Times New Roman"/>
                  </a:defRPr>
                </a:lvl9pPr>
              </a:lstStyle>
              <a:p>
                <a:pPr>
                  <a:spcBef>
                    <a:spcPct val="50000"/>
                  </a:spcBef>
                </a:pPr>
                <a:r>
                  <a:rPr kumimoji="0" lang="es-ES_tradnl"/>
                  <a:t>P3</a:t>
                </a:r>
              </a:p>
            </p:txBody>
          </p:sp>
          <p:sp>
            <p:nvSpPr>
              <p:cNvPr id="22" name="Text Box 25"/>
              <p:cNvSpPr txBox="1">
                <a:spLocks noChangeArrowheads="1"/>
              </p:cNvSpPr>
              <p:nvPr/>
            </p:nvSpPr>
            <p:spPr bwMode="auto">
              <a:xfrm>
                <a:off x="3792" y="264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a:defRPr>
                </a:lvl1pPr>
                <a:lvl2pPr marL="742950" indent="-285750">
                  <a:defRPr kumimoji="1" sz="2400">
                    <a:solidFill>
                      <a:schemeClr val="tx1"/>
                    </a:solidFill>
                    <a:latin typeface="Times New Roman"/>
                  </a:defRPr>
                </a:lvl2pPr>
                <a:lvl3pPr marL="1143000" indent="-228600">
                  <a:defRPr kumimoji="1" sz="2400">
                    <a:solidFill>
                      <a:schemeClr val="tx1"/>
                    </a:solidFill>
                    <a:latin typeface="Times New Roman"/>
                  </a:defRPr>
                </a:lvl3pPr>
                <a:lvl4pPr marL="1600200" indent="-228600">
                  <a:defRPr kumimoji="1" sz="2400">
                    <a:solidFill>
                      <a:schemeClr val="tx1"/>
                    </a:solidFill>
                    <a:latin typeface="Times New Roman"/>
                  </a:defRPr>
                </a:lvl4pPr>
                <a:lvl5pPr marL="2057400" indent="-228600">
                  <a:defRPr kumimoji="1" sz="2400">
                    <a:solidFill>
                      <a:schemeClr val="tx1"/>
                    </a:solidFill>
                    <a:latin typeface="Times New Roman"/>
                  </a:defRPr>
                </a:lvl5pPr>
                <a:lvl6pPr marL="2514600" indent="-228600" eaLnBrk="0" fontAlgn="base" hangingPunct="0">
                  <a:spcBef>
                    <a:spcPct val="0"/>
                  </a:spcBef>
                  <a:spcAft>
                    <a:spcPct val="0"/>
                  </a:spcAft>
                  <a:defRPr kumimoji="1" sz="2400">
                    <a:solidFill>
                      <a:schemeClr val="tx1"/>
                    </a:solidFill>
                    <a:latin typeface="Times New Roman"/>
                  </a:defRPr>
                </a:lvl6pPr>
                <a:lvl7pPr marL="2971800" indent="-228600" eaLnBrk="0" fontAlgn="base" hangingPunct="0">
                  <a:spcBef>
                    <a:spcPct val="0"/>
                  </a:spcBef>
                  <a:spcAft>
                    <a:spcPct val="0"/>
                  </a:spcAft>
                  <a:defRPr kumimoji="1" sz="2400">
                    <a:solidFill>
                      <a:schemeClr val="tx1"/>
                    </a:solidFill>
                    <a:latin typeface="Times New Roman"/>
                  </a:defRPr>
                </a:lvl7pPr>
                <a:lvl8pPr marL="3429000" indent="-228600" eaLnBrk="0" fontAlgn="base" hangingPunct="0">
                  <a:spcBef>
                    <a:spcPct val="0"/>
                  </a:spcBef>
                  <a:spcAft>
                    <a:spcPct val="0"/>
                  </a:spcAft>
                  <a:defRPr kumimoji="1" sz="2400">
                    <a:solidFill>
                      <a:schemeClr val="tx1"/>
                    </a:solidFill>
                    <a:latin typeface="Times New Roman"/>
                  </a:defRPr>
                </a:lvl8pPr>
                <a:lvl9pPr marL="3886200" indent="-228600" eaLnBrk="0" fontAlgn="base" hangingPunct="0">
                  <a:spcBef>
                    <a:spcPct val="0"/>
                  </a:spcBef>
                  <a:spcAft>
                    <a:spcPct val="0"/>
                  </a:spcAft>
                  <a:defRPr kumimoji="1" sz="2400">
                    <a:solidFill>
                      <a:schemeClr val="tx1"/>
                    </a:solidFill>
                    <a:latin typeface="Times New Roman"/>
                  </a:defRPr>
                </a:lvl9pPr>
              </a:lstStyle>
              <a:p>
                <a:pPr>
                  <a:spcBef>
                    <a:spcPct val="50000"/>
                  </a:spcBef>
                </a:pPr>
                <a:r>
                  <a:rPr kumimoji="0" lang="es-ES_tradnl"/>
                  <a:t>P4</a:t>
                </a:r>
              </a:p>
            </p:txBody>
          </p:sp>
          <p:sp>
            <p:nvSpPr>
              <p:cNvPr id="23" name="Text Box 26"/>
              <p:cNvSpPr txBox="1">
                <a:spLocks noChangeArrowheads="1"/>
              </p:cNvSpPr>
              <p:nvPr/>
            </p:nvSpPr>
            <p:spPr bwMode="auto">
              <a:xfrm>
                <a:off x="4752" y="230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a:defRPr>
                </a:lvl1pPr>
                <a:lvl2pPr marL="742950" indent="-285750">
                  <a:defRPr kumimoji="1" sz="2400">
                    <a:solidFill>
                      <a:schemeClr val="tx1"/>
                    </a:solidFill>
                    <a:latin typeface="Times New Roman"/>
                  </a:defRPr>
                </a:lvl2pPr>
                <a:lvl3pPr marL="1143000" indent="-228600">
                  <a:defRPr kumimoji="1" sz="2400">
                    <a:solidFill>
                      <a:schemeClr val="tx1"/>
                    </a:solidFill>
                    <a:latin typeface="Times New Roman"/>
                  </a:defRPr>
                </a:lvl3pPr>
                <a:lvl4pPr marL="1600200" indent="-228600">
                  <a:defRPr kumimoji="1" sz="2400">
                    <a:solidFill>
                      <a:schemeClr val="tx1"/>
                    </a:solidFill>
                    <a:latin typeface="Times New Roman"/>
                  </a:defRPr>
                </a:lvl4pPr>
                <a:lvl5pPr marL="2057400" indent="-228600">
                  <a:defRPr kumimoji="1" sz="2400">
                    <a:solidFill>
                      <a:schemeClr val="tx1"/>
                    </a:solidFill>
                    <a:latin typeface="Times New Roman"/>
                  </a:defRPr>
                </a:lvl5pPr>
                <a:lvl6pPr marL="2514600" indent="-228600" eaLnBrk="0" fontAlgn="base" hangingPunct="0">
                  <a:spcBef>
                    <a:spcPct val="0"/>
                  </a:spcBef>
                  <a:spcAft>
                    <a:spcPct val="0"/>
                  </a:spcAft>
                  <a:defRPr kumimoji="1" sz="2400">
                    <a:solidFill>
                      <a:schemeClr val="tx1"/>
                    </a:solidFill>
                    <a:latin typeface="Times New Roman"/>
                  </a:defRPr>
                </a:lvl6pPr>
                <a:lvl7pPr marL="2971800" indent="-228600" eaLnBrk="0" fontAlgn="base" hangingPunct="0">
                  <a:spcBef>
                    <a:spcPct val="0"/>
                  </a:spcBef>
                  <a:spcAft>
                    <a:spcPct val="0"/>
                  </a:spcAft>
                  <a:defRPr kumimoji="1" sz="2400">
                    <a:solidFill>
                      <a:schemeClr val="tx1"/>
                    </a:solidFill>
                    <a:latin typeface="Times New Roman"/>
                  </a:defRPr>
                </a:lvl7pPr>
                <a:lvl8pPr marL="3429000" indent="-228600" eaLnBrk="0" fontAlgn="base" hangingPunct="0">
                  <a:spcBef>
                    <a:spcPct val="0"/>
                  </a:spcBef>
                  <a:spcAft>
                    <a:spcPct val="0"/>
                  </a:spcAft>
                  <a:defRPr kumimoji="1" sz="2400">
                    <a:solidFill>
                      <a:schemeClr val="tx1"/>
                    </a:solidFill>
                    <a:latin typeface="Times New Roman"/>
                  </a:defRPr>
                </a:lvl8pPr>
                <a:lvl9pPr marL="3886200" indent="-228600" eaLnBrk="0" fontAlgn="base" hangingPunct="0">
                  <a:spcBef>
                    <a:spcPct val="0"/>
                  </a:spcBef>
                  <a:spcAft>
                    <a:spcPct val="0"/>
                  </a:spcAft>
                  <a:defRPr kumimoji="1" sz="2400">
                    <a:solidFill>
                      <a:schemeClr val="tx1"/>
                    </a:solidFill>
                    <a:latin typeface="Times New Roman"/>
                  </a:defRPr>
                </a:lvl9pPr>
              </a:lstStyle>
              <a:p>
                <a:pPr>
                  <a:spcBef>
                    <a:spcPct val="50000"/>
                  </a:spcBef>
                </a:pPr>
                <a:r>
                  <a:rPr kumimoji="0" lang="es-ES_tradnl"/>
                  <a:t>P5</a:t>
                </a:r>
              </a:p>
            </p:txBody>
          </p:sp>
        </p:grpSp>
      </p:grpSp>
    </p:spTree>
    <p:extLst>
      <p:ext uri="{BB962C8B-B14F-4D97-AF65-F5344CB8AC3E}">
        <p14:creationId xmlns:p14="http://schemas.microsoft.com/office/powerpoint/2010/main" val="2712002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9" grpId="0"/>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3</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Modularidad</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46805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AR" sz="2800" dirty="0" smtClean="0"/>
              <a:t>Ejemplo</a:t>
            </a:r>
            <a:endParaRPr lang="es-AR" sz="2800" dirty="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Tree>
    <p:extLst>
      <p:ext uri="{BB962C8B-B14F-4D97-AF65-F5344CB8AC3E}">
        <p14:creationId xmlns:p14="http://schemas.microsoft.com/office/powerpoint/2010/main" val="1054423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4</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a:t>Procedimientos y Funciones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46805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AR" dirty="0" smtClean="0"/>
              <a:t>Disponemos de dos herramientas básicas para realizar programación descendente: </a:t>
            </a:r>
            <a:endParaRPr lang="es-AR" dirty="0"/>
          </a:p>
          <a:p>
            <a:pPr lvl="1"/>
            <a:r>
              <a:rPr lang="es-AR" dirty="0"/>
              <a:t>los procedimientos (</a:t>
            </a:r>
            <a:r>
              <a:rPr lang="es-AR" dirty="0" err="1"/>
              <a:t>procedure</a:t>
            </a:r>
            <a:r>
              <a:rPr lang="es-AR" dirty="0"/>
              <a:t>) </a:t>
            </a:r>
          </a:p>
          <a:p>
            <a:pPr lvl="1"/>
            <a:r>
              <a:rPr lang="es-AR" dirty="0"/>
              <a:t>las funciones (</a:t>
            </a:r>
            <a:r>
              <a:rPr lang="es-AR" dirty="0" err="1"/>
              <a:t>function</a:t>
            </a:r>
            <a:r>
              <a:rPr lang="es-AR" dirty="0"/>
              <a:t>),</a:t>
            </a:r>
          </a:p>
          <a:p>
            <a:pPr marL="0" indent="0">
              <a:buNone/>
            </a:pPr>
            <a:r>
              <a:rPr lang="es-AR" dirty="0"/>
              <a:t>a </a:t>
            </a:r>
            <a:r>
              <a:rPr lang="es-AR" dirty="0" smtClean="0"/>
              <a:t>estos módulos también son referidos genéricamente </a:t>
            </a:r>
            <a:r>
              <a:rPr lang="es-AR" dirty="0"/>
              <a:t>con el término de subprogramas. </a:t>
            </a:r>
            <a:endParaRPr lang="es-AR" dirty="0" smtClean="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Tree>
    <p:extLst>
      <p:ext uri="{BB962C8B-B14F-4D97-AF65-F5344CB8AC3E}">
        <p14:creationId xmlns:p14="http://schemas.microsoft.com/office/powerpoint/2010/main" val="2917562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5</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a:t>Procedimientos y Funciones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4680520"/>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AR" b="1" dirty="0"/>
              <a:t>Procedimientos:</a:t>
            </a:r>
          </a:p>
          <a:p>
            <a:r>
              <a:rPr lang="es-AR" dirty="0"/>
              <a:t>Deben realizar una tarea específica. </a:t>
            </a:r>
          </a:p>
          <a:p>
            <a:r>
              <a:rPr lang="es-AR" dirty="0"/>
              <a:t>Pueden recibir cero o más valores del programa que llama y devolver cero o más valores a dicho programa llamador. </a:t>
            </a:r>
          </a:p>
          <a:p>
            <a:r>
              <a:rPr lang="es-AR" dirty="0"/>
              <a:t>Se los invoca como una sentencia.</a:t>
            </a:r>
          </a:p>
          <a:p>
            <a:pPr marL="0" indent="0">
              <a:buNone/>
            </a:pPr>
            <a:endParaRPr lang="es-AR" dirty="0"/>
          </a:p>
          <a:p>
            <a:pPr marL="0" indent="0">
              <a:buNone/>
            </a:pPr>
            <a:r>
              <a:rPr lang="es-AR" b="1" dirty="0"/>
              <a:t>Funciones:</a:t>
            </a:r>
          </a:p>
          <a:p>
            <a:r>
              <a:rPr lang="es-AR" dirty="0"/>
              <a:t>También realizan una tarea específica</a:t>
            </a:r>
          </a:p>
          <a:p>
            <a:r>
              <a:rPr lang="es-AR" dirty="0"/>
              <a:t>Devuelven un valor a la unidad de programa que los referencia.</a:t>
            </a:r>
          </a:p>
          <a:p>
            <a:r>
              <a:rPr lang="es-AR" dirty="0"/>
              <a:t>Se los invoca utilizando alguna sentencia que nos permita recibir el valor devuelto.</a:t>
            </a:r>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Tree>
    <p:extLst>
      <p:ext uri="{BB962C8B-B14F-4D97-AF65-F5344CB8AC3E}">
        <p14:creationId xmlns:p14="http://schemas.microsoft.com/office/powerpoint/2010/main" val="30308072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6</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Procedimientos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10801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smtClean="0"/>
              <a:t>Declaración</a:t>
            </a:r>
            <a:r>
              <a:rPr lang="en-US" dirty="0" smtClean="0"/>
              <a:t> de un </a:t>
            </a:r>
            <a:r>
              <a:rPr lang="en-US" dirty="0" err="1" smtClean="0"/>
              <a:t>procedimiento</a:t>
            </a:r>
            <a:r>
              <a:rPr lang="en-US" dirty="0" smtClean="0"/>
              <a:t> (1):</a:t>
            </a:r>
            <a:endParaRPr lang="es-AR" dirty="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1763688" y="2420888"/>
            <a:ext cx="5688632" cy="2862322"/>
          </a:xfrm>
          <a:prstGeom prst="rect">
            <a:avLst/>
          </a:prstGeom>
        </p:spPr>
        <p:txBody>
          <a:bodyPr wrap="square">
            <a:spAutoFit/>
          </a:bodyPr>
          <a:lstStyle/>
          <a:p>
            <a:endParaRPr lang="es-AR" dirty="0"/>
          </a:p>
          <a:p>
            <a:r>
              <a:rPr lang="es-AR" b="1" dirty="0"/>
              <a:t>  </a:t>
            </a:r>
            <a:r>
              <a:rPr lang="es-AR" b="1" dirty="0" err="1"/>
              <a:t>procedure</a:t>
            </a:r>
            <a:r>
              <a:rPr lang="es-AR" b="1" dirty="0"/>
              <a:t> </a:t>
            </a:r>
            <a:r>
              <a:rPr lang="es-AR" b="1" dirty="0" err="1" smtClean="0"/>
              <a:t>nombreProc</a:t>
            </a:r>
            <a:r>
              <a:rPr lang="es-AR" b="1" dirty="0" smtClean="0"/>
              <a:t>;</a:t>
            </a:r>
            <a:endParaRPr lang="es-AR" b="1" dirty="0"/>
          </a:p>
          <a:p>
            <a:endParaRPr lang="es-AR" dirty="0"/>
          </a:p>
          <a:p>
            <a:r>
              <a:rPr lang="es-AR" dirty="0"/>
              <a:t>  //</a:t>
            </a:r>
            <a:r>
              <a:rPr lang="es-AR" dirty="0" err="1"/>
              <a:t>Declaracion</a:t>
            </a:r>
            <a:r>
              <a:rPr lang="es-AR" dirty="0"/>
              <a:t> local de variables y subprogramas</a:t>
            </a:r>
          </a:p>
          <a:p>
            <a:endParaRPr lang="es-AR" dirty="0"/>
          </a:p>
          <a:p>
            <a:r>
              <a:rPr lang="es-AR" b="1" dirty="0"/>
              <a:t>  </a:t>
            </a:r>
            <a:r>
              <a:rPr lang="es-AR" b="1" dirty="0" err="1"/>
              <a:t>begin</a:t>
            </a:r>
            <a:endParaRPr lang="es-AR" b="1" dirty="0"/>
          </a:p>
          <a:p>
            <a:endParaRPr lang="es-AR" dirty="0"/>
          </a:p>
          <a:p>
            <a:r>
              <a:rPr lang="es-AR" dirty="0"/>
              <a:t>    //cuerpo del procedimiento</a:t>
            </a:r>
          </a:p>
          <a:p>
            <a:endParaRPr lang="es-AR" dirty="0"/>
          </a:p>
          <a:p>
            <a:r>
              <a:rPr lang="es-AR" b="1" dirty="0"/>
              <a:t>  </a:t>
            </a:r>
            <a:r>
              <a:rPr lang="es-AR" b="1" dirty="0" err="1"/>
              <a:t>end</a:t>
            </a:r>
            <a:r>
              <a:rPr lang="es-AR" b="1" dirty="0"/>
              <a:t>;</a:t>
            </a:r>
          </a:p>
        </p:txBody>
      </p:sp>
    </p:spTree>
    <p:extLst>
      <p:ext uri="{BB962C8B-B14F-4D97-AF65-F5344CB8AC3E}">
        <p14:creationId xmlns:p14="http://schemas.microsoft.com/office/powerpoint/2010/main" val="37822254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7</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Procedimientos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10801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smtClean="0"/>
              <a:t>Declaración</a:t>
            </a:r>
            <a:r>
              <a:rPr lang="en-US" dirty="0" smtClean="0"/>
              <a:t> de un </a:t>
            </a:r>
            <a:r>
              <a:rPr lang="en-US" dirty="0" err="1" smtClean="0"/>
              <a:t>procedimiento</a:t>
            </a:r>
            <a:r>
              <a:rPr lang="en-US" dirty="0" smtClean="0"/>
              <a:t> (2):</a:t>
            </a:r>
            <a:endParaRPr lang="es-AR" dirty="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1763688" y="2420888"/>
            <a:ext cx="5688632" cy="2862322"/>
          </a:xfrm>
          <a:prstGeom prst="rect">
            <a:avLst/>
          </a:prstGeom>
        </p:spPr>
        <p:txBody>
          <a:bodyPr wrap="square">
            <a:spAutoFit/>
          </a:bodyPr>
          <a:lstStyle/>
          <a:p>
            <a:endParaRPr lang="es-AR" dirty="0"/>
          </a:p>
          <a:p>
            <a:r>
              <a:rPr lang="es-AR" b="1" dirty="0"/>
              <a:t>  </a:t>
            </a:r>
            <a:r>
              <a:rPr lang="es-AR" b="1" dirty="0" err="1"/>
              <a:t>procedure</a:t>
            </a:r>
            <a:r>
              <a:rPr lang="es-AR" b="1" dirty="0"/>
              <a:t> </a:t>
            </a:r>
            <a:r>
              <a:rPr lang="es-AR" b="1" dirty="0" err="1" smtClean="0"/>
              <a:t>nombreProc</a:t>
            </a:r>
            <a:r>
              <a:rPr lang="es-AR" b="1" dirty="0" smtClean="0"/>
              <a:t> (lista de </a:t>
            </a:r>
            <a:r>
              <a:rPr lang="es-AR" b="1" dirty="0" err="1" smtClean="0"/>
              <a:t>parametros</a:t>
            </a:r>
            <a:r>
              <a:rPr lang="es-AR" b="1" dirty="0" smtClean="0"/>
              <a:t> formales);</a:t>
            </a:r>
            <a:endParaRPr lang="es-AR" b="1" dirty="0"/>
          </a:p>
          <a:p>
            <a:endParaRPr lang="es-AR" dirty="0"/>
          </a:p>
          <a:p>
            <a:r>
              <a:rPr lang="es-AR" dirty="0"/>
              <a:t>  //</a:t>
            </a:r>
            <a:r>
              <a:rPr lang="es-AR" dirty="0" err="1"/>
              <a:t>Declaracion</a:t>
            </a:r>
            <a:r>
              <a:rPr lang="es-AR" dirty="0"/>
              <a:t> local de variables y subprogramas</a:t>
            </a:r>
          </a:p>
          <a:p>
            <a:endParaRPr lang="es-AR" dirty="0"/>
          </a:p>
          <a:p>
            <a:r>
              <a:rPr lang="es-AR" b="1" dirty="0"/>
              <a:t>  </a:t>
            </a:r>
            <a:r>
              <a:rPr lang="es-AR" b="1" dirty="0" err="1"/>
              <a:t>begin</a:t>
            </a:r>
            <a:endParaRPr lang="es-AR" b="1" dirty="0"/>
          </a:p>
          <a:p>
            <a:endParaRPr lang="es-AR" dirty="0"/>
          </a:p>
          <a:p>
            <a:r>
              <a:rPr lang="es-AR" dirty="0"/>
              <a:t>    //cuerpo del procedimiento</a:t>
            </a:r>
          </a:p>
          <a:p>
            <a:endParaRPr lang="es-AR" dirty="0"/>
          </a:p>
          <a:p>
            <a:r>
              <a:rPr lang="es-AR" b="1" dirty="0"/>
              <a:t>  </a:t>
            </a:r>
            <a:r>
              <a:rPr lang="es-AR" b="1" dirty="0" err="1"/>
              <a:t>end</a:t>
            </a:r>
            <a:r>
              <a:rPr lang="es-AR" b="1" dirty="0"/>
              <a:t>;</a:t>
            </a:r>
          </a:p>
        </p:txBody>
      </p:sp>
    </p:spTree>
    <p:extLst>
      <p:ext uri="{BB962C8B-B14F-4D97-AF65-F5344CB8AC3E}">
        <p14:creationId xmlns:p14="http://schemas.microsoft.com/office/powerpoint/2010/main" val="656442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8</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Procedimientos</a:t>
            </a:r>
            <a:br>
              <a:rPr lang="es-ES_tradnl" sz="2800" dirty="0" smtClean="0"/>
            </a:br>
            <a:r>
              <a:rPr lang="es-ES_tradnl" sz="2800" dirty="0" smtClean="0"/>
              <a:t>Ejemplo</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755576" y="1412776"/>
            <a:ext cx="5688632" cy="5078313"/>
          </a:xfrm>
          <a:prstGeom prst="rect">
            <a:avLst/>
          </a:prstGeom>
        </p:spPr>
        <p:txBody>
          <a:bodyPr wrap="square">
            <a:spAutoFit/>
          </a:bodyPr>
          <a:lstStyle/>
          <a:p>
            <a:r>
              <a:rPr lang="es-AR" dirty="0" err="1"/>
              <a:t>program</a:t>
            </a:r>
            <a:r>
              <a:rPr lang="es-AR" dirty="0"/>
              <a:t> Ejemplos;</a:t>
            </a:r>
          </a:p>
          <a:p>
            <a:r>
              <a:rPr lang="es-AR" dirty="0"/>
              <a:t>{$APPTYPE CONSOLE}</a:t>
            </a:r>
          </a:p>
          <a:p>
            <a:endParaRPr lang="es-AR" dirty="0"/>
          </a:p>
          <a:p>
            <a:r>
              <a:rPr lang="es-AR" dirty="0" err="1"/>
              <a:t>var</a:t>
            </a:r>
            <a:endParaRPr lang="es-AR" dirty="0"/>
          </a:p>
          <a:p>
            <a:r>
              <a:rPr lang="es-AR" dirty="0" smtClean="0"/>
              <a:t>  </a:t>
            </a:r>
            <a:r>
              <a:rPr lang="es-AR" dirty="0"/>
              <a:t>X, Y: </a:t>
            </a:r>
            <a:r>
              <a:rPr lang="es-AR" dirty="0" err="1"/>
              <a:t>integer</a:t>
            </a:r>
            <a:r>
              <a:rPr lang="es-AR" dirty="0"/>
              <a:t>;</a:t>
            </a:r>
          </a:p>
          <a:p>
            <a:endParaRPr lang="es-AR" dirty="0"/>
          </a:p>
          <a:p>
            <a:r>
              <a:rPr lang="es-AR" dirty="0"/>
              <a:t>  </a:t>
            </a:r>
            <a:r>
              <a:rPr lang="es-AR" dirty="0" err="1"/>
              <a:t>procedure</a:t>
            </a:r>
            <a:r>
              <a:rPr lang="es-AR" dirty="0"/>
              <a:t> Resta;</a:t>
            </a:r>
          </a:p>
          <a:p>
            <a:r>
              <a:rPr lang="es-AR" dirty="0"/>
              <a:t>  </a:t>
            </a:r>
            <a:r>
              <a:rPr lang="es-AR" dirty="0" err="1"/>
              <a:t>begin</a:t>
            </a:r>
            <a:endParaRPr lang="es-AR" dirty="0"/>
          </a:p>
          <a:p>
            <a:r>
              <a:rPr lang="es-AR" dirty="0"/>
              <a:t>    X := X - 1;</a:t>
            </a:r>
          </a:p>
          <a:p>
            <a:r>
              <a:rPr lang="es-AR" dirty="0"/>
              <a:t>    Y := Y - 1;</a:t>
            </a:r>
          </a:p>
          <a:p>
            <a:r>
              <a:rPr lang="es-AR" dirty="0"/>
              <a:t>  </a:t>
            </a:r>
            <a:r>
              <a:rPr lang="es-AR" dirty="0" err="1"/>
              <a:t>end</a:t>
            </a:r>
            <a:r>
              <a:rPr lang="es-AR" dirty="0"/>
              <a:t>;</a:t>
            </a:r>
          </a:p>
          <a:p>
            <a:endParaRPr lang="es-AR" dirty="0"/>
          </a:p>
          <a:p>
            <a:r>
              <a:rPr lang="es-AR" dirty="0" err="1"/>
              <a:t>begin</a:t>
            </a:r>
            <a:endParaRPr lang="es-AR" dirty="0"/>
          </a:p>
          <a:p>
            <a:endParaRPr lang="es-AR" dirty="0"/>
          </a:p>
          <a:p>
            <a:r>
              <a:rPr lang="es-AR" dirty="0"/>
              <a:t>  X:= 5;</a:t>
            </a:r>
          </a:p>
          <a:p>
            <a:r>
              <a:rPr lang="es-AR" dirty="0"/>
              <a:t>  Y:= 10;</a:t>
            </a:r>
          </a:p>
          <a:p>
            <a:r>
              <a:rPr lang="es-AR" dirty="0"/>
              <a:t>  Resta;</a:t>
            </a:r>
          </a:p>
          <a:p>
            <a:r>
              <a:rPr lang="es-AR" dirty="0" err="1" smtClean="0"/>
              <a:t>end</a:t>
            </a:r>
            <a:r>
              <a:rPr lang="es-AR" dirty="0"/>
              <a:t>.</a:t>
            </a:r>
          </a:p>
        </p:txBody>
      </p:sp>
    </p:spTree>
    <p:extLst>
      <p:ext uri="{BB962C8B-B14F-4D97-AF65-F5344CB8AC3E}">
        <p14:creationId xmlns:p14="http://schemas.microsoft.com/office/powerpoint/2010/main" val="4174421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9</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Procedimientos</a:t>
            </a:r>
            <a:br>
              <a:rPr lang="es-ES_tradnl" sz="2800" dirty="0" smtClean="0"/>
            </a:br>
            <a:r>
              <a:rPr lang="es-ES_tradnl" sz="2800" dirty="0" smtClean="0"/>
              <a:t>Ejemplo</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755576" y="1412776"/>
            <a:ext cx="5688632" cy="4801314"/>
          </a:xfrm>
          <a:prstGeom prst="rect">
            <a:avLst/>
          </a:prstGeom>
        </p:spPr>
        <p:txBody>
          <a:bodyPr wrap="square">
            <a:spAutoFit/>
          </a:bodyPr>
          <a:lstStyle/>
          <a:p>
            <a:r>
              <a:rPr lang="es-AR" dirty="0" err="1"/>
              <a:t>program</a:t>
            </a:r>
            <a:r>
              <a:rPr lang="es-AR" dirty="0"/>
              <a:t> Ejemplos;</a:t>
            </a:r>
          </a:p>
          <a:p>
            <a:r>
              <a:rPr lang="es-AR" dirty="0"/>
              <a:t>{$APPTYPE CONSOLE}</a:t>
            </a:r>
          </a:p>
          <a:p>
            <a:r>
              <a:rPr lang="es-AR" dirty="0" err="1" smtClean="0"/>
              <a:t>var</a:t>
            </a:r>
            <a:endParaRPr lang="es-AR" dirty="0"/>
          </a:p>
          <a:p>
            <a:r>
              <a:rPr lang="es-AR" dirty="0"/>
              <a:t>  X, Y, Z, W: </a:t>
            </a:r>
            <a:r>
              <a:rPr lang="es-AR" dirty="0" err="1"/>
              <a:t>integer</a:t>
            </a:r>
            <a:r>
              <a:rPr lang="es-AR" dirty="0"/>
              <a:t>;</a:t>
            </a:r>
          </a:p>
          <a:p>
            <a:endParaRPr lang="es-AR" dirty="0"/>
          </a:p>
          <a:p>
            <a:r>
              <a:rPr lang="es-AR" dirty="0"/>
              <a:t>  </a:t>
            </a:r>
            <a:r>
              <a:rPr lang="es-AR" dirty="0" err="1"/>
              <a:t>procedure</a:t>
            </a:r>
            <a:r>
              <a:rPr lang="es-AR" dirty="0"/>
              <a:t> Resta(A: </a:t>
            </a:r>
            <a:r>
              <a:rPr lang="es-AR" dirty="0" err="1"/>
              <a:t>integer</a:t>
            </a:r>
            <a:r>
              <a:rPr lang="es-AR" dirty="0"/>
              <a:t>, </a:t>
            </a:r>
            <a:r>
              <a:rPr lang="es-AR" dirty="0" err="1"/>
              <a:t>var</a:t>
            </a:r>
            <a:r>
              <a:rPr lang="es-AR" dirty="0"/>
              <a:t> B: </a:t>
            </a:r>
            <a:r>
              <a:rPr lang="es-AR" dirty="0" err="1"/>
              <a:t>integer</a:t>
            </a:r>
            <a:r>
              <a:rPr lang="es-AR" dirty="0"/>
              <a:t>);</a:t>
            </a:r>
          </a:p>
          <a:p>
            <a:r>
              <a:rPr lang="es-AR" dirty="0"/>
              <a:t>  </a:t>
            </a:r>
            <a:r>
              <a:rPr lang="es-AR" dirty="0" err="1"/>
              <a:t>begin</a:t>
            </a:r>
            <a:endParaRPr lang="es-AR" dirty="0"/>
          </a:p>
          <a:p>
            <a:r>
              <a:rPr lang="es-AR" dirty="0"/>
              <a:t>    A := A - 1;</a:t>
            </a:r>
          </a:p>
          <a:p>
            <a:r>
              <a:rPr lang="es-AR" dirty="0"/>
              <a:t>    B := B - 1;</a:t>
            </a:r>
          </a:p>
          <a:p>
            <a:r>
              <a:rPr lang="es-AR" dirty="0"/>
              <a:t>  </a:t>
            </a:r>
            <a:r>
              <a:rPr lang="es-AR" dirty="0" err="1"/>
              <a:t>end</a:t>
            </a:r>
            <a:r>
              <a:rPr lang="es-AR" dirty="0"/>
              <a:t>;</a:t>
            </a:r>
          </a:p>
          <a:p>
            <a:endParaRPr lang="es-AR" dirty="0"/>
          </a:p>
          <a:p>
            <a:r>
              <a:rPr lang="es-AR" dirty="0" err="1"/>
              <a:t>begin</a:t>
            </a:r>
            <a:endParaRPr lang="es-AR" dirty="0"/>
          </a:p>
          <a:p>
            <a:endParaRPr lang="es-AR" dirty="0"/>
          </a:p>
          <a:p>
            <a:r>
              <a:rPr lang="es-AR" dirty="0"/>
              <a:t>  X:= 5</a:t>
            </a:r>
            <a:r>
              <a:rPr lang="es-AR" dirty="0" smtClean="0"/>
              <a:t>;      </a:t>
            </a:r>
            <a:r>
              <a:rPr lang="es-AR" dirty="0"/>
              <a:t>Y:= 10</a:t>
            </a:r>
            <a:r>
              <a:rPr lang="es-AR" dirty="0" smtClean="0"/>
              <a:t>;       </a:t>
            </a:r>
            <a:r>
              <a:rPr lang="es-AR" dirty="0"/>
              <a:t>Z := 99</a:t>
            </a:r>
            <a:r>
              <a:rPr lang="es-AR" dirty="0" smtClean="0"/>
              <a:t>;        </a:t>
            </a:r>
            <a:r>
              <a:rPr lang="es-AR" dirty="0"/>
              <a:t>W := 23;</a:t>
            </a:r>
          </a:p>
          <a:p>
            <a:r>
              <a:rPr lang="es-AR" dirty="0"/>
              <a:t>  Resta(X, Y);</a:t>
            </a:r>
          </a:p>
          <a:p>
            <a:r>
              <a:rPr lang="es-AR" dirty="0"/>
              <a:t>  Resta(Z, W);</a:t>
            </a:r>
          </a:p>
          <a:p>
            <a:r>
              <a:rPr lang="es-AR" dirty="0" err="1"/>
              <a:t>end</a:t>
            </a:r>
            <a:r>
              <a:rPr lang="es-AR" dirty="0"/>
              <a:t>.</a:t>
            </a:r>
          </a:p>
        </p:txBody>
      </p:sp>
      <p:sp>
        <p:nvSpPr>
          <p:cNvPr id="9" name="Rectangle 8"/>
          <p:cNvSpPr/>
          <p:nvPr/>
        </p:nvSpPr>
        <p:spPr>
          <a:xfrm>
            <a:off x="5796136" y="2780928"/>
            <a:ext cx="3952056" cy="369332"/>
          </a:xfrm>
          <a:prstGeom prst="rect">
            <a:avLst/>
          </a:prstGeom>
        </p:spPr>
        <p:txBody>
          <a:bodyPr wrap="square">
            <a:spAutoFit/>
          </a:bodyPr>
          <a:lstStyle/>
          <a:p>
            <a:r>
              <a:rPr lang="es-AR" dirty="0" smtClean="0"/>
              <a:t>Lista de parámetros formales</a:t>
            </a:r>
            <a:endParaRPr lang="es-AR" dirty="0"/>
          </a:p>
        </p:txBody>
      </p:sp>
      <p:sp>
        <p:nvSpPr>
          <p:cNvPr id="10" name="Rectangle 9"/>
          <p:cNvSpPr/>
          <p:nvPr/>
        </p:nvSpPr>
        <p:spPr>
          <a:xfrm>
            <a:off x="3068216" y="5301208"/>
            <a:ext cx="3952056" cy="369332"/>
          </a:xfrm>
          <a:prstGeom prst="rect">
            <a:avLst/>
          </a:prstGeom>
        </p:spPr>
        <p:txBody>
          <a:bodyPr wrap="square">
            <a:spAutoFit/>
          </a:bodyPr>
          <a:lstStyle/>
          <a:p>
            <a:r>
              <a:rPr lang="es-AR" dirty="0" smtClean="0"/>
              <a:t>Lista de parámetros actuales</a:t>
            </a:r>
            <a:endParaRPr lang="es-AR" dirty="0"/>
          </a:p>
        </p:txBody>
      </p:sp>
      <p:cxnSp>
        <p:nvCxnSpPr>
          <p:cNvPr id="4" name="Straight Arrow Connector 3"/>
          <p:cNvCxnSpPr/>
          <p:nvPr/>
        </p:nvCxnSpPr>
        <p:spPr>
          <a:xfrm flipH="1">
            <a:off x="2195736" y="5485874"/>
            <a:ext cx="872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0" idx="1"/>
          </p:cNvCxnSpPr>
          <p:nvPr/>
        </p:nvCxnSpPr>
        <p:spPr>
          <a:xfrm flipH="1">
            <a:off x="2195736" y="5485874"/>
            <a:ext cx="872480" cy="184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9" idx="1"/>
          </p:cNvCxnSpPr>
          <p:nvPr/>
        </p:nvCxnSpPr>
        <p:spPr>
          <a:xfrm flipH="1">
            <a:off x="5044244" y="2965594"/>
            <a:ext cx="75189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32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10</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Parámetros Formales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Footer Placeholder 1"/>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7" name="Rectangle 5"/>
          <p:cNvSpPr txBox="1">
            <a:spLocks noChangeArrowheads="1"/>
          </p:cNvSpPr>
          <p:nvPr/>
        </p:nvSpPr>
        <p:spPr>
          <a:xfrm>
            <a:off x="682354" y="1484784"/>
            <a:ext cx="8066110" cy="4824536"/>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AR" sz="2400" b="1" dirty="0" smtClean="0"/>
              <a:t>Parámetros por referencia</a:t>
            </a:r>
          </a:p>
          <a:p>
            <a:r>
              <a:rPr lang="es-AR" sz="2400" dirty="0" smtClean="0"/>
              <a:t>Cuando se pasa una variable a un procedimiento como parámetro  por referencia, los cambios que se efectúan sobre dicha variable dentro del procedimiento se mantienen, incluso después de que haya finalizado  el procedimiento. Los cambios producidos  en parámetros por referencia son permanentes, ya que no se pasa al procedimiento el valor de hay dentro de la variable,  sino la dirección de memoria de la variable. </a:t>
            </a:r>
          </a:p>
          <a:p>
            <a:r>
              <a:rPr lang="en-US" sz="2400" b="1" dirty="0" err="1" smtClean="0"/>
              <a:t>Parámetros</a:t>
            </a:r>
            <a:r>
              <a:rPr lang="en-US" sz="2400" b="1" dirty="0" smtClean="0"/>
              <a:t> </a:t>
            </a:r>
            <a:r>
              <a:rPr lang="en-US" sz="2400" b="1" dirty="0" err="1" smtClean="0"/>
              <a:t>por</a:t>
            </a:r>
            <a:r>
              <a:rPr lang="en-US" sz="2400" b="1" dirty="0" smtClean="0"/>
              <a:t> valor</a:t>
            </a:r>
          </a:p>
          <a:p>
            <a:r>
              <a:rPr lang="en-US" sz="2400" dirty="0" smtClean="0"/>
              <a:t>Los </a:t>
            </a:r>
            <a:r>
              <a:rPr lang="en-US" sz="2400" dirty="0" err="1" smtClean="0"/>
              <a:t>parámetros</a:t>
            </a:r>
            <a:r>
              <a:rPr lang="en-US" sz="2400" dirty="0" smtClean="0"/>
              <a:t> </a:t>
            </a:r>
            <a:r>
              <a:rPr lang="en-US" sz="2400" dirty="0" err="1" smtClean="0"/>
              <a:t>por</a:t>
            </a:r>
            <a:r>
              <a:rPr lang="en-US" sz="2400" dirty="0" smtClean="0"/>
              <a:t> valor son </a:t>
            </a:r>
            <a:r>
              <a:rPr lang="en-US" sz="2400" dirty="0" err="1" smtClean="0"/>
              <a:t>diferentes</a:t>
            </a:r>
            <a:r>
              <a:rPr lang="en-US" sz="2400" dirty="0" smtClean="0"/>
              <a:t> a los </a:t>
            </a:r>
            <a:r>
              <a:rPr lang="en-US" sz="2400" dirty="0" err="1" smtClean="0"/>
              <a:t>parámetros</a:t>
            </a:r>
            <a:r>
              <a:rPr lang="en-US" sz="2400" dirty="0" smtClean="0"/>
              <a:t> </a:t>
            </a:r>
            <a:r>
              <a:rPr lang="en-US" sz="2400" dirty="0" err="1" smtClean="0"/>
              <a:t>por</a:t>
            </a:r>
            <a:r>
              <a:rPr lang="en-US" sz="2400" dirty="0" smtClean="0"/>
              <a:t> </a:t>
            </a:r>
            <a:r>
              <a:rPr lang="en-US" sz="2400" dirty="0" err="1" smtClean="0"/>
              <a:t>referencia</a:t>
            </a:r>
            <a:r>
              <a:rPr lang="en-US" sz="2400" dirty="0" smtClean="0"/>
              <a:t>, </a:t>
            </a:r>
            <a:r>
              <a:rPr lang="en-US" sz="2400" dirty="0" err="1" smtClean="0"/>
              <a:t>cuando</a:t>
            </a:r>
            <a:r>
              <a:rPr lang="en-US" sz="2400" dirty="0" smtClean="0"/>
              <a:t> se </a:t>
            </a:r>
            <a:r>
              <a:rPr lang="en-US" sz="2400" dirty="0" err="1" smtClean="0"/>
              <a:t>pasa</a:t>
            </a:r>
            <a:r>
              <a:rPr lang="en-US" sz="2400" dirty="0" smtClean="0"/>
              <a:t> un </a:t>
            </a:r>
            <a:r>
              <a:rPr lang="en-US" sz="2400" dirty="0" err="1" smtClean="0"/>
              <a:t>parámetro</a:t>
            </a:r>
            <a:r>
              <a:rPr lang="en-US" sz="2400" dirty="0" smtClean="0"/>
              <a:t> </a:t>
            </a:r>
            <a:r>
              <a:rPr lang="en-US" sz="2400" dirty="0" err="1" smtClean="0"/>
              <a:t>por</a:t>
            </a:r>
            <a:r>
              <a:rPr lang="en-US" sz="2400" dirty="0" smtClean="0"/>
              <a:t> valor a un </a:t>
            </a:r>
            <a:r>
              <a:rPr lang="en-US" sz="2400" dirty="0" err="1" smtClean="0"/>
              <a:t>procedimiento</a:t>
            </a:r>
            <a:r>
              <a:rPr lang="en-US" sz="2400" dirty="0" smtClean="0"/>
              <a:t> se </a:t>
            </a:r>
            <a:r>
              <a:rPr lang="en-US" sz="2400" dirty="0" err="1" smtClean="0"/>
              <a:t>guarda</a:t>
            </a:r>
            <a:r>
              <a:rPr lang="en-US" sz="2400" dirty="0" smtClean="0"/>
              <a:t> en </a:t>
            </a:r>
            <a:r>
              <a:rPr lang="en-US" sz="2400" dirty="0" err="1" smtClean="0"/>
              <a:t>memoria</a:t>
            </a:r>
            <a:r>
              <a:rPr lang="en-US" sz="2400" dirty="0" smtClean="0"/>
              <a:t> </a:t>
            </a:r>
            <a:r>
              <a:rPr lang="en-US" sz="2400" dirty="0" err="1" smtClean="0"/>
              <a:t>una</a:t>
            </a:r>
            <a:r>
              <a:rPr lang="en-US" sz="2400" dirty="0" smtClean="0"/>
              <a:t> </a:t>
            </a:r>
            <a:r>
              <a:rPr lang="en-US" sz="2400" dirty="0" err="1" smtClean="0"/>
              <a:t>copia</a:t>
            </a:r>
            <a:r>
              <a:rPr lang="en-US" sz="2400" dirty="0"/>
              <a:t> </a:t>
            </a:r>
            <a:r>
              <a:rPr lang="en-US" sz="2400" dirty="0" smtClean="0"/>
              <a:t>temporal de la variable, </a:t>
            </a:r>
            <a:r>
              <a:rPr lang="en-US" sz="2400" dirty="0" err="1" smtClean="0"/>
              <a:t>Dentro</a:t>
            </a:r>
            <a:r>
              <a:rPr lang="en-US" sz="2400" dirty="0" smtClean="0"/>
              <a:t> del </a:t>
            </a:r>
            <a:r>
              <a:rPr lang="en-US" sz="2400" dirty="0" err="1" smtClean="0"/>
              <a:t>procedimiento</a:t>
            </a:r>
            <a:r>
              <a:rPr lang="en-US" sz="2400" dirty="0" smtClean="0"/>
              <a:t> solo se </a:t>
            </a:r>
            <a:r>
              <a:rPr lang="en-US" sz="2400" dirty="0" err="1" smtClean="0"/>
              <a:t>utiliza</a:t>
            </a:r>
            <a:r>
              <a:rPr lang="en-US" sz="2400" dirty="0"/>
              <a:t> </a:t>
            </a:r>
            <a:r>
              <a:rPr lang="en-US" sz="2400" dirty="0" smtClean="0"/>
              <a:t>la </a:t>
            </a:r>
            <a:r>
              <a:rPr lang="en-US" sz="2400" dirty="0" err="1" smtClean="0"/>
              <a:t>copia</a:t>
            </a:r>
            <a:r>
              <a:rPr lang="en-US" sz="2400" dirty="0" smtClean="0"/>
              <a:t>, la original </a:t>
            </a:r>
            <a:r>
              <a:rPr lang="en-US" sz="2400" dirty="0" err="1" smtClean="0"/>
              <a:t>nunca</a:t>
            </a:r>
            <a:r>
              <a:rPr lang="en-US" sz="2400" dirty="0" smtClean="0"/>
              <a:t> se </a:t>
            </a:r>
            <a:r>
              <a:rPr lang="en-US" sz="2400" dirty="0" err="1" smtClean="0"/>
              <a:t>toca</a:t>
            </a:r>
            <a:r>
              <a:rPr lang="en-US" sz="2400" dirty="0" smtClean="0"/>
              <a:t>.</a:t>
            </a:r>
            <a:endParaRPr lang="en-US" sz="2400" dirty="0" smtClean="0"/>
          </a:p>
          <a:p>
            <a:endParaRPr lang="en-US" sz="2400" dirty="0" smtClean="0"/>
          </a:p>
        </p:txBody>
      </p:sp>
    </p:spTree>
    <p:extLst>
      <p:ext uri="{BB962C8B-B14F-4D97-AF65-F5344CB8AC3E}">
        <p14:creationId xmlns:p14="http://schemas.microsoft.com/office/powerpoint/2010/main" val="2011197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11</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Procedimientos</a:t>
            </a:r>
            <a:br>
              <a:rPr lang="es-ES_tradnl" sz="2800" dirty="0" smtClean="0"/>
            </a:br>
            <a:r>
              <a:rPr lang="es-ES_tradnl" sz="2800" dirty="0" smtClean="0"/>
              <a:t>Ejemplo</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755576" y="1412776"/>
            <a:ext cx="5688632" cy="4801314"/>
          </a:xfrm>
          <a:prstGeom prst="rect">
            <a:avLst/>
          </a:prstGeom>
        </p:spPr>
        <p:txBody>
          <a:bodyPr wrap="square">
            <a:spAutoFit/>
          </a:bodyPr>
          <a:lstStyle/>
          <a:p>
            <a:r>
              <a:rPr lang="es-AR" dirty="0" err="1"/>
              <a:t>program</a:t>
            </a:r>
            <a:r>
              <a:rPr lang="es-AR" dirty="0"/>
              <a:t> Ejemplos;</a:t>
            </a:r>
          </a:p>
          <a:p>
            <a:r>
              <a:rPr lang="es-AR" dirty="0"/>
              <a:t>{$APPTYPE CONSOLE}</a:t>
            </a:r>
          </a:p>
          <a:p>
            <a:r>
              <a:rPr lang="es-AR" dirty="0" err="1" smtClean="0"/>
              <a:t>var</a:t>
            </a:r>
            <a:endParaRPr lang="es-AR" dirty="0"/>
          </a:p>
          <a:p>
            <a:r>
              <a:rPr lang="es-AR" dirty="0"/>
              <a:t>  X, Y, Z, W: </a:t>
            </a:r>
            <a:r>
              <a:rPr lang="es-AR" dirty="0" err="1"/>
              <a:t>integer</a:t>
            </a:r>
            <a:r>
              <a:rPr lang="es-AR" dirty="0"/>
              <a:t>;</a:t>
            </a:r>
          </a:p>
          <a:p>
            <a:endParaRPr lang="es-AR" dirty="0"/>
          </a:p>
          <a:p>
            <a:r>
              <a:rPr lang="es-AR" dirty="0"/>
              <a:t>  </a:t>
            </a:r>
            <a:r>
              <a:rPr lang="es-AR" dirty="0" err="1"/>
              <a:t>procedure</a:t>
            </a:r>
            <a:r>
              <a:rPr lang="es-AR" dirty="0"/>
              <a:t> Resta(A: </a:t>
            </a:r>
            <a:r>
              <a:rPr lang="es-AR" dirty="0" err="1"/>
              <a:t>integer</a:t>
            </a:r>
            <a:r>
              <a:rPr lang="es-AR" dirty="0"/>
              <a:t>, </a:t>
            </a:r>
            <a:r>
              <a:rPr lang="es-AR" b="1" dirty="0" err="1"/>
              <a:t>var</a:t>
            </a:r>
            <a:r>
              <a:rPr lang="es-AR" dirty="0"/>
              <a:t> B: </a:t>
            </a:r>
            <a:r>
              <a:rPr lang="es-AR" dirty="0" err="1"/>
              <a:t>integer</a:t>
            </a:r>
            <a:r>
              <a:rPr lang="es-AR" dirty="0"/>
              <a:t>);</a:t>
            </a:r>
          </a:p>
          <a:p>
            <a:r>
              <a:rPr lang="es-AR" dirty="0"/>
              <a:t>  </a:t>
            </a:r>
            <a:r>
              <a:rPr lang="es-AR" dirty="0" err="1"/>
              <a:t>begin</a:t>
            </a:r>
            <a:endParaRPr lang="es-AR" dirty="0"/>
          </a:p>
          <a:p>
            <a:r>
              <a:rPr lang="es-AR" dirty="0"/>
              <a:t>    A := A - 1;</a:t>
            </a:r>
          </a:p>
          <a:p>
            <a:r>
              <a:rPr lang="es-AR" dirty="0"/>
              <a:t>    B := B - 1;</a:t>
            </a:r>
          </a:p>
          <a:p>
            <a:r>
              <a:rPr lang="es-AR" dirty="0"/>
              <a:t>  </a:t>
            </a:r>
            <a:r>
              <a:rPr lang="es-AR" dirty="0" err="1"/>
              <a:t>end</a:t>
            </a:r>
            <a:r>
              <a:rPr lang="es-AR" dirty="0"/>
              <a:t>;</a:t>
            </a:r>
          </a:p>
          <a:p>
            <a:endParaRPr lang="es-AR" dirty="0"/>
          </a:p>
          <a:p>
            <a:r>
              <a:rPr lang="es-AR" dirty="0" err="1"/>
              <a:t>begin</a:t>
            </a:r>
            <a:endParaRPr lang="es-AR" dirty="0"/>
          </a:p>
          <a:p>
            <a:endParaRPr lang="es-AR" dirty="0"/>
          </a:p>
          <a:p>
            <a:r>
              <a:rPr lang="es-AR" dirty="0"/>
              <a:t>  X:= 5</a:t>
            </a:r>
            <a:r>
              <a:rPr lang="es-AR" dirty="0" smtClean="0"/>
              <a:t>;      </a:t>
            </a:r>
            <a:r>
              <a:rPr lang="es-AR" dirty="0"/>
              <a:t>Y:= 10</a:t>
            </a:r>
            <a:r>
              <a:rPr lang="es-AR" dirty="0" smtClean="0"/>
              <a:t>;       </a:t>
            </a:r>
            <a:r>
              <a:rPr lang="es-AR" dirty="0"/>
              <a:t>Z := 99</a:t>
            </a:r>
            <a:r>
              <a:rPr lang="es-AR" dirty="0" smtClean="0"/>
              <a:t>;        </a:t>
            </a:r>
            <a:r>
              <a:rPr lang="es-AR" dirty="0"/>
              <a:t>W := 23;</a:t>
            </a:r>
          </a:p>
          <a:p>
            <a:r>
              <a:rPr lang="es-AR" dirty="0"/>
              <a:t>  Resta(X, Y);</a:t>
            </a:r>
          </a:p>
          <a:p>
            <a:r>
              <a:rPr lang="es-AR" dirty="0"/>
              <a:t>  Resta(Z, W);</a:t>
            </a:r>
          </a:p>
          <a:p>
            <a:r>
              <a:rPr lang="es-AR" dirty="0" err="1"/>
              <a:t>end</a:t>
            </a:r>
            <a:r>
              <a:rPr lang="es-AR" dirty="0"/>
              <a:t>.</a:t>
            </a:r>
          </a:p>
        </p:txBody>
      </p:sp>
    </p:spTree>
    <p:extLst>
      <p:ext uri="{BB962C8B-B14F-4D97-AF65-F5344CB8AC3E}">
        <p14:creationId xmlns:p14="http://schemas.microsoft.com/office/powerpoint/2010/main" val="2722954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12</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Funciones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7" name="Rectangle 5"/>
          <p:cNvSpPr txBox="1">
            <a:spLocks noChangeArrowheads="1"/>
          </p:cNvSpPr>
          <p:nvPr/>
        </p:nvSpPr>
        <p:spPr>
          <a:xfrm>
            <a:off x="682354" y="1484784"/>
            <a:ext cx="8066110" cy="10801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smtClean="0"/>
              <a:t>Declaración</a:t>
            </a:r>
            <a:r>
              <a:rPr lang="en-US" dirty="0" smtClean="0"/>
              <a:t> de </a:t>
            </a:r>
            <a:r>
              <a:rPr lang="en-US" dirty="0" err="1" smtClean="0"/>
              <a:t>una</a:t>
            </a:r>
            <a:r>
              <a:rPr lang="en-US" dirty="0" smtClean="0"/>
              <a:t> </a:t>
            </a:r>
            <a:r>
              <a:rPr lang="en-US" dirty="0" err="1" smtClean="0"/>
              <a:t>función</a:t>
            </a:r>
            <a:r>
              <a:rPr lang="en-US" dirty="0" smtClean="0"/>
              <a:t>:</a:t>
            </a:r>
            <a:endParaRPr lang="es-AR" dirty="0"/>
          </a:p>
        </p:txBody>
      </p:sp>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1547664" y="2852936"/>
            <a:ext cx="5688632" cy="2308324"/>
          </a:xfrm>
          <a:prstGeom prst="rect">
            <a:avLst/>
          </a:prstGeom>
        </p:spPr>
        <p:txBody>
          <a:bodyPr wrap="square">
            <a:spAutoFit/>
          </a:bodyPr>
          <a:lstStyle/>
          <a:p>
            <a:r>
              <a:rPr lang="es-AR" sz="2400" b="1" dirty="0"/>
              <a:t> </a:t>
            </a:r>
            <a:r>
              <a:rPr lang="es-AR" sz="2400" b="1" dirty="0" err="1"/>
              <a:t>function</a:t>
            </a:r>
            <a:r>
              <a:rPr lang="es-AR" sz="2400" b="1" dirty="0"/>
              <a:t> </a:t>
            </a:r>
            <a:r>
              <a:rPr lang="es-AR" sz="2400" b="1" dirty="0" err="1"/>
              <a:t>nombreFuncion</a:t>
            </a:r>
            <a:r>
              <a:rPr lang="es-AR" sz="2400" b="1" dirty="0"/>
              <a:t>(A: </a:t>
            </a:r>
            <a:r>
              <a:rPr lang="es-AR" sz="2400" b="1" dirty="0" err="1"/>
              <a:t>integer</a:t>
            </a:r>
            <a:r>
              <a:rPr lang="es-AR" sz="2400" b="1" dirty="0"/>
              <a:t>): tipo;</a:t>
            </a:r>
          </a:p>
          <a:p>
            <a:r>
              <a:rPr lang="es-AR" sz="2400" dirty="0"/>
              <a:t>    // declaraciones locales y subprogramas</a:t>
            </a:r>
          </a:p>
          <a:p>
            <a:r>
              <a:rPr lang="es-AR" sz="2400" dirty="0"/>
              <a:t>  </a:t>
            </a:r>
            <a:r>
              <a:rPr lang="es-AR" sz="2400" b="1" dirty="0" err="1"/>
              <a:t>begin</a:t>
            </a:r>
            <a:endParaRPr lang="es-AR" sz="2400" b="1" dirty="0"/>
          </a:p>
          <a:p>
            <a:r>
              <a:rPr lang="es-AR" sz="2400" dirty="0"/>
              <a:t>    // cuerpo de la Función</a:t>
            </a:r>
          </a:p>
          <a:p>
            <a:r>
              <a:rPr lang="es-AR" sz="2400" dirty="0"/>
              <a:t>    </a:t>
            </a:r>
            <a:r>
              <a:rPr lang="es-AR" sz="2400" dirty="0" err="1"/>
              <a:t>nombreFuncion</a:t>
            </a:r>
            <a:r>
              <a:rPr lang="es-AR" sz="2400" dirty="0"/>
              <a:t> := valor de la función</a:t>
            </a:r>
          </a:p>
          <a:p>
            <a:r>
              <a:rPr lang="es-AR" sz="2400" b="1" dirty="0"/>
              <a:t>  </a:t>
            </a:r>
            <a:r>
              <a:rPr lang="es-AR" sz="2400" b="1" dirty="0" err="1"/>
              <a:t>end</a:t>
            </a:r>
            <a:r>
              <a:rPr lang="es-AR" sz="2400" b="1" dirty="0"/>
              <a:t>;</a:t>
            </a:r>
          </a:p>
        </p:txBody>
      </p:sp>
    </p:spTree>
    <p:extLst>
      <p:ext uri="{BB962C8B-B14F-4D97-AF65-F5344CB8AC3E}">
        <p14:creationId xmlns:p14="http://schemas.microsoft.com/office/powerpoint/2010/main" val="3517369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13</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Funciones</a:t>
            </a:r>
            <a:br>
              <a:rPr lang="es-ES_tradnl" sz="2800" dirty="0" smtClean="0"/>
            </a:br>
            <a:r>
              <a:rPr lang="es-ES_tradnl" sz="2800" dirty="0" smtClean="0"/>
              <a:t>Ejemplo</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8" name="Footer Placeholder 3"/>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 name="Rectangle 1"/>
          <p:cNvSpPr/>
          <p:nvPr/>
        </p:nvSpPr>
        <p:spPr>
          <a:xfrm>
            <a:off x="539552" y="1556792"/>
            <a:ext cx="5688632" cy="4801314"/>
          </a:xfrm>
          <a:prstGeom prst="rect">
            <a:avLst/>
          </a:prstGeom>
        </p:spPr>
        <p:txBody>
          <a:bodyPr wrap="square">
            <a:spAutoFit/>
          </a:bodyPr>
          <a:lstStyle/>
          <a:p>
            <a:r>
              <a:rPr lang="es-AR" dirty="0" err="1"/>
              <a:t>program</a:t>
            </a:r>
            <a:r>
              <a:rPr lang="es-AR" dirty="0"/>
              <a:t> Ejemplos;</a:t>
            </a:r>
          </a:p>
          <a:p>
            <a:r>
              <a:rPr lang="es-AR" dirty="0"/>
              <a:t>{$APPTYPE CONSOLE}</a:t>
            </a:r>
          </a:p>
          <a:p>
            <a:r>
              <a:rPr lang="es-AR" dirty="0" err="1" smtClean="0"/>
              <a:t>var</a:t>
            </a:r>
            <a:endParaRPr lang="es-AR" dirty="0"/>
          </a:p>
          <a:p>
            <a:r>
              <a:rPr lang="es-AR" dirty="0"/>
              <a:t>  X, Y, Z: real;</a:t>
            </a:r>
          </a:p>
          <a:p>
            <a:endParaRPr lang="es-AR" dirty="0"/>
          </a:p>
          <a:p>
            <a:r>
              <a:rPr lang="es-AR" dirty="0"/>
              <a:t>  </a:t>
            </a:r>
            <a:r>
              <a:rPr lang="es-AR" dirty="0" err="1"/>
              <a:t>function</a:t>
            </a:r>
            <a:r>
              <a:rPr lang="es-AR" dirty="0"/>
              <a:t> promedio(a, b: real): real;</a:t>
            </a:r>
          </a:p>
          <a:p>
            <a:r>
              <a:rPr lang="es-AR" dirty="0"/>
              <a:t>  </a:t>
            </a:r>
            <a:r>
              <a:rPr lang="es-AR" dirty="0" err="1"/>
              <a:t>begin</a:t>
            </a:r>
            <a:endParaRPr lang="es-AR" dirty="0"/>
          </a:p>
          <a:p>
            <a:r>
              <a:rPr lang="es-AR" dirty="0"/>
              <a:t>    promedio := (a + b) / 2;</a:t>
            </a:r>
          </a:p>
          <a:p>
            <a:r>
              <a:rPr lang="es-AR" dirty="0"/>
              <a:t>  </a:t>
            </a:r>
            <a:r>
              <a:rPr lang="es-AR" dirty="0" err="1"/>
              <a:t>end</a:t>
            </a:r>
            <a:r>
              <a:rPr lang="es-AR" dirty="0"/>
              <a:t>;</a:t>
            </a:r>
          </a:p>
          <a:p>
            <a:endParaRPr lang="es-AR" dirty="0"/>
          </a:p>
          <a:p>
            <a:r>
              <a:rPr lang="es-AR" dirty="0" err="1"/>
              <a:t>begin</a:t>
            </a:r>
            <a:endParaRPr lang="es-AR" dirty="0"/>
          </a:p>
          <a:p>
            <a:endParaRPr lang="es-AR" dirty="0"/>
          </a:p>
          <a:p>
            <a:r>
              <a:rPr lang="es-AR" dirty="0"/>
              <a:t>  X:= 5,1;</a:t>
            </a:r>
          </a:p>
          <a:p>
            <a:r>
              <a:rPr lang="es-AR" dirty="0"/>
              <a:t>  Y:= 10,3;</a:t>
            </a:r>
          </a:p>
          <a:p>
            <a:r>
              <a:rPr lang="es-AR" dirty="0"/>
              <a:t>  Z := promedio(X, Y);</a:t>
            </a:r>
          </a:p>
          <a:p>
            <a:endParaRPr lang="es-AR" dirty="0"/>
          </a:p>
          <a:p>
            <a:r>
              <a:rPr lang="es-AR" dirty="0" err="1"/>
              <a:t>end</a:t>
            </a:r>
            <a:r>
              <a:rPr lang="es-AR" dirty="0"/>
              <a:t>.</a:t>
            </a:r>
          </a:p>
        </p:txBody>
      </p:sp>
    </p:spTree>
    <p:extLst>
      <p:ext uri="{BB962C8B-B14F-4D97-AF65-F5344CB8AC3E}">
        <p14:creationId xmlns:p14="http://schemas.microsoft.com/office/powerpoint/2010/main" val="3855467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14"/>
          <p:cNvSpPr>
            <a:spLocks noChangeArrowheads="1"/>
          </p:cNvSpPr>
          <p:nvPr/>
        </p:nvSpPr>
        <p:spPr bwMode="auto">
          <a:xfrm>
            <a:off x="2744788" y="1744663"/>
            <a:ext cx="1370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Program Ejemplo</a:t>
            </a:r>
            <a:endParaRPr kumimoji="0" lang="es-ES_tradnl" sz="1400"/>
          </a:p>
        </p:txBody>
      </p:sp>
      <p:sp>
        <p:nvSpPr>
          <p:cNvPr id="21508" name="Rectangle 15"/>
          <p:cNvSpPr>
            <a:spLocks noChangeArrowheads="1"/>
          </p:cNvSpPr>
          <p:nvPr/>
        </p:nvSpPr>
        <p:spPr bwMode="auto">
          <a:xfrm>
            <a:off x="2744788" y="2209800"/>
            <a:ext cx="246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var</a:t>
            </a:r>
            <a:endParaRPr kumimoji="0" lang="es-ES_tradnl" sz="1400"/>
          </a:p>
        </p:txBody>
      </p:sp>
      <p:sp>
        <p:nvSpPr>
          <p:cNvPr id="21509" name="Rectangle 16"/>
          <p:cNvSpPr>
            <a:spLocks noChangeArrowheads="1"/>
          </p:cNvSpPr>
          <p:nvPr/>
        </p:nvSpPr>
        <p:spPr bwMode="auto">
          <a:xfrm>
            <a:off x="2987675" y="2444750"/>
            <a:ext cx="8572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X : integer;</a:t>
            </a:r>
            <a:endParaRPr kumimoji="0" lang="es-ES_tradnl" sz="1400"/>
          </a:p>
        </p:txBody>
      </p:sp>
      <p:sp>
        <p:nvSpPr>
          <p:cNvPr id="21510" name="Rectangle 17"/>
          <p:cNvSpPr>
            <a:spLocks noChangeArrowheads="1"/>
          </p:cNvSpPr>
          <p:nvPr/>
        </p:nvSpPr>
        <p:spPr bwMode="auto">
          <a:xfrm>
            <a:off x="2987675" y="2909888"/>
            <a:ext cx="10144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procedure A;</a:t>
            </a:r>
            <a:endParaRPr kumimoji="0" lang="es-ES_tradnl" sz="1400"/>
          </a:p>
        </p:txBody>
      </p:sp>
      <p:sp>
        <p:nvSpPr>
          <p:cNvPr id="21511" name="Rectangle 18"/>
          <p:cNvSpPr>
            <a:spLocks noChangeArrowheads="1"/>
          </p:cNvSpPr>
          <p:nvPr/>
        </p:nvSpPr>
        <p:spPr bwMode="auto">
          <a:xfrm>
            <a:off x="2987675" y="3140075"/>
            <a:ext cx="246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var</a:t>
            </a:r>
            <a:endParaRPr kumimoji="0" lang="es-ES_tradnl" sz="1400"/>
          </a:p>
        </p:txBody>
      </p:sp>
      <p:sp>
        <p:nvSpPr>
          <p:cNvPr id="21512" name="Rectangle 19"/>
          <p:cNvSpPr>
            <a:spLocks noChangeArrowheads="1"/>
          </p:cNvSpPr>
          <p:nvPr/>
        </p:nvSpPr>
        <p:spPr bwMode="auto">
          <a:xfrm>
            <a:off x="3100388" y="3605213"/>
            <a:ext cx="8572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Y : integer;</a:t>
            </a:r>
            <a:endParaRPr kumimoji="0" lang="es-ES_tradnl" sz="1400"/>
          </a:p>
        </p:txBody>
      </p:sp>
      <p:sp>
        <p:nvSpPr>
          <p:cNvPr id="21513" name="Rectangle 20"/>
          <p:cNvSpPr>
            <a:spLocks noChangeArrowheads="1"/>
          </p:cNvSpPr>
          <p:nvPr/>
        </p:nvSpPr>
        <p:spPr bwMode="auto">
          <a:xfrm>
            <a:off x="3100388" y="3840163"/>
            <a:ext cx="10144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procedure B;</a:t>
            </a:r>
            <a:endParaRPr kumimoji="0" lang="es-ES_tradnl" sz="1400"/>
          </a:p>
        </p:txBody>
      </p:sp>
      <p:sp>
        <p:nvSpPr>
          <p:cNvPr id="21514" name="Rectangle 21"/>
          <p:cNvSpPr>
            <a:spLocks noChangeArrowheads="1"/>
          </p:cNvSpPr>
          <p:nvPr/>
        </p:nvSpPr>
        <p:spPr bwMode="auto">
          <a:xfrm>
            <a:off x="3105150" y="4070350"/>
            <a:ext cx="246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var</a:t>
            </a:r>
            <a:endParaRPr kumimoji="0" lang="es-ES_tradnl" sz="1400"/>
          </a:p>
        </p:txBody>
      </p:sp>
      <p:sp>
        <p:nvSpPr>
          <p:cNvPr id="21515" name="Rectangle 22"/>
          <p:cNvSpPr>
            <a:spLocks noChangeArrowheads="1"/>
          </p:cNvSpPr>
          <p:nvPr/>
        </p:nvSpPr>
        <p:spPr bwMode="auto">
          <a:xfrm>
            <a:off x="3465513" y="4535488"/>
            <a:ext cx="8461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Z : integer;</a:t>
            </a:r>
            <a:endParaRPr kumimoji="0" lang="es-ES_tradnl" sz="1400"/>
          </a:p>
        </p:txBody>
      </p:sp>
      <p:sp>
        <p:nvSpPr>
          <p:cNvPr id="21516" name="Rectangle 23"/>
          <p:cNvSpPr>
            <a:spLocks noChangeArrowheads="1"/>
          </p:cNvSpPr>
          <p:nvPr/>
        </p:nvSpPr>
        <p:spPr bwMode="auto">
          <a:xfrm>
            <a:off x="3100388" y="5000625"/>
            <a:ext cx="482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begin;</a:t>
            </a:r>
            <a:endParaRPr kumimoji="0" lang="es-ES_tradnl" sz="1400"/>
          </a:p>
        </p:txBody>
      </p:sp>
      <p:sp>
        <p:nvSpPr>
          <p:cNvPr id="21517" name="Rectangle 24"/>
          <p:cNvSpPr>
            <a:spLocks noChangeArrowheads="1"/>
          </p:cNvSpPr>
          <p:nvPr/>
        </p:nvSpPr>
        <p:spPr bwMode="auto">
          <a:xfrm>
            <a:off x="3100388" y="5235575"/>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end;</a:t>
            </a:r>
            <a:endParaRPr kumimoji="0" lang="es-ES_tradnl" sz="1400"/>
          </a:p>
        </p:txBody>
      </p:sp>
      <p:sp>
        <p:nvSpPr>
          <p:cNvPr id="21518" name="Rectangle 25"/>
          <p:cNvSpPr>
            <a:spLocks noChangeArrowheads="1"/>
          </p:cNvSpPr>
          <p:nvPr/>
        </p:nvSpPr>
        <p:spPr bwMode="auto">
          <a:xfrm>
            <a:off x="2987675" y="5700713"/>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begin</a:t>
            </a:r>
            <a:endParaRPr kumimoji="0" lang="es-ES_tradnl" sz="1400"/>
          </a:p>
        </p:txBody>
      </p:sp>
      <p:sp>
        <p:nvSpPr>
          <p:cNvPr id="21519" name="Rectangle 26"/>
          <p:cNvSpPr>
            <a:spLocks noChangeArrowheads="1"/>
          </p:cNvSpPr>
          <p:nvPr/>
        </p:nvSpPr>
        <p:spPr bwMode="auto">
          <a:xfrm>
            <a:off x="2987675" y="5930900"/>
            <a:ext cx="344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end;</a:t>
            </a:r>
            <a:endParaRPr kumimoji="0" lang="es-ES_tradnl" sz="1400"/>
          </a:p>
        </p:txBody>
      </p:sp>
      <p:sp>
        <p:nvSpPr>
          <p:cNvPr id="21520" name="Rectangle 27"/>
          <p:cNvSpPr>
            <a:spLocks noChangeArrowheads="1"/>
          </p:cNvSpPr>
          <p:nvPr/>
        </p:nvSpPr>
        <p:spPr bwMode="auto">
          <a:xfrm>
            <a:off x="2744788" y="6396038"/>
            <a:ext cx="1339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begin { Ejemplo }</a:t>
            </a:r>
            <a:endParaRPr kumimoji="0" lang="es-ES_tradnl" sz="1400"/>
          </a:p>
        </p:txBody>
      </p:sp>
      <p:sp>
        <p:nvSpPr>
          <p:cNvPr id="21521" name="Rectangle 28"/>
          <p:cNvSpPr>
            <a:spLocks noChangeArrowheads="1"/>
          </p:cNvSpPr>
          <p:nvPr/>
        </p:nvSpPr>
        <p:spPr bwMode="auto">
          <a:xfrm>
            <a:off x="2744788" y="663098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latin typeface="Arial" charset="0"/>
              </a:rPr>
              <a:t>end.</a:t>
            </a:r>
            <a:endParaRPr kumimoji="0" lang="es-ES_tradnl" sz="1400"/>
          </a:p>
        </p:txBody>
      </p:sp>
      <p:sp>
        <p:nvSpPr>
          <p:cNvPr id="21522" name="Freeform 29"/>
          <p:cNvSpPr>
            <a:spLocks/>
          </p:cNvSpPr>
          <p:nvPr/>
        </p:nvSpPr>
        <p:spPr bwMode="auto">
          <a:xfrm>
            <a:off x="4370388" y="3944938"/>
            <a:ext cx="365125" cy="1457325"/>
          </a:xfrm>
          <a:custGeom>
            <a:avLst/>
            <a:gdLst>
              <a:gd name="T0" fmla="*/ 0 w 230"/>
              <a:gd name="T1" fmla="*/ 0 h 918"/>
              <a:gd name="T2" fmla="*/ 73025 w 230"/>
              <a:gd name="T3" fmla="*/ 4763 h 918"/>
              <a:gd name="T4" fmla="*/ 141288 w 230"/>
              <a:gd name="T5" fmla="*/ 7938 h 918"/>
              <a:gd name="T6" fmla="*/ 203200 w 230"/>
              <a:gd name="T7" fmla="*/ 20638 h 918"/>
              <a:gd name="T8" fmla="*/ 258763 w 230"/>
              <a:gd name="T9" fmla="*/ 36513 h 918"/>
              <a:gd name="T10" fmla="*/ 303213 w 230"/>
              <a:gd name="T11" fmla="*/ 57150 h 918"/>
              <a:gd name="T12" fmla="*/ 336550 w 230"/>
              <a:gd name="T13" fmla="*/ 77788 h 918"/>
              <a:gd name="T14" fmla="*/ 355600 w 230"/>
              <a:gd name="T15" fmla="*/ 96838 h 918"/>
              <a:gd name="T16" fmla="*/ 365125 w 230"/>
              <a:gd name="T17" fmla="*/ 122238 h 918"/>
              <a:gd name="T18" fmla="*/ 365125 w 230"/>
              <a:gd name="T19" fmla="*/ 1335088 h 918"/>
              <a:gd name="T20" fmla="*/ 355600 w 230"/>
              <a:gd name="T21" fmla="*/ 1358900 h 918"/>
              <a:gd name="T22" fmla="*/ 336550 w 230"/>
              <a:gd name="T23" fmla="*/ 1384300 h 918"/>
              <a:gd name="T24" fmla="*/ 303213 w 230"/>
              <a:gd name="T25" fmla="*/ 1403350 h 918"/>
              <a:gd name="T26" fmla="*/ 258763 w 230"/>
              <a:gd name="T27" fmla="*/ 1420813 h 918"/>
              <a:gd name="T28" fmla="*/ 203200 w 230"/>
              <a:gd name="T29" fmla="*/ 1436688 h 918"/>
              <a:gd name="T30" fmla="*/ 141288 w 230"/>
              <a:gd name="T31" fmla="*/ 1447800 h 918"/>
              <a:gd name="T32" fmla="*/ 73025 w 230"/>
              <a:gd name="T33" fmla="*/ 1452563 h 918"/>
              <a:gd name="T34" fmla="*/ 0 w 230"/>
              <a:gd name="T35" fmla="*/ 1457325 h 9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0" h="918">
                <a:moveTo>
                  <a:pt x="0" y="0"/>
                </a:moveTo>
                <a:lnTo>
                  <a:pt x="46" y="3"/>
                </a:lnTo>
                <a:lnTo>
                  <a:pt x="89" y="5"/>
                </a:lnTo>
                <a:lnTo>
                  <a:pt x="128" y="13"/>
                </a:lnTo>
                <a:lnTo>
                  <a:pt x="163" y="23"/>
                </a:lnTo>
                <a:lnTo>
                  <a:pt x="191" y="36"/>
                </a:lnTo>
                <a:lnTo>
                  <a:pt x="212" y="49"/>
                </a:lnTo>
                <a:lnTo>
                  <a:pt x="224" y="61"/>
                </a:lnTo>
                <a:lnTo>
                  <a:pt x="230" y="77"/>
                </a:lnTo>
                <a:lnTo>
                  <a:pt x="230" y="841"/>
                </a:lnTo>
                <a:lnTo>
                  <a:pt x="224" y="856"/>
                </a:lnTo>
                <a:lnTo>
                  <a:pt x="212" y="872"/>
                </a:lnTo>
                <a:lnTo>
                  <a:pt x="191" y="884"/>
                </a:lnTo>
                <a:lnTo>
                  <a:pt x="163" y="895"/>
                </a:lnTo>
                <a:lnTo>
                  <a:pt x="128" y="905"/>
                </a:lnTo>
                <a:lnTo>
                  <a:pt x="89" y="912"/>
                </a:lnTo>
                <a:lnTo>
                  <a:pt x="46" y="915"/>
                </a:lnTo>
                <a:lnTo>
                  <a:pt x="0" y="918"/>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grpSp>
        <p:nvGrpSpPr>
          <p:cNvPr id="21523" name="Group 32"/>
          <p:cNvGrpSpPr>
            <a:grpSpLocks/>
          </p:cNvGrpSpPr>
          <p:nvPr/>
        </p:nvGrpSpPr>
        <p:grpSpPr bwMode="auto">
          <a:xfrm>
            <a:off x="4735513" y="4608513"/>
            <a:ext cx="363537" cy="133350"/>
            <a:chOff x="2983" y="2903"/>
            <a:chExt cx="229" cy="84"/>
          </a:xfrm>
        </p:grpSpPr>
        <p:sp>
          <p:nvSpPr>
            <p:cNvPr id="21544" name="Line 30"/>
            <p:cNvSpPr>
              <a:spLocks noChangeShapeType="1"/>
            </p:cNvSpPr>
            <p:nvPr/>
          </p:nvSpPr>
          <p:spPr bwMode="auto">
            <a:xfrm>
              <a:off x="2983" y="2944"/>
              <a:ext cx="15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21545" name="Freeform 31"/>
            <p:cNvSpPr>
              <a:spLocks/>
            </p:cNvSpPr>
            <p:nvPr/>
          </p:nvSpPr>
          <p:spPr bwMode="auto">
            <a:xfrm>
              <a:off x="3130" y="2903"/>
              <a:ext cx="82" cy="84"/>
            </a:xfrm>
            <a:custGeom>
              <a:avLst/>
              <a:gdLst>
                <a:gd name="T0" fmla="*/ 0 w 82"/>
                <a:gd name="T1" fmla="*/ 84 h 84"/>
                <a:gd name="T2" fmla="*/ 82 w 82"/>
                <a:gd name="T3" fmla="*/ 41 h 84"/>
                <a:gd name="T4" fmla="*/ 0 w 82"/>
                <a:gd name="T5" fmla="*/ 0 h 84"/>
                <a:gd name="T6" fmla="*/ 0 w 82"/>
                <a:gd name="T7" fmla="*/ 84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84">
                  <a:moveTo>
                    <a:pt x="0" y="84"/>
                  </a:moveTo>
                  <a:lnTo>
                    <a:pt x="82" y="41"/>
                  </a:lnTo>
                  <a:lnTo>
                    <a:pt x="0" y="0"/>
                  </a:lnTo>
                  <a:lnTo>
                    <a:pt x="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AR"/>
            </a:p>
          </p:txBody>
        </p:sp>
      </p:grpSp>
      <p:sp>
        <p:nvSpPr>
          <p:cNvPr id="21524" name="Freeform 33"/>
          <p:cNvSpPr>
            <a:spLocks/>
          </p:cNvSpPr>
          <p:nvPr/>
        </p:nvSpPr>
        <p:spPr bwMode="auto">
          <a:xfrm>
            <a:off x="4249738" y="2974975"/>
            <a:ext cx="2062162" cy="3154363"/>
          </a:xfrm>
          <a:custGeom>
            <a:avLst/>
            <a:gdLst>
              <a:gd name="T0" fmla="*/ 0 w 1299"/>
              <a:gd name="T1" fmla="*/ 0 h 1987"/>
              <a:gd name="T2" fmla="*/ 209550 w 1299"/>
              <a:gd name="T3" fmla="*/ 0 h 1987"/>
              <a:gd name="T4" fmla="*/ 415925 w 1299"/>
              <a:gd name="T5" fmla="*/ 3175 h 1987"/>
              <a:gd name="T6" fmla="*/ 614362 w 1299"/>
              <a:gd name="T7" fmla="*/ 11113 h 1987"/>
              <a:gd name="T8" fmla="*/ 804862 w 1299"/>
              <a:gd name="T9" fmla="*/ 19050 h 1987"/>
              <a:gd name="T10" fmla="*/ 982662 w 1299"/>
              <a:gd name="T11" fmla="*/ 31750 h 1987"/>
              <a:gd name="T12" fmla="*/ 1152525 w 1299"/>
              <a:gd name="T13" fmla="*/ 44450 h 1987"/>
              <a:gd name="T14" fmla="*/ 1314450 w 1299"/>
              <a:gd name="T15" fmla="*/ 60325 h 1987"/>
              <a:gd name="T16" fmla="*/ 1460500 w 1299"/>
              <a:gd name="T17" fmla="*/ 76200 h 1987"/>
              <a:gd name="T18" fmla="*/ 1593850 w 1299"/>
              <a:gd name="T19" fmla="*/ 96838 h 1987"/>
              <a:gd name="T20" fmla="*/ 1711325 w 1299"/>
              <a:gd name="T21" fmla="*/ 115888 h 1987"/>
              <a:gd name="T22" fmla="*/ 1763712 w 1299"/>
              <a:gd name="T23" fmla="*/ 125413 h 1987"/>
              <a:gd name="T24" fmla="*/ 1816100 w 1299"/>
              <a:gd name="T25" fmla="*/ 136525 h 1987"/>
              <a:gd name="T26" fmla="*/ 1860550 w 1299"/>
              <a:gd name="T27" fmla="*/ 149225 h 1987"/>
              <a:gd name="T28" fmla="*/ 1900237 w 1299"/>
              <a:gd name="T29" fmla="*/ 160338 h 1987"/>
              <a:gd name="T30" fmla="*/ 1936750 w 1299"/>
              <a:gd name="T31" fmla="*/ 173038 h 1987"/>
              <a:gd name="T32" fmla="*/ 1970087 w 1299"/>
              <a:gd name="T33" fmla="*/ 185738 h 1987"/>
              <a:gd name="T34" fmla="*/ 1997075 w 1299"/>
              <a:gd name="T35" fmla="*/ 196850 h 1987"/>
              <a:gd name="T36" fmla="*/ 2022475 w 1299"/>
              <a:gd name="T37" fmla="*/ 209550 h 1987"/>
              <a:gd name="T38" fmla="*/ 2038350 w 1299"/>
              <a:gd name="T39" fmla="*/ 222250 h 1987"/>
              <a:gd name="T40" fmla="*/ 2051050 w 1299"/>
              <a:gd name="T41" fmla="*/ 233363 h 1987"/>
              <a:gd name="T42" fmla="*/ 2058987 w 1299"/>
              <a:gd name="T43" fmla="*/ 250825 h 1987"/>
              <a:gd name="T44" fmla="*/ 2062162 w 1299"/>
              <a:gd name="T45" fmla="*/ 261938 h 1987"/>
              <a:gd name="T46" fmla="*/ 2062162 w 1299"/>
              <a:gd name="T47" fmla="*/ 2892425 h 1987"/>
              <a:gd name="T48" fmla="*/ 2058987 w 1299"/>
              <a:gd name="T49" fmla="*/ 2903538 h 1987"/>
              <a:gd name="T50" fmla="*/ 2051050 w 1299"/>
              <a:gd name="T51" fmla="*/ 2919413 h 1987"/>
              <a:gd name="T52" fmla="*/ 2038350 w 1299"/>
              <a:gd name="T53" fmla="*/ 2932113 h 1987"/>
              <a:gd name="T54" fmla="*/ 2022475 w 1299"/>
              <a:gd name="T55" fmla="*/ 2944813 h 1987"/>
              <a:gd name="T56" fmla="*/ 1997075 w 1299"/>
              <a:gd name="T57" fmla="*/ 2955925 h 1987"/>
              <a:gd name="T58" fmla="*/ 1970087 w 1299"/>
              <a:gd name="T59" fmla="*/ 2968625 h 1987"/>
              <a:gd name="T60" fmla="*/ 1936750 w 1299"/>
              <a:gd name="T61" fmla="*/ 2981325 h 1987"/>
              <a:gd name="T62" fmla="*/ 1900237 w 1299"/>
              <a:gd name="T63" fmla="*/ 2992438 h 1987"/>
              <a:gd name="T64" fmla="*/ 1860550 w 1299"/>
              <a:gd name="T65" fmla="*/ 3005138 h 1987"/>
              <a:gd name="T66" fmla="*/ 1816100 w 1299"/>
              <a:gd name="T67" fmla="*/ 3017838 h 1987"/>
              <a:gd name="T68" fmla="*/ 1763712 w 1299"/>
              <a:gd name="T69" fmla="*/ 3028950 h 1987"/>
              <a:gd name="T70" fmla="*/ 1711325 w 1299"/>
              <a:gd name="T71" fmla="*/ 3036888 h 1987"/>
              <a:gd name="T72" fmla="*/ 1593850 w 1299"/>
              <a:gd name="T73" fmla="*/ 3057525 h 1987"/>
              <a:gd name="T74" fmla="*/ 1460500 w 1299"/>
              <a:gd name="T75" fmla="*/ 3078163 h 1987"/>
              <a:gd name="T76" fmla="*/ 1314450 w 1299"/>
              <a:gd name="T77" fmla="*/ 3094038 h 1987"/>
              <a:gd name="T78" fmla="*/ 1152525 w 1299"/>
              <a:gd name="T79" fmla="*/ 3109913 h 1987"/>
              <a:gd name="T80" fmla="*/ 982662 w 1299"/>
              <a:gd name="T81" fmla="*/ 3122613 h 1987"/>
              <a:gd name="T82" fmla="*/ 804862 w 1299"/>
              <a:gd name="T83" fmla="*/ 3135313 h 1987"/>
              <a:gd name="T84" fmla="*/ 614362 w 1299"/>
              <a:gd name="T85" fmla="*/ 3143250 h 1987"/>
              <a:gd name="T86" fmla="*/ 415925 w 1299"/>
              <a:gd name="T87" fmla="*/ 3151188 h 1987"/>
              <a:gd name="T88" fmla="*/ 209550 w 1299"/>
              <a:gd name="T89" fmla="*/ 3154363 h 1987"/>
              <a:gd name="T90" fmla="*/ 0 w 1299"/>
              <a:gd name="T91" fmla="*/ 3154363 h 19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299" h="1987">
                <a:moveTo>
                  <a:pt x="0" y="0"/>
                </a:moveTo>
                <a:lnTo>
                  <a:pt x="132" y="0"/>
                </a:lnTo>
                <a:lnTo>
                  <a:pt x="262" y="2"/>
                </a:lnTo>
                <a:lnTo>
                  <a:pt x="387" y="7"/>
                </a:lnTo>
                <a:lnTo>
                  <a:pt x="507" y="12"/>
                </a:lnTo>
                <a:lnTo>
                  <a:pt x="619" y="20"/>
                </a:lnTo>
                <a:lnTo>
                  <a:pt x="726" y="28"/>
                </a:lnTo>
                <a:lnTo>
                  <a:pt x="828" y="38"/>
                </a:lnTo>
                <a:lnTo>
                  <a:pt x="920" y="48"/>
                </a:lnTo>
                <a:lnTo>
                  <a:pt x="1004" y="61"/>
                </a:lnTo>
                <a:lnTo>
                  <a:pt x="1078" y="73"/>
                </a:lnTo>
                <a:lnTo>
                  <a:pt x="1111" y="79"/>
                </a:lnTo>
                <a:lnTo>
                  <a:pt x="1144" y="86"/>
                </a:lnTo>
                <a:lnTo>
                  <a:pt x="1172" y="94"/>
                </a:lnTo>
                <a:lnTo>
                  <a:pt x="1197" y="101"/>
                </a:lnTo>
                <a:lnTo>
                  <a:pt x="1220" y="109"/>
                </a:lnTo>
                <a:lnTo>
                  <a:pt x="1241" y="117"/>
                </a:lnTo>
                <a:lnTo>
                  <a:pt x="1258" y="124"/>
                </a:lnTo>
                <a:lnTo>
                  <a:pt x="1274" y="132"/>
                </a:lnTo>
                <a:lnTo>
                  <a:pt x="1284" y="140"/>
                </a:lnTo>
                <a:lnTo>
                  <a:pt x="1292" y="147"/>
                </a:lnTo>
                <a:lnTo>
                  <a:pt x="1297" y="158"/>
                </a:lnTo>
                <a:lnTo>
                  <a:pt x="1299" y="165"/>
                </a:lnTo>
                <a:lnTo>
                  <a:pt x="1299" y="1822"/>
                </a:lnTo>
                <a:lnTo>
                  <a:pt x="1297" y="1829"/>
                </a:lnTo>
                <a:lnTo>
                  <a:pt x="1292" y="1839"/>
                </a:lnTo>
                <a:lnTo>
                  <a:pt x="1284" y="1847"/>
                </a:lnTo>
                <a:lnTo>
                  <a:pt x="1274" y="1855"/>
                </a:lnTo>
                <a:lnTo>
                  <a:pt x="1258" y="1862"/>
                </a:lnTo>
                <a:lnTo>
                  <a:pt x="1241" y="1870"/>
                </a:lnTo>
                <a:lnTo>
                  <a:pt x="1220" y="1878"/>
                </a:lnTo>
                <a:lnTo>
                  <a:pt x="1197" y="1885"/>
                </a:lnTo>
                <a:lnTo>
                  <a:pt x="1172" y="1893"/>
                </a:lnTo>
                <a:lnTo>
                  <a:pt x="1144" y="1901"/>
                </a:lnTo>
                <a:lnTo>
                  <a:pt x="1111" y="1908"/>
                </a:lnTo>
                <a:lnTo>
                  <a:pt x="1078" y="1913"/>
                </a:lnTo>
                <a:lnTo>
                  <a:pt x="1004" y="1926"/>
                </a:lnTo>
                <a:lnTo>
                  <a:pt x="920" y="1939"/>
                </a:lnTo>
                <a:lnTo>
                  <a:pt x="828" y="1949"/>
                </a:lnTo>
                <a:lnTo>
                  <a:pt x="726" y="1959"/>
                </a:lnTo>
                <a:lnTo>
                  <a:pt x="619" y="1967"/>
                </a:lnTo>
                <a:lnTo>
                  <a:pt x="507" y="1975"/>
                </a:lnTo>
                <a:lnTo>
                  <a:pt x="387" y="1980"/>
                </a:lnTo>
                <a:lnTo>
                  <a:pt x="262" y="1985"/>
                </a:lnTo>
                <a:lnTo>
                  <a:pt x="132" y="1987"/>
                </a:lnTo>
                <a:lnTo>
                  <a:pt x="0" y="1987"/>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grpSp>
        <p:nvGrpSpPr>
          <p:cNvPr id="21525" name="Group 36"/>
          <p:cNvGrpSpPr>
            <a:grpSpLocks/>
          </p:cNvGrpSpPr>
          <p:nvPr/>
        </p:nvGrpSpPr>
        <p:grpSpPr bwMode="auto">
          <a:xfrm>
            <a:off x="6311900" y="4487863"/>
            <a:ext cx="363538" cy="133350"/>
            <a:chOff x="3976" y="2827"/>
            <a:chExt cx="229" cy="84"/>
          </a:xfrm>
        </p:grpSpPr>
        <p:sp>
          <p:nvSpPr>
            <p:cNvPr id="21542" name="Line 34"/>
            <p:cNvSpPr>
              <a:spLocks noChangeShapeType="1"/>
            </p:cNvSpPr>
            <p:nvPr/>
          </p:nvSpPr>
          <p:spPr bwMode="auto">
            <a:xfrm>
              <a:off x="3976" y="2867"/>
              <a:ext cx="15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21543" name="Freeform 35"/>
            <p:cNvSpPr>
              <a:spLocks/>
            </p:cNvSpPr>
            <p:nvPr/>
          </p:nvSpPr>
          <p:spPr bwMode="auto">
            <a:xfrm>
              <a:off x="4124" y="2827"/>
              <a:ext cx="81" cy="84"/>
            </a:xfrm>
            <a:custGeom>
              <a:avLst/>
              <a:gdLst>
                <a:gd name="T0" fmla="*/ 0 w 81"/>
                <a:gd name="T1" fmla="*/ 84 h 84"/>
                <a:gd name="T2" fmla="*/ 81 w 81"/>
                <a:gd name="T3" fmla="*/ 40 h 84"/>
                <a:gd name="T4" fmla="*/ 0 w 81"/>
                <a:gd name="T5" fmla="*/ 0 h 84"/>
                <a:gd name="T6" fmla="*/ 0 w 81"/>
                <a:gd name="T7" fmla="*/ 84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1" h="84">
                  <a:moveTo>
                    <a:pt x="0" y="84"/>
                  </a:moveTo>
                  <a:lnTo>
                    <a:pt x="81" y="40"/>
                  </a:lnTo>
                  <a:lnTo>
                    <a:pt x="0" y="0"/>
                  </a:lnTo>
                  <a:lnTo>
                    <a:pt x="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AR"/>
            </a:p>
          </p:txBody>
        </p:sp>
      </p:grpSp>
      <p:sp>
        <p:nvSpPr>
          <p:cNvPr id="21526" name="Freeform 37"/>
          <p:cNvSpPr>
            <a:spLocks/>
          </p:cNvSpPr>
          <p:nvPr/>
        </p:nvSpPr>
        <p:spPr bwMode="auto">
          <a:xfrm>
            <a:off x="2065338" y="1760538"/>
            <a:ext cx="485775" cy="5097462"/>
          </a:xfrm>
          <a:custGeom>
            <a:avLst/>
            <a:gdLst>
              <a:gd name="T0" fmla="*/ 485775 w 306"/>
              <a:gd name="T1" fmla="*/ 0 h 3211"/>
              <a:gd name="T2" fmla="*/ 436563 w 306"/>
              <a:gd name="T3" fmla="*/ 4762 h 3211"/>
              <a:gd name="T4" fmla="*/ 388938 w 306"/>
              <a:gd name="T5" fmla="*/ 7937 h 3211"/>
              <a:gd name="T6" fmla="*/ 295275 w 306"/>
              <a:gd name="T7" fmla="*/ 31750 h 3211"/>
              <a:gd name="T8" fmla="*/ 214313 w 306"/>
              <a:gd name="T9" fmla="*/ 73025 h 3211"/>
              <a:gd name="T10" fmla="*/ 141288 w 306"/>
              <a:gd name="T11" fmla="*/ 125412 h 3211"/>
              <a:gd name="T12" fmla="*/ 85725 w 306"/>
              <a:gd name="T13" fmla="*/ 185737 h 3211"/>
              <a:gd name="T14" fmla="*/ 60325 w 306"/>
              <a:gd name="T15" fmla="*/ 222250 h 3211"/>
              <a:gd name="T16" fmla="*/ 41275 w 306"/>
              <a:gd name="T17" fmla="*/ 258762 h 3211"/>
              <a:gd name="T18" fmla="*/ 20638 w 306"/>
              <a:gd name="T19" fmla="*/ 300037 h 3211"/>
              <a:gd name="T20" fmla="*/ 7938 w 306"/>
              <a:gd name="T21" fmla="*/ 339725 h 3211"/>
              <a:gd name="T22" fmla="*/ 4763 w 306"/>
              <a:gd name="T23" fmla="*/ 381000 h 3211"/>
              <a:gd name="T24" fmla="*/ 0 w 306"/>
              <a:gd name="T25" fmla="*/ 425450 h 3211"/>
              <a:gd name="T26" fmla="*/ 0 w 306"/>
              <a:gd name="T27" fmla="*/ 4672012 h 3211"/>
              <a:gd name="T28" fmla="*/ 4763 w 306"/>
              <a:gd name="T29" fmla="*/ 4716462 h 3211"/>
              <a:gd name="T30" fmla="*/ 7938 w 306"/>
              <a:gd name="T31" fmla="*/ 4757737 h 3211"/>
              <a:gd name="T32" fmla="*/ 20638 w 306"/>
              <a:gd name="T33" fmla="*/ 4797425 h 3211"/>
              <a:gd name="T34" fmla="*/ 41275 w 306"/>
              <a:gd name="T35" fmla="*/ 4838700 h 3211"/>
              <a:gd name="T36" fmla="*/ 60325 w 306"/>
              <a:gd name="T37" fmla="*/ 4875212 h 3211"/>
              <a:gd name="T38" fmla="*/ 85725 w 306"/>
              <a:gd name="T39" fmla="*/ 4911725 h 3211"/>
              <a:gd name="T40" fmla="*/ 141288 w 306"/>
              <a:gd name="T41" fmla="*/ 4972050 h 3211"/>
              <a:gd name="T42" fmla="*/ 214313 w 306"/>
              <a:gd name="T43" fmla="*/ 5024437 h 3211"/>
              <a:gd name="T44" fmla="*/ 295275 w 306"/>
              <a:gd name="T45" fmla="*/ 5065712 h 3211"/>
              <a:gd name="T46" fmla="*/ 388938 w 306"/>
              <a:gd name="T47" fmla="*/ 5089525 h 3211"/>
              <a:gd name="T48" fmla="*/ 436563 w 306"/>
              <a:gd name="T49" fmla="*/ 5092700 h 3211"/>
              <a:gd name="T50" fmla="*/ 485775 w 306"/>
              <a:gd name="T51" fmla="*/ 5097462 h 321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06" h="3211">
                <a:moveTo>
                  <a:pt x="306" y="0"/>
                </a:moveTo>
                <a:lnTo>
                  <a:pt x="275" y="3"/>
                </a:lnTo>
                <a:lnTo>
                  <a:pt x="245" y="5"/>
                </a:lnTo>
                <a:lnTo>
                  <a:pt x="186" y="20"/>
                </a:lnTo>
                <a:lnTo>
                  <a:pt x="135" y="46"/>
                </a:lnTo>
                <a:lnTo>
                  <a:pt x="89" y="79"/>
                </a:lnTo>
                <a:lnTo>
                  <a:pt x="54" y="117"/>
                </a:lnTo>
                <a:lnTo>
                  <a:pt x="38" y="140"/>
                </a:lnTo>
                <a:lnTo>
                  <a:pt x="26" y="163"/>
                </a:lnTo>
                <a:lnTo>
                  <a:pt x="13" y="189"/>
                </a:lnTo>
                <a:lnTo>
                  <a:pt x="5" y="214"/>
                </a:lnTo>
                <a:lnTo>
                  <a:pt x="3" y="240"/>
                </a:lnTo>
                <a:lnTo>
                  <a:pt x="0" y="268"/>
                </a:lnTo>
                <a:lnTo>
                  <a:pt x="0" y="2943"/>
                </a:lnTo>
                <a:lnTo>
                  <a:pt x="3" y="2971"/>
                </a:lnTo>
                <a:lnTo>
                  <a:pt x="5" y="2997"/>
                </a:lnTo>
                <a:lnTo>
                  <a:pt x="13" y="3022"/>
                </a:lnTo>
                <a:lnTo>
                  <a:pt x="26" y="3048"/>
                </a:lnTo>
                <a:lnTo>
                  <a:pt x="38" y="3071"/>
                </a:lnTo>
                <a:lnTo>
                  <a:pt x="54" y="3094"/>
                </a:lnTo>
                <a:lnTo>
                  <a:pt x="89" y="3132"/>
                </a:lnTo>
                <a:lnTo>
                  <a:pt x="135" y="3165"/>
                </a:lnTo>
                <a:lnTo>
                  <a:pt x="186" y="3191"/>
                </a:lnTo>
                <a:lnTo>
                  <a:pt x="245" y="3206"/>
                </a:lnTo>
                <a:lnTo>
                  <a:pt x="275" y="3208"/>
                </a:lnTo>
                <a:lnTo>
                  <a:pt x="306" y="3211"/>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grpSp>
        <p:nvGrpSpPr>
          <p:cNvPr id="21527" name="Group 40"/>
          <p:cNvGrpSpPr>
            <a:grpSpLocks/>
          </p:cNvGrpSpPr>
          <p:nvPr/>
        </p:nvGrpSpPr>
        <p:grpSpPr bwMode="auto">
          <a:xfrm>
            <a:off x="1701800" y="4240213"/>
            <a:ext cx="363538" cy="133350"/>
            <a:chOff x="1072" y="2671"/>
            <a:chExt cx="229" cy="84"/>
          </a:xfrm>
        </p:grpSpPr>
        <p:sp>
          <p:nvSpPr>
            <p:cNvPr id="21540" name="Line 38"/>
            <p:cNvSpPr>
              <a:spLocks noChangeShapeType="1"/>
            </p:cNvSpPr>
            <p:nvPr/>
          </p:nvSpPr>
          <p:spPr bwMode="auto">
            <a:xfrm flipH="1">
              <a:off x="1148" y="2715"/>
              <a:ext cx="15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21541" name="Freeform 39"/>
            <p:cNvSpPr>
              <a:spLocks/>
            </p:cNvSpPr>
            <p:nvPr/>
          </p:nvSpPr>
          <p:spPr bwMode="auto">
            <a:xfrm>
              <a:off x="1072" y="2671"/>
              <a:ext cx="81" cy="84"/>
            </a:xfrm>
            <a:custGeom>
              <a:avLst/>
              <a:gdLst>
                <a:gd name="T0" fmla="*/ 81 w 81"/>
                <a:gd name="T1" fmla="*/ 0 h 84"/>
                <a:gd name="T2" fmla="*/ 0 w 81"/>
                <a:gd name="T3" fmla="*/ 44 h 84"/>
                <a:gd name="T4" fmla="*/ 81 w 81"/>
                <a:gd name="T5" fmla="*/ 84 h 84"/>
                <a:gd name="T6" fmla="*/ 81 w 81"/>
                <a:gd name="T7" fmla="*/ 0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1" h="84">
                  <a:moveTo>
                    <a:pt x="81" y="0"/>
                  </a:moveTo>
                  <a:lnTo>
                    <a:pt x="0" y="44"/>
                  </a:lnTo>
                  <a:lnTo>
                    <a:pt x="81" y="84"/>
                  </a:lnTo>
                  <a:lnTo>
                    <a:pt x="8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AR"/>
            </a:p>
          </p:txBody>
        </p:sp>
      </p:grpSp>
      <p:sp>
        <p:nvSpPr>
          <p:cNvPr id="21528" name="Rectangle 41"/>
          <p:cNvSpPr>
            <a:spLocks noChangeArrowheads="1"/>
          </p:cNvSpPr>
          <p:nvPr/>
        </p:nvSpPr>
        <p:spPr bwMode="auto">
          <a:xfrm>
            <a:off x="609600" y="3944938"/>
            <a:ext cx="969963" cy="8493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AR"/>
          </a:p>
        </p:txBody>
      </p:sp>
      <p:sp>
        <p:nvSpPr>
          <p:cNvPr id="21529" name="Rectangle 42"/>
          <p:cNvSpPr>
            <a:spLocks noChangeArrowheads="1"/>
          </p:cNvSpPr>
          <p:nvPr/>
        </p:nvSpPr>
        <p:spPr bwMode="auto">
          <a:xfrm>
            <a:off x="735013" y="4002088"/>
            <a:ext cx="7556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Ambito de</a:t>
            </a:r>
            <a:endParaRPr kumimoji="0" lang="es-ES_tradnl" sz="1400"/>
          </a:p>
        </p:txBody>
      </p:sp>
      <p:sp>
        <p:nvSpPr>
          <p:cNvPr id="21530" name="Rectangle 43"/>
          <p:cNvSpPr>
            <a:spLocks noChangeArrowheads="1"/>
          </p:cNvSpPr>
          <p:nvPr/>
        </p:nvSpPr>
        <p:spPr bwMode="auto">
          <a:xfrm>
            <a:off x="739775" y="4195763"/>
            <a:ext cx="746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la variable</a:t>
            </a:r>
            <a:endParaRPr kumimoji="0" lang="es-ES_tradnl" sz="1400"/>
          </a:p>
        </p:txBody>
      </p:sp>
      <p:sp>
        <p:nvSpPr>
          <p:cNvPr id="21531" name="Rectangle 44"/>
          <p:cNvSpPr>
            <a:spLocks noChangeArrowheads="1"/>
          </p:cNvSpPr>
          <p:nvPr/>
        </p:nvSpPr>
        <p:spPr bwMode="auto">
          <a:xfrm>
            <a:off x="1035050" y="4398963"/>
            <a:ext cx="1285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X</a:t>
            </a:r>
            <a:endParaRPr kumimoji="0" lang="es-ES_tradnl" sz="1400"/>
          </a:p>
        </p:txBody>
      </p:sp>
      <p:sp>
        <p:nvSpPr>
          <p:cNvPr id="21532" name="Rectangle 45"/>
          <p:cNvSpPr>
            <a:spLocks noChangeArrowheads="1"/>
          </p:cNvSpPr>
          <p:nvPr/>
        </p:nvSpPr>
        <p:spPr bwMode="auto">
          <a:xfrm>
            <a:off x="6797675" y="4187825"/>
            <a:ext cx="1212850" cy="6064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AR"/>
          </a:p>
        </p:txBody>
      </p:sp>
      <p:sp>
        <p:nvSpPr>
          <p:cNvPr id="21533" name="Rectangle 46"/>
          <p:cNvSpPr>
            <a:spLocks noChangeArrowheads="1"/>
          </p:cNvSpPr>
          <p:nvPr/>
        </p:nvSpPr>
        <p:spPr bwMode="auto">
          <a:xfrm>
            <a:off x="6962775" y="4244975"/>
            <a:ext cx="928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Ambito de la</a:t>
            </a:r>
            <a:endParaRPr kumimoji="0" lang="es-ES_tradnl" sz="1400"/>
          </a:p>
        </p:txBody>
      </p:sp>
      <p:sp>
        <p:nvSpPr>
          <p:cNvPr id="21534" name="Rectangle 47"/>
          <p:cNvSpPr>
            <a:spLocks noChangeArrowheads="1"/>
          </p:cNvSpPr>
          <p:nvPr/>
        </p:nvSpPr>
        <p:spPr bwMode="auto">
          <a:xfrm>
            <a:off x="7048500" y="4446588"/>
            <a:ext cx="746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variable Y</a:t>
            </a:r>
            <a:endParaRPr kumimoji="0" lang="es-ES_tradnl" sz="1400"/>
          </a:p>
        </p:txBody>
      </p:sp>
      <p:sp>
        <p:nvSpPr>
          <p:cNvPr id="21535" name="Rectangle 48"/>
          <p:cNvSpPr>
            <a:spLocks noChangeArrowheads="1"/>
          </p:cNvSpPr>
          <p:nvPr/>
        </p:nvSpPr>
        <p:spPr bwMode="auto">
          <a:xfrm>
            <a:off x="5099050" y="4187825"/>
            <a:ext cx="849313" cy="971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AR"/>
          </a:p>
        </p:txBody>
      </p:sp>
      <p:sp>
        <p:nvSpPr>
          <p:cNvPr id="21536" name="Rectangle 49"/>
          <p:cNvSpPr>
            <a:spLocks noChangeArrowheads="1"/>
          </p:cNvSpPr>
          <p:nvPr/>
        </p:nvSpPr>
        <p:spPr bwMode="auto">
          <a:xfrm>
            <a:off x="5264150" y="4244975"/>
            <a:ext cx="5429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Ambito</a:t>
            </a:r>
            <a:endParaRPr kumimoji="0" lang="es-ES_tradnl" sz="1400"/>
          </a:p>
        </p:txBody>
      </p:sp>
      <p:sp>
        <p:nvSpPr>
          <p:cNvPr id="21537" name="Rectangle 50"/>
          <p:cNvSpPr>
            <a:spLocks noChangeArrowheads="1"/>
          </p:cNvSpPr>
          <p:nvPr/>
        </p:nvSpPr>
        <p:spPr bwMode="auto">
          <a:xfrm>
            <a:off x="5360988" y="4438650"/>
            <a:ext cx="3413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de la</a:t>
            </a:r>
            <a:endParaRPr kumimoji="0" lang="es-ES_tradnl" sz="1400"/>
          </a:p>
        </p:txBody>
      </p:sp>
      <p:sp>
        <p:nvSpPr>
          <p:cNvPr id="21538" name="Rectangle 51"/>
          <p:cNvSpPr>
            <a:spLocks noChangeArrowheads="1"/>
          </p:cNvSpPr>
          <p:nvPr/>
        </p:nvSpPr>
        <p:spPr bwMode="auto">
          <a:xfrm>
            <a:off x="5253038" y="4632325"/>
            <a:ext cx="5730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variable</a:t>
            </a:r>
            <a:endParaRPr kumimoji="0" lang="es-ES_tradnl" sz="1400"/>
          </a:p>
        </p:txBody>
      </p:sp>
      <p:sp>
        <p:nvSpPr>
          <p:cNvPr id="21539" name="Rectangle 52"/>
          <p:cNvSpPr>
            <a:spLocks noChangeArrowheads="1"/>
          </p:cNvSpPr>
          <p:nvPr/>
        </p:nvSpPr>
        <p:spPr bwMode="auto">
          <a:xfrm>
            <a:off x="5470525" y="4835525"/>
            <a:ext cx="1079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s-ES_tradnl" sz="1400">
                <a:solidFill>
                  <a:srgbClr val="000000"/>
                </a:solidFill>
              </a:rPr>
              <a:t>Z</a:t>
            </a:r>
            <a:endParaRPr kumimoji="0" lang="es-ES_tradnl" sz="1400"/>
          </a:p>
        </p:txBody>
      </p:sp>
      <p:sp>
        <p:nvSpPr>
          <p:cNvPr id="42" name="Rectangle 2"/>
          <p:cNvSpPr txBox="1">
            <a:spLocks noChangeArrowheads="1"/>
          </p:cNvSpPr>
          <p:nvPr/>
        </p:nvSpPr>
        <p:spPr>
          <a:xfrm>
            <a:off x="5255418" y="0"/>
            <a:ext cx="3736181"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sz="2800" dirty="0" smtClean="0"/>
              <a:t>Ámbito de las Variables</a:t>
            </a:r>
            <a:endParaRPr lang="en-GB" sz="2800" dirty="0"/>
          </a:p>
        </p:txBody>
      </p:sp>
      <p:pic>
        <p:nvPicPr>
          <p:cNvPr id="43" name="3 Imagen"/>
          <p:cNvPicPr>
            <a:picLocks noChangeAspect="1"/>
          </p:cNvPicPr>
          <p:nvPr/>
        </p:nvPicPr>
        <p:blipFill rotWithShape="1">
          <a:blip r:embed="rId2">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Tree>
    <p:extLst>
      <p:ext uri="{BB962C8B-B14F-4D97-AF65-F5344CB8AC3E}">
        <p14:creationId xmlns:p14="http://schemas.microsoft.com/office/powerpoint/2010/main" val="30136633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15</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Variables locales y globales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Footer Placeholder 1"/>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7" name="Rectangle 5"/>
          <p:cNvSpPr txBox="1">
            <a:spLocks noChangeArrowheads="1"/>
          </p:cNvSpPr>
          <p:nvPr/>
        </p:nvSpPr>
        <p:spPr>
          <a:xfrm>
            <a:off x="682354" y="1484784"/>
            <a:ext cx="8066110" cy="48245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AR" sz="2400" dirty="0"/>
              <a:t>Según visto podemos definir un procedimiento dentro de otro. </a:t>
            </a:r>
            <a:endParaRPr lang="es-AR" sz="2400" dirty="0" smtClean="0"/>
          </a:p>
          <a:p>
            <a:r>
              <a:rPr lang="es-AR" sz="2400" dirty="0" smtClean="0"/>
              <a:t>Entonces</a:t>
            </a:r>
            <a:r>
              <a:rPr lang="es-AR" sz="2400" dirty="0"/>
              <a:t>:</a:t>
            </a:r>
          </a:p>
          <a:p>
            <a:pPr lvl="1"/>
            <a:r>
              <a:rPr lang="es-AR" sz="2000" dirty="0"/>
              <a:t>Las variables globales del programa pueden ser usadas en cualquier procedimiento o función.</a:t>
            </a:r>
          </a:p>
          <a:p>
            <a:pPr lvl="1"/>
            <a:r>
              <a:rPr lang="es-AR" sz="2000" dirty="0"/>
              <a:t>Las variables definidas en un módulo pueden ser usadas por cualquier módulo definido dentro de este módulo</a:t>
            </a:r>
          </a:p>
        </p:txBody>
      </p:sp>
    </p:spTree>
    <p:extLst>
      <p:ext uri="{BB962C8B-B14F-4D97-AF65-F5344CB8AC3E}">
        <p14:creationId xmlns:p14="http://schemas.microsoft.com/office/powerpoint/2010/main" val="25187241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3"/>
          <p:cNvSpPr txBox="1">
            <a:spLocks noChangeArrowheads="1"/>
          </p:cNvSpPr>
          <p:nvPr/>
        </p:nvSpPr>
        <p:spPr bwMode="auto">
          <a:xfrm>
            <a:off x="381000" y="1828800"/>
            <a:ext cx="8458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a:defRPr>
            </a:lvl1pPr>
            <a:lvl2pPr marL="742950" indent="-285750">
              <a:defRPr kumimoji="1" sz="2400">
                <a:solidFill>
                  <a:schemeClr val="tx1"/>
                </a:solidFill>
                <a:latin typeface="Times New Roman"/>
              </a:defRPr>
            </a:lvl2pPr>
            <a:lvl3pPr marL="1143000" indent="-228600">
              <a:defRPr kumimoji="1" sz="2400">
                <a:solidFill>
                  <a:schemeClr val="tx1"/>
                </a:solidFill>
                <a:latin typeface="Times New Roman"/>
              </a:defRPr>
            </a:lvl3pPr>
            <a:lvl4pPr marL="1600200" indent="-228600">
              <a:defRPr kumimoji="1" sz="2400">
                <a:solidFill>
                  <a:schemeClr val="tx1"/>
                </a:solidFill>
                <a:latin typeface="Times New Roman"/>
              </a:defRPr>
            </a:lvl4pPr>
            <a:lvl5pPr marL="2057400" indent="-228600">
              <a:defRPr kumimoji="1" sz="2400">
                <a:solidFill>
                  <a:schemeClr val="tx1"/>
                </a:solidFill>
                <a:latin typeface="Times New Roman"/>
              </a:defRPr>
            </a:lvl5pPr>
            <a:lvl6pPr marL="2514600" indent="-228600" eaLnBrk="0" fontAlgn="base" hangingPunct="0">
              <a:spcBef>
                <a:spcPct val="0"/>
              </a:spcBef>
              <a:spcAft>
                <a:spcPct val="0"/>
              </a:spcAft>
              <a:defRPr kumimoji="1" sz="2400">
                <a:solidFill>
                  <a:schemeClr val="tx1"/>
                </a:solidFill>
                <a:latin typeface="Times New Roman"/>
              </a:defRPr>
            </a:lvl6pPr>
            <a:lvl7pPr marL="2971800" indent="-228600" eaLnBrk="0" fontAlgn="base" hangingPunct="0">
              <a:spcBef>
                <a:spcPct val="0"/>
              </a:spcBef>
              <a:spcAft>
                <a:spcPct val="0"/>
              </a:spcAft>
              <a:defRPr kumimoji="1" sz="2400">
                <a:solidFill>
                  <a:schemeClr val="tx1"/>
                </a:solidFill>
                <a:latin typeface="Times New Roman"/>
              </a:defRPr>
            </a:lvl7pPr>
            <a:lvl8pPr marL="3429000" indent="-228600" eaLnBrk="0" fontAlgn="base" hangingPunct="0">
              <a:spcBef>
                <a:spcPct val="0"/>
              </a:spcBef>
              <a:spcAft>
                <a:spcPct val="0"/>
              </a:spcAft>
              <a:defRPr kumimoji="1" sz="2400">
                <a:solidFill>
                  <a:schemeClr val="tx1"/>
                </a:solidFill>
                <a:latin typeface="Times New Roman"/>
              </a:defRPr>
            </a:lvl8pPr>
            <a:lvl9pPr marL="3886200" indent="-228600" eaLnBrk="0" fontAlgn="base" hangingPunct="0">
              <a:spcBef>
                <a:spcPct val="0"/>
              </a:spcBef>
              <a:spcAft>
                <a:spcPct val="0"/>
              </a:spcAft>
              <a:defRPr kumimoji="1" sz="2400">
                <a:solidFill>
                  <a:schemeClr val="tx1"/>
                </a:solidFill>
                <a:latin typeface="Times New Roman"/>
              </a:defRPr>
            </a:lvl9pPr>
          </a:lstStyle>
          <a:p>
            <a:pPr>
              <a:spcBef>
                <a:spcPct val="50000"/>
              </a:spcBef>
            </a:pPr>
            <a:r>
              <a:rPr kumimoji="0" lang="es-ES_tradnl" dirty="0"/>
              <a:t>Si utilizamos variables globales en los módulos corremos el riesgo que en un módulo “A” se modifique una variable global que el módulo “B” necesita sin modificar. Por tanto la “convivencia” puede ser difícil.</a:t>
            </a:r>
          </a:p>
        </p:txBody>
      </p:sp>
      <p:sp>
        <p:nvSpPr>
          <p:cNvPr id="23556" name="Text Box 4"/>
          <p:cNvSpPr txBox="1">
            <a:spLocks noChangeArrowheads="1"/>
          </p:cNvSpPr>
          <p:nvPr/>
        </p:nvSpPr>
        <p:spPr bwMode="auto">
          <a:xfrm>
            <a:off x="457200" y="3657600"/>
            <a:ext cx="7620000" cy="835025"/>
          </a:xfrm>
          <a:prstGeom prst="rect">
            <a:avLst/>
          </a:prstGeom>
          <a:noFill/>
          <a:ln w="12700" cap="sq">
            <a:solidFill>
              <a:schemeClr val="accent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a:defRPr>
            </a:lvl1pPr>
            <a:lvl2pPr marL="742950" indent="-285750">
              <a:defRPr kumimoji="1" sz="2400">
                <a:solidFill>
                  <a:schemeClr val="tx1"/>
                </a:solidFill>
                <a:latin typeface="Times New Roman"/>
              </a:defRPr>
            </a:lvl2pPr>
            <a:lvl3pPr marL="1143000" indent="-228600">
              <a:defRPr kumimoji="1" sz="2400">
                <a:solidFill>
                  <a:schemeClr val="tx1"/>
                </a:solidFill>
                <a:latin typeface="Times New Roman"/>
              </a:defRPr>
            </a:lvl3pPr>
            <a:lvl4pPr marL="1600200" indent="-228600">
              <a:defRPr kumimoji="1" sz="2400">
                <a:solidFill>
                  <a:schemeClr val="tx1"/>
                </a:solidFill>
                <a:latin typeface="Times New Roman"/>
              </a:defRPr>
            </a:lvl4pPr>
            <a:lvl5pPr marL="2057400" indent="-228600">
              <a:defRPr kumimoji="1" sz="2400">
                <a:solidFill>
                  <a:schemeClr val="tx1"/>
                </a:solidFill>
                <a:latin typeface="Times New Roman"/>
              </a:defRPr>
            </a:lvl5pPr>
            <a:lvl6pPr marL="2514600" indent="-228600" eaLnBrk="0" fontAlgn="base" hangingPunct="0">
              <a:spcBef>
                <a:spcPct val="0"/>
              </a:spcBef>
              <a:spcAft>
                <a:spcPct val="0"/>
              </a:spcAft>
              <a:defRPr kumimoji="1" sz="2400">
                <a:solidFill>
                  <a:schemeClr val="tx1"/>
                </a:solidFill>
                <a:latin typeface="Times New Roman"/>
              </a:defRPr>
            </a:lvl6pPr>
            <a:lvl7pPr marL="2971800" indent="-228600" eaLnBrk="0" fontAlgn="base" hangingPunct="0">
              <a:spcBef>
                <a:spcPct val="0"/>
              </a:spcBef>
              <a:spcAft>
                <a:spcPct val="0"/>
              </a:spcAft>
              <a:defRPr kumimoji="1" sz="2400">
                <a:solidFill>
                  <a:schemeClr val="tx1"/>
                </a:solidFill>
                <a:latin typeface="Times New Roman"/>
              </a:defRPr>
            </a:lvl7pPr>
            <a:lvl8pPr marL="3429000" indent="-228600" eaLnBrk="0" fontAlgn="base" hangingPunct="0">
              <a:spcBef>
                <a:spcPct val="0"/>
              </a:spcBef>
              <a:spcAft>
                <a:spcPct val="0"/>
              </a:spcAft>
              <a:defRPr kumimoji="1" sz="2400">
                <a:solidFill>
                  <a:schemeClr val="tx1"/>
                </a:solidFill>
                <a:latin typeface="Times New Roman"/>
              </a:defRPr>
            </a:lvl8pPr>
            <a:lvl9pPr marL="3886200" indent="-228600" eaLnBrk="0" fontAlgn="base" hangingPunct="0">
              <a:spcBef>
                <a:spcPct val="0"/>
              </a:spcBef>
              <a:spcAft>
                <a:spcPct val="0"/>
              </a:spcAft>
              <a:defRPr kumimoji="1" sz="2400">
                <a:solidFill>
                  <a:schemeClr val="tx1"/>
                </a:solidFill>
                <a:latin typeface="Times New Roman"/>
              </a:defRPr>
            </a:lvl9pPr>
          </a:lstStyle>
          <a:p>
            <a:pPr algn="ctr">
              <a:spcBef>
                <a:spcPct val="50000"/>
              </a:spcBef>
            </a:pPr>
            <a:r>
              <a:rPr kumimoji="0" lang="es-ES_tradnl" b="1" dirty="0">
                <a:solidFill>
                  <a:schemeClr val="tx2"/>
                </a:solidFill>
              </a:rPr>
              <a:t>POR ESO SE RECOMIENDA NO HACER USO DE VARIABLES GLOBALES</a:t>
            </a:r>
          </a:p>
        </p:txBody>
      </p:sp>
      <p:sp>
        <p:nvSpPr>
          <p:cNvPr id="5" name="Rectangle 2"/>
          <p:cNvSpPr txBox="1">
            <a:spLocks noChangeArrowheads="1"/>
          </p:cNvSpPr>
          <p:nvPr/>
        </p:nvSpPr>
        <p:spPr>
          <a:xfrm>
            <a:off x="5255418" y="0"/>
            <a:ext cx="3736181"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sz="2800" dirty="0" smtClean="0"/>
              <a:t>Consideraciones Especiales</a:t>
            </a:r>
            <a:endParaRPr lang="en-GB" sz="2800" dirty="0"/>
          </a:p>
        </p:txBody>
      </p:sp>
      <p:pic>
        <p:nvPicPr>
          <p:cNvPr id="6" name="3 Imagen"/>
          <p:cNvPicPr>
            <a:picLocks noChangeAspect="1"/>
          </p:cNvPicPr>
          <p:nvPr/>
        </p:nvPicPr>
        <p:blipFill rotWithShape="1">
          <a:blip r:embed="rId2">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Tree>
    <p:extLst>
      <p:ext uri="{BB962C8B-B14F-4D97-AF65-F5344CB8AC3E}">
        <p14:creationId xmlns:p14="http://schemas.microsoft.com/office/powerpoint/2010/main" val="37510620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17</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Ejercicios</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Footer Placeholder 1"/>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7" name="Rectangle 5"/>
          <p:cNvSpPr txBox="1">
            <a:spLocks noChangeArrowheads="1"/>
          </p:cNvSpPr>
          <p:nvPr/>
        </p:nvSpPr>
        <p:spPr>
          <a:xfrm>
            <a:off x="682354" y="1484784"/>
            <a:ext cx="8066110" cy="48245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s-AR" sz="2400" dirty="0" smtClean="0"/>
              <a:t>Realizar </a:t>
            </a:r>
            <a:r>
              <a:rPr lang="es-AR" sz="2400" dirty="0"/>
              <a:t>una función que devuelva si un número es positivo o </a:t>
            </a:r>
            <a:r>
              <a:rPr lang="es-AR" sz="2400" dirty="0" smtClean="0"/>
              <a:t>es negativo</a:t>
            </a:r>
            <a:r>
              <a:rPr lang="es-AR" sz="2400" dirty="0"/>
              <a:t>.</a:t>
            </a:r>
          </a:p>
          <a:p>
            <a:pPr marL="457200" indent="-457200">
              <a:buFont typeface="+mj-lt"/>
              <a:buAutoNum type="arabicPeriod"/>
            </a:pPr>
            <a:r>
              <a:rPr lang="es-AR" sz="2400" dirty="0" smtClean="0"/>
              <a:t>Realizar </a:t>
            </a:r>
            <a:r>
              <a:rPr lang="es-AR" sz="2400" dirty="0"/>
              <a:t>una función que dado un numero introducido por </a:t>
            </a:r>
            <a:r>
              <a:rPr lang="es-AR" sz="2400" dirty="0" smtClean="0"/>
              <a:t>teclado devuelva </a:t>
            </a:r>
            <a:r>
              <a:rPr lang="es-AR" sz="2400" dirty="0"/>
              <a:t>si esta o no esta en un arreglo unidimensional.</a:t>
            </a:r>
          </a:p>
          <a:p>
            <a:pPr marL="457200" indent="-457200">
              <a:buFont typeface="+mj-lt"/>
              <a:buAutoNum type="arabicPeriod"/>
            </a:pPr>
            <a:r>
              <a:rPr lang="es-AR" sz="2400" dirty="0" smtClean="0"/>
              <a:t>Una </a:t>
            </a:r>
            <a:r>
              <a:rPr lang="es-AR" sz="2400" dirty="0"/>
              <a:t>empresa necesita realizar un programa que en base a las </a:t>
            </a:r>
            <a:r>
              <a:rPr lang="es-AR" sz="2400" dirty="0" smtClean="0"/>
              <a:t>unidades que </a:t>
            </a:r>
            <a:r>
              <a:rPr lang="es-AR" sz="2400" dirty="0"/>
              <a:t>deben ingresarse por teclado y el precio de un producto realice </a:t>
            </a:r>
            <a:r>
              <a:rPr lang="es-AR" sz="2400" dirty="0" smtClean="0"/>
              <a:t>un descuento</a:t>
            </a:r>
            <a:r>
              <a:rPr lang="es-AR" sz="2400" dirty="0"/>
              <a:t>. Las condiciones de descuento tienen que ser enviadas </a:t>
            </a:r>
            <a:r>
              <a:rPr lang="es-AR" sz="2400" dirty="0" smtClean="0"/>
              <a:t>como parámetros</a:t>
            </a:r>
            <a:r>
              <a:rPr lang="es-AR" sz="2400" dirty="0"/>
              <a:t>. Luego ser devueltas para poderse imprimir en una </a:t>
            </a:r>
            <a:r>
              <a:rPr lang="es-AR" sz="2400" dirty="0" smtClean="0"/>
              <a:t>factura (imprimir </a:t>
            </a:r>
            <a:r>
              <a:rPr lang="es-AR" sz="2400" dirty="0"/>
              <a:t>en pantalla).</a:t>
            </a:r>
            <a:endParaRPr lang="en-US" sz="2400" dirty="0" smtClean="0"/>
          </a:p>
        </p:txBody>
      </p:sp>
    </p:spTree>
    <p:extLst>
      <p:ext uri="{BB962C8B-B14F-4D97-AF65-F5344CB8AC3E}">
        <p14:creationId xmlns:p14="http://schemas.microsoft.com/office/powerpoint/2010/main" val="10121820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18</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Ejercicios (2)</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Footer Placeholder 1"/>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7" name="Rectangle 5"/>
          <p:cNvSpPr txBox="1">
            <a:spLocks noChangeArrowheads="1"/>
          </p:cNvSpPr>
          <p:nvPr/>
        </p:nvSpPr>
        <p:spPr>
          <a:xfrm>
            <a:off x="682354" y="1484784"/>
            <a:ext cx="8066110" cy="4824536"/>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AR" sz="2400" dirty="0"/>
              <a:t>Un colegio secundario necesita realizar un programa para llevar </a:t>
            </a:r>
            <a:r>
              <a:rPr lang="es-AR" sz="2400" dirty="0" smtClean="0"/>
              <a:t>el control </a:t>
            </a:r>
            <a:r>
              <a:rPr lang="es-AR" sz="2400" dirty="0"/>
              <a:t>de las notas de los estudiantes de la materia </a:t>
            </a:r>
            <a:r>
              <a:rPr lang="es-AR" sz="2400" dirty="0" smtClean="0"/>
              <a:t>análisis numérico</a:t>
            </a:r>
            <a:r>
              <a:rPr lang="es-AR" sz="2400" dirty="0"/>
              <a:t>.</a:t>
            </a:r>
          </a:p>
          <a:p>
            <a:pPr marL="0" indent="0">
              <a:buNone/>
            </a:pPr>
            <a:r>
              <a:rPr lang="es-AR" sz="2400" dirty="0"/>
              <a:t>La cátedra tiene un total de 12 alumnos y se necesita almacenar </a:t>
            </a:r>
            <a:r>
              <a:rPr lang="es-AR" sz="2400" dirty="0" smtClean="0"/>
              <a:t>el nombre </a:t>
            </a:r>
            <a:r>
              <a:rPr lang="es-AR" sz="2400" dirty="0"/>
              <a:t>y apellido del estudiante, las notas de los dos parciales de </a:t>
            </a:r>
            <a:r>
              <a:rPr lang="es-AR" sz="2400" dirty="0" smtClean="0"/>
              <a:t>la cursada</a:t>
            </a:r>
            <a:r>
              <a:rPr lang="es-AR" sz="2400" dirty="0"/>
              <a:t>. Nota: para rendir el final se necesitan tener aprobados los </a:t>
            </a:r>
            <a:r>
              <a:rPr lang="es-AR" sz="2400" dirty="0" smtClean="0"/>
              <a:t>dos parciales </a:t>
            </a:r>
            <a:r>
              <a:rPr lang="es-AR" sz="2400" dirty="0"/>
              <a:t>con 4 o más.</a:t>
            </a:r>
          </a:p>
          <a:p>
            <a:pPr marL="0" indent="0">
              <a:buNone/>
            </a:pPr>
            <a:r>
              <a:rPr lang="es-AR" sz="2400" dirty="0"/>
              <a:t>Se desea:</a:t>
            </a:r>
          </a:p>
          <a:p>
            <a:pPr marL="0" indent="0">
              <a:buNone/>
            </a:pPr>
            <a:r>
              <a:rPr lang="es-AR" sz="2400" dirty="0"/>
              <a:t>- Listar el total de alumnos de la materia</a:t>
            </a:r>
          </a:p>
          <a:p>
            <a:pPr marL="0" indent="0">
              <a:buNone/>
            </a:pPr>
            <a:r>
              <a:rPr lang="es-AR" sz="2400" dirty="0"/>
              <a:t>- Listar los alumnos que aprobaron los dos parciales.</a:t>
            </a:r>
          </a:p>
          <a:p>
            <a:pPr marL="0" indent="0">
              <a:buNone/>
            </a:pPr>
            <a:r>
              <a:rPr lang="es-AR" sz="2400" dirty="0"/>
              <a:t>- Listar el promedio de notas general de la cursada.</a:t>
            </a:r>
          </a:p>
          <a:p>
            <a:pPr marL="0" indent="0">
              <a:buNone/>
            </a:pPr>
            <a:r>
              <a:rPr lang="es-AR" sz="2400" dirty="0"/>
              <a:t>- Listar los alumnos que están en condiciones de rendir el final.</a:t>
            </a:r>
            <a:endParaRPr lang="en-US" sz="2400" dirty="0" smtClean="0"/>
          </a:p>
        </p:txBody>
      </p:sp>
    </p:spTree>
    <p:extLst>
      <p:ext uri="{BB962C8B-B14F-4D97-AF65-F5344CB8AC3E}">
        <p14:creationId xmlns:p14="http://schemas.microsoft.com/office/powerpoint/2010/main" val="2889515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340205" y="6356350"/>
            <a:ext cx="2133600" cy="365125"/>
          </a:xfrm>
        </p:spPr>
        <p:txBody>
          <a:bodyPr/>
          <a:lstStyle/>
          <a:p>
            <a:fld id="{924F65C0-D9B1-468F-83FD-2DF4862FB626}" type="slidenum">
              <a:rPr lang="es-ES"/>
              <a:pPr/>
              <a:t>19</a:t>
            </a:fld>
            <a:endParaRPr lang="es-ES"/>
          </a:p>
        </p:txBody>
      </p:sp>
      <p:sp>
        <p:nvSpPr>
          <p:cNvPr id="61442" name="Rectangle 2"/>
          <p:cNvSpPr>
            <a:spLocks noGrp="1" noChangeArrowheads="1"/>
          </p:cNvSpPr>
          <p:nvPr>
            <p:ph type="title"/>
          </p:nvPr>
        </p:nvSpPr>
        <p:spPr>
          <a:xfrm>
            <a:off x="5255418" y="0"/>
            <a:ext cx="3736181" cy="1219200"/>
          </a:xfrm>
        </p:spPr>
        <p:txBody>
          <a:bodyPr>
            <a:noAutofit/>
          </a:bodyPr>
          <a:lstStyle/>
          <a:p>
            <a:r>
              <a:rPr lang="es-ES_tradnl" sz="2800" dirty="0" smtClean="0"/>
              <a:t>Ejercicios (3)</a:t>
            </a:r>
            <a:endParaRPr lang="en-GB" sz="2800" dirty="0"/>
          </a:p>
        </p:txBody>
      </p:sp>
      <p:pic>
        <p:nvPicPr>
          <p:cNvPr id="7" name="3 Imagen"/>
          <p:cNvPicPr>
            <a:picLocks noChangeAspect="1"/>
          </p:cNvPicPr>
          <p:nvPr/>
        </p:nvPicPr>
        <p:blipFill rotWithShape="1">
          <a:blip r:embed="rId3">
            <a:extLst>
              <a:ext uri="{28A0092B-C50C-407E-A947-70E740481C1C}">
                <a14:useLocalDpi xmlns:a14="http://schemas.microsoft.com/office/drawing/2010/main" val="0"/>
              </a:ext>
            </a:extLst>
          </a:blip>
          <a:srcRect l="8921" t="62991" r="38746" b="21003"/>
          <a:stretch/>
        </p:blipFill>
        <p:spPr>
          <a:xfrm>
            <a:off x="1" y="0"/>
            <a:ext cx="5255418" cy="1250156"/>
          </a:xfrm>
          <a:prstGeom prst="rect">
            <a:avLst/>
          </a:prstGeom>
        </p:spPr>
      </p:pic>
      <p:sp>
        <p:nvSpPr>
          <p:cNvPr id="2" name="Footer Placeholder 1"/>
          <p:cNvSpPr>
            <a:spLocks noGrp="1"/>
          </p:cNvSpPr>
          <p:nvPr>
            <p:ph type="ftr" sz="quarter" idx="11"/>
          </p:nvPr>
        </p:nvSpPr>
        <p:spPr>
          <a:xfrm>
            <a:off x="0" y="6597352"/>
            <a:ext cx="9144000" cy="260648"/>
          </a:xfrm>
        </p:spPr>
        <p:txBody>
          <a:bodyPr/>
          <a:lstStyle/>
          <a:p>
            <a:r>
              <a:rPr lang="es-AR" dirty="0" smtClean="0"/>
              <a:t>UCALP 2012 - Estructura de Datos y Algoritmos - </a:t>
            </a:r>
            <a:r>
              <a:rPr lang="es-AR" dirty="0" err="1" smtClean="0"/>
              <a:t>Miaton</a:t>
            </a:r>
            <a:endParaRPr lang="es-ES" dirty="0"/>
          </a:p>
        </p:txBody>
      </p:sp>
      <p:sp>
        <p:nvSpPr>
          <p:cNvPr id="27" name="Rectangle 5"/>
          <p:cNvSpPr txBox="1">
            <a:spLocks noChangeArrowheads="1"/>
          </p:cNvSpPr>
          <p:nvPr/>
        </p:nvSpPr>
        <p:spPr>
          <a:xfrm>
            <a:off x="682354" y="1484784"/>
            <a:ext cx="8066110" cy="4824536"/>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AR" sz="2400" dirty="0"/>
              <a:t>Una empresa que vende clavos necesita saber el resultado de la </a:t>
            </a:r>
            <a:r>
              <a:rPr lang="es-AR" sz="2400" dirty="0" smtClean="0"/>
              <a:t>caja diaria </a:t>
            </a:r>
            <a:r>
              <a:rPr lang="es-AR" sz="2400" dirty="0"/>
              <a:t>de sus 4 sucursales. En casa matriz se realiza ese recuento, por </a:t>
            </a:r>
            <a:r>
              <a:rPr lang="es-AR" sz="2400" dirty="0" smtClean="0"/>
              <a:t>lo que </a:t>
            </a:r>
            <a:r>
              <a:rPr lang="es-AR" sz="2400" dirty="0"/>
              <a:t>todos los días una vez finalizado el horario de atención al público </a:t>
            </a:r>
            <a:r>
              <a:rPr lang="es-AR" sz="2400" dirty="0" smtClean="0"/>
              <a:t>se envían </a:t>
            </a:r>
            <a:r>
              <a:rPr lang="es-AR" sz="2400" dirty="0"/>
              <a:t>a la casa matriz por medio de un cadete los resultados de </a:t>
            </a:r>
            <a:r>
              <a:rPr lang="es-AR" sz="2400" dirty="0" smtClean="0"/>
              <a:t>las ventas </a:t>
            </a:r>
            <a:r>
              <a:rPr lang="es-AR" sz="2400" dirty="0"/>
              <a:t>diarias.</a:t>
            </a:r>
          </a:p>
          <a:p>
            <a:pPr marL="0" indent="0">
              <a:buNone/>
            </a:pPr>
            <a:r>
              <a:rPr lang="es-AR" sz="2400" dirty="0"/>
              <a:t>El resumen contiene: Nombre de la sucursal, cantidad de </a:t>
            </a:r>
            <a:r>
              <a:rPr lang="es-AR" sz="2400" dirty="0" smtClean="0"/>
              <a:t>clavos vendidos</a:t>
            </a:r>
            <a:r>
              <a:rPr lang="es-AR" sz="2400" dirty="0"/>
              <a:t>, total facturado, costos </a:t>
            </a:r>
            <a:r>
              <a:rPr lang="es-AR" sz="2400" dirty="0" smtClean="0"/>
              <a:t>asociados .</a:t>
            </a:r>
          </a:p>
          <a:p>
            <a:pPr marL="0" indent="0">
              <a:buNone/>
            </a:pPr>
            <a:r>
              <a:rPr lang="es-AR" sz="2400" dirty="0" smtClean="0"/>
              <a:t>El </a:t>
            </a:r>
            <a:r>
              <a:rPr lang="es-AR" sz="2400" dirty="0"/>
              <a:t>gerente desea saber:</a:t>
            </a:r>
          </a:p>
          <a:p>
            <a:pPr marL="0" indent="0">
              <a:buNone/>
            </a:pPr>
            <a:r>
              <a:rPr lang="es-AR" sz="2400" dirty="0"/>
              <a:t>- Cantidad de productos vendidos por sucursal</a:t>
            </a:r>
          </a:p>
          <a:p>
            <a:pPr marL="0" indent="0">
              <a:buNone/>
            </a:pPr>
            <a:r>
              <a:rPr lang="es-AR" sz="2400" dirty="0"/>
              <a:t>- Cantidad total de clavos vendidos</a:t>
            </a:r>
          </a:p>
          <a:p>
            <a:pPr marL="0" indent="0">
              <a:buNone/>
            </a:pPr>
            <a:r>
              <a:rPr lang="es-AR" sz="2400" dirty="0"/>
              <a:t>- Utilidad diaria (total de las ventas menos costos asociados).</a:t>
            </a:r>
          </a:p>
          <a:p>
            <a:pPr marL="0" indent="0">
              <a:buNone/>
            </a:pPr>
            <a:r>
              <a:rPr lang="es-AR" sz="2400" dirty="0"/>
              <a:t>- Nombre de la sucursal que mas cantidad de clavos vendió.</a:t>
            </a:r>
            <a:endParaRPr lang="en-US" sz="2400" dirty="0" smtClean="0"/>
          </a:p>
        </p:txBody>
      </p:sp>
    </p:spTree>
    <p:extLst>
      <p:ext uri="{BB962C8B-B14F-4D97-AF65-F5344CB8AC3E}">
        <p14:creationId xmlns:p14="http://schemas.microsoft.com/office/powerpoint/2010/main" val="3026143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1398</Words>
  <Application>Microsoft Office PowerPoint</Application>
  <PresentationFormat>On-screen Show (4:3)</PresentationFormat>
  <Paragraphs>248</Paragraphs>
  <Slides>19</Slides>
  <Notes>16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1" baseType="lpstr">
      <vt:lpstr>Office Theme</vt:lpstr>
      <vt:lpstr>Galería de imágenes de Microsoft</vt:lpstr>
      <vt:lpstr>Procedimientos y Funciones</vt:lpstr>
      <vt:lpstr>Modularidad</vt:lpstr>
      <vt:lpstr>Modularidad</vt:lpstr>
      <vt:lpstr>Procedimientos y Funciones</vt:lpstr>
      <vt:lpstr>Procedimientos y Funciones</vt:lpstr>
      <vt:lpstr>Procedimientos</vt:lpstr>
      <vt:lpstr>Procedimientos</vt:lpstr>
      <vt:lpstr>Procedimientos Ejemplo</vt:lpstr>
      <vt:lpstr>Procedimientos Ejemplo</vt:lpstr>
      <vt:lpstr>Parámetros Formales</vt:lpstr>
      <vt:lpstr>Procedimientos Ejemplo</vt:lpstr>
      <vt:lpstr>Funciones</vt:lpstr>
      <vt:lpstr>Funciones Ejemplo</vt:lpstr>
      <vt:lpstr>PowerPoint Presentation</vt:lpstr>
      <vt:lpstr>Variables locales y globales</vt:lpstr>
      <vt:lpstr>PowerPoint Presentation</vt:lpstr>
      <vt:lpstr>Ejercicios</vt:lpstr>
      <vt:lpstr>Ejercicios (2)</vt:lpstr>
      <vt:lpstr>Ejercicios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Programación</dc:title>
  <dc:creator>Leo Miaton</dc:creator>
  <cp:lastModifiedBy>Leo Miaton</cp:lastModifiedBy>
  <cp:revision>12</cp:revision>
  <dcterms:created xsi:type="dcterms:W3CDTF">2012-04-11T12:40:59Z</dcterms:created>
  <dcterms:modified xsi:type="dcterms:W3CDTF">2012-07-31T22:03:48Z</dcterms:modified>
</cp:coreProperties>
</file>