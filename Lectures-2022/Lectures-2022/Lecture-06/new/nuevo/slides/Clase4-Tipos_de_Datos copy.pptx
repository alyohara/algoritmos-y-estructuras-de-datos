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64" r:id="rId3"/>
    <p:sldId id="256" r:id="rId4"/>
    <p:sldId id="299" r:id="rId5"/>
    <p:sldId id="300" r:id="rId6"/>
    <p:sldId id="301" r:id="rId7"/>
    <p:sldId id="288" r:id="rId8"/>
    <p:sldId id="258" r:id="rId9"/>
    <p:sldId id="259" r:id="rId10"/>
    <p:sldId id="260" r:id="rId11"/>
    <p:sldId id="261" r:id="rId12"/>
    <p:sldId id="280" r:id="rId13"/>
    <p:sldId id="281" r:id="rId14"/>
    <p:sldId id="285" r:id="rId15"/>
    <p:sldId id="289" r:id="rId16"/>
    <p:sldId id="265" r:id="rId17"/>
    <p:sldId id="266" r:id="rId18"/>
    <p:sldId id="270" r:id="rId19"/>
    <p:sldId id="268" r:id="rId20"/>
    <p:sldId id="269" r:id="rId21"/>
    <p:sldId id="271" r:id="rId22"/>
    <p:sldId id="272" r:id="rId23"/>
    <p:sldId id="274" r:id="rId24"/>
    <p:sldId id="279" r:id="rId25"/>
    <p:sldId id="286" r:id="rId26"/>
    <p:sldId id="287" r:id="rId27"/>
    <p:sldId id="275" r:id="rId28"/>
    <p:sldId id="276" r:id="rId29"/>
    <p:sldId id="277" r:id="rId30"/>
    <p:sldId id="282" r:id="rId31"/>
    <p:sldId id="298" r:id="rId32"/>
    <p:sldId id="284" r:id="rId33"/>
    <p:sldId id="295" r:id="rId34"/>
    <p:sldId id="291" r:id="rId35"/>
    <p:sldId id="296" r:id="rId36"/>
    <p:sldId id="292" r:id="rId37"/>
    <p:sldId id="297" r:id="rId38"/>
    <p:sldId id="293" r:id="rId39"/>
    <p:sldId id="294" r:id="rId40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5"/>
    <p:restoredTop sz="94635"/>
  </p:normalViewPr>
  <p:slideViewPr>
    <p:cSldViewPr>
      <p:cViewPr varScale="1">
        <p:scale>
          <a:sx n="110" d="100"/>
          <a:sy n="110" d="100"/>
        </p:scale>
        <p:origin x="162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19/4/22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5764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0120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770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137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549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350FD00A-859E-455A-B07C-5805ED4EE726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29</a:t>
            </a:fld>
            <a:endParaRPr lang="es-A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549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350FD00A-859E-455A-B07C-5805ED4EE726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28341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32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6961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A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1131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11.png"/><Relationship Id="rId4" Type="http://schemas.openxmlformats.org/officeDocument/2006/relationships/image" Target="../media/image5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13" Type="http://schemas.openxmlformats.org/officeDocument/2006/relationships/image" Target="../media/image170.png"/><Relationship Id="rId3" Type="http://schemas.openxmlformats.org/officeDocument/2006/relationships/image" Target="../media/image610.png"/><Relationship Id="rId7" Type="http://schemas.openxmlformats.org/officeDocument/2006/relationships/image" Target="../media/image1110.png"/><Relationship Id="rId12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1.png"/><Relationship Id="rId11" Type="http://schemas.openxmlformats.org/officeDocument/2006/relationships/image" Target="../media/image150.png"/><Relationship Id="rId5" Type="http://schemas.openxmlformats.org/officeDocument/2006/relationships/image" Target="../media/image910.png"/><Relationship Id="rId10" Type="http://schemas.openxmlformats.org/officeDocument/2006/relationships/image" Target="../media/image140.png"/><Relationship Id="rId4" Type="http://schemas.openxmlformats.org/officeDocument/2006/relationships/image" Target="../media/image810.png"/><Relationship Id="rId9" Type="http://schemas.openxmlformats.org/officeDocument/2006/relationships/image" Target="../media/image131.png"/><Relationship Id="rId14" Type="http://schemas.openxmlformats.org/officeDocument/2006/relationships/image" Target="../media/image1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0.png"/><Relationship Id="rId18" Type="http://schemas.openxmlformats.org/officeDocument/2006/relationships/image" Target="../media/image330.png"/><Relationship Id="rId3" Type="http://schemas.openxmlformats.org/officeDocument/2006/relationships/image" Target="../media/image3.png"/><Relationship Id="rId7" Type="http://schemas.openxmlformats.org/officeDocument/2006/relationships/image" Target="../media/image220.png"/><Relationship Id="rId12" Type="http://schemas.openxmlformats.org/officeDocument/2006/relationships/image" Target="../media/image270.png"/><Relationship Id="rId17" Type="http://schemas.openxmlformats.org/officeDocument/2006/relationships/image" Target="../media/image3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10.png"/><Relationship Id="rId20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60.png"/><Relationship Id="rId5" Type="http://schemas.openxmlformats.org/officeDocument/2006/relationships/image" Target="../media/image200.png"/><Relationship Id="rId15" Type="http://schemas.openxmlformats.org/officeDocument/2006/relationships/image" Target="../media/image300.png"/><Relationship Id="rId10" Type="http://schemas.openxmlformats.org/officeDocument/2006/relationships/image" Target="../media/image250.png"/><Relationship Id="rId19" Type="http://schemas.openxmlformats.org/officeDocument/2006/relationships/image" Target="../media/image34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Relationship Id="rId14" Type="http://schemas.openxmlformats.org/officeDocument/2006/relationships/image" Target="../media/image2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18" Type="http://schemas.openxmlformats.org/officeDocument/2006/relationships/image" Target="../media/image350.png"/><Relationship Id="rId3" Type="http://schemas.openxmlformats.org/officeDocument/2006/relationships/image" Target="../media/image3.png"/><Relationship Id="rId21" Type="http://schemas.openxmlformats.org/officeDocument/2006/relationships/image" Target="../media/image39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30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24" Type="http://schemas.openxmlformats.org/officeDocument/2006/relationships/image" Target="../media/image42.png"/><Relationship Id="rId5" Type="http://schemas.openxmlformats.org/officeDocument/2006/relationships/image" Target="../media/image220.png"/><Relationship Id="rId15" Type="http://schemas.openxmlformats.org/officeDocument/2006/relationships/image" Target="../media/image320.png"/><Relationship Id="rId23" Type="http://schemas.openxmlformats.org/officeDocument/2006/relationships/image" Target="../media/image41.png"/><Relationship Id="rId10" Type="http://schemas.openxmlformats.org/officeDocument/2006/relationships/image" Target="../media/image270.png"/><Relationship Id="rId19" Type="http://schemas.openxmlformats.org/officeDocument/2006/relationships/image" Target="../media/image37.png"/><Relationship Id="rId4" Type="http://schemas.openxmlformats.org/officeDocument/2006/relationships/image" Target="../media/image36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Relationship Id="rId22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3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5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3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770.png"/><Relationship Id="rId4" Type="http://schemas.openxmlformats.org/officeDocument/2006/relationships/image" Target="../media/image500.png"/><Relationship Id="rId9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500.png"/><Relationship Id="rId9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3" Type="http://schemas.openxmlformats.org/officeDocument/2006/relationships/image" Target="../media/image3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4.png"/><Relationship Id="rId5" Type="http://schemas.openxmlformats.org/officeDocument/2006/relationships/image" Target="../media/image93.png"/><Relationship Id="rId15" Type="http://schemas.openxmlformats.org/officeDocument/2006/relationships/image" Target="../media/image98.png"/><Relationship Id="rId10" Type="http://schemas.openxmlformats.org/officeDocument/2006/relationships/image" Target="../media/image90.png"/><Relationship Id="rId4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500.png"/><Relationship Id="rId9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13" Type="http://schemas.openxmlformats.org/officeDocument/2006/relationships/image" Target="../media/image980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60.png"/><Relationship Id="rId5" Type="http://schemas.openxmlformats.org/officeDocument/2006/relationships/image" Target="../media/image85.png"/><Relationship Id="rId15" Type="http://schemas.openxmlformats.org/officeDocument/2006/relationships/image" Target="../media/image1000.png"/><Relationship Id="rId10" Type="http://schemas.openxmlformats.org/officeDocument/2006/relationships/image" Target="../media/image950.png"/><Relationship Id="rId4" Type="http://schemas.openxmlformats.org/officeDocument/2006/relationships/image" Target="../media/image920.png"/><Relationship Id="rId9" Type="http://schemas.openxmlformats.org/officeDocument/2006/relationships/image" Target="../media/image940.png"/><Relationship Id="rId14" Type="http://schemas.openxmlformats.org/officeDocument/2006/relationships/image" Target="../media/image99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08.png"/><Relationship Id="rId3" Type="http://schemas.openxmlformats.org/officeDocument/2006/relationships/image" Target="../media/image3.png"/><Relationship Id="rId7" Type="http://schemas.openxmlformats.org/officeDocument/2006/relationships/image" Target="../media/image103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11" Type="http://schemas.openxmlformats.org/officeDocument/2006/relationships/image" Target="../media/image106.png"/><Relationship Id="rId5" Type="http://schemas.openxmlformats.org/officeDocument/2006/relationships/image" Target="../media/image101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4" Type="http://schemas.openxmlformats.org/officeDocument/2006/relationships/image" Target="../media/image920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3.png"/><Relationship Id="rId21" Type="http://schemas.openxmlformats.org/officeDocument/2006/relationships/image" Target="../media/image130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3.png"/><Relationship Id="rId21" Type="http://schemas.openxmlformats.org/officeDocument/2006/relationships/image" Target="../media/image13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14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2.png"/><Relationship Id="rId20" Type="http://schemas.openxmlformats.org/officeDocument/2006/relationships/image" Target="../media/image136.png"/><Relationship Id="rId29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141.png"/><Relationship Id="rId32" Type="http://schemas.openxmlformats.org/officeDocument/2006/relationships/image" Target="../media/image148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139.png"/><Relationship Id="rId28" Type="http://schemas.openxmlformats.org/officeDocument/2006/relationships/image" Target="../media/image144.png"/><Relationship Id="rId10" Type="http://schemas.openxmlformats.org/officeDocument/2006/relationships/image" Target="../media/image56.png"/><Relationship Id="rId19" Type="http://schemas.openxmlformats.org/officeDocument/2006/relationships/image" Target="../media/image135.png"/><Relationship Id="rId31" Type="http://schemas.openxmlformats.org/officeDocument/2006/relationships/image" Target="../media/image147.png"/><Relationship Id="rId4" Type="http://schemas.openxmlformats.org/officeDocument/2006/relationships/image" Target="../media/image134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138.png"/><Relationship Id="rId27" Type="http://schemas.openxmlformats.org/officeDocument/2006/relationships/image" Target="../media/image143.png"/><Relationship Id="rId30" Type="http://schemas.openxmlformats.org/officeDocument/2006/relationships/image" Target="../media/image1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34.png"/><Relationship Id="rId7" Type="http://schemas.openxmlformats.org/officeDocument/2006/relationships/image" Target="../media/image1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83968" y="4725144"/>
            <a:ext cx="468942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-00184-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3059832" y="1700808"/>
            <a:ext cx="5669895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4000" b="1" i="1" strike="noStrike" spc="-1" dirty="0">
                <a:solidFill>
                  <a:srgbClr val="FFFFFF"/>
                </a:solidFill>
                <a:latin typeface="Arial"/>
              </a:rPr>
              <a:t>Tipos de Datos (Cont.)</a:t>
            </a:r>
            <a:endParaRPr lang="es-A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258801" y="23255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Tipos de Datos definidos por el Usuario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619672" y="1772816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/>
            <a:r>
              <a:rPr lang="es-AR" sz="2000" u="sng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Datos: </a:t>
            </a:r>
          </a:p>
          <a:p>
            <a:pPr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lenguaje (simples)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Enteros, Reales, Complejos, Booleanos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Cadena de Caracteres 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Usuario (complejos)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</a:t>
            </a:r>
          </a:p>
          <a:p>
            <a:pPr lvl="1" algn="just"/>
            <a:endParaRPr lang="es-AR" sz="20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Datos Mutables e Inmutables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Punteros</a:t>
            </a:r>
          </a:p>
          <a:p>
            <a:pPr lvl="2" algn="just"/>
            <a:r>
              <a:rPr lang="es-AR" sz="22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251520" y="1084675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Helvetica" pitchFamily="2" charset="0"/>
              </a:rPr>
              <a:t>Overview:</a:t>
            </a:r>
          </a:p>
        </p:txBody>
      </p:sp>
    </p:spTree>
    <p:extLst>
      <p:ext uri="{BB962C8B-B14F-4D97-AF65-F5344CB8AC3E}">
        <p14:creationId xmlns:p14="http://schemas.microsoft.com/office/powerpoint/2010/main" val="12596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258801" y="23255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Tipos de Datos definidos por el Usuario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34902" y="1609784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Simples.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lenguaje.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Números: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Enteros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‘int’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Reales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‘float’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Complejos (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‘complex’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Cadena de Caracteres (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‘str’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Booleanos 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bool’ )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Complejos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Usuario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‘tuple’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‘set’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‘dicc’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‘list’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‘range’ ) </a:t>
            </a:r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251520" y="1084675"/>
            <a:ext cx="2876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Tipos de Datos:</a:t>
            </a:r>
          </a:p>
        </p:txBody>
      </p:sp>
    </p:spTree>
    <p:extLst>
      <p:ext uri="{BB962C8B-B14F-4D97-AF65-F5344CB8AC3E}">
        <p14:creationId xmlns:p14="http://schemas.microsoft.com/office/powerpoint/2010/main" val="168555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258801" y="23255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Tipos de Datos definidos por el Usuario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55602" y="1633878"/>
            <a:ext cx="8557578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Una </a:t>
            </a:r>
            <a:r>
              <a:rPr lang="en-US" dirty="0" err="1"/>
              <a:t>cadena</a:t>
            </a:r>
            <a:r>
              <a:rPr lang="en-US" dirty="0"/>
              <a:t> de </a:t>
            </a:r>
            <a:r>
              <a:rPr lang="en-US" dirty="0" err="1"/>
              <a:t>carácteres</a:t>
            </a:r>
            <a:r>
              <a:rPr lang="en-US" dirty="0"/>
              <a:t> (string)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secuencia</a:t>
            </a:r>
            <a:r>
              <a:rPr lang="en-US" dirty="0"/>
              <a:t> </a:t>
            </a:r>
            <a:r>
              <a:rPr lang="en-US" dirty="0" err="1"/>
              <a:t>ordenada</a:t>
            </a:r>
            <a:r>
              <a:rPr lang="en-US" dirty="0"/>
              <a:t> de </a:t>
            </a:r>
            <a:r>
              <a:rPr lang="en-US" dirty="0" err="1"/>
              <a:t>carácteres</a:t>
            </a:r>
            <a:r>
              <a:rPr lang="en-US" dirty="0"/>
              <a:t>. Podemos </a:t>
            </a:r>
            <a:r>
              <a:rPr lang="en-US" dirty="0" err="1"/>
              <a:t>acceder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índice</a:t>
            </a:r>
            <a:r>
              <a:rPr lang="en-US" dirty="0"/>
              <a:t> (</a:t>
            </a:r>
            <a:r>
              <a:rPr lang="en-US" dirty="0" err="1"/>
              <a:t>siempre</a:t>
            </a:r>
            <a:r>
              <a:rPr lang="en-US" dirty="0"/>
              <a:t> que el </a:t>
            </a:r>
            <a:r>
              <a:rPr lang="en-US" dirty="0" err="1"/>
              <a:t>índice</a:t>
            </a:r>
            <a:r>
              <a:rPr lang="en-US" dirty="0"/>
              <a:t> no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furea</a:t>
            </a:r>
            <a:r>
              <a:rPr lang="en-US" dirty="0"/>
              <a:t> de </a:t>
            </a:r>
            <a:r>
              <a:rPr lang="en-US" dirty="0" err="1"/>
              <a:t>rango</a:t>
            </a:r>
            <a:r>
              <a:rPr lang="en-US" dirty="0"/>
              <a:t>).</a:t>
            </a:r>
          </a:p>
          <a:p>
            <a:pPr algn="ctr"/>
            <a:endParaRPr lang="en-US" dirty="0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Los </a:t>
            </a:r>
            <a:r>
              <a:rPr lang="en-US" dirty="0" err="1"/>
              <a:t>índices</a:t>
            </a:r>
            <a:r>
              <a:rPr lang="en-US" dirty="0"/>
              <a:t> </a:t>
            </a:r>
            <a:r>
              <a:rPr lang="en-US" dirty="0" err="1"/>
              <a:t>comienzan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0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 err="1"/>
              <a:t>Accederemos</a:t>
            </a:r>
            <a:r>
              <a:rPr lang="en-US" dirty="0"/>
              <a:t> al </a:t>
            </a:r>
            <a:r>
              <a:rPr lang="en-US" dirty="0" err="1"/>
              <a:t>i-ésimo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del string 𝚌 </a:t>
            </a:r>
            <a:r>
              <a:rPr lang="en-US" dirty="0" err="1"/>
              <a:t>escribiendo</a:t>
            </a:r>
            <a:r>
              <a:rPr lang="en-US" dirty="0"/>
              <a:t> 𝚌[𝚒]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fontAlgn="b"/>
            <a:br>
              <a:rPr lang="en-US" dirty="0"/>
            </a:br>
            <a:endParaRPr lang="en-US" dirty="0"/>
          </a:p>
          <a:p>
            <a:pPr lvl="1" algn="just"/>
            <a:endParaRPr lang="en-US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Python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permmite</a:t>
            </a:r>
            <a:r>
              <a:rPr lang="en-US" sz="2000" dirty="0"/>
              <a:t> el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índices</a:t>
            </a:r>
            <a:r>
              <a:rPr lang="en-US" sz="2000" dirty="0"/>
              <a:t> </a:t>
            </a:r>
            <a:r>
              <a:rPr lang="en-US" sz="2000" dirty="0" err="1"/>
              <a:t>negativos</a:t>
            </a:r>
            <a:r>
              <a:rPr lang="en-US" sz="2000" dirty="0"/>
              <a:t> ( </a:t>
            </a:r>
            <a:r>
              <a:rPr lang="en-US" sz="2000" dirty="0" err="1"/>
              <a:t>aunque</a:t>
            </a:r>
            <a:r>
              <a:rPr lang="en-US" sz="2000" dirty="0"/>
              <a:t> no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buena</a:t>
            </a:r>
            <a:r>
              <a:rPr lang="en-US" sz="2000" dirty="0"/>
              <a:t> </a:t>
            </a:r>
            <a:r>
              <a:rPr lang="en-US" sz="2000" dirty="0" err="1"/>
              <a:t>practica</a:t>
            </a:r>
            <a:r>
              <a:rPr lang="en-US" sz="2000" dirty="0"/>
              <a:t>)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251520" y="1084675"/>
            <a:ext cx="3400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Manejo de Strings: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51283-547C-6A45-ABAB-70CDB9268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2" y="3501008"/>
            <a:ext cx="7832017" cy="1152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363E59-70E6-104A-9039-7B5BDE3B9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2" y="5819065"/>
            <a:ext cx="8071466" cy="9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03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258801" y="23255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Tipos de Datos definidos por el Usuario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55602" y="1633878"/>
            <a:ext cx="8557578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 err="1"/>
              <a:t>Funciones</a:t>
            </a:r>
            <a:r>
              <a:rPr lang="en-US" sz="2400" dirty="0"/>
              <a:t> y </a:t>
            </a:r>
            <a:r>
              <a:rPr lang="en-US" sz="2400" dirty="0" err="1"/>
              <a:t>Operaciones</a:t>
            </a:r>
            <a:r>
              <a:rPr lang="en-US" sz="2400" dirty="0"/>
              <a:t> </a:t>
            </a:r>
            <a:r>
              <a:rPr lang="en-US" sz="2400" dirty="0" err="1"/>
              <a:t>Básicas</a:t>
            </a:r>
            <a:endParaRPr lang="en-US" sz="2400" dirty="0"/>
          </a:p>
          <a:p>
            <a:pPr lvl="2"/>
            <a:endParaRPr lang="en-US" dirty="0"/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>
                <a:solidFill>
                  <a:srgbClr val="92D050"/>
                </a:solidFill>
              </a:rPr>
              <a:t>len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/>
              <a:t>(length – </a:t>
            </a:r>
            <a:r>
              <a:rPr lang="en-US" dirty="0" err="1"/>
              <a:t>longitud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 </a:t>
            </a:r>
          </a:p>
          <a:p>
            <a:pPr fontAlgn="b"/>
            <a:endParaRPr lang="en-US" dirty="0"/>
          </a:p>
          <a:p>
            <a:pPr fontAlgn="b"/>
            <a:endParaRPr lang="en-US" dirty="0"/>
          </a:p>
          <a:p>
            <a:pPr fontAlgn="b"/>
            <a:br>
              <a:rPr lang="en-US" dirty="0"/>
            </a:br>
            <a:endParaRPr lang="en-US" dirty="0"/>
          </a:p>
          <a:p>
            <a:pPr lvl="1" algn="just"/>
            <a:endParaRPr lang="en-US" sz="2000" dirty="0"/>
          </a:p>
          <a:p>
            <a:pPr lvl="1" algn="just"/>
            <a:r>
              <a:rPr lang="en-US" sz="2000" dirty="0"/>
              <a:t> La </a:t>
            </a:r>
            <a:r>
              <a:rPr lang="en-US" sz="2000" dirty="0" err="1"/>
              <a:t>función</a:t>
            </a:r>
            <a:r>
              <a:rPr lang="en-US" sz="2000" dirty="0"/>
              <a:t> 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devuelve</a:t>
            </a:r>
            <a:r>
              <a:rPr lang="en-US" sz="2000" dirty="0"/>
              <a:t> el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elementos</a:t>
            </a:r>
            <a:r>
              <a:rPr lang="en-US" sz="2000" dirty="0"/>
              <a:t> y no el </a:t>
            </a:r>
            <a:r>
              <a:rPr lang="en-US" sz="2000" dirty="0" err="1"/>
              <a:t>índice</a:t>
            </a:r>
            <a:r>
              <a:rPr lang="en-US" sz="2000" dirty="0"/>
              <a:t> !!</a:t>
            </a:r>
          </a:p>
          <a:p>
            <a:pPr lvl="1" algn="just"/>
            <a:endParaRPr lang="en-US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Python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permmite</a:t>
            </a:r>
            <a:r>
              <a:rPr lang="en-US" sz="2000" dirty="0"/>
              <a:t> el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índices</a:t>
            </a:r>
            <a:r>
              <a:rPr lang="en-US" sz="2000" dirty="0"/>
              <a:t> </a:t>
            </a:r>
            <a:r>
              <a:rPr lang="en-US" sz="2000" dirty="0" err="1"/>
              <a:t>negativos</a:t>
            </a:r>
            <a:r>
              <a:rPr lang="en-US" sz="2000" dirty="0"/>
              <a:t> ( </a:t>
            </a:r>
            <a:r>
              <a:rPr lang="en-US" sz="2000" dirty="0" err="1"/>
              <a:t>aunque</a:t>
            </a:r>
            <a:r>
              <a:rPr lang="en-US" sz="2000" dirty="0"/>
              <a:t> no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buena</a:t>
            </a:r>
            <a:r>
              <a:rPr lang="en-US" sz="2000" dirty="0"/>
              <a:t> </a:t>
            </a:r>
            <a:r>
              <a:rPr lang="en-US" sz="2000" dirty="0" err="1"/>
              <a:t>practica</a:t>
            </a:r>
            <a:r>
              <a:rPr lang="en-US" sz="2000" dirty="0"/>
              <a:t>)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251520" y="1084675"/>
            <a:ext cx="3400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Manejo de Strings: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E943D4-EA8F-DB43-9B6D-56825AB38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80928"/>
            <a:ext cx="8509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3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215517" y="1196752"/>
            <a:ext cx="871296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pPr algn="just"/>
            <a:endParaRPr lang="es-AR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AR" sz="2400" b="1" dirty="0">
              <a:latin typeface="Arial" pitchFamily="34" charset="0"/>
              <a:cs typeface="Arial" pitchFamily="34" charset="0"/>
            </a:endParaRP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Rectángulo"/>
              <p:cNvSpPr/>
              <p:nvPr/>
            </p:nvSpPr>
            <p:spPr>
              <a:xfrm>
                <a:off x="215517" y="3645024"/>
                <a:ext cx="8712968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AR" dirty="0">
                    <a:latin typeface="Arial" pitchFamily="34" charset="0"/>
                    <a:cs typeface="Arial" pitchFamily="34" charset="0"/>
                  </a:rPr>
                  <a:t>Estos números se usan a diario para contar. Matemáticamente, contar significa decir cuántos elementos tiene un conjunto. Por ejemplo, el conjunto</a:t>
                </a:r>
                <a:r>
                  <a:rPr lang="es-AR" b="1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b="1" i="1">
                        <a:latin typeface="Cambria Math"/>
                      </a:rPr>
                      <m:t>{</m:t>
                    </m:r>
                    <m:r>
                      <a:rPr lang="es-AR" b="1" i="1">
                        <a:latin typeface="Cambria Math"/>
                      </a:rPr>
                      <m:t>𝝅</m:t>
                    </m:r>
                    <m:r>
                      <a:rPr lang="es-AR" b="1" i="1">
                        <a:latin typeface="Cambria Math"/>
                      </a:rPr>
                      <m:t>, </m:t>
                    </m:r>
                    <m:r>
                      <a:rPr lang="es-AR" b="1" i="1">
                        <a:latin typeface="Cambria Math"/>
                      </a:rPr>
                      <m:t>𝜷</m:t>
                    </m:r>
                    <m:r>
                      <a:rPr lang="es-AR" b="1" i="1">
                        <a:latin typeface="Cambria Math"/>
                      </a:rPr>
                      <m:t>, ∞, </m:t>
                    </m:r>
                    <m:r>
                      <a:rPr lang="es-AR" b="1" i="1">
                        <a:latin typeface="Cambria Math"/>
                      </a:rPr>
                      <m:t>𝜶</m:t>
                    </m:r>
                    <m:r>
                      <a:rPr lang="es-AR" b="1" i="1">
                        <a:latin typeface="Cambria Math"/>
                      </a:rPr>
                      <m:t>}</m:t>
                    </m:r>
                  </m:oMath>
                </a14:m>
                <a:r>
                  <a:rPr lang="es-AR" dirty="0">
                    <a:latin typeface="Arial" pitchFamily="34" charset="0"/>
                    <a:cs typeface="Arial" pitchFamily="34" charset="0"/>
                  </a:rPr>
                  <a:t> tiene 4 elementos. ¿Cuantos elementos tiene el conjunto vacío?.</a:t>
                </a:r>
              </a:p>
              <a:p>
                <a:pPr algn="just"/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pPr algn="just"/>
                <a:r>
                  <a:rPr lang="es-AR" dirty="0">
                    <a:latin typeface="Arial" pitchFamily="34" charset="0"/>
                    <a:cs typeface="Arial" pitchFamily="34" charset="0"/>
                  </a:rPr>
                  <a:t>Como el conjunto vacío no posee ningún elemento, necesitamos un símbolo nuevo que represente la cantidad de elementos de este conjunto. Este símbolo es 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0</m:t>
                    </m:r>
                  </m:oMath>
                </a14:m>
                <a:r>
                  <a:rPr lang="es-AR" dirty="0">
                    <a:latin typeface="Arial" pitchFamily="34" charset="0"/>
                    <a:cs typeface="Arial" pitchFamily="34" charset="0"/>
                  </a:rPr>
                  <a:t>. Llamamos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/>
                          </a:rPr>
                          <m:t>ℕ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dirty="0">
                    <a:latin typeface="Arial" pitchFamily="34" charset="0"/>
                    <a:cs typeface="Arial" pitchFamily="34" charset="0"/>
                  </a:rPr>
                  <a:t> al conjunto de los números </a:t>
                </a:r>
                <a:r>
                  <a:rPr lang="es-AR" b="1" i="1" dirty="0">
                    <a:latin typeface="Arial" pitchFamily="34" charset="0"/>
                    <a:cs typeface="Arial" pitchFamily="34" charset="0"/>
                  </a:rPr>
                  <a:t>naturales</a:t>
                </a:r>
                <a:r>
                  <a:rPr lang="es-AR" dirty="0">
                    <a:latin typeface="Arial" pitchFamily="34" charset="0"/>
                    <a:cs typeface="Arial" pitchFamily="34" charset="0"/>
                  </a:rPr>
                  <a:t> con el cero, o sea:</a:t>
                </a:r>
              </a:p>
              <a:p>
                <a:endParaRPr lang="es-AR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3645024"/>
                <a:ext cx="8712968" cy="2308324"/>
              </a:xfrm>
              <a:prstGeom prst="rect">
                <a:avLst/>
              </a:prstGeom>
              <a:blipFill>
                <a:blip r:embed="rId4"/>
                <a:stretch>
                  <a:fillRect l="-582" t="-1093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Rectángulo"/>
              <p:cNvSpPr/>
              <p:nvPr/>
            </p:nvSpPr>
            <p:spPr>
              <a:xfrm>
                <a:off x="683568" y="5805264"/>
                <a:ext cx="223224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1" i="1">
                              <a:latin typeface="Cambria Math"/>
                            </a:rPr>
                            <m:t>ℕ</m:t>
                          </m:r>
                        </m:e>
                        <m:sub>
                          <m:r>
                            <a:rPr lang="es-AR" sz="2400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s-AR" sz="2400" b="1" i="1">
                          <a:latin typeface="Cambria Math"/>
                        </a:rPr>
                        <m:t>=</m:t>
                      </m:r>
                      <m:r>
                        <a:rPr lang="es-AR" sz="2400" b="1" i="1">
                          <a:latin typeface="Cambria Math"/>
                        </a:rPr>
                        <m:t>ℕ</m:t>
                      </m:r>
                      <m:r>
                        <a:rPr lang="es-AR" sz="2400" b="1" i="1">
                          <a:latin typeface="Cambria Math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1" i="1">
                              <a:latin typeface="Cambria Math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5805264"/>
                <a:ext cx="2232248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Rectángulo"/>
              <p:cNvSpPr/>
              <p:nvPr/>
            </p:nvSpPr>
            <p:spPr>
              <a:xfrm>
                <a:off x="2705513" y="5805263"/>
                <a:ext cx="28777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1" i="1">
                              <a:latin typeface="Cambria Math"/>
                            </a:rPr>
                            <m:t>𝟎</m:t>
                          </m:r>
                          <m:r>
                            <a:rPr lang="es-AR" sz="2400" b="1" i="1">
                              <a:latin typeface="Cambria Math"/>
                            </a:rPr>
                            <m:t>, </m:t>
                          </m:r>
                          <m:r>
                            <a:rPr lang="es-AR" sz="2400" b="1" i="1">
                              <a:latin typeface="Cambria Math"/>
                            </a:rPr>
                            <m:t>𝟏</m:t>
                          </m:r>
                          <m:r>
                            <a:rPr lang="es-AR" sz="2400" b="1" i="1">
                              <a:latin typeface="Cambria Math"/>
                            </a:rPr>
                            <m:t>, </m:t>
                          </m:r>
                          <m:r>
                            <a:rPr lang="es-AR" sz="2400" b="1" i="1">
                              <a:latin typeface="Cambria Math"/>
                            </a:rPr>
                            <m:t>𝟐</m:t>
                          </m:r>
                          <m:r>
                            <a:rPr lang="es-AR" sz="2400" b="1" i="1">
                              <a:latin typeface="Cambria Math"/>
                            </a:rPr>
                            <m:t>, </m:t>
                          </m:r>
                          <m:r>
                            <a:rPr lang="es-AR" sz="2400" b="1" i="1">
                              <a:latin typeface="Cambria Math"/>
                            </a:rPr>
                            <m:t>𝟑</m:t>
                          </m:r>
                          <m:r>
                            <a:rPr lang="es-AR" sz="2400" b="1" i="1">
                              <a:latin typeface="Cambria Math"/>
                            </a:rPr>
                            <m:t>, </m:t>
                          </m:r>
                          <m:r>
                            <a:rPr lang="es-AR" sz="2400" b="1" i="1">
                              <a:latin typeface="Cambria Math"/>
                            </a:rPr>
                            <m:t>𝟒</m:t>
                          </m:r>
                          <m:r>
                            <a:rPr lang="es-AR" sz="2400" b="1" i="1">
                              <a:latin typeface="Cambria Math"/>
                            </a:rPr>
                            <m:t>, </m:t>
                          </m:r>
                          <m:r>
                            <a:rPr lang="es-AR" sz="2400" b="1" i="1">
                              <a:latin typeface="Cambria Math"/>
                            </a:rPr>
                            <m:t>𝟓</m:t>
                          </m:r>
                          <m:r>
                            <a:rPr lang="es-AR" sz="2400" b="1" i="1">
                              <a:latin typeface="Cambria Math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4" name="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513" y="5805263"/>
                <a:ext cx="287777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 de texto 2">
            <a:extLst>
              <a:ext uri="{FF2B5EF4-FFF2-40B4-BE49-F238E27FC236}">
                <a16:creationId xmlns:a16="http://schemas.microsoft.com/office/drawing/2014/main" id="{2023F3F4-2414-EB48-AD8D-46DBE1A8E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257310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Tipos de Datos definidos por el Usuario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16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54603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¿Qué operaciones podemos definir en el campo de los naturales?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Adición: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AR" sz="2400" b="1" i="1">
                                <a:latin typeface="Cambria Math"/>
                              </a:rPr>
                              <m:t>𝟑</m:t>
                            </m:r>
                            <m:r>
                              <a:rPr lang="es-AR" sz="2400" i="1">
                                <a:latin typeface="Cambria Math"/>
                              </a:rPr>
                              <m:t>+</m:t>
                            </m:r>
                            <m:r>
                              <a:rPr lang="es-AR" sz="2400" b="1" i="1">
                                <a:latin typeface="Cambria Math"/>
                              </a:rPr>
                              <m:t>𝟏𝟓</m:t>
                            </m:r>
                            <m:r>
                              <a:rPr lang="es-AR" sz="2400" i="1">
                                <a:latin typeface="Cambria Math"/>
                              </a:rPr>
                              <m:t>=</m:t>
                            </m:r>
                            <m:r>
                              <a:rPr lang="es-AR" sz="2400" b="1" i="1">
                                <a:latin typeface="Cambria Math"/>
                              </a:rPr>
                              <m:t>𝟏𝟖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𝟎</m:t>
                                  </m:r>
                                  <m:r>
                                    <a:rPr lang="es-AR" sz="24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𝟐𝟑</m:t>
                                  </m:r>
                                  <m:r>
                                    <a:rPr lang="es-AR" sz="2400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𝟐𝟑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400" b="1" i="1">
                                    <a:latin typeface="Cambria Math"/>
                                  </a:rPr>
                                  <m:t>ℕ</m:t>
                                </m:r>
                              </m:e>
                              <m:sub>
                                <m:r>
                                  <a:rPr lang="es-AR" sz="24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s-AR" sz="2400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400" b="1" i="1">
                                    <a:latin typeface="Cambria Math"/>
                                  </a:rPr>
                                  <m:t>ℕ</m:t>
                                </m:r>
                              </m:e>
                              <m:sub>
                                <m:r>
                                  <a:rPr lang="es-AR" sz="24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s-AR" sz="2400" i="1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400" b="1" i="1">
                                    <a:latin typeface="Cambria Math"/>
                                  </a:rPr>
                                  <m:t>ℕ</m:t>
                                </m:r>
                              </m:e>
                              <m:sub>
                                <m:r>
                                  <a:rPr lang="es-AR" sz="24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s-AR" sz="2400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Cuando ocurre esto decimos que, </a:t>
                </a:r>
                <a:r>
                  <a:rPr lang="es-AR" u="sng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el campo de los naturales con la operación adición, cumple con la ley de cierre o ley de composición interna</a:t>
                </a: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sz="2400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s-AR" sz="2400" b="1" i="1">
                              <a:latin typeface="Cambria Math"/>
                            </a:rPr>
                            <m:t>;+</m:t>
                          </m:r>
                        </m:e>
                      </m:d>
                      <m:r>
                        <a:rPr lang="es-AR" sz="2400" b="1" i="1">
                          <a:latin typeface="Cambria Math"/>
                        </a:rPr>
                        <m:t>     </m:t>
                      </m:r>
                      <m:r>
                        <a:rPr lang="es-AR" sz="2400" b="1" i="1">
                          <a:latin typeface="Cambria Math"/>
                        </a:rPr>
                        <m:t>𝑳𝒆𝒚</m:t>
                      </m:r>
                      <m:r>
                        <a:rPr lang="es-AR" sz="2400" b="1" i="1">
                          <a:latin typeface="Cambria Math"/>
                        </a:rPr>
                        <m:t> </m:t>
                      </m:r>
                      <m:r>
                        <a:rPr lang="es-AR" sz="2400" b="1" i="1">
                          <a:latin typeface="Cambria Math"/>
                        </a:rPr>
                        <m:t>𝒅𝒆</m:t>
                      </m:r>
                      <m:r>
                        <a:rPr lang="es-AR" sz="2400" b="1" i="1">
                          <a:latin typeface="Cambria Math"/>
                        </a:rPr>
                        <m:t> </m:t>
                      </m:r>
                      <m:r>
                        <a:rPr lang="es-AR" sz="2400" b="1" i="1">
                          <a:latin typeface="Cambria Math"/>
                        </a:rPr>
                        <m:t>𝒄𝒊𝒆𝒓𝒓𝒆</m:t>
                      </m:r>
                    </m:oMath>
                  </m:oMathPara>
                </a14:m>
                <a:endParaRPr lang="es-AR" sz="2400" dirty="0"/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5460341"/>
              </a:xfrm>
              <a:prstGeom prst="rect">
                <a:avLst/>
              </a:prstGeom>
              <a:blipFill>
                <a:blip r:embed="rId3"/>
                <a:stretch>
                  <a:fillRect l="-582" t="-232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613000"/>
              </p:ext>
            </p:extLst>
          </p:nvPr>
        </p:nvGraphicFramePr>
        <p:xfrm>
          <a:off x="387551" y="4077072"/>
          <a:ext cx="8368898" cy="7720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La adición de dos o más números naturales da como resultado otro número natural.</a:t>
                      </a:r>
                      <a:endParaRPr lang="es-AR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0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51463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Otra operación es el producto: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AR" sz="2400" b="1" i="1">
                                <a:latin typeface="Cambria Math"/>
                              </a:rPr>
                              <m:t>𝟔</m:t>
                            </m:r>
                            <m:r>
                              <a:rPr lang="es-AR" sz="2400" b="1" i="1">
                                <a:latin typeface="Cambria Math"/>
                              </a:rPr>
                              <m:t> ⋅</m:t>
                            </m:r>
                            <m:r>
                              <a:rPr lang="es-AR" sz="2400" b="1" i="1">
                                <a:latin typeface="Cambria Math"/>
                              </a:rPr>
                              <m:t>𝟓</m:t>
                            </m:r>
                            <m:r>
                              <a:rPr lang="es-AR" sz="2400" b="1" i="1">
                                <a:latin typeface="Cambria Math"/>
                              </a:rPr>
                              <m:t>=</m:t>
                            </m:r>
                            <m:r>
                              <a:rPr lang="es-AR" sz="2400" b="1" i="1">
                                <a:latin typeface="Cambria Math"/>
                              </a:rPr>
                              <m:t>𝟑𝟎</m:t>
                            </m:r>
                          </m:e>
                        </m:mr>
                        <m:mr>
                          <m:e>
                            <m:r>
                              <a:rPr lang="es-AR" sz="2400" b="1" i="1">
                                <a:latin typeface="Cambria Math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𝟎</m:t>
                                  </m:r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 ⋅ </m:t>
                                  </m:r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𝟐𝟑</m:t>
                                  </m:r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AR" sz="2400" b="1" i="1"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400" b="1" i="1">
                                    <a:latin typeface="Cambria Math"/>
                                  </a:rPr>
                                  <m:t>ℕ</m:t>
                                </m:r>
                              </m:e>
                              <m:sub>
                                <m:r>
                                  <a:rPr lang="es-AR" sz="24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s-AR" sz="2400" b="1" i="1">
                                <a:latin typeface="Cambria Math"/>
                              </a:rPr>
                              <m:t> ⋅ </m:t>
                            </m:r>
                            <m:sSub>
                              <m:sSubPr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400" b="1" i="1">
                                    <a:latin typeface="Cambria Math"/>
                                  </a:rPr>
                                  <m:t>ℕ</m:t>
                                </m:r>
                              </m:e>
                              <m:sub>
                                <m:r>
                                  <a:rPr lang="es-AR" sz="24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s-AR" sz="2400" b="1" i="1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A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400" b="1" i="1">
                                    <a:latin typeface="Cambria Math"/>
                                  </a:rPr>
                                  <m:t>ℕ</m:t>
                                </m:r>
                              </m:e>
                              <m:sub>
                                <m:r>
                                  <a:rPr lang="es-AR" sz="24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s-AR" sz="2400" b="1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Cuando ocurre esto decimos que el campo de los naturales con la operación producto, cumple con la ley de cierre o ley de composición interna.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800" b="1" i="1"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800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s-AR" sz="2800" b="1" i="1">
                              <a:latin typeface="Cambria Math"/>
                            </a:rPr>
                            <m:t>;</m:t>
                          </m:r>
                          <m:r>
                            <a:rPr lang="es-AR" sz="2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s-AR" sz="2800" i="1" smtClean="0">
                              <a:latin typeface="Cambria Math"/>
                            </a:rPr>
                            <m:t>⋅</m:t>
                          </m:r>
                          <m:r>
                            <a:rPr lang="es-AR" sz="2800" b="1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s-AR" sz="2800" b="1" i="1">
                          <a:latin typeface="Cambria Math"/>
                        </a:rPr>
                        <m:t>     </m:t>
                      </m:r>
                      <m:r>
                        <a:rPr lang="es-AR" sz="2800" b="1" i="1">
                          <a:latin typeface="Cambria Math"/>
                        </a:rPr>
                        <m:t>𝑳𝒆𝒚</m:t>
                      </m:r>
                      <m:r>
                        <a:rPr lang="es-AR" sz="2800" b="1" i="1">
                          <a:latin typeface="Cambria Math"/>
                        </a:rPr>
                        <m:t> </m:t>
                      </m:r>
                      <m:r>
                        <a:rPr lang="es-AR" sz="2800" b="1" i="1">
                          <a:latin typeface="Cambria Math"/>
                        </a:rPr>
                        <m:t>𝒅𝒆</m:t>
                      </m:r>
                      <m:r>
                        <a:rPr lang="es-AR" sz="2800" b="1" i="1">
                          <a:latin typeface="Cambria Math"/>
                        </a:rPr>
                        <m:t> </m:t>
                      </m:r>
                      <m:r>
                        <a:rPr lang="es-AR" sz="2800" b="1" i="1">
                          <a:latin typeface="Cambria Math"/>
                        </a:rPr>
                        <m:t>𝒄𝒊𝒆𝒓𝒓𝒆</m:t>
                      </m:r>
                    </m:oMath>
                  </m:oMathPara>
                </a14:m>
                <a:endParaRPr lang="es-AR" sz="2800" dirty="0"/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5146345"/>
              </a:xfrm>
              <a:prstGeom prst="rect">
                <a:avLst/>
              </a:prstGeom>
              <a:blipFill rotWithShape="1">
                <a:blip r:embed="rId3"/>
                <a:stretch>
                  <a:fillRect l="-559" t="-592" r="-55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547951"/>
              </p:ext>
            </p:extLst>
          </p:nvPr>
        </p:nvGraphicFramePr>
        <p:xfrm>
          <a:off x="379566" y="3789040"/>
          <a:ext cx="8368898" cy="7720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AR" sz="1800" b="1" kern="1200" dirty="0">
                          <a:solidFill>
                            <a:schemeClr val="lt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El producto de dos o más números naturales da como resultado otro número natural.</a:t>
                      </a:r>
                      <a:endParaRPr lang="es-AR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30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2"/>
                <a:ext cx="8712968" cy="12841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¿Cuántos son los números Naturales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b="1" i="1">
                            <a:latin typeface="Cambria Math"/>
                          </a:rPr>
                          <m:t>ℕ</m:t>
                        </m:r>
                      </m:e>
                      <m:sub>
                        <m:r>
                          <a:rPr lang="es-AR" sz="2400" b="1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?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s-AR" dirty="0">
                  <a:solidFill>
                    <a:srgbClr val="000000"/>
                  </a:solidFill>
                  <a:latin typeface="Arial" pitchFamily="34" charset="0"/>
                  <a:ea typeface="AGaramondPro-Regular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2"/>
                <a:ext cx="8712968" cy="1284134"/>
              </a:xfrm>
              <a:prstGeom prst="rect">
                <a:avLst/>
              </a:prstGeom>
              <a:blipFill rotWithShape="1">
                <a:blip r:embed="rId3"/>
                <a:stretch>
                  <a:fillRect l="-559" t="-237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70699"/>
              </p:ext>
            </p:extLst>
          </p:nvPr>
        </p:nvGraphicFramePr>
        <p:xfrm>
          <a:off x="387551" y="3095611"/>
          <a:ext cx="8368898" cy="739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AR" sz="1800" b="1" kern="1200" dirty="0">
                          <a:solidFill>
                            <a:schemeClr val="lt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IN-FINITO: que no es FINITO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AR" sz="1800" b="1" kern="1200" dirty="0">
                          <a:solidFill>
                            <a:schemeClr val="lt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FINITO: existe un número que lo representa.</a:t>
                      </a:r>
                      <a:endParaRPr lang="es-AR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2 CuadroTexto"/>
          <p:cNvSpPr txBox="1"/>
          <p:nvPr/>
        </p:nvSpPr>
        <p:spPr>
          <a:xfrm>
            <a:off x="4362814" y="444089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FINITO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5011075" y="5579948"/>
            <a:ext cx="135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INFINITO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5943662" y="501317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FINITO</a:t>
            </a:r>
          </a:p>
        </p:txBody>
      </p:sp>
      <p:grpSp>
        <p:nvGrpSpPr>
          <p:cNvPr id="14" name="13 Grupo"/>
          <p:cNvGrpSpPr/>
          <p:nvPr/>
        </p:nvGrpSpPr>
        <p:grpSpPr>
          <a:xfrm>
            <a:off x="294871" y="2348880"/>
            <a:ext cx="8633614" cy="4331877"/>
            <a:chOff x="294871" y="2348880"/>
            <a:chExt cx="8633614" cy="4331877"/>
          </a:xfrm>
        </p:grpSpPr>
        <p:pic>
          <p:nvPicPr>
            <p:cNvPr id="1026" name="Picture 2" descr="La Lemniscata de Bernoull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249" y="5485874"/>
              <a:ext cx="2124236" cy="1194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3 Rectángulo"/>
                <p:cNvSpPr/>
                <p:nvPr/>
              </p:nvSpPr>
              <p:spPr>
                <a:xfrm>
                  <a:off x="294871" y="2348880"/>
                  <a:ext cx="8633614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s-AR" dirty="0">
                      <a:solidFill>
                        <a:srgbClr val="000000"/>
                      </a:solidFill>
                      <a:latin typeface="Arial" pitchFamily="34" charset="0"/>
                      <a:ea typeface="AGaramondPro-Regular" charset="-128"/>
                      <a:cs typeface="Arial" pitchFamily="34" charset="0"/>
                    </a:rPr>
                    <a:t>Decimos que son infinitos </a:t>
                  </a:r>
                  <a14:m>
                    <m:oMath xmlns:m="http://schemas.openxmlformats.org/officeDocument/2006/math">
                      <m:r>
                        <a:rPr lang="es-AR" sz="3200" b="1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Arial" pitchFamily="34" charset="0"/>
                        </a:rPr>
                        <m:t>∞</m:t>
                      </m:r>
                    </m:oMath>
                  </a14:m>
                  <a:endParaRPr lang="es-AR" sz="3200" b="1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4" name="3 Rectángulo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871" y="2348880"/>
                  <a:ext cx="8633614" cy="58477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565" b="-9375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5 Rectángulo"/>
          <p:cNvSpPr/>
          <p:nvPr/>
        </p:nvSpPr>
        <p:spPr>
          <a:xfrm>
            <a:off x="294871" y="3937583"/>
            <a:ext cx="7085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Ejemplos: 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179512" y="444089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Cantidad de estudiantes de la UNaB.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Rectángulo"/>
              <p:cNvSpPr/>
              <p:nvPr/>
            </p:nvSpPr>
            <p:spPr>
              <a:xfrm>
                <a:off x="179512" y="5013176"/>
                <a:ext cx="616245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Char char="•"/>
                </a:pPr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Cantidad de moléculas de agua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GaramondPro-Regular" charset="-128"/>
                            <a:cs typeface="Arial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GaramondPro-Regular" charset="-128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solidFill>
                                  <a:srgbClr val="00000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AR" i="1">
                                <a:solidFill>
                                  <a:srgbClr val="00000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s-AR" i="1">
                            <a:solidFill>
                              <a:srgbClr val="000000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en el mundo.</a:t>
                </a:r>
              </a:p>
            </p:txBody>
          </p:sp>
        </mc:Choice>
        <mc:Fallback xmlns="">
          <p:sp>
            <p:nvSpPr>
              <p:cNvPr id="12" name="1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013176"/>
                <a:ext cx="616245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593" t="-8197" b="-245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12 Rectángulo"/>
          <p:cNvSpPr/>
          <p:nvPr/>
        </p:nvSpPr>
        <p:spPr>
          <a:xfrm>
            <a:off x="215517" y="5579948"/>
            <a:ext cx="5364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Cantidad de libros que se pueden escribir.</a:t>
            </a:r>
          </a:p>
        </p:txBody>
      </p:sp>
    </p:spTree>
    <p:extLst>
      <p:ext uri="{BB962C8B-B14F-4D97-AF65-F5344CB8AC3E}">
        <p14:creationId xmlns:p14="http://schemas.microsoft.com/office/powerpoint/2010/main" val="18395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6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071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Otra propiedad del  conjunto de los números Naturales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b="1" i="1">
                            <a:latin typeface="Cambria Math"/>
                          </a:rPr>
                          <m:t>ℕ</m:t>
                        </m:r>
                      </m:e>
                      <m:sub>
                        <m:r>
                          <a:rPr lang="es-AR" sz="2400" b="1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07135"/>
              </a:xfrm>
              <a:prstGeom prst="rect">
                <a:avLst/>
              </a:prstGeom>
              <a:blipFill rotWithShape="1">
                <a:blip r:embed="rId3"/>
                <a:stretch>
                  <a:fillRect l="-559" t="-3012" b="-72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39551"/>
              </p:ext>
            </p:extLst>
          </p:nvPr>
        </p:nvGraphicFramePr>
        <p:xfrm>
          <a:off x="222906" y="2852936"/>
          <a:ext cx="8368898" cy="739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AR" sz="1800" b="1" kern="1200" dirty="0">
                          <a:solidFill>
                            <a:schemeClr val="lt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DISCRETO: que tiene siguiente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3 Rectángulo"/>
          <p:cNvSpPr/>
          <p:nvPr/>
        </p:nvSpPr>
        <p:spPr>
          <a:xfrm>
            <a:off x="168725" y="3933056"/>
            <a:ext cx="2980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¿Cuál es el siguiente de 3?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215517" y="4763828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¿Cuál es el siguiente de 35?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260399" y="5661248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¿Cuál es el siguiente de N?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1502422" y="438213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1438302" y="515536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36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1351741" y="6165304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N+1</a:t>
            </a:r>
          </a:p>
        </p:txBody>
      </p:sp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5 CuadroTexto"/>
          <p:cNvSpPr txBox="1"/>
          <p:nvPr/>
        </p:nvSpPr>
        <p:spPr>
          <a:xfrm>
            <a:off x="5029190" y="5963380"/>
            <a:ext cx="504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N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6130186" y="5991401"/>
            <a:ext cx="151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N+1</a:t>
            </a:r>
          </a:p>
        </p:txBody>
      </p:sp>
      <p:grpSp>
        <p:nvGrpSpPr>
          <p:cNvPr id="2049" name="2048 Grupo"/>
          <p:cNvGrpSpPr/>
          <p:nvPr/>
        </p:nvGrpSpPr>
        <p:grpSpPr>
          <a:xfrm>
            <a:off x="3905937" y="3601142"/>
            <a:ext cx="4842104" cy="1731000"/>
            <a:chOff x="3905936" y="3601142"/>
            <a:chExt cx="4842104" cy="1731000"/>
          </a:xfrm>
        </p:grpSpPr>
        <p:grpSp>
          <p:nvGrpSpPr>
            <p:cNvPr id="25" name="24 Grupo"/>
            <p:cNvGrpSpPr/>
            <p:nvPr/>
          </p:nvGrpSpPr>
          <p:grpSpPr>
            <a:xfrm>
              <a:off x="3905936" y="3981460"/>
              <a:ext cx="4842104" cy="1350682"/>
              <a:chOff x="3905936" y="4125887"/>
              <a:chExt cx="4842104" cy="1350682"/>
            </a:xfrm>
          </p:grpSpPr>
          <p:sp>
            <p:nvSpPr>
              <p:cNvPr id="20" name="19 Rectángulo"/>
              <p:cNvSpPr/>
              <p:nvPr/>
            </p:nvSpPr>
            <p:spPr>
              <a:xfrm>
                <a:off x="3905936" y="4891794"/>
                <a:ext cx="467967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3200" b="1" dirty="0">
                    <a:solidFill>
                      <a:schemeClr val="accent1"/>
                    </a:solidFill>
                    <a:latin typeface="Comic Sans MS" pitchFamily="66" charset="0"/>
                    <a:ea typeface="AGaramondPro-Regular" charset="-128"/>
                    <a:cs typeface="Arial" pitchFamily="34" charset="0"/>
                  </a:rPr>
                  <a:t>0   1    2   3   4    5 </a:t>
                </a:r>
                <a:endParaRPr lang="es-AR" sz="3200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2" name="21 Conector recto de flecha"/>
              <p:cNvCxnSpPr/>
              <p:nvPr/>
            </p:nvCxnSpPr>
            <p:spPr>
              <a:xfrm>
                <a:off x="3923504" y="4566801"/>
                <a:ext cx="4824536" cy="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22 Elipse"/>
              <p:cNvSpPr/>
              <p:nvPr/>
            </p:nvSpPr>
            <p:spPr>
              <a:xfrm>
                <a:off x="3905936" y="4476801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7" name="26 Elipse"/>
              <p:cNvSpPr/>
              <p:nvPr/>
            </p:nvSpPr>
            <p:spPr>
              <a:xfrm>
                <a:off x="4765386" y="4476801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8" name="27 Elipse"/>
              <p:cNvSpPr/>
              <p:nvPr/>
            </p:nvSpPr>
            <p:spPr>
              <a:xfrm>
                <a:off x="8244438" y="4467539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9" name="28 Elipse"/>
              <p:cNvSpPr/>
              <p:nvPr/>
            </p:nvSpPr>
            <p:spPr>
              <a:xfrm>
                <a:off x="7357078" y="4467539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0" name="29 Elipse"/>
              <p:cNvSpPr/>
              <p:nvPr/>
            </p:nvSpPr>
            <p:spPr>
              <a:xfrm>
                <a:off x="5670112" y="4473136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1" name="30 Elipse"/>
              <p:cNvSpPr/>
              <p:nvPr/>
            </p:nvSpPr>
            <p:spPr>
              <a:xfrm>
                <a:off x="6519651" y="4484870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23 Arco"/>
              <p:cNvSpPr/>
              <p:nvPr/>
            </p:nvSpPr>
            <p:spPr>
              <a:xfrm>
                <a:off x="3979627" y="4133030"/>
                <a:ext cx="828092" cy="758764"/>
              </a:xfrm>
              <a:prstGeom prst="arc">
                <a:avLst>
                  <a:gd name="adj1" fmla="val 11425826"/>
                  <a:gd name="adj2" fmla="val 20651253"/>
                </a:avLst>
              </a:prstGeom>
              <a:ln w="19050"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3" name="32 Arco"/>
              <p:cNvSpPr/>
              <p:nvPr/>
            </p:nvSpPr>
            <p:spPr>
              <a:xfrm>
                <a:off x="4863326" y="4128917"/>
                <a:ext cx="828092" cy="758764"/>
              </a:xfrm>
              <a:prstGeom prst="arc">
                <a:avLst>
                  <a:gd name="adj1" fmla="val 11425826"/>
                  <a:gd name="adj2" fmla="val 20651253"/>
                </a:avLst>
              </a:prstGeom>
              <a:ln w="19050"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4" name="33 Arco"/>
              <p:cNvSpPr/>
              <p:nvPr/>
            </p:nvSpPr>
            <p:spPr>
              <a:xfrm>
                <a:off x="7506346" y="4125887"/>
                <a:ext cx="828092" cy="758764"/>
              </a:xfrm>
              <a:prstGeom prst="arc">
                <a:avLst>
                  <a:gd name="adj1" fmla="val 11425826"/>
                  <a:gd name="adj2" fmla="val 20651253"/>
                </a:avLst>
              </a:prstGeom>
              <a:ln w="19050"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5" name="34 Arco"/>
              <p:cNvSpPr/>
              <p:nvPr/>
            </p:nvSpPr>
            <p:spPr>
              <a:xfrm>
                <a:off x="6641434" y="4133030"/>
                <a:ext cx="828092" cy="758764"/>
              </a:xfrm>
              <a:prstGeom prst="arc">
                <a:avLst>
                  <a:gd name="adj1" fmla="val 11425826"/>
                  <a:gd name="adj2" fmla="val 20651253"/>
                </a:avLst>
              </a:prstGeom>
              <a:ln w="19050"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6" name="35 Arco"/>
              <p:cNvSpPr/>
              <p:nvPr/>
            </p:nvSpPr>
            <p:spPr>
              <a:xfrm>
                <a:off x="5821879" y="4133030"/>
                <a:ext cx="828092" cy="758764"/>
              </a:xfrm>
              <a:prstGeom prst="arc">
                <a:avLst>
                  <a:gd name="adj1" fmla="val 11425826"/>
                  <a:gd name="adj2" fmla="val 20651253"/>
                </a:avLst>
              </a:prstGeom>
              <a:ln w="19050"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40" name="39 CuadroTexto"/>
            <p:cNvSpPr txBox="1"/>
            <p:nvPr/>
          </p:nvSpPr>
          <p:spPr>
            <a:xfrm>
              <a:off x="4060636" y="3618250"/>
              <a:ext cx="666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+1</a:t>
              </a:r>
            </a:p>
          </p:txBody>
        </p:sp>
        <p:sp>
          <p:nvSpPr>
            <p:cNvPr id="41" name="40 CuadroTexto"/>
            <p:cNvSpPr txBox="1"/>
            <p:nvPr/>
          </p:nvSpPr>
          <p:spPr>
            <a:xfrm>
              <a:off x="7578364" y="3601142"/>
              <a:ext cx="666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+1</a:t>
              </a:r>
            </a:p>
          </p:txBody>
        </p:sp>
        <p:sp>
          <p:nvSpPr>
            <p:cNvPr id="42" name="41 CuadroTexto"/>
            <p:cNvSpPr txBox="1"/>
            <p:nvPr/>
          </p:nvSpPr>
          <p:spPr>
            <a:xfrm>
              <a:off x="4944038" y="3602968"/>
              <a:ext cx="666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+1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5902888" y="3602055"/>
              <a:ext cx="666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+1</a:t>
              </a: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6691004" y="3612811"/>
              <a:ext cx="666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+1</a:t>
              </a:r>
            </a:p>
          </p:txBody>
        </p:sp>
      </p:grpSp>
      <p:grpSp>
        <p:nvGrpSpPr>
          <p:cNvPr id="9" name="8 Grupo"/>
          <p:cNvGrpSpPr/>
          <p:nvPr/>
        </p:nvGrpSpPr>
        <p:grpSpPr>
          <a:xfrm>
            <a:off x="5251383" y="5216960"/>
            <a:ext cx="1403752" cy="1288099"/>
            <a:chOff x="5251383" y="5216960"/>
            <a:chExt cx="1403752" cy="1288099"/>
          </a:xfrm>
        </p:grpSpPr>
        <p:sp>
          <p:nvSpPr>
            <p:cNvPr id="38" name="37 Arco"/>
            <p:cNvSpPr/>
            <p:nvPr/>
          </p:nvSpPr>
          <p:spPr>
            <a:xfrm>
              <a:off x="5251383" y="5746295"/>
              <a:ext cx="1403752" cy="758764"/>
            </a:xfrm>
            <a:prstGeom prst="arc">
              <a:avLst>
                <a:gd name="adj1" fmla="val 11425826"/>
                <a:gd name="adj2" fmla="val 21231090"/>
              </a:avLst>
            </a:prstGeom>
            <a:ln w="190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5462036" y="5216960"/>
              <a:ext cx="8817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36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+1</a:t>
              </a:r>
            </a:p>
          </p:txBody>
        </p:sp>
      </p:grpSp>
      <p:sp>
        <p:nvSpPr>
          <p:cNvPr id="3" name="2 Rectángulo"/>
          <p:cNvSpPr/>
          <p:nvPr/>
        </p:nvSpPr>
        <p:spPr>
          <a:xfrm>
            <a:off x="295678" y="2388555"/>
            <a:ext cx="3091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Decimos que es DISCRETO</a:t>
            </a:r>
            <a:endParaRPr lang="es-AR" sz="3200" b="1" dirty="0">
              <a:solidFill>
                <a:srgbClr val="000000"/>
              </a:solidFill>
              <a:latin typeface="Arial" pitchFamily="34" charset="0"/>
              <a:ea typeface="AGaramondPro-Regular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34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4" grpId="0"/>
      <p:bldP spid="15" grpId="0"/>
      <p:bldP spid="16" grpId="0"/>
      <p:bldP spid="6" grpId="0"/>
      <p:bldP spid="19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409357" y="1988840"/>
            <a:ext cx="7772040" cy="5005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s-AR" sz="1800" b="0" strike="noStrike" spc="-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Representación gráfica de conjuntos: </a:t>
            </a:r>
            <a:r>
              <a:rPr lang="es-AR" sz="1800" b="1" strike="noStrike" spc="-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Rectángulo → Universo</a:t>
            </a:r>
          </a:p>
        </p:txBody>
      </p:sp>
      <p:pic>
        <p:nvPicPr>
          <p:cNvPr id="154" name="6 Imagen"/>
          <p:cNvPicPr/>
          <p:nvPr/>
        </p:nvPicPr>
        <p:blipFill>
          <a:blip r:embed="rId2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p:grpSp>
        <p:nvGrpSpPr>
          <p:cNvPr id="2" name="1 Grupo"/>
          <p:cNvGrpSpPr/>
          <p:nvPr/>
        </p:nvGrpSpPr>
        <p:grpSpPr>
          <a:xfrm>
            <a:off x="685800" y="3132000"/>
            <a:ext cx="4534272" cy="1944000"/>
            <a:chOff x="685800" y="3132000"/>
            <a:chExt cx="4534272" cy="1944000"/>
          </a:xfrm>
        </p:grpSpPr>
        <p:sp>
          <p:nvSpPr>
            <p:cNvPr id="157" name="CustomShape 5"/>
            <p:cNvSpPr/>
            <p:nvPr/>
          </p:nvSpPr>
          <p:spPr>
            <a:xfrm>
              <a:off x="685800" y="3132000"/>
              <a:ext cx="3130200" cy="1944000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8" name="TextShape 6"/>
            <p:cNvSpPr txBox="1"/>
            <p:nvPr/>
          </p:nvSpPr>
          <p:spPr>
            <a:xfrm>
              <a:off x="3924000" y="3240000"/>
              <a:ext cx="1296072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1800" b="1" strike="noStrike" spc="-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Universo</a:t>
              </a:r>
            </a:p>
            <a:p>
              <a:endParaRPr lang="es-AR" sz="1800" b="1" strike="noStrike" spc="-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3" name="TextShape 2"/>
          <p:cNvSpPr txBox="1"/>
          <p:nvPr/>
        </p:nvSpPr>
        <p:spPr>
          <a:xfrm>
            <a:off x="179512" y="1424880"/>
            <a:ext cx="8229240" cy="6359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Diagrama de Venn</a:t>
            </a:r>
          </a:p>
        </p:txBody>
      </p:sp>
      <p:sp>
        <p:nvSpPr>
          <p:cNvPr id="161" name="TextShape 9"/>
          <p:cNvSpPr txBox="1"/>
          <p:nvPr/>
        </p:nvSpPr>
        <p:spPr>
          <a:xfrm>
            <a:off x="4104000" y="4032000"/>
            <a:ext cx="4929480" cy="137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Sean los conjuntos: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U = {1,2,3,4,5,6,7,8,9,10,11,12,13,14,15,16,17}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A = {1,2,3,5,7,11,13,17}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B = {1,2,4,6,8,9,10,12,13,14,15,17}</a:t>
            </a:r>
          </a:p>
          <a:p>
            <a:endParaRPr lang="es-AR" sz="1800" b="0" strike="noStrike" spc="-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5 Grupo"/>
          <p:cNvGrpSpPr/>
          <p:nvPr/>
        </p:nvGrpSpPr>
        <p:grpSpPr>
          <a:xfrm>
            <a:off x="409357" y="2485669"/>
            <a:ext cx="4572000" cy="2194691"/>
            <a:chOff x="409357" y="2485669"/>
            <a:chExt cx="4572000" cy="2194691"/>
          </a:xfrm>
        </p:grpSpPr>
        <p:grpSp>
          <p:nvGrpSpPr>
            <p:cNvPr id="4" name="3 Grupo"/>
            <p:cNvGrpSpPr/>
            <p:nvPr/>
          </p:nvGrpSpPr>
          <p:grpSpPr>
            <a:xfrm>
              <a:off x="1008000" y="3456000"/>
              <a:ext cx="2205000" cy="1224360"/>
              <a:chOff x="1008000" y="3456000"/>
              <a:chExt cx="2205000" cy="1224360"/>
            </a:xfrm>
          </p:grpSpPr>
          <p:sp>
            <p:nvSpPr>
              <p:cNvPr id="155" name="CustomShape 3"/>
              <p:cNvSpPr/>
              <p:nvPr/>
            </p:nvSpPr>
            <p:spPr>
              <a:xfrm>
                <a:off x="1296000" y="3456000"/>
                <a:ext cx="1080000" cy="1224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6" name="CustomShape 4"/>
              <p:cNvSpPr/>
              <p:nvPr/>
            </p:nvSpPr>
            <p:spPr>
              <a:xfrm>
                <a:off x="1836360" y="3456360"/>
                <a:ext cx="1080000" cy="1224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9" name="TextShape 7"/>
              <p:cNvSpPr txBox="1"/>
              <p:nvPr/>
            </p:nvSpPr>
            <p:spPr>
              <a:xfrm>
                <a:off x="1008000" y="3501720"/>
                <a:ext cx="333000" cy="60228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1" strike="noStrike" spc="-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  <a:p>
                <a:endParaRPr lang="es-AR" sz="1800" b="1" strike="noStrike" spc="-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60" name="TextShape 8"/>
              <p:cNvSpPr txBox="1"/>
              <p:nvPr/>
            </p:nvSpPr>
            <p:spPr>
              <a:xfrm>
                <a:off x="2880000" y="3456360"/>
                <a:ext cx="333000" cy="60228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1" strike="noStrike" spc="-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  <a:p>
                <a:endParaRPr lang="es-AR" sz="1800" b="1" strike="noStrike" spc="-1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5" name="4 Rectángulo"/>
            <p:cNvSpPr/>
            <p:nvPr/>
          </p:nvSpPr>
          <p:spPr>
            <a:xfrm>
              <a:off x="409357" y="2485669"/>
              <a:ext cx="4572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s-AR" spc="-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Subconjuntos de ese universo → </a:t>
              </a:r>
              <a:r>
                <a:rPr lang="es-AR" spc="-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A, B</a:t>
              </a:r>
              <a:endParaRPr lang="es-A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TextShape 9">
            <a:extLst>
              <a:ext uri="{FF2B5EF4-FFF2-40B4-BE49-F238E27FC236}">
                <a16:creationId xmlns:a16="http://schemas.microsoft.com/office/drawing/2014/main" id="{D650F1A0-E80D-0342-A1D5-DAAE3EA0CDF6}"/>
              </a:ext>
            </a:extLst>
          </p:cNvPr>
          <p:cNvSpPr txBox="1"/>
          <p:nvPr/>
        </p:nvSpPr>
        <p:spPr>
          <a:xfrm>
            <a:off x="550203" y="5265720"/>
            <a:ext cx="8458200" cy="137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1800" b="0" u="sng" strike="noStrike" spc="-1" dirty="0">
                <a:latin typeface="Arial" pitchFamily="34" charset="0"/>
                <a:cs typeface="Arial" pitchFamily="34" charset="0"/>
              </a:rPr>
              <a:t>Nota: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 Los conjuntos no aceptan repeticiones, es decir:  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	A = {1, 2, 3}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	B</a:t>
            </a:r>
            <a:r>
              <a:rPr lang="es-AR" sz="1800" b="0" strike="noStrike" spc="-1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 = {1, 2, 2, 3, 1, 3, 4} no es un conjunto, pero </a:t>
            </a:r>
            <a:r>
              <a:rPr lang="es-AR" spc="-1" dirty="0">
                <a:latin typeface="Arial" pitchFamily="34" charset="0"/>
                <a:cs typeface="Arial" pitchFamily="34" charset="0"/>
              </a:rPr>
              <a:t>B</a:t>
            </a:r>
            <a:r>
              <a:rPr lang="es-AR" spc="-1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s-AR" spc="-1" dirty="0">
                <a:latin typeface="Arial" pitchFamily="34" charset="0"/>
                <a:cs typeface="Arial" pitchFamily="34" charset="0"/>
              </a:rPr>
              <a:t> = {1, 2, 3, 4} lo es. </a:t>
            </a:r>
            <a:endParaRPr lang="es-AR" spc="-1" baseline="-25000" dirty="0">
              <a:latin typeface="Arial" pitchFamily="34" charset="0"/>
              <a:cs typeface="Arial" pitchFamily="34" charset="0"/>
            </a:endParaRPr>
          </a:p>
          <a:p>
            <a:r>
              <a:rPr lang="es-AR" spc="-1" baseline="-25000" dirty="0">
                <a:latin typeface="Arial" pitchFamily="34" charset="0"/>
                <a:cs typeface="Arial" pitchFamily="34" charset="0"/>
              </a:rPr>
              <a:t> </a:t>
            </a:r>
            <a:endParaRPr lang="es-AR" sz="1800" b="0" strike="noStrike" spc="-1" dirty="0">
              <a:latin typeface="Arial" pitchFamily="34" charset="0"/>
              <a:cs typeface="Arial" pitchFamily="34" charset="0"/>
            </a:endParaRPr>
          </a:p>
          <a:p>
            <a:endParaRPr lang="es-AR" sz="1800" b="0" strike="noStrike" spc="-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14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Shape 1"/>
              <p:cNvSpPr txBox="1"/>
              <p:nvPr/>
            </p:nvSpPr>
            <p:spPr>
              <a:xfrm>
                <a:off x="289422" y="1910281"/>
                <a:ext cx="8280723" cy="1080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r>
                  <a:rPr lang="es-AR" sz="2000" b="0" strike="noStrike" spc="-1" dirty="0">
                    <a:solidFill>
                      <a:srgbClr val="000000"/>
                    </a:solidFill>
                    <a:latin typeface="Arial" pitchFamily="34" charset="0"/>
                    <a:ea typeface="Noto Sans CJK SC"/>
                    <a:cs typeface="Arial" pitchFamily="34" charset="0"/>
                  </a:rPr>
                  <a:t>Inclusión de conjuntos: </a:t>
                </a:r>
              </a:p>
              <a:p>
                <a:r>
                  <a:rPr lang="es-AR" sz="2000" b="0" strike="noStrike" spc="-1" dirty="0">
                    <a:solidFill>
                      <a:srgbClr val="000000"/>
                    </a:solidFill>
                    <a:latin typeface="Arial" pitchFamily="34" charset="0"/>
                    <a:ea typeface="Noto Sans CJK SC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𝑨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 = {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𝟏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𝟐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𝟑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𝟓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𝟕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𝟏𝟏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𝟏𝟑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𝟏𝟕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} </m:t>
                    </m:r>
                  </m:oMath>
                </a14:m>
                <a:r>
                  <a:rPr lang="es-AR" sz="2000" b="0" strike="noStrike" spc="-1" dirty="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rPr>
                  <a:t>y  </a:t>
                </a:r>
                <a14:m>
                  <m:oMath xmlns:m="http://schemas.openxmlformats.org/officeDocument/2006/math"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𝑩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 = {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𝟓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𝟏𝟑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𝟏𝟕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}, </m:t>
                    </m:r>
                  </m:oMath>
                </a14:m>
                <a:endParaRPr lang="es-AR" sz="2000" b="1" strike="noStrike" spc="-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  <a:p>
                <a:br>
                  <a:rPr sz="2000" dirty="0">
                    <a:latin typeface="Arial" pitchFamily="34" charset="0"/>
                    <a:cs typeface="Arial" pitchFamily="34" charset="0"/>
                  </a:rPr>
                </a:br>
                <a:endParaRPr lang="es-AR" sz="2000" b="0" strike="noStrike" spc="-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62" name="TextShap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22" y="1910281"/>
                <a:ext cx="8280723" cy="1080120"/>
              </a:xfrm>
              <a:prstGeom prst="rect">
                <a:avLst/>
              </a:prstGeom>
              <a:blipFill rotWithShape="1">
                <a:blip r:embed="rId2"/>
                <a:stretch>
                  <a:fillRect l="-1840" t="-129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Shape 2"/>
          <p:cNvSpPr txBox="1"/>
          <p:nvPr/>
        </p:nvSpPr>
        <p:spPr>
          <a:xfrm>
            <a:off x="239141" y="1340768"/>
            <a:ext cx="8229240" cy="789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</a:rPr>
              <a:t>Diagrama de Venn</a:t>
            </a:r>
          </a:p>
        </p:txBody>
      </p:sp>
      <p:pic>
        <p:nvPicPr>
          <p:cNvPr id="164" name="6 Imagen"/>
          <p:cNvPicPr/>
          <p:nvPr/>
        </p:nvPicPr>
        <p:blipFill>
          <a:blip r:embed="rId3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p:grpSp>
        <p:nvGrpSpPr>
          <p:cNvPr id="2" name="1 Grupo"/>
          <p:cNvGrpSpPr/>
          <p:nvPr/>
        </p:nvGrpSpPr>
        <p:grpSpPr>
          <a:xfrm>
            <a:off x="971601" y="3119330"/>
            <a:ext cx="4177646" cy="3045974"/>
            <a:chOff x="1137250" y="3852000"/>
            <a:chExt cx="1202750" cy="1224000"/>
          </a:xfrm>
        </p:grpSpPr>
        <p:sp>
          <p:nvSpPr>
            <p:cNvPr id="165" name="CustomShape 3"/>
            <p:cNvSpPr/>
            <p:nvPr/>
          </p:nvSpPr>
          <p:spPr>
            <a:xfrm>
              <a:off x="1260000" y="3852000"/>
              <a:ext cx="1080000" cy="1224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7" name="TextShape 5"/>
            <p:cNvSpPr txBox="1"/>
            <p:nvPr/>
          </p:nvSpPr>
          <p:spPr>
            <a:xfrm>
              <a:off x="1137250" y="3918138"/>
              <a:ext cx="245501" cy="239308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>
                  <a:solidFill>
                    <a:srgbClr val="FF0000"/>
                  </a:solidFill>
                  <a:latin typeface="Arial"/>
                </a:rPr>
                <a:t>A</a:t>
              </a:r>
            </a:p>
            <a:p>
              <a:endParaRPr lang="es-AR" sz="2400" b="1" i="1" strike="noStrike" spc="-1">
                <a:solidFill>
                  <a:srgbClr val="FF0000"/>
                </a:solidFill>
                <a:latin typeface="Arial"/>
              </a:endParaRP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3219644" y="3662535"/>
            <a:ext cx="1376640" cy="1224000"/>
            <a:chOff x="1800360" y="3852360"/>
            <a:chExt cx="1376640" cy="1224000"/>
          </a:xfrm>
        </p:grpSpPr>
        <p:sp>
          <p:nvSpPr>
            <p:cNvPr id="166" name="CustomShape 4"/>
            <p:cNvSpPr/>
            <p:nvPr/>
          </p:nvSpPr>
          <p:spPr>
            <a:xfrm>
              <a:off x="1800360" y="3852360"/>
              <a:ext cx="1080000" cy="1224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68" name="TextShape 6"/>
            <p:cNvSpPr txBox="1"/>
            <p:nvPr/>
          </p:nvSpPr>
          <p:spPr>
            <a:xfrm>
              <a:off x="2844000" y="3852360"/>
              <a:ext cx="333000" cy="60228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45000" rIns="90000" bIns="45000"/>
            <a:lstStyle/>
            <a:p>
              <a:r>
                <a:rPr lang="es-AR" sz="2200" b="1" i="1" strike="noStrike" spc="-1" dirty="0">
                  <a:solidFill>
                    <a:schemeClr val="tx2"/>
                  </a:solidFill>
                  <a:latin typeface="Arial"/>
                </a:rPr>
                <a:t>B</a:t>
              </a:r>
            </a:p>
            <a:p>
              <a:endParaRPr lang="es-AR" sz="2200" b="1" i="1" strike="noStrike" spc="-1" dirty="0">
                <a:solidFill>
                  <a:schemeClr val="tx2"/>
                </a:solidFill>
                <a:latin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Shape 10"/>
              <p:cNvSpPr txBox="1"/>
              <p:nvPr/>
            </p:nvSpPr>
            <p:spPr>
              <a:xfrm>
                <a:off x="1671566" y="3986503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2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566" y="3986503"/>
                <a:ext cx="732478" cy="5760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Shape 10"/>
              <p:cNvSpPr txBox="1"/>
              <p:nvPr/>
            </p:nvSpPr>
            <p:spPr>
              <a:xfrm>
                <a:off x="2045670" y="3535551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1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0" y="3535551"/>
                <a:ext cx="732478" cy="57606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Shape 10"/>
              <p:cNvSpPr txBox="1"/>
              <p:nvPr/>
            </p:nvSpPr>
            <p:spPr>
              <a:xfrm>
                <a:off x="1679431" y="4594949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2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431" y="4594949"/>
                <a:ext cx="732478" cy="5760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Shape 10"/>
              <p:cNvSpPr txBox="1"/>
              <p:nvPr/>
            </p:nvSpPr>
            <p:spPr>
              <a:xfrm>
                <a:off x="2045670" y="5077681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3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0" y="5077681"/>
                <a:ext cx="732478" cy="57606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4 Grupo"/>
          <p:cNvGrpSpPr/>
          <p:nvPr/>
        </p:nvGrpSpPr>
        <p:grpSpPr>
          <a:xfrm>
            <a:off x="3229302" y="3966085"/>
            <a:ext cx="1172438" cy="993811"/>
            <a:chOff x="3765981" y="4066253"/>
            <a:chExt cx="1172438" cy="993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Shape 10"/>
                <p:cNvSpPr txBox="1"/>
                <p:nvPr/>
              </p:nvSpPr>
              <p:spPr>
                <a:xfrm>
                  <a:off x="3765981" y="4069911"/>
                  <a:ext cx="732478" cy="5760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0000" tIns="45000" rIns="90000" bIns="45000"/>
                <a:lstStyle/>
                <a:p>
                  <a:r>
                    <a:rPr lang="es-AR" sz="2400" b="1" i="1" strike="noStrike" spc="-1" dirty="0">
                      <a:solidFill>
                        <a:schemeClr val="tx2"/>
                      </a:solidFill>
                      <a:latin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400" b="1" i="1" strike="noStrike" spc="-1" smtClean="0">
                          <a:solidFill>
                            <a:schemeClr val="tx2"/>
                          </a:solidFill>
                          <a:latin typeface="Cambria Math"/>
                        </a:rPr>
                        <m:t>𝟓</m:t>
                      </m:r>
                    </m:oMath>
                  </a14:m>
                  <a:endParaRPr lang="es-AR" sz="2400" b="1" i="1" strike="noStrike" spc="-1" dirty="0">
                    <a:solidFill>
                      <a:schemeClr val="tx2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0" name="TextShape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5981" y="4069911"/>
                  <a:ext cx="732478" cy="576064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Shape 10"/>
                <p:cNvSpPr txBox="1"/>
                <p:nvPr/>
              </p:nvSpPr>
              <p:spPr>
                <a:xfrm>
                  <a:off x="4205941" y="4066253"/>
                  <a:ext cx="732478" cy="5760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0000" tIns="45000" rIns="90000" bIns="45000"/>
                <a:lstStyle/>
                <a:p>
                  <a:r>
                    <a:rPr lang="es-AR" sz="2400" b="1" i="1" strike="noStrike" spc="-1" dirty="0">
                      <a:solidFill>
                        <a:schemeClr val="tx2"/>
                      </a:solidFill>
                      <a:latin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400" b="1" i="1" strike="noStrike" spc="-1" smtClean="0">
                          <a:solidFill>
                            <a:schemeClr val="tx2"/>
                          </a:solidFill>
                          <a:latin typeface="Cambria Math"/>
                        </a:rPr>
                        <m:t>𝟏𝟕</m:t>
                      </m:r>
                    </m:oMath>
                  </a14:m>
                  <a:endParaRPr lang="es-AR" sz="2400" b="1" i="1" strike="noStrike" spc="-1" dirty="0">
                    <a:solidFill>
                      <a:schemeClr val="tx2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4" name="TextShape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5941" y="4066253"/>
                  <a:ext cx="732478" cy="576064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Shape 10"/>
                <p:cNvSpPr txBox="1"/>
                <p:nvPr/>
              </p:nvSpPr>
              <p:spPr>
                <a:xfrm>
                  <a:off x="3839702" y="4484000"/>
                  <a:ext cx="732478" cy="5760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0000" tIns="45000" rIns="90000" bIns="45000"/>
                <a:lstStyle/>
                <a:p>
                  <a:r>
                    <a:rPr lang="es-AR" sz="2400" b="1" i="1" strike="noStrike" spc="-1" dirty="0">
                      <a:solidFill>
                        <a:schemeClr val="tx2"/>
                      </a:solidFill>
                      <a:latin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400" b="1" i="1" strike="noStrike" spc="-1" smtClean="0">
                          <a:solidFill>
                            <a:schemeClr val="tx2"/>
                          </a:solidFill>
                          <a:latin typeface="Cambria Math"/>
                        </a:rPr>
                        <m:t>𝟏𝟑</m:t>
                      </m:r>
                    </m:oMath>
                  </a14:m>
                  <a:endParaRPr lang="es-AR" sz="2400" b="1" i="1" strike="noStrike" spc="-1" dirty="0">
                    <a:solidFill>
                      <a:schemeClr val="tx2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5" name="TextShape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9702" y="4484000"/>
                  <a:ext cx="732478" cy="576064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Shape 10"/>
              <p:cNvSpPr txBox="1"/>
              <p:nvPr/>
            </p:nvSpPr>
            <p:spPr>
              <a:xfrm>
                <a:off x="2699792" y="5218381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6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218381"/>
                <a:ext cx="732478" cy="57606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Rectángulo"/>
              <p:cNvSpPr/>
              <p:nvPr/>
            </p:nvSpPr>
            <p:spPr>
              <a:xfrm>
                <a:off x="5652120" y="3300451"/>
                <a:ext cx="3055324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AR" sz="3600" i="1" spc="-1" dirty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se dice que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𝐵</m:t>
                      </m:r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 ⊂ </m:t>
                      </m:r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𝐴</m:t>
                      </m:r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lang="es-AR" sz="3600" i="1" spc="-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  <a:p>
                <a:r>
                  <a:rPr lang="es-AR" sz="3600" i="1" spc="-1" dirty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(está incluido)</a:t>
                </a:r>
                <a:endParaRPr lang="es-AR" sz="3600" i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3300451"/>
                <a:ext cx="3055324" cy="1754326"/>
              </a:xfrm>
              <a:prstGeom prst="rect">
                <a:avLst/>
              </a:prstGeom>
              <a:blipFill rotWithShape="1">
                <a:blip r:embed="rId12"/>
                <a:stretch>
                  <a:fillRect l="-5988" t="-5208" r="-5788" b="-121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37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  <p:bldP spid="172" grpId="0"/>
      <p:bldP spid="21" grpId="0"/>
      <p:bldP spid="22" grpId="0"/>
      <p:bldP spid="23" grpId="0"/>
      <p:bldP spid="26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2"/>
          <p:cNvSpPr txBox="1"/>
          <p:nvPr/>
        </p:nvSpPr>
        <p:spPr>
          <a:xfrm>
            <a:off x="239141" y="1340768"/>
            <a:ext cx="8229240" cy="789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</a:rPr>
              <a:t>Diagrama de Venn</a:t>
            </a:r>
          </a:p>
        </p:txBody>
      </p:sp>
      <p:pic>
        <p:nvPicPr>
          <p:cNvPr id="164" name="6 Imagen"/>
          <p:cNvPicPr/>
          <p:nvPr/>
        </p:nvPicPr>
        <p:blipFill>
          <a:blip r:embed="rId2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Shape 7"/>
              <p:cNvSpPr txBox="1"/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0" strike="noStrike" spc="-1" dirty="0">
                    <a:latin typeface="Arial"/>
                  </a:rPr>
                  <a:t>Sean los conjuntos: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𝐴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</m:t>
                      </m:r>
                      <m:r>
                        <a:rPr lang="es-AR" sz="2800" b="1" i="1" strike="noStrike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,4,5}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𝐵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</m:t>
                      </m:r>
                      <m:r>
                        <a:rPr lang="es-AR" sz="2800" b="1" i="1" strike="noStrike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,7,</m:t>
                      </m:r>
                      <m:r>
                        <a:rPr lang="es-AR" sz="2800" b="0" i="1" strike="noStrike" spc="-1" dirty="0">
                          <a:solidFill>
                            <a:schemeClr val="tx2"/>
                          </a:solidFill>
                          <a:latin typeface="Cambria Math"/>
                        </a:rPr>
                        <m:t>10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,11}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𝐶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</m:t>
                      </m:r>
                      <m:r>
                        <a:rPr lang="es-AR" sz="2800" b="1" i="1" strike="noStrike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,6,8,9,</m:t>
                      </m:r>
                      <m:r>
                        <a:rPr lang="es-AR" sz="2800" b="0" i="1" strike="noStrike" spc="-1" dirty="0">
                          <a:solidFill>
                            <a:schemeClr val="tx2"/>
                          </a:solidFill>
                          <a:latin typeface="Cambria Math"/>
                        </a:rPr>
                        <m:t>10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endParaRPr lang="es-AR" sz="1800" b="0" strike="noStrike" spc="-1" dirty="0">
                  <a:latin typeface="Arial"/>
                </a:endParaRPr>
              </a:p>
            </p:txBody>
          </p:sp>
        </mc:Choice>
        <mc:Fallback xmlns="">
          <p:sp>
            <p:nvSpPr>
              <p:cNvPr id="169" name="TextShap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blipFill rotWithShape="1">
                <a:blip r:embed="rId3"/>
                <a:stretch>
                  <a:fillRect l="-1642" t="-1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4 Grupo"/>
          <p:cNvGrpSpPr/>
          <p:nvPr/>
        </p:nvGrpSpPr>
        <p:grpSpPr>
          <a:xfrm>
            <a:off x="584051" y="3646246"/>
            <a:ext cx="3267869" cy="2737632"/>
            <a:chOff x="584051" y="3646246"/>
            <a:chExt cx="3267869" cy="2737632"/>
          </a:xfrm>
        </p:grpSpPr>
        <p:sp>
          <p:nvSpPr>
            <p:cNvPr id="166" name="CustomShape 4"/>
            <p:cNvSpPr/>
            <p:nvPr/>
          </p:nvSpPr>
          <p:spPr>
            <a:xfrm>
              <a:off x="971600" y="3646246"/>
              <a:ext cx="2880320" cy="273763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TextShape 9"/>
            <p:cNvSpPr txBox="1"/>
            <p:nvPr/>
          </p:nvSpPr>
          <p:spPr>
            <a:xfrm>
              <a:off x="584051" y="5301208"/>
              <a:ext cx="34524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C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4" name="TextShape 12"/>
            <p:cNvSpPr txBox="1"/>
            <p:nvPr/>
          </p:nvSpPr>
          <p:spPr>
            <a:xfrm>
              <a:off x="2030345" y="5340060"/>
              <a:ext cx="1187280" cy="825244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6</a:t>
              </a:r>
            </a:p>
            <a:p>
              <a:r>
                <a:rPr lang="es-AR" sz="2800" b="1" strike="noStrike" spc="-1" dirty="0">
                  <a:latin typeface="Arial"/>
                </a:rPr>
                <a:t>  8    9</a:t>
              </a: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2122735" y="2294340"/>
            <a:ext cx="2496859" cy="2834938"/>
            <a:chOff x="2122735" y="2294340"/>
            <a:chExt cx="2496859" cy="2834938"/>
          </a:xfrm>
        </p:grpSpPr>
        <p:sp>
          <p:nvSpPr>
            <p:cNvPr id="165" name="CustomShape 3"/>
            <p:cNvSpPr/>
            <p:nvPr/>
          </p:nvSpPr>
          <p:spPr>
            <a:xfrm>
              <a:off x="2122735" y="2433298"/>
              <a:ext cx="2496859" cy="269598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8" name="TextShape 6"/>
            <p:cNvSpPr txBox="1"/>
            <p:nvPr/>
          </p:nvSpPr>
          <p:spPr>
            <a:xfrm>
              <a:off x="4085855" y="2294340"/>
              <a:ext cx="33300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B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3" name="TextShape 11"/>
            <p:cNvSpPr txBox="1"/>
            <p:nvPr/>
          </p:nvSpPr>
          <p:spPr>
            <a:xfrm>
              <a:off x="3496715" y="3017880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7</a:t>
              </a:r>
            </a:p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11</a:t>
              </a:r>
            </a:p>
            <a:p>
              <a:r>
                <a:rPr lang="es-AR" sz="2800" b="1" strike="noStrike" spc="-1" dirty="0">
                  <a:latin typeface="Arial"/>
                </a:rPr>
                <a:t>  </a:t>
              </a:r>
            </a:p>
          </p:txBody>
        </p:sp>
        <p:sp>
          <p:nvSpPr>
            <p:cNvPr id="175" name="TextShape 13"/>
            <p:cNvSpPr txBox="1"/>
            <p:nvPr/>
          </p:nvSpPr>
          <p:spPr>
            <a:xfrm>
              <a:off x="2938534" y="4545809"/>
              <a:ext cx="769369" cy="438649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chemeClr val="tx2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3" name="2 Grupo"/>
          <p:cNvGrpSpPr/>
          <p:nvPr/>
        </p:nvGrpSpPr>
        <p:grpSpPr>
          <a:xfrm>
            <a:off x="584051" y="2294340"/>
            <a:ext cx="2652472" cy="2695980"/>
            <a:chOff x="584051" y="2294340"/>
            <a:chExt cx="2652472" cy="2695980"/>
          </a:xfrm>
        </p:grpSpPr>
        <p:grpSp>
          <p:nvGrpSpPr>
            <p:cNvPr id="2" name="1 Grupo"/>
            <p:cNvGrpSpPr/>
            <p:nvPr/>
          </p:nvGrpSpPr>
          <p:grpSpPr>
            <a:xfrm>
              <a:off x="584051" y="2294340"/>
              <a:ext cx="2652472" cy="2695980"/>
              <a:chOff x="565153" y="2294340"/>
              <a:chExt cx="2652472" cy="2695980"/>
            </a:xfrm>
          </p:grpSpPr>
          <p:sp>
            <p:nvSpPr>
              <p:cNvPr id="167" name="TextShape 5"/>
              <p:cNvSpPr txBox="1"/>
              <p:nvPr/>
            </p:nvSpPr>
            <p:spPr>
              <a:xfrm>
                <a:off x="584051" y="2294340"/>
                <a:ext cx="333000" cy="602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strike="noStrike" spc="-1" dirty="0">
                    <a:solidFill>
                      <a:schemeClr val="tx2"/>
                    </a:solidFill>
                    <a:latin typeface="Arial"/>
                  </a:rPr>
                  <a:t>A</a:t>
                </a:r>
              </a:p>
              <a:p>
                <a:endParaRPr lang="es-AR" sz="2400" b="1" strike="noStrike" spc="-1" dirty="0">
                  <a:solidFill>
                    <a:schemeClr val="tx2"/>
                  </a:solidFill>
                  <a:latin typeface="Arial"/>
                </a:endParaRPr>
              </a:p>
            </p:txBody>
          </p:sp>
          <p:sp>
            <p:nvSpPr>
              <p:cNvPr id="170" name="CustomShape 8"/>
              <p:cNvSpPr/>
              <p:nvPr/>
            </p:nvSpPr>
            <p:spPr>
              <a:xfrm>
                <a:off x="565153" y="2294340"/>
                <a:ext cx="2652472" cy="2695980"/>
              </a:xfrm>
              <a:prstGeom prst="ellipse">
                <a:avLst/>
              </a:prstGeom>
              <a:noFill/>
              <a:ln w="28575">
                <a:solidFill>
                  <a:srgbClr val="3465A4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72" name="TextShape 10"/>
            <p:cNvSpPr txBox="1"/>
            <p:nvPr/>
          </p:nvSpPr>
          <p:spPr>
            <a:xfrm>
              <a:off x="982523" y="2723582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4</a:t>
              </a:r>
            </a:p>
            <a:p>
              <a:r>
                <a:rPr lang="es-AR" sz="2800" b="1" strike="noStrike" spc="-1" dirty="0">
                  <a:latin typeface="Arial"/>
                </a:rPr>
                <a:t>5</a:t>
              </a:r>
            </a:p>
          </p:txBody>
        </p:sp>
        <p:sp>
          <p:nvSpPr>
            <p:cNvPr id="176" name="TextShape 14"/>
            <p:cNvSpPr txBox="1"/>
            <p:nvPr/>
          </p:nvSpPr>
          <p:spPr>
            <a:xfrm>
              <a:off x="1675620" y="4424902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>
                  <a:solidFill>
                    <a:srgbClr val="00A65D"/>
                  </a:solidFill>
                  <a:latin typeface="Arial"/>
                </a:rPr>
                <a:t>2</a:t>
              </a:r>
              <a:endParaRPr lang="es-AR" sz="2800" b="1" strike="noStrike" spc="-1">
                <a:latin typeface="Arial"/>
              </a:endParaRPr>
            </a:p>
          </p:txBody>
        </p:sp>
        <p:sp>
          <p:nvSpPr>
            <p:cNvPr id="177" name="TextShape 15"/>
            <p:cNvSpPr txBox="1"/>
            <p:nvPr/>
          </p:nvSpPr>
          <p:spPr>
            <a:xfrm>
              <a:off x="2432977" y="3114957"/>
              <a:ext cx="307080" cy="381781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00B0F0"/>
                  </a:solidFill>
                  <a:latin typeface="Arial"/>
                </a:rPr>
                <a:t>3</a:t>
              </a:r>
            </a:p>
          </p:txBody>
        </p:sp>
        <p:sp>
          <p:nvSpPr>
            <p:cNvPr id="178" name="TextShape 16"/>
            <p:cNvSpPr txBox="1"/>
            <p:nvPr/>
          </p:nvSpPr>
          <p:spPr>
            <a:xfrm>
              <a:off x="2551214" y="3878519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FF0000"/>
                  </a:solidFill>
                  <a:latin typeface="Arial"/>
                </a:rPr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7020272" y="4027130"/>
                <a:ext cx="129907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= {</m:t>
                      </m:r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s-AR" sz="30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4027130"/>
                <a:ext cx="1299074" cy="5539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Rectángulo"/>
          <p:cNvSpPr/>
          <p:nvPr/>
        </p:nvSpPr>
        <p:spPr>
          <a:xfrm>
            <a:off x="4442070" y="526612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b="1" i="1" spc="-1" dirty="0">
                <a:solidFill>
                  <a:schemeClr val="tx2"/>
                </a:solidFill>
                <a:latin typeface="Arial"/>
              </a:rPr>
              <a:t>¿Cómo es la unión entre A, B y 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4955009" y="4057908"/>
                <a:ext cx="14030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𝑩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009" y="4057908"/>
                <a:ext cx="1403013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6179145" y="4028207"/>
                <a:ext cx="9131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28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145" y="4028207"/>
                <a:ext cx="913135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36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2"/>
          <p:cNvSpPr txBox="1"/>
          <p:nvPr/>
        </p:nvSpPr>
        <p:spPr>
          <a:xfrm>
            <a:off x="239141" y="1340768"/>
            <a:ext cx="8229240" cy="789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</a:rPr>
              <a:t>Diagrama de Venn</a:t>
            </a:r>
          </a:p>
        </p:txBody>
      </p:sp>
      <p:pic>
        <p:nvPicPr>
          <p:cNvPr id="164" name="6 Imagen"/>
          <p:cNvPicPr/>
          <p:nvPr/>
        </p:nvPicPr>
        <p:blipFill>
          <a:blip r:embed="rId2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Shape 7"/>
              <p:cNvSpPr txBox="1"/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0" strike="noStrike" spc="-1" dirty="0">
                    <a:latin typeface="Arial"/>
                  </a:rPr>
                  <a:t>Sean los conjuntos: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𝐴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{2,3,4,5}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𝐵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{3,7,10,11}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𝐶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{2,6,8,9,10}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endParaRPr lang="es-AR" sz="1800" b="0" strike="noStrike" spc="-1" dirty="0">
                  <a:latin typeface="Arial"/>
                </a:endParaRPr>
              </a:p>
            </p:txBody>
          </p:sp>
        </mc:Choice>
        <mc:Fallback xmlns="">
          <p:sp>
            <p:nvSpPr>
              <p:cNvPr id="169" name="TextShap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blipFill>
                <a:blip r:embed="rId3"/>
                <a:stretch>
                  <a:fillRect l="-1515" t="-13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4 Grupo"/>
          <p:cNvGrpSpPr/>
          <p:nvPr/>
        </p:nvGrpSpPr>
        <p:grpSpPr>
          <a:xfrm>
            <a:off x="584051" y="3646246"/>
            <a:ext cx="3267869" cy="2737632"/>
            <a:chOff x="584051" y="3646246"/>
            <a:chExt cx="3267869" cy="2737632"/>
          </a:xfrm>
        </p:grpSpPr>
        <p:sp>
          <p:nvSpPr>
            <p:cNvPr id="166" name="CustomShape 4"/>
            <p:cNvSpPr/>
            <p:nvPr/>
          </p:nvSpPr>
          <p:spPr>
            <a:xfrm>
              <a:off x="971600" y="3646246"/>
              <a:ext cx="2880320" cy="273763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TextShape 9"/>
            <p:cNvSpPr txBox="1"/>
            <p:nvPr/>
          </p:nvSpPr>
          <p:spPr>
            <a:xfrm>
              <a:off x="584051" y="5301208"/>
              <a:ext cx="34524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C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4" name="TextShape 12"/>
            <p:cNvSpPr txBox="1"/>
            <p:nvPr/>
          </p:nvSpPr>
          <p:spPr>
            <a:xfrm>
              <a:off x="2030345" y="5340060"/>
              <a:ext cx="1187280" cy="825244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6</a:t>
              </a:r>
            </a:p>
            <a:p>
              <a:r>
                <a:rPr lang="es-AR" sz="2800" b="1" strike="noStrike" spc="-1" dirty="0">
                  <a:latin typeface="Arial"/>
                </a:rPr>
                <a:t>  8    9</a:t>
              </a: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2122735" y="2294340"/>
            <a:ext cx="2496859" cy="2834938"/>
            <a:chOff x="2122735" y="2294340"/>
            <a:chExt cx="2496859" cy="2834938"/>
          </a:xfrm>
        </p:grpSpPr>
        <p:sp>
          <p:nvSpPr>
            <p:cNvPr id="165" name="CustomShape 3"/>
            <p:cNvSpPr/>
            <p:nvPr/>
          </p:nvSpPr>
          <p:spPr>
            <a:xfrm>
              <a:off x="2122735" y="2433298"/>
              <a:ext cx="2496859" cy="269598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8" name="TextShape 6"/>
            <p:cNvSpPr txBox="1"/>
            <p:nvPr/>
          </p:nvSpPr>
          <p:spPr>
            <a:xfrm>
              <a:off x="4085855" y="2294340"/>
              <a:ext cx="33300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B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3" name="TextShape 11"/>
            <p:cNvSpPr txBox="1"/>
            <p:nvPr/>
          </p:nvSpPr>
          <p:spPr>
            <a:xfrm>
              <a:off x="3496715" y="3017880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7</a:t>
              </a:r>
            </a:p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11</a:t>
              </a:r>
            </a:p>
            <a:p>
              <a:r>
                <a:rPr lang="es-AR" sz="2800" b="1" strike="noStrike" spc="-1" dirty="0">
                  <a:latin typeface="Arial"/>
                </a:rPr>
                <a:t>  </a:t>
              </a:r>
            </a:p>
          </p:txBody>
        </p:sp>
        <p:sp>
          <p:nvSpPr>
            <p:cNvPr id="175" name="TextShape 13"/>
            <p:cNvSpPr txBox="1"/>
            <p:nvPr/>
          </p:nvSpPr>
          <p:spPr>
            <a:xfrm>
              <a:off x="2938534" y="4545809"/>
              <a:ext cx="769369" cy="438649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chemeClr val="tx2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3" name="2 Grupo"/>
          <p:cNvGrpSpPr/>
          <p:nvPr/>
        </p:nvGrpSpPr>
        <p:grpSpPr>
          <a:xfrm>
            <a:off x="584051" y="2294340"/>
            <a:ext cx="2652472" cy="2695980"/>
            <a:chOff x="584051" y="2294340"/>
            <a:chExt cx="2652472" cy="2695980"/>
          </a:xfrm>
        </p:grpSpPr>
        <p:grpSp>
          <p:nvGrpSpPr>
            <p:cNvPr id="2" name="1 Grupo"/>
            <p:cNvGrpSpPr/>
            <p:nvPr/>
          </p:nvGrpSpPr>
          <p:grpSpPr>
            <a:xfrm>
              <a:off x="584051" y="2294340"/>
              <a:ext cx="2652472" cy="2695980"/>
              <a:chOff x="565153" y="2294340"/>
              <a:chExt cx="2652472" cy="2695980"/>
            </a:xfrm>
          </p:grpSpPr>
          <p:sp>
            <p:nvSpPr>
              <p:cNvPr id="167" name="TextShape 5"/>
              <p:cNvSpPr txBox="1"/>
              <p:nvPr/>
            </p:nvSpPr>
            <p:spPr>
              <a:xfrm>
                <a:off x="584051" y="2294340"/>
                <a:ext cx="333000" cy="602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strike="noStrike" spc="-1" dirty="0">
                    <a:solidFill>
                      <a:schemeClr val="tx2"/>
                    </a:solidFill>
                    <a:latin typeface="Arial"/>
                  </a:rPr>
                  <a:t>A</a:t>
                </a:r>
              </a:p>
              <a:p>
                <a:endParaRPr lang="es-AR" sz="2400" b="1" strike="noStrike" spc="-1" dirty="0">
                  <a:solidFill>
                    <a:schemeClr val="tx2"/>
                  </a:solidFill>
                  <a:latin typeface="Arial"/>
                </a:endParaRPr>
              </a:p>
            </p:txBody>
          </p:sp>
          <p:sp>
            <p:nvSpPr>
              <p:cNvPr id="170" name="CustomShape 8"/>
              <p:cNvSpPr/>
              <p:nvPr/>
            </p:nvSpPr>
            <p:spPr>
              <a:xfrm>
                <a:off x="565153" y="2294340"/>
                <a:ext cx="2652472" cy="2695980"/>
              </a:xfrm>
              <a:prstGeom prst="ellipse">
                <a:avLst/>
              </a:prstGeom>
              <a:noFill/>
              <a:ln w="28575">
                <a:solidFill>
                  <a:srgbClr val="3465A4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72" name="TextShape 10"/>
            <p:cNvSpPr txBox="1"/>
            <p:nvPr/>
          </p:nvSpPr>
          <p:spPr>
            <a:xfrm>
              <a:off x="982523" y="2723582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4</a:t>
              </a:r>
            </a:p>
            <a:p>
              <a:r>
                <a:rPr lang="es-AR" sz="2800" b="1" strike="noStrike" spc="-1" dirty="0">
                  <a:latin typeface="Arial"/>
                </a:rPr>
                <a:t>5</a:t>
              </a:r>
            </a:p>
          </p:txBody>
        </p:sp>
        <p:sp>
          <p:nvSpPr>
            <p:cNvPr id="176" name="TextShape 14"/>
            <p:cNvSpPr txBox="1"/>
            <p:nvPr/>
          </p:nvSpPr>
          <p:spPr>
            <a:xfrm>
              <a:off x="1675620" y="4424902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>
                  <a:solidFill>
                    <a:srgbClr val="00A65D"/>
                  </a:solidFill>
                  <a:latin typeface="Arial"/>
                </a:rPr>
                <a:t>2</a:t>
              </a:r>
              <a:endParaRPr lang="es-AR" sz="2800" b="1" strike="noStrike" spc="-1">
                <a:latin typeface="Arial"/>
              </a:endParaRPr>
            </a:p>
          </p:txBody>
        </p:sp>
        <p:sp>
          <p:nvSpPr>
            <p:cNvPr id="177" name="TextShape 15"/>
            <p:cNvSpPr txBox="1"/>
            <p:nvPr/>
          </p:nvSpPr>
          <p:spPr>
            <a:xfrm>
              <a:off x="2432977" y="3114957"/>
              <a:ext cx="307080" cy="381781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00B0F0"/>
                  </a:solidFill>
                  <a:latin typeface="Arial"/>
                </a:rPr>
                <a:t>3</a:t>
              </a:r>
            </a:p>
          </p:txBody>
        </p:sp>
        <p:sp>
          <p:nvSpPr>
            <p:cNvPr id="178" name="TextShape 16"/>
            <p:cNvSpPr txBox="1"/>
            <p:nvPr/>
          </p:nvSpPr>
          <p:spPr>
            <a:xfrm>
              <a:off x="2340624" y="3859708"/>
              <a:ext cx="666411" cy="528332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FF0000"/>
                  </a:solidFill>
                  <a:latin typeface="Arial"/>
                </a:rPr>
                <a:t>??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7343535" y="4274210"/>
                <a:ext cx="1068369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= {}</m:t>
                      </m:r>
                    </m:oMath>
                  </m:oMathPara>
                </a14:m>
                <a:endParaRPr lang="es-AR" sz="30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535" y="4274210"/>
                <a:ext cx="1068369" cy="553998"/>
              </a:xfrm>
              <a:prstGeom prst="rect">
                <a:avLst/>
              </a:prstGeom>
              <a:blipFill>
                <a:blip r:embed="rId4"/>
                <a:stretch>
                  <a:fillRect r="-235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Rectángulo"/>
          <p:cNvSpPr/>
          <p:nvPr/>
        </p:nvSpPr>
        <p:spPr>
          <a:xfrm>
            <a:off x="4810108" y="378948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b="1" i="1" spc="-1" dirty="0">
                <a:solidFill>
                  <a:schemeClr val="tx2"/>
                </a:solidFill>
                <a:latin typeface="Arial"/>
              </a:rPr>
              <a:t>¿Cómo es la unión entre A, B y 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5278272" y="4304988"/>
                <a:ext cx="14030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𝑩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72" y="4304988"/>
                <a:ext cx="1403013" cy="523220"/>
              </a:xfrm>
              <a:prstGeom prst="rect">
                <a:avLst/>
              </a:prstGeom>
              <a:blipFill>
                <a:blip r:embed="rId5"/>
                <a:stretch>
                  <a:fillRect r="-2703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6502408" y="4275287"/>
                <a:ext cx="9131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28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8" y="4275287"/>
                <a:ext cx="913135" cy="523220"/>
              </a:xfrm>
              <a:prstGeom prst="rect">
                <a:avLst/>
              </a:prstGeom>
              <a:blipFill>
                <a:blip r:embed="rId6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F095E0-0766-834E-A0FB-3BB70D2D61D0}"/>
                  </a:ext>
                </a:extLst>
              </p:cNvPr>
              <p:cNvSpPr txBox="1"/>
              <p:nvPr/>
            </p:nvSpPr>
            <p:spPr>
              <a:xfrm>
                <a:off x="4910665" y="4931876"/>
                <a:ext cx="3692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Alternativamente</a:t>
                </a:r>
                <a:r>
                  <a:rPr lang="en-US" dirty="0"/>
                  <a:t> </a:t>
                </a:r>
                <a:r>
                  <a:rPr lang="en-US" dirty="0" err="1"/>
                  <a:t>podemos</a:t>
                </a:r>
                <a:r>
                  <a:rPr lang="en-US" dirty="0"/>
                  <a:t> </a:t>
                </a:r>
                <a:r>
                  <a:rPr lang="en-US" dirty="0" err="1"/>
                  <a:t>escribir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F095E0-0766-834E-A0FB-3BB70D2D6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665" y="4931876"/>
                <a:ext cx="3692229" cy="369332"/>
              </a:xfrm>
              <a:prstGeom prst="rect">
                <a:avLst/>
              </a:prstGeom>
              <a:blipFill>
                <a:blip r:embed="rId7"/>
                <a:stretch>
                  <a:fillRect l="-1375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6 Rectángulo">
                <a:extLst>
                  <a:ext uri="{FF2B5EF4-FFF2-40B4-BE49-F238E27FC236}">
                    <a16:creationId xmlns:a16="http://schemas.microsoft.com/office/drawing/2014/main" id="{956BE45E-6236-EB47-93F8-AE9A304DD7A7}"/>
                  </a:ext>
                </a:extLst>
              </p:cNvPr>
              <p:cNvSpPr/>
              <p:nvPr/>
            </p:nvSpPr>
            <p:spPr>
              <a:xfrm>
                <a:off x="7323820" y="5373216"/>
                <a:ext cx="101239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pc="-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 </m:t>
                      </m:r>
                      <m:r>
                        <a:rPr lang="en-US" sz="3000" b="1" i="1" spc="-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s-AR" sz="30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7" name="6 Rectángulo">
                <a:extLst>
                  <a:ext uri="{FF2B5EF4-FFF2-40B4-BE49-F238E27FC236}">
                    <a16:creationId xmlns:a16="http://schemas.microsoft.com/office/drawing/2014/main" id="{956BE45E-6236-EB47-93F8-AE9A304DD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820" y="5373216"/>
                <a:ext cx="1012393" cy="553998"/>
              </a:xfrm>
              <a:prstGeom prst="rect">
                <a:avLst/>
              </a:prstGeom>
              <a:blipFill>
                <a:blip r:embed="rId8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8 Rectángulo">
                <a:extLst>
                  <a:ext uri="{FF2B5EF4-FFF2-40B4-BE49-F238E27FC236}">
                    <a16:creationId xmlns:a16="http://schemas.microsoft.com/office/drawing/2014/main" id="{CBCB5A1A-3E75-2C40-831A-73CA8CA17A59}"/>
                  </a:ext>
                </a:extLst>
              </p:cNvPr>
              <p:cNvSpPr/>
              <p:nvPr/>
            </p:nvSpPr>
            <p:spPr>
              <a:xfrm>
                <a:off x="5258557" y="5403994"/>
                <a:ext cx="14030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𝑩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28" name="8 Rectángulo">
                <a:extLst>
                  <a:ext uri="{FF2B5EF4-FFF2-40B4-BE49-F238E27FC236}">
                    <a16:creationId xmlns:a16="http://schemas.microsoft.com/office/drawing/2014/main" id="{CBCB5A1A-3E75-2C40-831A-73CA8CA17A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557" y="5403994"/>
                <a:ext cx="1403013" cy="523220"/>
              </a:xfrm>
              <a:prstGeom prst="rect">
                <a:avLst/>
              </a:prstGeom>
              <a:blipFill>
                <a:blip r:embed="rId9"/>
                <a:stretch>
                  <a:fillRect r="-2679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9 Rectángulo">
                <a:extLst>
                  <a:ext uri="{FF2B5EF4-FFF2-40B4-BE49-F238E27FC236}">
                    <a16:creationId xmlns:a16="http://schemas.microsoft.com/office/drawing/2014/main" id="{CF2C5E58-5312-844C-9771-5ADA1F667A9A}"/>
                  </a:ext>
                </a:extLst>
              </p:cNvPr>
              <p:cNvSpPr/>
              <p:nvPr/>
            </p:nvSpPr>
            <p:spPr>
              <a:xfrm>
                <a:off x="6482693" y="5374293"/>
                <a:ext cx="9131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28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9" name="9 Rectángulo">
                <a:extLst>
                  <a:ext uri="{FF2B5EF4-FFF2-40B4-BE49-F238E27FC236}">
                    <a16:creationId xmlns:a16="http://schemas.microsoft.com/office/drawing/2014/main" id="{CF2C5E58-5312-844C-9771-5ADA1F667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693" y="5374293"/>
                <a:ext cx="913135" cy="523220"/>
              </a:xfrm>
              <a:prstGeom prst="rect">
                <a:avLst/>
              </a:prstGeom>
              <a:blipFill>
                <a:blip r:embed="rId10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61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7" grpId="0"/>
      <p:bldP spid="8" grpId="0"/>
      <p:bldP spid="9" grpId="0"/>
      <p:bldP spid="10" grpId="0"/>
      <p:bldP spid="27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071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los números Naturales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b="1" i="1">
                            <a:latin typeface="Cambria Math"/>
                          </a:rPr>
                          <m:t>ℕ</m:t>
                        </m:r>
                      </m:e>
                      <m:sub>
                        <m:r>
                          <a:rPr lang="es-AR" sz="2400" b="1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AR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07135"/>
              </a:xfrm>
              <a:prstGeom prst="rect">
                <a:avLst/>
              </a:prstGeom>
              <a:blipFill rotWithShape="1">
                <a:blip r:embed="rId3"/>
                <a:stretch>
                  <a:fillRect l="-559" t="-3012" b="-72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CuadroTexto"/>
              <p:cNvSpPr txBox="1"/>
              <p:nvPr/>
            </p:nvSpPr>
            <p:spPr>
              <a:xfrm>
                <a:off x="2817015" y="3579310"/>
                <a:ext cx="6019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015" y="3579310"/>
                <a:ext cx="601994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44 CuadroTexto"/>
              <p:cNvSpPr txBox="1"/>
              <p:nvPr/>
            </p:nvSpPr>
            <p:spPr>
              <a:xfrm>
                <a:off x="2797442" y="4478404"/>
                <a:ext cx="6019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5" name="4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442" y="4478404"/>
                <a:ext cx="601994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46 CuadroTexto"/>
              <p:cNvSpPr txBox="1"/>
              <p:nvPr/>
            </p:nvSpPr>
            <p:spPr>
              <a:xfrm>
                <a:off x="1864228" y="3819716"/>
                <a:ext cx="6019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7" name="4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228" y="3819716"/>
                <a:ext cx="601994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47 CuadroTexto"/>
              <p:cNvSpPr txBox="1"/>
              <p:nvPr/>
            </p:nvSpPr>
            <p:spPr>
              <a:xfrm>
                <a:off x="2333395" y="2954868"/>
                <a:ext cx="6019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4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395" y="2954868"/>
                <a:ext cx="601994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48 CuadroTexto"/>
              <p:cNvSpPr txBox="1"/>
              <p:nvPr/>
            </p:nvSpPr>
            <p:spPr>
              <a:xfrm>
                <a:off x="1890414" y="4808673"/>
                <a:ext cx="6019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9" name="4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414" y="4808673"/>
                <a:ext cx="601994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49 CuadroTexto"/>
              <p:cNvSpPr txBox="1"/>
              <p:nvPr/>
            </p:nvSpPr>
            <p:spPr>
              <a:xfrm>
                <a:off x="2433720" y="5054860"/>
                <a:ext cx="13294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………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0" name="4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720" y="5054860"/>
                <a:ext cx="1329438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1 Grupo"/>
          <p:cNvGrpSpPr/>
          <p:nvPr/>
        </p:nvGrpSpPr>
        <p:grpSpPr>
          <a:xfrm>
            <a:off x="1594868" y="2493203"/>
            <a:ext cx="2257052" cy="3672101"/>
            <a:chOff x="1594868" y="2493203"/>
            <a:chExt cx="2257052" cy="3672101"/>
          </a:xfrm>
          <a:noFill/>
        </p:grpSpPr>
        <p:sp>
          <p:nvSpPr>
            <p:cNvPr id="3" name="2 Elipse"/>
            <p:cNvSpPr/>
            <p:nvPr/>
          </p:nvSpPr>
          <p:spPr>
            <a:xfrm>
              <a:off x="1691680" y="2780928"/>
              <a:ext cx="2160240" cy="3384376"/>
            </a:xfrm>
            <a:prstGeom prst="ellipse">
              <a:avLst/>
            </a:prstGeom>
            <a:grpFill/>
            <a:ln w="57150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50 CuadroTexto"/>
                <p:cNvSpPr txBox="1"/>
                <p:nvPr/>
              </p:nvSpPr>
              <p:spPr>
                <a:xfrm>
                  <a:off x="1594868" y="2493203"/>
                  <a:ext cx="601994" cy="461665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4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ℕ</m:t>
                            </m:r>
                          </m:e>
                          <m:sub>
                            <m:r>
                              <a:rPr lang="es-AR" sz="24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s-AR" sz="24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5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868" y="2493203"/>
                  <a:ext cx="601994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5220072" y="3124145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𝑳𝒆𝒚</m:t>
                      </m:r>
                      <m:r>
                        <a:rPr lang="es-AR" sz="3200" b="1" i="1" smtClean="0"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latin typeface="Cambria Math"/>
                        </a:rPr>
                        <m:t>𝒅𝒆</m:t>
                      </m:r>
                      <m:r>
                        <a:rPr lang="es-AR" sz="3200" b="1" i="1" smtClean="0"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latin typeface="Cambria Math"/>
                        </a:rPr>
                        <m:t>𝑪𝒊𝒆𝒓𝒓𝒆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124145"/>
                <a:ext cx="3298483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51 Rectángulo"/>
              <p:cNvSpPr/>
              <p:nvPr/>
            </p:nvSpPr>
            <p:spPr>
              <a:xfrm>
                <a:off x="5215736" y="3973145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𝑰𝒏𝒇𝒊𝒏𝒊𝒕𝒐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𝒄𝒐𝒏𝒕𝒂𝒃𝒍𝒆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52" name="5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736" y="3973145"/>
                <a:ext cx="3298483" cy="584775"/>
              </a:xfrm>
              <a:prstGeom prst="rect">
                <a:avLst/>
              </a:prstGeom>
              <a:blipFill>
                <a:blip r:embed="rId12"/>
                <a:stretch>
                  <a:fillRect l="-2692" r="-23846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52 Rectángulo"/>
              <p:cNvSpPr/>
              <p:nvPr/>
            </p:nvSpPr>
            <p:spPr>
              <a:xfrm>
                <a:off x="5215735" y="4826481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𝑫𝒊𝒔𝒄𝒓𝒆𝒕𝒐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53" name="5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735" y="4826481"/>
                <a:ext cx="3298483" cy="58477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53 CuadroTexto"/>
              <p:cNvSpPr txBox="1"/>
              <p:nvPr/>
            </p:nvSpPr>
            <p:spPr>
              <a:xfrm>
                <a:off x="2500922" y="5516525"/>
                <a:ext cx="7749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dirty="0" smtClean="0">
                          <a:solidFill>
                            <a:schemeClr val="tx2"/>
                          </a:solidFill>
                          <a:latin typeface="Cambria Math"/>
                          <a:ea typeface="Cambria Math"/>
                        </a:rPr>
                        <m:t>+∞</m:t>
                      </m:r>
                    </m:oMath>
                  </m:oMathPara>
                </a14:m>
                <a:endParaRPr lang="es-AR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4" name="5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922" y="5516525"/>
                <a:ext cx="774934" cy="46166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82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5" grpId="0"/>
      <p:bldP spid="47" grpId="0"/>
      <p:bldP spid="48" grpId="0"/>
      <p:bldP spid="49" grpId="0"/>
      <p:bldP spid="50" grpId="0"/>
      <p:bldP spid="10" grpId="0"/>
      <p:bldP spid="52" grpId="0"/>
      <p:bldP spid="53" grpId="0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5517" y="1196754"/>
            <a:ext cx="87129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OPERACIONES y PROPIEDADES</a:t>
            </a: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s-AR" sz="2400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¿Qué pasa si ahora restamos dos números naturales?</a:t>
            </a:r>
          </a:p>
        </p:txBody>
      </p:sp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CuadroTexto"/>
              <p:cNvSpPr txBox="1"/>
              <p:nvPr/>
            </p:nvSpPr>
            <p:spPr>
              <a:xfrm>
                <a:off x="612775" y="3117645"/>
                <a:ext cx="24130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</a:rPr>
                        <m:t>𝟑</m:t>
                      </m:r>
                      <m:r>
                        <a:rPr lang="es-AR" sz="3200" b="1" i="1" dirty="0" smtClean="0">
                          <a:latin typeface="Cambria Math"/>
                        </a:rPr>
                        <m:t>−</m:t>
                      </m:r>
                      <m:r>
                        <a:rPr lang="es-AR" sz="3200" b="1" i="1" dirty="0" smtClean="0">
                          <a:latin typeface="Cambria Math"/>
                        </a:rPr>
                        <m:t>𝟕</m:t>
                      </m:r>
                      <m:r>
                        <a:rPr lang="es-AR" sz="3200" b="1" i="1" dirty="0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5" y="3117645"/>
                <a:ext cx="241303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44 CuadroTexto"/>
              <p:cNvSpPr txBox="1"/>
              <p:nvPr/>
            </p:nvSpPr>
            <p:spPr>
              <a:xfrm>
                <a:off x="2572166" y="3124145"/>
                <a:ext cx="8477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</a:rPr>
                        <m:t>−</m:t>
                      </m:r>
                      <m:r>
                        <a:rPr lang="es-AR" sz="3200" b="1" i="1" dirty="0" smtClean="0"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5" name="4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166" y="3124145"/>
                <a:ext cx="847706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46 CuadroTexto"/>
          <p:cNvSpPr txBox="1"/>
          <p:nvPr/>
        </p:nvSpPr>
        <p:spPr>
          <a:xfrm>
            <a:off x="215517" y="2284781"/>
            <a:ext cx="501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</a:t>
            </a:r>
            <a:r>
              <a:rPr lang="es-AR" sz="2400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Cumple</a:t>
            </a:r>
            <a:r>
              <a:rPr lang="es-AR" sz="2400" dirty="0">
                <a:latin typeface="Arial" pitchFamily="34" charset="0"/>
                <a:cs typeface="Arial" pitchFamily="34" charset="0"/>
              </a:rPr>
              <a:t> con la ley de cierre?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CuadroTexto"/>
              <p:cNvSpPr txBox="1"/>
              <p:nvPr/>
            </p:nvSpPr>
            <p:spPr>
              <a:xfrm>
                <a:off x="685406" y="3708920"/>
                <a:ext cx="34545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1" i="1">
                              <a:latin typeface="Cambria Math"/>
                            </a:rPr>
                            <m:t>ℕ</m:t>
                          </m:r>
                        </m:e>
                        <m:sub>
                          <m:r>
                            <a:rPr lang="es-AR" sz="3200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s-AR" sz="3200" b="1" i="1" dirty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s-AR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1" i="1">
                              <a:latin typeface="Cambria Math"/>
                            </a:rPr>
                            <m:t>ℕ</m:t>
                          </m:r>
                        </m:e>
                        <m:sub>
                          <m:r>
                            <a:rPr lang="es-AR" sz="3200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s-AR" sz="3200" b="1" i="1" dirty="0" smtClean="0">
                          <a:latin typeface="Cambria Math"/>
                        </a:rPr>
                        <m:t>= 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ℤ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06" y="3708920"/>
                <a:ext cx="3454546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5 Grupo"/>
          <p:cNvGrpSpPr/>
          <p:nvPr/>
        </p:nvGrpSpPr>
        <p:grpSpPr>
          <a:xfrm>
            <a:off x="5686575" y="2747532"/>
            <a:ext cx="2163849" cy="3615209"/>
            <a:chOff x="5686575" y="2747532"/>
            <a:chExt cx="2163849" cy="3615209"/>
          </a:xfrm>
        </p:grpSpPr>
        <p:grpSp>
          <p:nvGrpSpPr>
            <p:cNvPr id="2" name="1 Grupo"/>
            <p:cNvGrpSpPr/>
            <p:nvPr/>
          </p:nvGrpSpPr>
          <p:grpSpPr>
            <a:xfrm>
              <a:off x="5686575" y="2747532"/>
              <a:ext cx="2163849" cy="3615209"/>
              <a:chOff x="5686575" y="2747532"/>
              <a:chExt cx="2163849" cy="3615209"/>
            </a:xfrm>
          </p:grpSpPr>
          <p:sp>
            <p:nvSpPr>
              <p:cNvPr id="21" name="20 Elipse"/>
              <p:cNvSpPr/>
              <p:nvPr/>
            </p:nvSpPr>
            <p:spPr>
              <a:xfrm>
                <a:off x="5690184" y="2978365"/>
                <a:ext cx="2160240" cy="3384376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21 CuadroTexto"/>
                  <p:cNvSpPr txBox="1"/>
                  <p:nvPr/>
                </p:nvSpPr>
                <p:spPr>
                  <a:xfrm>
                    <a:off x="6815519" y="3776747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2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5519" y="3776747"/>
                    <a:ext cx="601994" cy="46166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6795946" y="4675841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946" y="4675841"/>
                    <a:ext cx="601994" cy="46166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23 CuadroTexto"/>
                  <p:cNvSpPr txBox="1"/>
                  <p:nvPr/>
                </p:nvSpPr>
                <p:spPr>
                  <a:xfrm>
                    <a:off x="5862732" y="4017153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2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2732" y="4017153"/>
                    <a:ext cx="601994" cy="46166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24 CuadroTexto"/>
                  <p:cNvSpPr txBox="1"/>
                  <p:nvPr/>
                </p:nvSpPr>
                <p:spPr>
                  <a:xfrm>
                    <a:off x="6331899" y="315230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2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1899" y="315230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25 CuadroTexto"/>
                  <p:cNvSpPr txBox="1"/>
                  <p:nvPr/>
                </p:nvSpPr>
                <p:spPr>
                  <a:xfrm>
                    <a:off x="5888918" y="5006110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𝟒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2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88918" y="5006110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26 CuadroTexto"/>
                  <p:cNvSpPr txBox="1"/>
                  <p:nvPr/>
                </p:nvSpPr>
                <p:spPr>
                  <a:xfrm>
                    <a:off x="6432224" y="5252297"/>
                    <a:ext cx="13294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………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26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2224" y="5252297"/>
                    <a:ext cx="1329438" cy="46166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27 CuadroTexto"/>
                  <p:cNvSpPr txBox="1"/>
                  <p:nvPr/>
                </p:nvSpPr>
                <p:spPr>
                  <a:xfrm>
                    <a:off x="5686575" y="274753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2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575" y="274753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b="-266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38 CuadroTexto"/>
                <p:cNvSpPr txBox="1"/>
                <p:nvPr/>
              </p:nvSpPr>
              <p:spPr>
                <a:xfrm>
                  <a:off x="6367591" y="571396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chemeClr val="tx2"/>
                            </a:solidFill>
                            <a:latin typeface="Cambria Math"/>
                            <a:ea typeface="Cambria Math"/>
                          </a:rPr>
                          <m:t>+∞</m:t>
                        </m:r>
                      </m:oMath>
                    </m:oMathPara>
                  </a14:m>
                  <a:endParaRPr lang="es-AR" sz="24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38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7591" y="5713962"/>
                  <a:ext cx="774934" cy="461665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10 Grupo"/>
          <p:cNvGrpSpPr/>
          <p:nvPr/>
        </p:nvGrpSpPr>
        <p:grpSpPr>
          <a:xfrm>
            <a:off x="4245699" y="2466486"/>
            <a:ext cx="3888431" cy="4333679"/>
            <a:chOff x="4245699" y="2466486"/>
            <a:chExt cx="3888431" cy="4333679"/>
          </a:xfrm>
        </p:grpSpPr>
        <p:grpSp>
          <p:nvGrpSpPr>
            <p:cNvPr id="4" name="3 Grupo"/>
            <p:cNvGrpSpPr/>
            <p:nvPr/>
          </p:nvGrpSpPr>
          <p:grpSpPr>
            <a:xfrm>
              <a:off x="4245699" y="2466486"/>
              <a:ext cx="3888431" cy="4333679"/>
              <a:chOff x="4327880" y="2437010"/>
              <a:chExt cx="3888431" cy="4333679"/>
            </a:xfrm>
          </p:grpSpPr>
          <p:sp>
            <p:nvSpPr>
              <p:cNvPr id="32" name="31 Elipse"/>
              <p:cNvSpPr/>
              <p:nvPr/>
            </p:nvSpPr>
            <p:spPr>
              <a:xfrm>
                <a:off x="4327880" y="2522218"/>
                <a:ext cx="3888431" cy="424847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FF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32 CuadroTexto"/>
                  <p:cNvSpPr txBox="1"/>
                  <p:nvPr/>
                </p:nvSpPr>
                <p:spPr>
                  <a:xfrm>
                    <a:off x="4845166" y="406286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3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5166" y="406286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r="-2020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33 CuadroTexto"/>
                  <p:cNvSpPr txBox="1"/>
                  <p:nvPr/>
                </p:nvSpPr>
                <p:spPr>
                  <a:xfrm>
                    <a:off x="5088190" y="3478087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3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8190" y="3478087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r="-2020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34 CuadroTexto"/>
                  <p:cNvSpPr txBox="1"/>
                  <p:nvPr/>
                </p:nvSpPr>
                <p:spPr>
                  <a:xfrm>
                    <a:off x="4676680" y="5006110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3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680" y="5006110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r="-2041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35 CuadroTexto"/>
                  <p:cNvSpPr txBox="1"/>
                  <p:nvPr/>
                </p:nvSpPr>
                <p:spPr>
                  <a:xfrm>
                    <a:off x="4584240" y="5566273"/>
                    <a:ext cx="13294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………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3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4240" y="5566273"/>
                    <a:ext cx="1329438" cy="461665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36 CuadroTexto"/>
                  <p:cNvSpPr txBox="1"/>
                  <p:nvPr/>
                </p:nvSpPr>
                <p:spPr>
                  <a:xfrm>
                    <a:off x="7248430" y="2437010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36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48430" y="2437010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40 CuadroTexto"/>
                <p:cNvSpPr txBox="1"/>
                <p:nvPr/>
              </p:nvSpPr>
              <p:spPr>
                <a:xfrm>
                  <a:off x="5299108" y="607557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−∞</m:t>
                        </m:r>
                      </m:oMath>
                    </m:oMathPara>
                  </a14:m>
                  <a:endParaRPr lang="es-AR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4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108" y="6075572"/>
                  <a:ext cx="774934" cy="461665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5945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5" grpId="0"/>
      <p:bldP spid="47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A este conjunto lo llamamos ENTEROS </a:t>
                </a:r>
                <a14:m>
                  <m:oMath xmlns:m="http://schemas.openxmlformats.org/officeDocument/2006/math">
                    <m:r>
                      <a:rPr lang="es-AR" sz="2800" b="1" i="1" dirty="0">
                        <a:latin typeface="Cambria Math"/>
                        <a:ea typeface="Cambria Math"/>
                      </a:rPr>
                      <m:t>ℤ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6" name="5 Grupo"/>
          <p:cNvGrpSpPr/>
          <p:nvPr/>
        </p:nvGrpSpPr>
        <p:grpSpPr>
          <a:xfrm>
            <a:off x="5686575" y="2747532"/>
            <a:ext cx="2163849" cy="3615209"/>
            <a:chOff x="5686575" y="2747532"/>
            <a:chExt cx="2163849" cy="3615209"/>
          </a:xfrm>
        </p:grpSpPr>
        <p:grpSp>
          <p:nvGrpSpPr>
            <p:cNvPr id="2" name="1 Grupo"/>
            <p:cNvGrpSpPr/>
            <p:nvPr/>
          </p:nvGrpSpPr>
          <p:grpSpPr>
            <a:xfrm>
              <a:off x="5686575" y="2747532"/>
              <a:ext cx="2163849" cy="3615209"/>
              <a:chOff x="5686575" y="2747532"/>
              <a:chExt cx="2163849" cy="3615209"/>
            </a:xfrm>
          </p:grpSpPr>
          <p:sp>
            <p:nvSpPr>
              <p:cNvPr id="21" name="20 Elipse"/>
              <p:cNvSpPr/>
              <p:nvPr/>
            </p:nvSpPr>
            <p:spPr>
              <a:xfrm>
                <a:off x="5690184" y="2978365"/>
                <a:ext cx="2160240" cy="3384376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21 CuadroTexto"/>
                  <p:cNvSpPr txBox="1"/>
                  <p:nvPr/>
                </p:nvSpPr>
                <p:spPr>
                  <a:xfrm>
                    <a:off x="6815519" y="3776747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2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5519" y="3776747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6795946" y="4675841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946" y="4675841"/>
                    <a:ext cx="601994" cy="46166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23 CuadroTexto"/>
                  <p:cNvSpPr txBox="1"/>
                  <p:nvPr/>
                </p:nvSpPr>
                <p:spPr>
                  <a:xfrm>
                    <a:off x="5862732" y="4017153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2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2732" y="4017153"/>
                    <a:ext cx="601994" cy="46166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24 CuadroTexto"/>
                  <p:cNvSpPr txBox="1"/>
                  <p:nvPr/>
                </p:nvSpPr>
                <p:spPr>
                  <a:xfrm>
                    <a:off x="6331899" y="315230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2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1899" y="315230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25 CuadroTexto"/>
                  <p:cNvSpPr txBox="1"/>
                  <p:nvPr/>
                </p:nvSpPr>
                <p:spPr>
                  <a:xfrm>
                    <a:off x="5888918" y="5006110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𝟒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2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88918" y="5006110"/>
                    <a:ext cx="601994" cy="46166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26 CuadroTexto"/>
                  <p:cNvSpPr txBox="1"/>
                  <p:nvPr/>
                </p:nvSpPr>
                <p:spPr>
                  <a:xfrm>
                    <a:off x="6432224" y="5252297"/>
                    <a:ext cx="13294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………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26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2224" y="5252297"/>
                    <a:ext cx="1329438" cy="461665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27 CuadroTexto"/>
                  <p:cNvSpPr txBox="1"/>
                  <p:nvPr/>
                </p:nvSpPr>
                <p:spPr>
                  <a:xfrm>
                    <a:off x="5686575" y="274753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2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575" y="274753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b="-266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38 CuadroTexto"/>
                <p:cNvSpPr txBox="1"/>
                <p:nvPr/>
              </p:nvSpPr>
              <p:spPr>
                <a:xfrm>
                  <a:off x="6367591" y="571396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chemeClr val="tx2"/>
                            </a:solidFill>
                            <a:latin typeface="Cambria Math"/>
                            <a:ea typeface="Cambria Math"/>
                          </a:rPr>
                          <m:t>+∞</m:t>
                        </m:r>
                      </m:oMath>
                    </m:oMathPara>
                  </a14:m>
                  <a:endParaRPr lang="es-AR" sz="24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38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7591" y="5713962"/>
                  <a:ext cx="774934" cy="46166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10 Grupo"/>
          <p:cNvGrpSpPr/>
          <p:nvPr/>
        </p:nvGrpSpPr>
        <p:grpSpPr>
          <a:xfrm>
            <a:off x="4245699" y="2466486"/>
            <a:ext cx="3888431" cy="4333679"/>
            <a:chOff x="4245699" y="2466486"/>
            <a:chExt cx="3888431" cy="4333679"/>
          </a:xfrm>
        </p:grpSpPr>
        <p:grpSp>
          <p:nvGrpSpPr>
            <p:cNvPr id="4" name="3 Grupo"/>
            <p:cNvGrpSpPr/>
            <p:nvPr/>
          </p:nvGrpSpPr>
          <p:grpSpPr>
            <a:xfrm>
              <a:off x="4245699" y="2466486"/>
              <a:ext cx="3888431" cy="4333679"/>
              <a:chOff x="4327880" y="2437010"/>
              <a:chExt cx="3888431" cy="4333679"/>
            </a:xfrm>
          </p:grpSpPr>
          <p:sp>
            <p:nvSpPr>
              <p:cNvPr id="32" name="31 Elipse"/>
              <p:cNvSpPr/>
              <p:nvPr/>
            </p:nvSpPr>
            <p:spPr>
              <a:xfrm>
                <a:off x="4327880" y="2522218"/>
                <a:ext cx="3888431" cy="424847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FF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32 CuadroTexto"/>
                  <p:cNvSpPr txBox="1"/>
                  <p:nvPr/>
                </p:nvSpPr>
                <p:spPr>
                  <a:xfrm>
                    <a:off x="4845166" y="406286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3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5166" y="406286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r="-2020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33 CuadroTexto"/>
                  <p:cNvSpPr txBox="1"/>
                  <p:nvPr/>
                </p:nvSpPr>
                <p:spPr>
                  <a:xfrm>
                    <a:off x="5088190" y="3478087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3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8190" y="3478087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r="-2020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34 CuadroTexto"/>
                  <p:cNvSpPr txBox="1"/>
                  <p:nvPr/>
                </p:nvSpPr>
                <p:spPr>
                  <a:xfrm>
                    <a:off x="4676680" y="5006110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3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680" y="5006110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r="-2041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35 CuadroTexto"/>
                  <p:cNvSpPr txBox="1"/>
                  <p:nvPr/>
                </p:nvSpPr>
                <p:spPr>
                  <a:xfrm>
                    <a:off x="4584240" y="5566273"/>
                    <a:ext cx="13294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………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3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4240" y="5566273"/>
                    <a:ext cx="1329438" cy="461665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36 CuadroTexto"/>
                  <p:cNvSpPr txBox="1"/>
                  <p:nvPr/>
                </p:nvSpPr>
                <p:spPr>
                  <a:xfrm>
                    <a:off x="7248430" y="2437010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36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48430" y="2437010"/>
                    <a:ext cx="601994" cy="461665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40 CuadroTexto"/>
                <p:cNvSpPr txBox="1"/>
                <p:nvPr/>
              </p:nvSpPr>
              <p:spPr>
                <a:xfrm>
                  <a:off x="5299108" y="607557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−∞</m:t>
                        </m:r>
                      </m:oMath>
                    </m:oMathPara>
                  </a14:m>
                  <a:endParaRPr lang="es-AR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4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108" y="6075572"/>
                  <a:ext cx="774934" cy="46166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30 CuadroTexto"/>
              <p:cNvSpPr txBox="1"/>
              <p:nvPr/>
            </p:nvSpPr>
            <p:spPr>
              <a:xfrm>
                <a:off x="215517" y="2360896"/>
                <a:ext cx="217579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±</m:t>
                      </m:r>
                      <m:r>
                        <a:rPr lang="es-AR" sz="3200" b="1" i="1" dirty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es-AR" sz="3200" b="1" i="1" dirty="0" smtClean="0">
                          <a:latin typeface="Cambria Math"/>
                        </a:rPr>
                        <m:t>= 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ℤ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31" name="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2360896"/>
                <a:ext cx="2175793" cy="58477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37 Rectángulo"/>
              <p:cNvSpPr/>
              <p:nvPr/>
            </p:nvSpPr>
            <p:spPr>
              <a:xfrm>
                <a:off x="306582" y="3489794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𝑳𝒆𝒚</m:t>
                      </m:r>
                      <m:r>
                        <a:rPr lang="es-AR" sz="3200" b="1" i="1" smtClean="0"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latin typeface="Cambria Math"/>
                        </a:rPr>
                        <m:t>𝒅𝒆</m:t>
                      </m:r>
                      <m:r>
                        <a:rPr lang="es-AR" sz="3200" b="1" i="1" smtClean="0"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latin typeface="Cambria Math"/>
                        </a:rPr>
                        <m:t>𝑪𝒊𝒆𝒓𝒓𝒆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38" name="3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82" y="3489794"/>
                <a:ext cx="3298483" cy="58477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39 Rectángulo"/>
              <p:cNvSpPr/>
              <p:nvPr/>
            </p:nvSpPr>
            <p:spPr>
              <a:xfrm>
                <a:off x="251336" y="4209124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𝑰𝒏𝒇𝒊𝒏𝒊𝒕𝒐</m:t>
                      </m:r>
                    </m:oMath>
                  </m:oMathPara>
                </a14:m>
                <a:endParaRPr lang="es-AR" sz="2400" b="1" dirty="0"/>
              </a:p>
            </p:txBody>
          </p:sp>
        </mc:Choice>
        <mc:Fallback xmlns="">
          <p:sp>
            <p:nvSpPr>
              <p:cNvPr id="40" name="3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36" y="4209124"/>
                <a:ext cx="3298483" cy="584775"/>
              </a:xfrm>
              <a:prstGeom prst="rect">
                <a:avLst/>
              </a:prstGeom>
              <a:blipFill>
                <a:blip r:embed="rId21"/>
                <a:stretch>
                  <a:fillRect b="-19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41 Rectángulo"/>
              <p:cNvSpPr/>
              <p:nvPr/>
            </p:nvSpPr>
            <p:spPr>
              <a:xfrm>
                <a:off x="215517" y="4812426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𝑫𝒊𝒔𝒄𝒓𝒆𝒕𝒐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2" name="4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4812426"/>
                <a:ext cx="3298483" cy="584775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42 CuadroTexto"/>
              <p:cNvSpPr txBox="1"/>
              <p:nvPr/>
            </p:nvSpPr>
            <p:spPr>
              <a:xfrm>
                <a:off x="251336" y="2945671"/>
                <a:ext cx="217579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s-AR" sz="3200" b="1" i="1" dirty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es-AR" sz="3200" b="1" i="1" dirty="0" smtClean="0">
                          <a:latin typeface="Cambria Math"/>
                        </a:rPr>
                        <m:t>= 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ℤ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3" name="4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36" y="2945671"/>
                <a:ext cx="2175793" cy="58477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43 CuadroTexto"/>
              <p:cNvSpPr txBox="1"/>
              <p:nvPr/>
            </p:nvSpPr>
            <p:spPr>
              <a:xfrm>
                <a:off x="538012" y="5533613"/>
                <a:ext cx="2835622" cy="1011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32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ℤ</m:t>
                          </m:r>
                        </m:num>
                        <m:den>
                          <m:r>
                            <a:rPr lang="es-AR" sz="3200" b="1" i="1" dirty="0">
                              <a:latin typeface="Cambria Math"/>
                              <a:ea typeface="Cambria Math"/>
                            </a:rPr>
                            <m:t>ℤ</m:t>
                          </m:r>
                        </m:den>
                      </m:f>
                      <m:r>
                        <a:rPr lang="es-AR" sz="3200" b="1" i="1" dirty="0" smtClean="0">
                          <a:latin typeface="Cambria Math"/>
                        </a:rPr>
                        <m:t>= 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??????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4" name="4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12" y="5533613"/>
                <a:ext cx="2835622" cy="1011111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73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  <p:bldP spid="40" grpId="0"/>
      <p:bldP spid="42" grpId="0"/>
      <p:bldP spid="4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A este conjunto lo llamamos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45 CuadroTexto"/>
              <p:cNvSpPr txBox="1"/>
              <p:nvPr/>
            </p:nvSpPr>
            <p:spPr>
              <a:xfrm>
                <a:off x="3808139" y="2420888"/>
                <a:ext cx="1527721" cy="1011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32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ℤ</m:t>
                          </m:r>
                        </m:num>
                        <m:den>
                          <m:r>
                            <a:rPr lang="es-AR" sz="3200" b="1" i="1" dirty="0">
                              <a:latin typeface="Cambria Math"/>
                              <a:ea typeface="Cambria Math"/>
                            </a:rPr>
                            <m:t>ℤ</m:t>
                          </m:r>
                        </m:den>
                      </m:f>
                      <m:r>
                        <a:rPr lang="es-AR" sz="3200" b="1" i="1" dirty="0" smtClean="0">
                          <a:latin typeface="Cambria Math"/>
                        </a:rPr>
                        <m:t>=</m:t>
                      </m:r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6" name="4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139" y="2420888"/>
                <a:ext cx="1527721" cy="101111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2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901118"/>
              </p:ext>
            </p:extLst>
          </p:nvPr>
        </p:nvGraphicFramePr>
        <p:xfrm>
          <a:off x="307975" y="3645024"/>
          <a:ext cx="8368898" cy="7720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Todo número que se pueda expresar como el cociente</a:t>
                      </a:r>
                      <a:r>
                        <a:rPr lang="es-AR" sz="1800" baseline="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o la razón entre dos números Enteros, decimos que es Racional</a:t>
                      </a:r>
                      <a:r>
                        <a:rPr lang="es-AR" sz="18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s-AR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29 CuadroTexto"/>
          <p:cNvSpPr txBox="1"/>
          <p:nvPr/>
        </p:nvSpPr>
        <p:spPr>
          <a:xfrm>
            <a:off x="307975" y="4509120"/>
            <a:ext cx="4408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Ejemplos: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49 CuadroTexto"/>
              <p:cNvSpPr txBox="1"/>
              <p:nvPr/>
            </p:nvSpPr>
            <p:spPr>
              <a:xfrm>
                <a:off x="587960" y="5157192"/>
                <a:ext cx="1718819" cy="66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num>
                        <m:den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  <m:r>
                        <a:rPr lang="es-AR" sz="2000" b="1" i="1" dirty="0" smtClean="0">
                          <a:latin typeface="Cambria Math"/>
                        </a:rPr>
                        <m:t>=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𝟐</m:t>
                      </m:r>
                      <m:r>
                        <a:rPr lang="es-AR" sz="2000" b="1" i="1" dirty="0" smtClean="0">
                          <a:latin typeface="Cambria Math"/>
                        </a:rPr>
                        <m:t> ∈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2000" b="1" dirty="0"/>
              </a:p>
            </p:txBody>
          </p:sp>
        </mc:Choice>
        <mc:Fallback xmlns="">
          <p:sp>
            <p:nvSpPr>
              <p:cNvPr id="50" name="4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0" y="5157192"/>
                <a:ext cx="1718819" cy="66742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50 CuadroTexto"/>
              <p:cNvSpPr txBox="1"/>
              <p:nvPr/>
            </p:nvSpPr>
            <p:spPr>
              <a:xfrm>
                <a:off x="2511995" y="5157191"/>
                <a:ext cx="1984638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𝟏𝟐</m:t>
                          </m:r>
                        </m:num>
                        <m:den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s-AR" sz="2000" b="1" i="1" dirty="0" smtClean="0">
                          <a:latin typeface="Cambria Math"/>
                        </a:rPr>
                        <m:t>=−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𝟒</m:t>
                      </m:r>
                      <m:r>
                        <a:rPr lang="es-AR" sz="2000" b="1" i="1" dirty="0" smtClean="0">
                          <a:latin typeface="Cambria Math"/>
                        </a:rPr>
                        <m:t> ∈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2000" b="1" dirty="0"/>
              </a:p>
            </p:txBody>
          </p:sp>
        </mc:Choice>
        <mc:Fallback xmlns="">
          <p:sp>
            <p:nvSpPr>
              <p:cNvPr id="51" name="5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995" y="5157191"/>
                <a:ext cx="1984638" cy="67056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51 CuadroTexto"/>
              <p:cNvSpPr txBox="1"/>
              <p:nvPr/>
            </p:nvSpPr>
            <p:spPr>
              <a:xfrm>
                <a:off x="2740573" y="5949279"/>
                <a:ext cx="413568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s-AR" sz="2000" b="1" i="1" dirty="0" smtClean="0">
                          <a:latin typeface="Cambria Math"/>
                        </a:rPr>
                        <m:t>=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𝟎</m:t>
                      </m:r>
                      <m:r>
                        <a:rPr lang="es-AR" sz="2000" b="1" i="1" dirty="0" smtClean="0">
                          <a:latin typeface="Cambria Math"/>
                        </a:rPr>
                        <m:t>,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𝟑𝟑𝟑𝟑𝟑</m:t>
                      </m:r>
                      <m:r>
                        <a:rPr lang="es-AR" sz="2000" b="1" i="1" dirty="0" smtClean="0">
                          <a:latin typeface="Cambria Math"/>
                        </a:rPr>
                        <m:t>…. =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𝟎</m:t>
                      </m:r>
                      <m:r>
                        <a:rPr lang="es-AR" sz="2000" b="1" i="1" dirty="0" smtClean="0">
                          <a:latin typeface="Cambria Math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s-AR" sz="2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e>
                      </m:acc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 ∈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2000" b="1" dirty="0"/>
              </a:p>
            </p:txBody>
          </p:sp>
        </mc:Choice>
        <mc:Fallback xmlns="">
          <p:sp>
            <p:nvSpPr>
              <p:cNvPr id="52" name="5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573" y="5949279"/>
                <a:ext cx="4135683" cy="67056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52 CuadroTexto"/>
              <p:cNvSpPr txBox="1"/>
              <p:nvPr/>
            </p:nvSpPr>
            <p:spPr>
              <a:xfrm>
                <a:off x="4866870" y="5161696"/>
                <a:ext cx="171881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𝟐𝟎</m:t>
                          </m:r>
                        </m:num>
                        <m:den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den>
                      </m:f>
                      <m:r>
                        <a:rPr lang="es-AR" sz="2000" b="1" i="1" dirty="0" smtClean="0">
                          <a:latin typeface="Cambria Math"/>
                        </a:rPr>
                        <m:t>=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𝟓</m:t>
                      </m:r>
                      <m:r>
                        <a:rPr lang="es-AR" sz="2000" b="1" i="1" dirty="0" smtClean="0">
                          <a:latin typeface="Cambria Math"/>
                        </a:rPr>
                        <m:t> ∈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2000" b="1" dirty="0"/>
              </a:p>
            </p:txBody>
          </p:sp>
        </mc:Choice>
        <mc:Fallback xmlns="">
          <p:sp>
            <p:nvSpPr>
              <p:cNvPr id="53" name="5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870" y="5161696"/>
                <a:ext cx="1718819" cy="66851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53 CuadroTexto"/>
              <p:cNvSpPr txBox="1"/>
              <p:nvPr/>
            </p:nvSpPr>
            <p:spPr>
              <a:xfrm>
                <a:off x="6993168" y="5117374"/>
                <a:ext cx="1718819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  <m:r>
                        <a:rPr lang="es-AR" sz="2000" b="1" i="1" dirty="0" smtClean="0">
                          <a:latin typeface="Cambria Math"/>
                        </a:rPr>
                        <m:t>=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𝟐</m:t>
                      </m:r>
                      <m:r>
                        <a:rPr lang="es-AR" sz="2000" b="1" i="1" dirty="0" smtClean="0">
                          <a:latin typeface="Cambria Math"/>
                        </a:rPr>
                        <m:t>,</m:t>
                      </m:r>
                      <m:r>
                        <a:rPr lang="es-AR" sz="2000" b="1" i="1" dirty="0" smtClean="0">
                          <a:latin typeface="Cambria Math"/>
                        </a:rPr>
                        <m:t>𝟓</m:t>
                      </m:r>
                      <m:r>
                        <a:rPr lang="es-AR" sz="2000" b="1" i="1" dirty="0" smtClean="0">
                          <a:latin typeface="Cambria Math"/>
                        </a:rPr>
                        <m:t> ∈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2000" b="1" dirty="0"/>
              </a:p>
            </p:txBody>
          </p:sp>
        </mc:Choice>
        <mc:Fallback xmlns="">
          <p:sp>
            <p:nvSpPr>
              <p:cNvPr id="54" name="5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68" y="5117374"/>
                <a:ext cx="1718819" cy="69711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4 CuadroTexto"/>
              <p:cNvSpPr txBox="1"/>
              <p:nvPr/>
            </p:nvSpPr>
            <p:spPr>
              <a:xfrm>
                <a:off x="6444208" y="5949279"/>
                <a:ext cx="2416481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2000" b="1" i="1" dirty="0" smtClean="0">
                          <a:latin typeface="Cambria Math"/>
                        </a:rPr>
                        <m:t>𝟎</m:t>
                      </m:r>
                      <m:r>
                        <a:rPr lang="es-AR" sz="2000" b="1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20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num>
                        <m:den>
                          <m:r>
                            <a:rPr lang="es-AR" sz="2000" b="1" i="1" dirty="0" smtClean="0">
                              <a:latin typeface="Cambria Math"/>
                              <a:ea typeface="Cambria Math"/>
                            </a:rPr>
                            <m:t>𝟔𝟒𝟓</m:t>
                          </m:r>
                        </m:den>
                      </m:f>
                      <m:r>
                        <a:rPr lang="es-AR" sz="2000" b="1" i="1" dirty="0">
                          <a:latin typeface="Cambria Math"/>
                        </a:rPr>
                        <m:t>=</m:t>
                      </m:r>
                      <m:r>
                        <a:rPr lang="es-AR" sz="2000" b="1" i="1" dirty="0">
                          <a:latin typeface="Cambria Math"/>
                        </a:rPr>
                        <m:t>𝟎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 ∈</m:t>
                      </m:r>
                      <m:r>
                        <a:rPr lang="es-AR" sz="2000" b="1" i="1" dirty="0" smtClean="0">
                          <a:latin typeface="Cambria Math"/>
                          <a:ea typeface="Cambria Math"/>
                        </a:rPr>
                        <m:t>ℚ</m:t>
                      </m:r>
                    </m:oMath>
                  </m:oMathPara>
                </a14:m>
                <a:endParaRPr lang="es-AR" sz="2000" b="1" dirty="0"/>
              </a:p>
            </p:txBody>
          </p:sp>
        </mc:Choice>
        <mc:Fallback xmlns=""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5949279"/>
                <a:ext cx="2416481" cy="66851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11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0" grpId="0"/>
      <p:bldP spid="50" grpId="0"/>
      <p:bldP spid="51" grpId="0"/>
      <p:bldP spid="52" grpId="0"/>
      <p:bldP spid="53" grpId="0"/>
      <p:bldP spid="5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6" name="5 Grupo"/>
          <p:cNvGrpSpPr/>
          <p:nvPr/>
        </p:nvGrpSpPr>
        <p:grpSpPr>
          <a:xfrm>
            <a:off x="2271908" y="2585272"/>
            <a:ext cx="2645685" cy="3417131"/>
            <a:chOff x="6017228" y="2327904"/>
            <a:chExt cx="2645685" cy="3417131"/>
          </a:xfrm>
        </p:grpSpPr>
        <p:grpSp>
          <p:nvGrpSpPr>
            <p:cNvPr id="26" name="25 Grupo"/>
            <p:cNvGrpSpPr/>
            <p:nvPr/>
          </p:nvGrpSpPr>
          <p:grpSpPr>
            <a:xfrm>
              <a:off x="6017228" y="2327904"/>
              <a:ext cx="2645685" cy="3417131"/>
              <a:chOff x="5166291" y="2038345"/>
              <a:chExt cx="2907863" cy="4732344"/>
            </a:xfrm>
          </p:grpSpPr>
          <p:sp>
            <p:nvSpPr>
              <p:cNvPr id="27" name="26 Elipse"/>
              <p:cNvSpPr/>
              <p:nvPr/>
            </p:nvSpPr>
            <p:spPr>
              <a:xfrm>
                <a:off x="5166291" y="2522218"/>
                <a:ext cx="2907863" cy="424847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27 CuadroTexto"/>
                  <p:cNvSpPr txBox="1"/>
                  <p:nvPr/>
                </p:nvSpPr>
                <p:spPr>
                  <a:xfrm>
                    <a:off x="5469170" y="4089756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2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9170" y="4089756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r="-10000"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30 CuadroTexto"/>
                  <p:cNvSpPr txBox="1"/>
                  <p:nvPr/>
                </p:nvSpPr>
                <p:spPr>
                  <a:xfrm>
                    <a:off x="5712194" y="350498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3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2194" y="350498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r="-11111"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31 CuadroTexto"/>
                  <p:cNvSpPr txBox="1"/>
                  <p:nvPr/>
                </p:nvSpPr>
                <p:spPr>
                  <a:xfrm>
                    <a:off x="5300684" y="503300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3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0684" y="503300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r="-10000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32 CuadroTexto"/>
                  <p:cNvSpPr txBox="1"/>
                  <p:nvPr/>
                </p:nvSpPr>
                <p:spPr>
                  <a:xfrm>
                    <a:off x="5208244" y="5593167"/>
                    <a:ext cx="1329437" cy="639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3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8244" y="5593167"/>
                    <a:ext cx="1329437" cy="6393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33 CuadroTexto"/>
                  <p:cNvSpPr txBox="1"/>
                  <p:nvPr/>
                </p:nvSpPr>
                <p:spPr>
                  <a:xfrm>
                    <a:off x="5657978" y="203834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3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57978" y="203834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41 CuadroTexto"/>
                <p:cNvSpPr txBox="1"/>
                <p:nvPr/>
              </p:nvSpPr>
              <p:spPr>
                <a:xfrm>
                  <a:off x="6624834" y="524811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−∞</m:t>
                        </m:r>
                      </m:oMath>
                    </m:oMathPara>
                  </a14:m>
                  <a:endParaRPr lang="es-AR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4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4834" y="5248112"/>
                  <a:ext cx="774934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3 Grupo"/>
          <p:cNvGrpSpPr/>
          <p:nvPr/>
        </p:nvGrpSpPr>
        <p:grpSpPr>
          <a:xfrm>
            <a:off x="3160746" y="2954625"/>
            <a:ext cx="1712152" cy="2610617"/>
            <a:chOff x="6861998" y="2817966"/>
            <a:chExt cx="1712152" cy="2610617"/>
          </a:xfrm>
        </p:grpSpPr>
        <p:grpSp>
          <p:nvGrpSpPr>
            <p:cNvPr id="15" name="14 Grupo"/>
            <p:cNvGrpSpPr/>
            <p:nvPr/>
          </p:nvGrpSpPr>
          <p:grpSpPr>
            <a:xfrm>
              <a:off x="6861998" y="2817966"/>
              <a:ext cx="1712152" cy="2610617"/>
              <a:chOff x="6049510" y="2571511"/>
              <a:chExt cx="1712152" cy="3791230"/>
            </a:xfrm>
          </p:grpSpPr>
          <p:sp>
            <p:nvSpPr>
              <p:cNvPr id="16" name="15 Elipse"/>
              <p:cNvSpPr/>
              <p:nvPr/>
            </p:nvSpPr>
            <p:spPr>
              <a:xfrm>
                <a:off x="6223662" y="2978365"/>
                <a:ext cx="1449605" cy="3384376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18 CuadroTexto"/>
                  <p:cNvSpPr txBox="1"/>
                  <p:nvPr/>
                </p:nvSpPr>
                <p:spPr>
                  <a:xfrm>
                    <a:off x="7071273" y="3751962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18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1273" y="3751962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19 CuadroTexto"/>
                  <p:cNvSpPr txBox="1"/>
                  <p:nvPr/>
                </p:nvSpPr>
                <p:spPr>
                  <a:xfrm>
                    <a:off x="7071273" y="4594767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1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1273" y="4594767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20 CuadroTexto"/>
                  <p:cNvSpPr txBox="1"/>
                  <p:nvPr/>
                </p:nvSpPr>
                <p:spPr>
                  <a:xfrm>
                    <a:off x="6336873" y="3996568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2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6873" y="3996568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21 CuadroTexto"/>
                  <p:cNvSpPr txBox="1"/>
                  <p:nvPr/>
                </p:nvSpPr>
                <p:spPr>
                  <a:xfrm>
                    <a:off x="6637870" y="3152305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2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7870" y="3152305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6307969" y="4839079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𝟒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7969" y="4839079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23 CuadroTexto"/>
                  <p:cNvSpPr txBox="1"/>
                  <p:nvPr/>
                </p:nvSpPr>
                <p:spPr>
                  <a:xfrm>
                    <a:off x="6432224" y="5252297"/>
                    <a:ext cx="1329438" cy="670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2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2224" y="5252297"/>
                    <a:ext cx="1329438" cy="670446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24 CuadroTexto"/>
                  <p:cNvSpPr txBox="1"/>
                  <p:nvPr/>
                </p:nvSpPr>
                <p:spPr>
                  <a:xfrm>
                    <a:off x="6049510" y="2571511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2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9510" y="2571511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42 CuadroTexto"/>
                <p:cNvSpPr txBox="1"/>
                <p:nvPr/>
              </p:nvSpPr>
              <p:spPr>
                <a:xfrm>
                  <a:off x="7386167" y="4907197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chemeClr val="tx2"/>
                            </a:solidFill>
                            <a:latin typeface="Cambria Math"/>
                            <a:ea typeface="Cambria Math"/>
                          </a:rPr>
                          <m:t>+∞</m:t>
                        </m:r>
                      </m:oMath>
                    </m:oMathPara>
                  </a14:m>
                  <a:endParaRPr lang="es-AR" sz="24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4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167" y="4907197"/>
                  <a:ext cx="774934" cy="46166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8 Grupo"/>
          <p:cNvGrpSpPr/>
          <p:nvPr/>
        </p:nvGrpSpPr>
        <p:grpSpPr>
          <a:xfrm>
            <a:off x="215516" y="2176221"/>
            <a:ext cx="4972819" cy="4415743"/>
            <a:chOff x="3995936" y="1776437"/>
            <a:chExt cx="4972819" cy="4415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45 CuadroTexto"/>
                <p:cNvSpPr txBox="1"/>
                <p:nvPr/>
              </p:nvSpPr>
              <p:spPr>
                <a:xfrm>
                  <a:off x="4884647" y="4704181"/>
                  <a:ext cx="1167681" cy="7813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24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24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num>
                          <m:den>
                            <m:r>
                              <a:rPr lang="es-AR" sz="2400" b="1" i="1" dirty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den>
                        </m:f>
                        <m:r>
                          <a:rPr lang="es-AR" sz="2400" b="1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s-AR" sz="2400" b="1" i="1" dirty="0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ℚ</m:t>
                        </m:r>
                      </m:oMath>
                    </m:oMathPara>
                  </a14:m>
                  <a:endParaRPr lang="es-AR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4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4647" y="4704181"/>
                  <a:ext cx="1167681" cy="781368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49 CuadroTexto"/>
                <p:cNvSpPr txBox="1"/>
                <p:nvPr/>
              </p:nvSpPr>
              <p:spPr>
                <a:xfrm>
                  <a:off x="5899551" y="2326887"/>
                  <a:ext cx="513811" cy="667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𝟒</m:t>
                            </m:r>
                          </m:num>
                          <m:den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s-AR" sz="20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49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9551" y="2326887"/>
                  <a:ext cx="513811" cy="667427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50 CuadroTexto"/>
                <p:cNvSpPr txBox="1"/>
                <p:nvPr/>
              </p:nvSpPr>
              <p:spPr>
                <a:xfrm>
                  <a:off x="4741218" y="2828137"/>
                  <a:ext cx="727269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𝟏𝟐</m:t>
                            </m:r>
                          </m:num>
                          <m:den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𝟑</m:t>
                            </m:r>
                          </m:den>
                        </m:f>
                      </m:oMath>
                    </m:oMathPara>
                  </a14:m>
                  <a:endParaRPr lang="es-AR" sz="20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5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218" y="2828137"/>
                  <a:ext cx="727269" cy="670568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51 CuadroTexto"/>
                <p:cNvSpPr txBox="1"/>
                <p:nvPr/>
              </p:nvSpPr>
              <p:spPr>
                <a:xfrm>
                  <a:off x="5508106" y="4044115"/>
                  <a:ext cx="374418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𝟑</m:t>
                            </m:r>
                          </m:den>
                        </m:f>
                        <m:r>
                          <a:rPr lang="es-AR" sz="2000" b="1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s-AR" sz="20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5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6" y="4044115"/>
                  <a:ext cx="374418" cy="670568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52 CuadroTexto"/>
                <p:cNvSpPr txBox="1"/>
                <p:nvPr/>
              </p:nvSpPr>
              <p:spPr>
                <a:xfrm>
                  <a:off x="4648580" y="3698818"/>
                  <a:ext cx="727269" cy="6685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𝟐𝟎</m:t>
                            </m:r>
                          </m:num>
                          <m:den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s-AR" sz="20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5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580" y="3698818"/>
                  <a:ext cx="727269" cy="668516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53 CuadroTexto"/>
                <p:cNvSpPr txBox="1"/>
                <p:nvPr/>
              </p:nvSpPr>
              <p:spPr>
                <a:xfrm>
                  <a:off x="5544136" y="2840559"/>
                  <a:ext cx="380450" cy="6748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s-AR" sz="20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s-AR" sz="20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5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4136" y="2840559"/>
                  <a:ext cx="380450" cy="674800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34 Grupo"/>
            <p:cNvGrpSpPr/>
            <p:nvPr/>
          </p:nvGrpSpPr>
          <p:grpSpPr>
            <a:xfrm>
              <a:off x="3995936" y="1776437"/>
              <a:ext cx="4972819" cy="4415743"/>
              <a:chOff x="5353680" y="2051586"/>
              <a:chExt cx="4063460" cy="4078341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5353680" y="2402916"/>
                <a:ext cx="4063460" cy="3727011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39 CuadroTexto"/>
                  <p:cNvSpPr txBox="1"/>
                  <p:nvPr/>
                </p:nvSpPr>
                <p:spPr>
                  <a:xfrm>
                    <a:off x="6369622" y="5358040"/>
                    <a:ext cx="72592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3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69622" y="5358040"/>
                    <a:ext cx="725924" cy="459519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40 CuadroTexto"/>
                  <p:cNvSpPr txBox="1"/>
                  <p:nvPr/>
                </p:nvSpPr>
                <p:spPr>
                  <a:xfrm>
                    <a:off x="7723923" y="2051586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4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3923" y="2051586"/>
                    <a:ext cx="601994" cy="459519"/>
                  </a:xfrm>
                  <a:prstGeom prst="rect">
                    <a:avLst/>
                  </a:prstGeom>
                  <a:blipFill rotWithShape="1">
                    <a:blip r:embed="rId26"/>
                    <a:stretch>
                      <a:fillRect b="-365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43 CuadroTexto"/>
                <p:cNvSpPr txBox="1"/>
                <p:nvPr/>
              </p:nvSpPr>
              <p:spPr>
                <a:xfrm>
                  <a:off x="5937496" y="5631344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∞</m:t>
                        </m:r>
                      </m:oMath>
                    </m:oMathPara>
                  </a14:m>
                  <a:endParaRPr lang="es-AR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4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7496" y="5631344"/>
                  <a:ext cx="774934" cy="461665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44 Rectángulo"/>
              <p:cNvSpPr/>
              <p:nvPr/>
            </p:nvSpPr>
            <p:spPr>
              <a:xfrm>
                <a:off x="5436096" y="2475609"/>
                <a:ext cx="329848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𝑳𝒆𝒚</m:t>
                      </m:r>
                      <m:r>
                        <a:rPr lang="es-AR" sz="3200" b="1" i="1" smtClean="0"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latin typeface="Cambria Math"/>
                        </a:rPr>
                        <m:t>𝒅𝒆</m:t>
                      </m:r>
                      <m:r>
                        <a:rPr lang="es-AR" sz="3200" b="1" i="1" smtClean="0"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latin typeface="Cambria Math"/>
                        </a:rPr>
                        <m:t>𝑪𝒊𝒆𝒓𝒓𝒆</m:t>
                      </m:r>
                    </m:oMath>
                  </m:oMathPara>
                </a14:m>
                <a:endParaRPr lang="es-AR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AR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latin typeface="Cambria Math"/>
                            </a:rPr>
                            <m:t>+;−;  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s-AR" sz="32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s-AR" sz="32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s-AR" sz="3200" b="1" i="1" smtClean="0">
                              <a:latin typeface="Cambria Math"/>
                            </a:rPr>
                            <m:t> ÷</m:t>
                          </m:r>
                        </m:e>
                      </m:d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5" name="4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2475609"/>
                <a:ext cx="3298483" cy="1077218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46 Rectángulo"/>
              <p:cNvSpPr/>
              <p:nvPr/>
            </p:nvSpPr>
            <p:spPr>
              <a:xfrm>
                <a:off x="5721017" y="3989515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𝑰𝒏𝒇𝒊𝒏𝒊𝒕𝒐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7" name="4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017" y="3989515"/>
                <a:ext cx="3298483" cy="584775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47 Rectángulo"/>
              <p:cNvSpPr/>
              <p:nvPr/>
            </p:nvSpPr>
            <p:spPr>
              <a:xfrm>
                <a:off x="5724128" y="5126445"/>
                <a:ext cx="32984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latin typeface="Cambria Math"/>
                        </a:rPr>
                        <m:t>𝑫𝒆𝒏𝒔𝒐</m:t>
                      </m:r>
                    </m:oMath>
                  </m:oMathPara>
                </a14:m>
                <a:endParaRPr lang="es-AR" sz="3200" b="1" dirty="0"/>
              </a:p>
            </p:txBody>
          </p:sp>
        </mc:Choice>
        <mc:Fallback xmlns="">
          <p:sp>
            <p:nvSpPr>
              <p:cNvPr id="48" name="4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5126445"/>
                <a:ext cx="3298483" cy="584775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1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829988"/>
                  </p:ext>
                </p:extLst>
              </p:nvPr>
            </p:nvGraphicFramePr>
            <p:xfrm>
              <a:off x="262065" y="2420888"/>
              <a:ext cx="8485976" cy="698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5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98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u="sng" dirty="0">
                              <a:latin typeface="Arial" pitchFamily="34" charset="0"/>
                              <a:cs typeface="Arial" pitchFamily="34" charset="0"/>
                            </a:rPr>
                            <a:t>Denso :</a:t>
                          </a:r>
                          <a:r>
                            <a:rPr lang="es-AR" dirty="0">
                              <a:latin typeface="Arial" pitchFamily="34" charset="0"/>
                              <a:cs typeface="Arial" pitchFamily="34" charset="0"/>
                            </a:rPr>
                            <a:t> Lo</a:t>
                          </a:r>
                          <a:r>
                            <a:rPr lang="es-AR" baseline="0" dirty="0">
                              <a:latin typeface="Arial" pitchFamily="34" charset="0"/>
                              <a:cs typeface="Arial" pitchFamily="34" charset="0"/>
                            </a:rPr>
                            <a:t> contrario de DISCRETO.</a:t>
                          </a:r>
                        </a:p>
                        <a:p>
                          <a:pPr algn="ctr"/>
                          <a:r>
                            <a:rPr lang="es-AR" baseline="0" dirty="0">
                              <a:latin typeface="Arial" pitchFamily="34" charset="0"/>
                              <a:cs typeface="Arial" pitchFamily="34" charset="0"/>
                            </a:rPr>
                            <a:t>Un número </a:t>
                          </a:r>
                          <a14:m>
                            <m:oMath xmlns:m="http://schemas.openxmlformats.org/officeDocument/2006/math">
                              <m:r>
                                <a:rPr lang="es-AR" i="1" baseline="0" smtClean="0">
                                  <a:latin typeface="Cambria Math"/>
                                  <a:ea typeface="Cambria Math"/>
                                  <a:cs typeface="Arial" pitchFamily="34" charset="0"/>
                                </a:rPr>
                                <m:t>ℚ</m:t>
                              </m:r>
                            </m:oMath>
                          </a14:m>
                          <a:r>
                            <a:rPr lang="es-AR" baseline="0" dirty="0">
                              <a:latin typeface="Arial" pitchFamily="34" charset="0"/>
                              <a:cs typeface="Arial" pitchFamily="34" charset="0"/>
                            </a:rPr>
                            <a:t> no tiene siguiente.</a:t>
                          </a:r>
                          <a:endParaRPr lang="es-AR" dirty="0"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1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829988"/>
                  </p:ext>
                </p:extLst>
              </p:nvPr>
            </p:nvGraphicFramePr>
            <p:xfrm>
              <a:off x="262065" y="2420888"/>
              <a:ext cx="8485976" cy="698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5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987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9" t="-3571" r="-299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8" name="57 Grupo"/>
          <p:cNvGrpSpPr/>
          <p:nvPr/>
        </p:nvGrpSpPr>
        <p:grpSpPr>
          <a:xfrm>
            <a:off x="365437" y="3712369"/>
            <a:ext cx="3811647" cy="867402"/>
            <a:chOff x="3673048" y="3765906"/>
            <a:chExt cx="3811647" cy="8674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63 Rectángulo"/>
                <p:cNvSpPr/>
                <p:nvPr/>
              </p:nvSpPr>
              <p:spPr>
                <a:xfrm>
                  <a:off x="4297419" y="3765906"/>
                  <a:ext cx="2520280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AR" sz="3200" b="1" i="1" smtClean="0">
                            <a:solidFill>
                              <a:schemeClr val="accent1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𝒂</m:t>
                        </m:r>
                        <m:r>
                          <a:rPr lang="es-AR" sz="3200" b="1" i="1" smtClean="0">
                            <a:solidFill>
                              <a:schemeClr val="accent1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                   </m:t>
                        </m:r>
                        <m:r>
                          <a:rPr lang="es-AR" sz="3200" b="1" i="1" smtClean="0">
                            <a:solidFill>
                              <a:schemeClr val="accent1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𝒃</m:t>
                        </m:r>
                      </m:oMath>
                    </m:oMathPara>
                  </a14:m>
                  <a:endParaRPr lang="es-AR" sz="3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63 Rectángulo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7419" y="3765906"/>
                  <a:ext cx="2520280" cy="58477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64 Conector recto de flecha"/>
            <p:cNvCxnSpPr/>
            <p:nvPr/>
          </p:nvCxnSpPr>
          <p:spPr>
            <a:xfrm>
              <a:off x="3673048" y="4531736"/>
              <a:ext cx="3811647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66 Elipse"/>
            <p:cNvSpPr/>
            <p:nvPr/>
          </p:nvSpPr>
          <p:spPr>
            <a:xfrm>
              <a:off x="4316343" y="44533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1" name="70 Elipse"/>
            <p:cNvSpPr/>
            <p:nvPr/>
          </p:nvSpPr>
          <p:spPr>
            <a:xfrm>
              <a:off x="6404575" y="4453308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76 CuadroTexto"/>
              <p:cNvSpPr txBox="1"/>
              <p:nvPr/>
            </p:nvSpPr>
            <p:spPr>
              <a:xfrm>
                <a:off x="1527613" y="4725144"/>
                <a:ext cx="1287868" cy="674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s-AR" sz="2000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𝒂</m:t>
                          </m:r>
                          <m:r>
                            <a:rPr lang="es-AR" sz="2000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+</m:t>
                          </m:r>
                          <m:r>
                            <a:rPr lang="es-AR" sz="2000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𝒃</m:t>
                          </m:r>
                        </m:num>
                        <m:den>
                          <m:r>
                            <a:rPr lang="es-AR" sz="2000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AR" sz="20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7" name="7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613" y="4725144"/>
                <a:ext cx="1287868" cy="67492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CuadroTexto"/>
          <p:cNvSpPr txBox="1"/>
          <p:nvPr/>
        </p:nvSpPr>
        <p:spPr>
          <a:xfrm>
            <a:off x="266624" y="3198167"/>
            <a:ext cx="8468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¿Cuántos números racionales existen entre dos racionales?</a:t>
            </a:r>
          </a:p>
        </p:txBody>
      </p:sp>
      <p:sp>
        <p:nvSpPr>
          <p:cNvPr id="78" name="77 Elipse"/>
          <p:cNvSpPr/>
          <p:nvPr/>
        </p:nvSpPr>
        <p:spPr>
          <a:xfrm>
            <a:off x="2081022" y="4401128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5300980" y="4461724"/>
                <a:ext cx="338437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i="1" dirty="0">
                    <a:latin typeface="Arial" pitchFamily="34" charset="0"/>
                    <a:cs typeface="Arial" pitchFamily="34" charset="0"/>
                  </a:rPr>
                  <a:t>El promedio entre dos números a y b siempre, será mayor que a y menor que b </a:t>
                </a:r>
              </a:p>
              <a:p>
                <a:endParaRPr lang="es-AR" i="1" dirty="0">
                  <a:latin typeface="Arial" pitchFamily="34" charset="0"/>
                  <a:cs typeface="Arial" pitchFamily="34" charset="0"/>
                </a:endParaRPr>
              </a:p>
              <a:p>
                <a:pPr algn="r"/>
                <a:r>
                  <a:rPr lang="es-AR" i="1" dirty="0">
                    <a:latin typeface="Arial" pitchFamily="34" charset="0"/>
                    <a:cs typeface="Arial" pitchFamily="34" charset="0"/>
                  </a:rPr>
                  <a:t>Con  </a:t>
                </a:r>
                <a14:m>
                  <m:oMath xmlns:m="http://schemas.openxmlformats.org/officeDocument/2006/math">
                    <m:r>
                      <a:rPr lang="es-AR" b="1" i="1" dirty="0" smtClean="0">
                        <a:latin typeface="Cambria Math"/>
                        <a:cs typeface="Arial" pitchFamily="34" charset="0"/>
                      </a:rPr>
                      <m:t>𝒂</m:t>
                    </m:r>
                    <m:r>
                      <a:rPr lang="es-AR" b="1" i="1" dirty="0" smtClean="0">
                        <a:latin typeface="Cambria Math"/>
                        <a:cs typeface="Arial"/>
                      </a:rPr>
                      <m:t>&lt;</m:t>
                    </m:r>
                    <m:r>
                      <a:rPr lang="es-AR" b="1" i="1" dirty="0" smtClean="0">
                        <a:latin typeface="Cambria Math"/>
                        <a:cs typeface="Arial"/>
                      </a:rPr>
                      <m:t>𝒃</m:t>
                    </m:r>
                    <m:r>
                      <a:rPr lang="es-AR" b="1" i="1" dirty="0" smtClean="0">
                        <a:latin typeface="Cambria Math"/>
                        <a:cs typeface="Arial"/>
                      </a:rPr>
                      <m:t>     </m:t>
                    </m:r>
                    <m:r>
                      <a:rPr lang="es-AR" b="1" i="1" dirty="0" smtClean="0">
                        <a:latin typeface="Cambria Math"/>
                        <a:cs typeface="Arial"/>
                      </a:rPr>
                      <m:t>𝒚</m:t>
                    </m:r>
                    <m:r>
                      <a:rPr lang="es-AR" b="1" i="1" dirty="0" smtClean="0">
                        <a:latin typeface="Cambria Math"/>
                        <a:cs typeface="Arial"/>
                      </a:rPr>
                      <m:t>     </m:t>
                    </m:r>
                    <m:r>
                      <a:rPr lang="es-AR" b="1" i="1" dirty="0" smtClean="0">
                        <a:latin typeface="Cambria Math"/>
                        <a:cs typeface="Arial" pitchFamily="34" charset="0"/>
                      </a:rPr>
                      <m:t>𝒂</m:t>
                    </m:r>
                    <m:r>
                      <a:rPr lang="es-AR" b="1" i="1" dirty="0" smtClean="0">
                        <a:latin typeface="Cambria Math"/>
                        <a:cs typeface="Arial" pitchFamily="34" charset="0"/>
                      </a:rPr>
                      <m:t> ≠ </m:t>
                    </m:r>
                    <m:r>
                      <a:rPr lang="es-AR" b="1" i="1" dirty="0" smtClean="0">
                        <a:latin typeface="Cambria Math"/>
                        <a:cs typeface="Arial" pitchFamily="34" charset="0"/>
                      </a:rPr>
                      <m:t>𝒃</m:t>
                    </m:r>
                  </m:oMath>
                </a14:m>
                <a:endParaRPr lang="es-AR" b="1" i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980" y="4461724"/>
                <a:ext cx="3384375" cy="1477328"/>
              </a:xfrm>
              <a:prstGeom prst="rect">
                <a:avLst/>
              </a:prstGeom>
              <a:blipFill rotWithShape="1">
                <a:blip r:embed="rId8"/>
                <a:stretch>
                  <a:fillRect l="-1622" t="-2066" r="-2883" b="-578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84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3" grpId="0"/>
      <p:bldP spid="78" grpId="0" animBg="1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1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5847"/>
                  </p:ext>
                </p:extLst>
              </p:nvPr>
            </p:nvGraphicFramePr>
            <p:xfrm>
              <a:off x="262065" y="2420888"/>
              <a:ext cx="8485976" cy="698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5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98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>
                              <a:latin typeface="Arial" pitchFamily="34" charset="0"/>
                              <a:cs typeface="Arial" pitchFamily="34" charset="0"/>
                            </a:rPr>
                            <a:t>Denso : Lo</a:t>
                          </a:r>
                          <a:r>
                            <a:rPr lang="es-AR" baseline="0" dirty="0">
                              <a:latin typeface="Arial" pitchFamily="34" charset="0"/>
                              <a:cs typeface="Arial" pitchFamily="34" charset="0"/>
                            </a:rPr>
                            <a:t> contrario de DISCRETO.</a:t>
                          </a:r>
                        </a:p>
                        <a:p>
                          <a:pPr algn="ctr"/>
                          <a:r>
                            <a:rPr lang="es-AR" baseline="0" dirty="0">
                              <a:latin typeface="Arial" pitchFamily="34" charset="0"/>
                              <a:cs typeface="Arial" pitchFamily="34" charset="0"/>
                            </a:rPr>
                            <a:t>Un número </a:t>
                          </a:r>
                          <a14:m>
                            <m:oMath xmlns:m="http://schemas.openxmlformats.org/officeDocument/2006/math">
                              <m:r>
                                <a:rPr lang="es-AR" i="1" baseline="0" smtClean="0">
                                  <a:latin typeface="Cambria Math"/>
                                  <a:ea typeface="Cambria Math"/>
                                  <a:cs typeface="Arial" pitchFamily="34" charset="0"/>
                                </a:rPr>
                                <m:t>ℚ</m:t>
                              </m:r>
                            </m:oMath>
                          </a14:m>
                          <a:r>
                            <a:rPr lang="es-AR" baseline="0" dirty="0">
                              <a:latin typeface="Arial" pitchFamily="34" charset="0"/>
                              <a:cs typeface="Arial" pitchFamily="34" charset="0"/>
                            </a:rPr>
                            <a:t> no tiene siguiente.</a:t>
                          </a:r>
                          <a:endParaRPr lang="es-AR" dirty="0"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1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5847"/>
                  </p:ext>
                </p:extLst>
              </p:nvPr>
            </p:nvGraphicFramePr>
            <p:xfrm>
              <a:off x="262065" y="2420888"/>
              <a:ext cx="8485976" cy="698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5976"/>
                  </a:tblGrid>
                  <a:tr h="698784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72" t="-4348" r="-72" b="-521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58" name="57 Grupo"/>
          <p:cNvGrpSpPr/>
          <p:nvPr/>
        </p:nvGrpSpPr>
        <p:grpSpPr>
          <a:xfrm>
            <a:off x="501725" y="3475299"/>
            <a:ext cx="8426760" cy="881688"/>
            <a:chOff x="3615586" y="3765906"/>
            <a:chExt cx="8426760" cy="8816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63 Rectángulo"/>
                <p:cNvSpPr/>
                <p:nvPr/>
              </p:nvSpPr>
              <p:spPr>
                <a:xfrm>
                  <a:off x="3920386" y="3765906"/>
                  <a:ext cx="755962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AR" sz="3200" b="1" i="1" smtClean="0">
                            <a:solidFill>
                              <a:schemeClr val="accent1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𝒂</m:t>
                        </m:r>
                        <m:r>
                          <a:rPr lang="es-AR" sz="3200" b="1" i="1" smtClean="0">
                            <a:solidFill>
                              <a:schemeClr val="accent1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                                                                              </m:t>
                        </m:r>
                        <m:r>
                          <a:rPr lang="es-AR" sz="3200" b="1" i="1" smtClean="0">
                            <a:solidFill>
                              <a:schemeClr val="accent1"/>
                            </a:solidFill>
                            <a:latin typeface="Cambria Math"/>
                            <a:ea typeface="AGaramondPro-Regular" charset="-128"/>
                            <a:cs typeface="Arial" pitchFamily="34" charset="0"/>
                          </a:rPr>
                          <m:t>𝒃</m:t>
                        </m:r>
                      </m:oMath>
                    </m:oMathPara>
                  </a14:m>
                  <a:endParaRPr lang="es-AR" sz="3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63 Rectángulo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0386" y="3765906"/>
                  <a:ext cx="7559625" cy="58477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64 Conector recto de flecha"/>
            <p:cNvCxnSpPr/>
            <p:nvPr/>
          </p:nvCxnSpPr>
          <p:spPr>
            <a:xfrm>
              <a:off x="3615586" y="4531736"/>
              <a:ext cx="8426760" cy="2585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66 Elipse"/>
            <p:cNvSpPr/>
            <p:nvPr/>
          </p:nvSpPr>
          <p:spPr>
            <a:xfrm>
              <a:off x="3942672" y="4441736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1" name="70 Elipse"/>
            <p:cNvSpPr/>
            <p:nvPr/>
          </p:nvSpPr>
          <p:spPr>
            <a:xfrm>
              <a:off x="11281518" y="4467594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76 CuadroTexto"/>
              <p:cNvSpPr txBox="1"/>
              <p:nvPr/>
            </p:nvSpPr>
            <p:spPr>
              <a:xfrm>
                <a:off x="4071171" y="4525419"/>
                <a:ext cx="1287868" cy="616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s-AR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𝒂</m:t>
                          </m:r>
                          <m:r>
                            <a:rPr lang="es-AR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+</m:t>
                          </m:r>
                          <m:r>
                            <a:rPr lang="es-AR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𝒃</m:t>
                          </m:r>
                        </m:num>
                        <m:den>
                          <m:r>
                            <a:rPr lang="es-AR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AR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7" name="7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171" y="4525419"/>
                <a:ext cx="1287868" cy="61664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CuadroTexto"/>
          <p:cNvSpPr txBox="1"/>
          <p:nvPr/>
        </p:nvSpPr>
        <p:spPr>
          <a:xfrm>
            <a:off x="793242" y="5589240"/>
            <a:ext cx="7843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Estos pasos lo podemos repetir infinitamente de veces</a:t>
            </a:r>
          </a:p>
        </p:txBody>
      </p:sp>
      <p:sp>
        <p:nvSpPr>
          <p:cNvPr id="78" name="77 Elipse"/>
          <p:cNvSpPr/>
          <p:nvPr/>
        </p:nvSpPr>
        <p:spPr>
          <a:xfrm>
            <a:off x="4560076" y="4172605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CuadroTexto"/>
              <p:cNvSpPr txBox="1"/>
              <p:nvPr/>
            </p:nvSpPr>
            <p:spPr>
              <a:xfrm>
                <a:off x="2150399" y="3264087"/>
                <a:ext cx="1287868" cy="795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s-AR" b="1" i="1">
                              <a:solidFill>
                                <a:srgbClr val="00B050"/>
                              </a:solidFill>
                              <a:latin typeface="Cambria Math"/>
                              <a:cs typeface="Arial" pitchFamily="34" charset="0"/>
                            </a:rPr>
                            <m:t>𝒂</m:t>
                          </m:r>
                          <m:r>
                            <a:rPr lang="es-AR" b="1" i="1">
                              <a:solidFill>
                                <a:srgbClr val="00B050"/>
                              </a:solidFill>
                              <a:latin typeface="Cambria Math"/>
                              <a:cs typeface="Arial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A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fPr>
                            <m:num>
                              <m:r>
                                <a:rPr lang="es-AR" b="1" i="1">
                                  <a:solidFill>
                                    <a:srgbClr val="00B05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𝒂</m:t>
                              </m:r>
                              <m:r>
                                <a:rPr lang="es-AR" b="1" i="1">
                                  <a:solidFill>
                                    <a:srgbClr val="00B05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+</m:t>
                              </m:r>
                              <m:r>
                                <a:rPr lang="es-AR" b="1" i="1">
                                  <a:solidFill>
                                    <a:srgbClr val="00B05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𝒃</m:t>
                              </m:r>
                            </m:num>
                            <m:den>
                              <m:r>
                                <a:rPr lang="es-AR" b="1" i="1">
                                  <a:solidFill>
                                    <a:srgbClr val="00B05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𝟐</m:t>
                              </m:r>
                            </m:den>
                          </m:f>
                        </m:num>
                        <m:den>
                          <m:r>
                            <a:rPr lang="es-AR" b="1" i="1" smtClean="0">
                              <a:solidFill>
                                <a:srgbClr val="00B050"/>
                              </a:solidFill>
                              <a:latin typeface="Cambria Math"/>
                              <a:cs typeface="Arial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AR" b="1" dirty="0">
                  <a:solidFill>
                    <a:srgbClr val="00B0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399" y="3264087"/>
                <a:ext cx="1287868" cy="79598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23 Elipse"/>
          <p:cNvSpPr/>
          <p:nvPr/>
        </p:nvSpPr>
        <p:spPr>
          <a:xfrm>
            <a:off x="2682230" y="4150931"/>
            <a:ext cx="180000" cy="180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1008810" y="4499327"/>
                <a:ext cx="1546965" cy="100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s-AR" b="1" i="1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itchFamily="34" charset="0"/>
                            </a:rPr>
                            <m:t>𝒂</m:t>
                          </m:r>
                          <m:r>
                            <a:rPr lang="es-AR" b="1" i="1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AR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fPr>
                            <m:num>
                              <m:r>
                                <a:rPr lang="es-AR" b="1" i="1">
                                  <a:solidFill>
                                    <a:schemeClr val="accent2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𝒂</m:t>
                              </m:r>
                              <m:r>
                                <a:rPr lang="es-AR" b="1" i="1">
                                  <a:solidFill>
                                    <a:schemeClr val="accent2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AR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1" i="1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𝒂</m:t>
                                  </m:r>
                                  <m:r>
                                    <a:rPr lang="es-AR" b="1" i="1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+</m:t>
                                  </m:r>
                                  <m:r>
                                    <a:rPr lang="es-AR" b="1" i="1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𝒃</m:t>
                                  </m:r>
                                </m:num>
                                <m:den>
                                  <m:r>
                                    <a:rPr lang="es-AR" b="1" i="1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𝟐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s-AR" b="1" i="1">
                                  <a:solidFill>
                                    <a:schemeClr val="accent2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𝟐</m:t>
                              </m:r>
                            </m:den>
                          </m:f>
                        </m:num>
                        <m:den>
                          <m:r>
                            <a:rPr lang="es-AR" b="1" i="1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AR" b="1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10" y="4499327"/>
                <a:ext cx="1546965" cy="100053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Elipse"/>
          <p:cNvSpPr/>
          <p:nvPr/>
        </p:nvSpPr>
        <p:spPr>
          <a:xfrm>
            <a:off x="1676479" y="4164058"/>
            <a:ext cx="180000" cy="18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605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3" grpId="0"/>
      <p:bldP spid="78" grpId="0" animBg="1"/>
      <p:bldP spid="23" grpId="0"/>
      <p:bldP spid="24" grpId="0" animBg="1"/>
      <p:bldP spid="25" grpId="0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20" name="19 Grupo"/>
          <p:cNvGrpSpPr/>
          <p:nvPr/>
        </p:nvGrpSpPr>
        <p:grpSpPr>
          <a:xfrm>
            <a:off x="387903" y="2432228"/>
            <a:ext cx="2103216" cy="3220588"/>
            <a:chOff x="7847250" y="1402321"/>
            <a:chExt cx="2103216" cy="3220588"/>
          </a:xfrm>
        </p:grpSpPr>
        <p:grpSp>
          <p:nvGrpSpPr>
            <p:cNvPr id="49" name="48 Grupo"/>
            <p:cNvGrpSpPr/>
            <p:nvPr/>
          </p:nvGrpSpPr>
          <p:grpSpPr>
            <a:xfrm>
              <a:off x="8141947" y="1651089"/>
              <a:ext cx="1440161" cy="2853639"/>
              <a:chOff x="5800966" y="2586094"/>
              <a:chExt cx="1582876" cy="3951971"/>
            </a:xfrm>
          </p:grpSpPr>
          <p:sp>
            <p:nvSpPr>
              <p:cNvPr id="51" name="50 Elipse"/>
              <p:cNvSpPr/>
              <p:nvPr/>
            </p:nvSpPr>
            <p:spPr>
              <a:xfrm>
                <a:off x="5800966" y="3047759"/>
                <a:ext cx="1582876" cy="3490306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55 CuadroTexto"/>
                  <p:cNvSpPr txBox="1"/>
                  <p:nvPr/>
                </p:nvSpPr>
                <p:spPr>
                  <a:xfrm>
                    <a:off x="5829036" y="2586094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5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9036" y="2586094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38 Grupo"/>
            <p:cNvGrpSpPr/>
            <p:nvPr/>
          </p:nvGrpSpPr>
          <p:grpSpPr>
            <a:xfrm>
              <a:off x="8326490" y="2211504"/>
              <a:ext cx="1173151" cy="2024036"/>
              <a:chOff x="5922666" y="3423364"/>
              <a:chExt cx="1173151" cy="2939377"/>
            </a:xfrm>
          </p:grpSpPr>
          <p:sp>
            <p:nvSpPr>
              <p:cNvPr id="41" name="40 Elipse"/>
              <p:cNvSpPr/>
              <p:nvPr/>
            </p:nvSpPr>
            <p:spPr>
              <a:xfrm>
                <a:off x="6223663" y="3866340"/>
                <a:ext cx="872154" cy="2496401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47 CuadroTexto"/>
                  <p:cNvSpPr txBox="1"/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4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33 Grupo"/>
            <p:cNvGrpSpPr/>
            <p:nvPr/>
          </p:nvGrpSpPr>
          <p:grpSpPr>
            <a:xfrm>
              <a:off x="7847250" y="1402321"/>
              <a:ext cx="2103216" cy="3220588"/>
              <a:chOff x="7265078" y="2564920"/>
              <a:chExt cx="1718610" cy="2974507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7265078" y="2679671"/>
                <a:ext cx="1644428" cy="2859756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37 CuadroTexto"/>
                  <p:cNvSpPr txBox="1"/>
                  <p:nvPr/>
                </p:nvSpPr>
                <p:spPr>
                  <a:xfrm>
                    <a:off x="8381694" y="2564920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3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1694" y="2564920"/>
                    <a:ext cx="601994" cy="459519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b="-365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2915816" y="2386010"/>
                <a:ext cx="5503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2400" dirty="0">
                    <a:latin typeface="Arial" pitchFamily="34" charset="0"/>
                    <a:cs typeface="Arial" pitchFamily="34" charset="0"/>
                  </a:rPr>
                  <a:t>¿Qué pasa con la operación Raíz y </a:t>
                </a:r>
                <a14:m>
                  <m:oMath xmlns:m="http://schemas.openxmlformats.org/officeDocument/2006/math">
                    <m:r>
                      <a:rPr lang="es-AR" sz="2400" b="1" i="1" dirty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400" dirty="0">
                    <a:latin typeface="Arial" pitchFamily="34" charset="0"/>
                    <a:cs typeface="Arial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386010"/>
                <a:ext cx="550343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1661" t="-9211" r="-775" b="-302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56 CuadroTexto"/>
          <p:cNvSpPr txBox="1"/>
          <p:nvPr/>
        </p:nvSpPr>
        <p:spPr>
          <a:xfrm>
            <a:off x="3667841" y="3169528"/>
            <a:ext cx="4277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¿Cumple con la ley de cierre?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Rectángulo"/>
              <p:cNvSpPr/>
              <p:nvPr/>
            </p:nvSpPr>
            <p:spPr>
              <a:xfrm>
                <a:off x="3286127" y="3987047"/>
                <a:ext cx="5040560" cy="8377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AR" sz="4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AR" sz="4000" b="1" i="1" dirty="0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deg>
                        <m:e>
                          <m:r>
                            <a:rPr lang="es-AR" sz="4000" b="1" i="1" dirty="0">
                              <a:latin typeface="Cambria Math"/>
                              <a:ea typeface="Cambria Math"/>
                            </a:rPr>
                            <m:t>ℚ</m:t>
                          </m:r>
                        </m:e>
                      </m:rad>
                      <m:r>
                        <a:rPr lang="es-AR" sz="4000" b="1" i="1" dirty="0" smtClean="0">
                          <a:latin typeface="Cambria Math"/>
                          <a:ea typeface="Cambria Math"/>
                        </a:rPr>
                        <m:t>=???       </m:t>
                      </m:r>
                      <m:r>
                        <a:rPr lang="es-AR" sz="4000" b="1" i="1" dirty="0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s-AR" sz="4000" b="1" i="1" dirty="0" smtClean="0">
                          <a:latin typeface="Cambria Math"/>
                          <a:ea typeface="Cambria Math"/>
                        </a:rPr>
                        <m:t>∈</m:t>
                      </m:r>
                      <m:sSub>
                        <m:sSubPr>
                          <m:ctrlPr>
                            <a:rPr lang="es-AR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ℕ</m:t>
                          </m:r>
                        </m:e>
                        <m:sub>
                          <m:r>
                            <a:rPr lang="es-AR" sz="3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27" y="3987047"/>
                <a:ext cx="5040560" cy="83779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58 Rectángulo"/>
              <p:cNvSpPr/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9" name="5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3688818" y="5190277"/>
                <a:ext cx="4639988" cy="688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32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3200" b="1" i="1" dirty="0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s-AR" sz="3200" b="1" i="1" dirty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 ; </m:t>
                      </m:r>
                      <m:rad>
                        <m:radPr>
                          <m:ctrlPr>
                            <a:rPr lang="es-AR" sz="32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AR" sz="3200" b="1" i="1" dirty="0">
                              <a:latin typeface="Cambria Math"/>
                              <a:ea typeface="Cambria Math"/>
                            </a:rPr>
                            <m:t>𝟑</m:t>
                          </m:r>
                        </m:deg>
                        <m:e>
                          <m:r>
                            <a:rPr lang="es-AR" sz="3200" b="1" i="1" dirty="0">
                              <a:latin typeface="Cambria Math"/>
                              <a:ea typeface="Cambria Math"/>
                            </a:rPr>
                            <m:t>𝟏𝟎</m:t>
                          </m:r>
                        </m:e>
                      </m:rad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  ;   </m:t>
                      </m:r>
                      <m:rad>
                        <m:radPr>
                          <m:degHide m:val="on"/>
                          <m:ctrlPr>
                            <a:rPr lang="es-AR" sz="32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° </m:t>
                          </m:r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𝒑𝒓𝒊𝒎𝒐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818" y="5190277"/>
                <a:ext cx="4639988" cy="68871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71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7" grpId="0"/>
      <p:bldP spid="6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5517" y="1196754"/>
            <a:ext cx="87129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OPERACIONES y PROPIEDADES</a:t>
            </a: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s-AR" sz="2400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Números Primos:</a:t>
            </a:r>
            <a:endParaRPr lang="es-AR" sz="2800" dirty="0">
              <a:solidFill>
                <a:srgbClr val="000000"/>
              </a:solidFill>
              <a:latin typeface="Arial" pitchFamily="34" charset="0"/>
              <a:ea typeface="AGaramondPro-Regular" charset="-128"/>
              <a:cs typeface="Arial" pitchFamily="34" charset="0"/>
            </a:endParaRPr>
          </a:p>
        </p:txBody>
      </p:sp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337403" y="2386009"/>
                <a:ext cx="266810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𝑫</m:t>
                          </m:r>
                        </m:e>
                        <m:sub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AR" sz="3200" b="1" i="1" smtClean="0">
                          <a:latin typeface="Cambria Math"/>
                          <a:cs typeface="Arial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𝟏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; 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s-AR" sz="32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03" y="2386009"/>
                <a:ext cx="266810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56 CuadroTexto"/>
          <p:cNvSpPr txBox="1"/>
          <p:nvPr/>
        </p:nvSpPr>
        <p:spPr>
          <a:xfrm>
            <a:off x="3716053" y="2447563"/>
            <a:ext cx="3746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¿Cuántos divisores tiene?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Rectángulo"/>
              <p:cNvSpPr/>
              <p:nvPr/>
            </p:nvSpPr>
            <p:spPr>
              <a:xfrm>
                <a:off x="7462591" y="2371042"/>
                <a:ext cx="8538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91" y="2371042"/>
                <a:ext cx="853825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58 Rectángulo"/>
              <p:cNvSpPr/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9" name="5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CuadroTexto"/>
              <p:cNvSpPr txBox="1"/>
              <p:nvPr/>
            </p:nvSpPr>
            <p:spPr>
              <a:xfrm>
                <a:off x="307975" y="3134313"/>
                <a:ext cx="266810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𝑫</m:t>
                          </m:r>
                        </m:e>
                        <m:sub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AR" sz="3200" b="1" i="1" smtClean="0">
                          <a:latin typeface="Cambria Math"/>
                          <a:cs typeface="Arial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𝟏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; 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s-AR" sz="32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3134313"/>
                <a:ext cx="2668103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22 CuadroTexto"/>
          <p:cNvSpPr txBox="1"/>
          <p:nvPr/>
        </p:nvSpPr>
        <p:spPr>
          <a:xfrm>
            <a:off x="3686625" y="3195867"/>
            <a:ext cx="3746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¿Cuántos divisores tiene?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Rectángulo"/>
              <p:cNvSpPr/>
              <p:nvPr/>
            </p:nvSpPr>
            <p:spPr>
              <a:xfrm>
                <a:off x="7433163" y="3119346"/>
                <a:ext cx="8538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2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163" y="3119346"/>
                <a:ext cx="853825" cy="58477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323528" y="3933056"/>
                <a:ext cx="266810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𝑫</m:t>
                          </m:r>
                        </m:e>
                        <m:sub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AR" sz="3200" b="1" i="1" smtClean="0">
                          <a:latin typeface="Cambria Math"/>
                          <a:cs typeface="Arial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𝟏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; 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s-AR" sz="32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933056"/>
                <a:ext cx="2668103" cy="58477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CuadroTexto"/>
          <p:cNvSpPr txBox="1"/>
          <p:nvPr/>
        </p:nvSpPr>
        <p:spPr>
          <a:xfrm>
            <a:off x="3702178" y="3994610"/>
            <a:ext cx="3746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¿Cuántos divisores tiene?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Rectángulo"/>
              <p:cNvSpPr/>
              <p:nvPr/>
            </p:nvSpPr>
            <p:spPr>
              <a:xfrm>
                <a:off x="7448716" y="3918089"/>
                <a:ext cx="8538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2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716" y="3918089"/>
                <a:ext cx="853825" cy="58477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27 CuadroTexto"/>
              <p:cNvSpPr txBox="1"/>
              <p:nvPr/>
            </p:nvSpPr>
            <p:spPr>
              <a:xfrm>
                <a:off x="323528" y="4684852"/>
                <a:ext cx="3092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𝑫</m:t>
                          </m:r>
                        </m:e>
                        <m:sub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𝟒𝟑</m:t>
                          </m:r>
                        </m:sub>
                      </m:sSub>
                      <m:r>
                        <a:rPr lang="es-AR" sz="3200" b="1" i="1" smtClean="0">
                          <a:latin typeface="Cambria Math"/>
                          <a:cs typeface="Arial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𝟏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; 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𝟒𝟑</m:t>
                          </m:r>
                        </m:e>
                      </m:d>
                    </m:oMath>
                  </m:oMathPara>
                </a14:m>
                <a:endParaRPr lang="es-AR" sz="32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684852"/>
                <a:ext cx="3092898" cy="58477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28 CuadroTexto"/>
          <p:cNvSpPr txBox="1"/>
          <p:nvPr/>
        </p:nvSpPr>
        <p:spPr>
          <a:xfrm>
            <a:off x="3702178" y="4746406"/>
            <a:ext cx="3746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¿Cuántos divisores tiene?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29 Rectángulo"/>
              <p:cNvSpPr/>
              <p:nvPr/>
            </p:nvSpPr>
            <p:spPr>
              <a:xfrm>
                <a:off x="7448716" y="4669885"/>
                <a:ext cx="8538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0" name="2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716" y="4669885"/>
                <a:ext cx="853825" cy="58477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31 CuadroTexto"/>
          <p:cNvSpPr txBox="1"/>
          <p:nvPr/>
        </p:nvSpPr>
        <p:spPr>
          <a:xfrm>
            <a:off x="925809" y="5579041"/>
            <a:ext cx="7292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Los números primos son aquellos números que </a:t>
            </a:r>
          </a:p>
          <a:p>
            <a:r>
              <a:rPr lang="es-AR" sz="2400" b="1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solamente tienen 4 divisores</a:t>
            </a:r>
          </a:p>
        </p:txBody>
      </p:sp>
    </p:spTree>
    <p:extLst>
      <p:ext uri="{BB962C8B-B14F-4D97-AF65-F5344CB8AC3E}">
        <p14:creationId xmlns:p14="http://schemas.microsoft.com/office/powerpoint/2010/main" val="292485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7" grpId="0"/>
      <p:bldP spid="6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5517" y="1196754"/>
            <a:ext cx="87129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OPERACIONES y PROPIEDADES</a:t>
            </a: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s-AR" sz="2400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Números Primos:</a:t>
            </a:r>
            <a:endParaRPr lang="es-AR" sz="2800" dirty="0">
              <a:solidFill>
                <a:srgbClr val="000000"/>
              </a:solidFill>
              <a:latin typeface="Arial" pitchFamily="34" charset="0"/>
              <a:ea typeface="AGaramondPro-Regular" charset="-128"/>
              <a:cs typeface="Arial" pitchFamily="34" charset="0"/>
            </a:endParaRPr>
          </a:p>
        </p:txBody>
      </p:sp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57" name="56 CuadroTexto"/>
          <p:cNvSpPr txBox="1"/>
          <p:nvPr/>
        </p:nvSpPr>
        <p:spPr>
          <a:xfrm>
            <a:off x="2131312" y="2367184"/>
            <a:ext cx="347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¿El numero 1 es primo?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Rectángulo"/>
              <p:cNvSpPr/>
              <p:nvPr/>
            </p:nvSpPr>
            <p:spPr>
              <a:xfrm>
                <a:off x="2915816" y="4293096"/>
                <a:ext cx="300958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𝑵𝑶</m:t>
                      </m:r>
                      <m:r>
                        <a:rPr lang="es-AR" sz="3200" b="1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𝑬𝑺</m:t>
                      </m:r>
                      <m:r>
                        <a:rPr lang="es-AR" sz="3200" b="1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s-AR" sz="3200" b="1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𝑷𝑹𝑰𝑴𝑶</m:t>
                      </m:r>
                    </m:oMath>
                  </m:oMathPara>
                </a14:m>
                <a:endParaRPr lang="es-AR" sz="32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293096"/>
                <a:ext cx="3009584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CuadroTexto"/>
              <p:cNvSpPr txBox="1"/>
              <p:nvPr/>
            </p:nvSpPr>
            <p:spPr>
              <a:xfrm>
                <a:off x="307975" y="3134313"/>
                <a:ext cx="184948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𝑫</m:t>
                          </m:r>
                        </m:e>
                        <m:sub>
                          <m:r>
                            <a:rPr lang="es-AR" sz="3200" b="1" i="1" smtClean="0">
                              <a:latin typeface="Cambria Math"/>
                              <a:cs typeface="Arial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AR" sz="3200" b="1" i="1" smtClean="0">
                          <a:latin typeface="Cambria Math"/>
                          <a:cs typeface="Arial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2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±</m:t>
                          </m:r>
                          <m:r>
                            <a:rPr lang="es-AR" sz="3200" b="1" i="1" smtClean="0"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s-AR" sz="32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3134313"/>
                <a:ext cx="1849481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22 CuadroTexto"/>
          <p:cNvSpPr txBox="1"/>
          <p:nvPr/>
        </p:nvSpPr>
        <p:spPr>
          <a:xfrm>
            <a:off x="2993601" y="3242456"/>
            <a:ext cx="3746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¿Cuántos divisores tiene?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Rectángulo"/>
              <p:cNvSpPr/>
              <p:nvPr/>
            </p:nvSpPr>
            <p:spPr>
              <a:xfrm>
                <a:off x="7418255" y="3180900"/>
                <a:ext cx="8538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2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255" y="3180900"/>
                <a:ext cx="853825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86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" grpId="0"/>
      <p:bldP spid="22" grpId="0"/>
      <p:bldP spid="23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20" name="19 Grupo"/>
          <p:cNvGrpSpPr/>
          <p:nvPr/>
        </p:nvGrpSpPr>
        <p:grpSpPr>
          <a:xfrm>
            <a:off x="387903" y="2432228"/>
            <a:ext cx="2103216" cy="3220588"/>
            <a:chOff x="7847250" y="1402321"/>
            <a:chExt cx="2103216" cy="3220588"/>
          </a:xfrm>
        </p:grpSpPr>
        <p:grpSp>
          <p:nvGrpSpPr>
            <p:cNvPr id="49" name="48 Grupo"/>
            <p:cNvGrpSpPr/>
            <p:nvPr/>
          </p:nvGrpSpPr>
          <p:grpSpPr>
            <a:xfrm>
              <a:off x="8141947" y="1651089"/>
              <a:ext cx="1440161" cy="2853639"/>
              <a:chOff x="5800966" y="2586094"/>
              <a:chExt cx="1582876" cy="3951971"/>
            </a:xfrm>
          </p:grpSpPr>
          <p:sp>
            <p:nvSpPr>
              <p:cNvPr id="51" name="50 Elipse"/>
              <p:cNvSpPr/>
              <p:nvPr/>
            </p:nvSpPr>
            <p:spPr>
              <a:xfrm>
                <a:off x="5800966" y="3047759"/>
                <a:ext cx="1582876" cy="3490306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55 CuadroTexto"/>
                  <p:cNvSpPr txBox="1"/>
                  <p:nvPr/>
                </p:nvSpPr>
                <p:spPr>
                  <a:xfrm>
                    <a:off x="5829036" y="2586094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5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9036" y="2586094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38 Grupo"/>
            <p:cNvGrpSpPr/>
            <p:nvPr/>
          </p:nvGrpSpPr>
          <p:grpSpPr>
            <a:xfrm>
              <a:off x="8326490" y="2211504"/>
              <a:ext cx="1173151" cy="2024036"/>
              <a:chOff x="5922666" y="3423364"/>
              <a:chExt cx="1173151" cy="2939377"/>
            </a:xfrm>
          </p:grpSpPr>
          <p:sp>
            <p:nvSpPr>
              <p:cNvPr id="41" name="40 Elipse"/>
              <p:cNvSpPr/>
              <p:nvPr/>
            </p:nvSpPr>
            <p:spPr>
              <a:xfrm>
                <a:off x="6223663" y="3866340"/>
                <a:ext cx="872154" cy="2496401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47 CuadroTexto"/>
                  <p:cNvSpPr txBox="1"/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4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33 Grupo"/>
            <p:cNvGrpSpPr/>
            <p:nvPr/>
          </p:nvGrpSpPr>
          <p:grpSpPr>
            <a:xfrm>
              <a:off x="7847250" y="1402321"/>
              <a:ext cx="2103216" cy="3220588"/>
              <a:chOff x="7265078" y="2564920"/>
              <a:chExt cx="1718610" cy="2974507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7265078" y="2679671"/>
                <a:ext cx="1644428" cy="2859756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37 CuadroTexto"/>
                  <p:cNvSpPr txBox="1"/>
                  <p:nvPr/>
                </p:nvSpPr>
                <p:spPr>
                  <a:xfrm>
                    <a:off x="8381694" y="2564920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3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1694" y="2564920"/>
                    <a:ext cx="601994" cy="459519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b="-365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2915816" y="2386010"/>
                <a:ext cx="5503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AR" sz="2400" dirty="0">
                    <a:latin typeface="Arial" pitchFamily="34" charset="0"/>
                    <a:cs typeface="Arial" pitchFamily="34" charset="0"/>
                  </a:rPr>
                  <a:t>¿Qué pasa con la operación Raíz y </a:t>
                </a:r>
                <a14:m>
                  <m:oMath xmlns:m="http://schemas.openxmlformats.org/officeDocument/2006/math">
                    <m:r>
                      <a:rPr lang="es-AR" sz="2400" b="1" i="1" dirty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400" dirty="0">
                    <a:latin typeface="Arial" pitchFamily="34" charset="0"/>
                    <a:cs typeface="Arial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386010"/>
                <a:ext cx="550343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1661" t="-9211" r="-775" b="-302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56 CuadroTexto"/>
          <p:cNvSpPr txBox="1"/>
          <p:nvPr/>
        </p:nvSpPr>
        <p:spPr>
          <a:xfrm>
            <a:off x="3667841" y="3169528"/>
            <a:ext cx="4277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>
                <a:latin typeface="Arial" pitchFamily="34" charset="0"/>
                <a:cs typeface="Arial" pitchFamily="34" charset="0"/>
              </a:rPr>
              <a:t>¿Cumple con la ley de cierre?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Rectángulo"/>
              <p:cNvSpPr/>
              <p:nvPr/>
            </p:nvSpPr>
            <p:spPr>
              <a:xfrm>
                <a:off x="3286127" y="3987047"/>
                <a:ext cx="5040560" cy="8377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AR" sz="40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AR" sz="4000" b="1" i="1" dirty="0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deg>
                        <m:e>
                          <m:r>
                            <a:rPr lang="es-AR" sz="4000" b="1" i="1" dirty="0">
                              <a:latin typeface="Cambria Math"/>
                              <a:ea typeface="Cambria Math"/>
                            </a:rPr>
                            <m:t>ℚ</m:t>
                          </m:r>
                        </m:e>
                      </m:rad>
                      <m:r>
                        <a:rPr lang="es-AR" sz="4000" b="1" i="1" dirty="0" smtClean="0">
                          <a:latin typeface="Cambria Math"/>
                          <a:ea typeface="Cambria Math"/>
                        </a:rPr>
                        <m:t>=???       </m:t>
                      </m:r>
                      <m:r>
                        <a:rPr lang="es-AR" sz="4000" b="1" i="1" dirty="0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s-AR" sz="4000" b="1" i="1" dirty="0" smtClean="0">
                          <a:latin typeface="Cambria Math"/>
                          <a:ea typeface="Cambria Math"/>
                        </a:rPr>
                        <m:t>∈</m:t>
                      </m:r>
                      <m:sSub>
                        <m:sSubPr>
                          <m:ctrlPr>
                            <a:rPr lang="es-AR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ℕ</m:t>
                          </m:r>
                        </m:e>
                        <m:sub>
                          <m:r>
                            <a:rPr lang="es-AR" sz="3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27" y="3987047"/>
                <a:ext cx="5040560" cy="83779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58 Rectángulo"/>
              <p:cNvSpPr/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9" name="5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3688818" y="5190277"/>
                <a:ext cx="4639988" cy="688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32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3200" b="1" i="1" dirty="0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s-AR" sz="3200" b="1" i="1" dirty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 ; </m:t>
                      </m:r>
                      <m:rad>
                        <m:radPr>
                          <m:ctrlPr>
                            <a:rPr lang="es-AR" sz="32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AR" sz="3200" b="1" i="1" dirty="0">
                              <a:latin typeface="Cambria Math"/>
                              <a:ea typeface="Cambria Math"/>
                            </a:rPr>
                            <m:t>𝟑</m:t>
                          </m:r>
                        </m:deg>
                        <m:e>
                          <m:r>
                            <a:rPr lang="es-AR" sz="3200" b="1" i="1" dirty="0">
                              <a:latin typeface="Cambria Math"/>
                              <a:ea typeface="Cambria Math"/>
                            </a:rPr>
                            <m:t>𝟏𝟎</m:t>
                          </m:r>
                        </m:e>
                      </m:rad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  ;   </m:t>
                      </m:r>
                      <m:rad>
                        <m:radPr>
                          <m:degHide m:val="on"/>
                          <m:ctrlPr>
                            <a:rPr lang="es-AR" sz="3200" b="1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° </m:t>
                          </m:r>
                          <m:r>
                            <a:rPr lang="es-AR" sz="3200" b="1" i="1" dirty="0" smtClean="0">
                              <a:latin typeface="Cambria Math"/>
                              <a:ea typeface="Cambria Math"/>
                            </a:rPr>
                            <m:t>𝒑𝒓𝒊𝒎𝒐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818" y="5190277"/>
                <a:ext cx="4639988" cy="68871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22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números IRRACIONALES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1" i="1" dirty="0" smtClean="0">
                        <a:latin typeface="Cambria Math"/>
                        <a:ea typeface="Cambria Math"/>
                      </a:rPr>
                      <m:t>Ι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20" name="19 Grupo"/>
          <p:cNvGrpSpPr/>
          <p:nvPr/>
        </p:nvGrpSpPr>
        <p:grpSpPr>
          <a:xfrm>
            <a:off x="387903" y="2432228"/>
            <a:ext cx="2103216" cy="3220588"/>
            <a:chOff x="7847250" y="1402321"/>
            <a:chExt cx="2103216" cy="3220588"/>
          </a:xfrm>
        </p:grpSpPr>
        <p:grpSp>
          <p:nvGrpSpPr>
            <p:cNvPr id="49" name="48 Grupo"/>
            <p:cNvGrpSpPr/>
            <p:nvPr/>
          </p:nvGrpSpPr>
          <p:grpSpPr>
            <a:xfrm>
              <a:off x="8141947" y="1651089"/>
              <a:ext cx="1440161" cy="2853639"/>
              <a:chOff x="5800966" y="2586094"/>
              <a:chExt cx="1582876" cy="3951971"/>
            </a:xfrm>
          </p:grpSpPr>
          <p:sp>
            <p:nvSpPr>
              <p:cNvPr id="51" name="50 Elipse"/>
              <p:cNvSpPr/>
              <p:nvPr/>
            </p:nvSpPr>
            <p:spPr>
              <a:xfrm>
                <a:off x="5800966" y="3047759"/>
                <a:ext cx="1582876" cy="3490306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55 CuadroTexto"/>
                  <p:cNvSpPr txBox="1"/>
                  <p:nvPr/>
                </p:nvSpPr>
                <p:spPr>
                  <a:xfrm>
                    <a:off x="5829036" y="2586094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5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9036" y="2586094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38 Grupo"/>
            <p:cNvGrpSpPr/>
            <p:nvPr/>
          </p:nvGrpSpPr>
          <p:grpSpPr>
            <a:xfrm>
              <a:off x="8326490" y="2211504"/>
              <a:ext cx="1173151" cy="2024036"/>
              <a:chOff x="5922666" y="3423364"/>
              <a:chExt cx="1173151" cy="2939377"/>
            </a:xfrm>
          </p:grpSpPr>
          <p:sp>
            <p:nvSpPr>
              <p:cNvPr id="41" name="40 Elipse"/>
              <p:cNvSpPr/>
              <p:nvPr/>
            </p:nvSpPr>
            <p:spPr>
              <a:xfrm>
                <a:off x="6223663" y="3866340"/>
                <a:ext cx="872154" cy="2496401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47 CuadroTexto"/>
                  <p:cNvSpPr txBox="1"/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4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33 Grupo"/>
            <p:cNvGrpSpPr/>
            <p:nvPr/>
          </p:nvGrpSpPr>
          <p:grpSpPr>
            <a:xfrm>
              <a:off x="7847250" y="1402321"/>
              <a:ext cx="2103216" cy="3220588"/>
              <a:chOff x="7265078" y="2564920"/>
              <a:chExt cx="1718610" cy="2974507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7265078" y="2679671"/>
                <a:ext cx="1644428" cy="2859756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37 CuadroTexto"/>
                  <p:cNvSpPr txBox="1"/>
                  <p:nvPr/>
                </p:nvSpPr>
                <p:spPr>
                  <a:xfrm>
                    <a:off x="8381694" y="2564920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3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1694" y="2564920"/>
                    <a:ext cx="601994" cy="459519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b="-365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" name="3 Grupo"/>
          <p:cNvGrpSpPr/>
          <p:nvPr/>
        </p:nvGrpSpPr>
        <p:grpSpPr>
          <a:xfrm>
            <a:off x="2758272" y="2230612"/>
            <a:ext cx="3613928" cy="2746627"/>
            <a:chOff x="2758272" y="2230612"/>
            <a:chExt cx="3613928" cy="2746627"/>
          </a:xfrm>
        </p:grpSpPr>
        <p:sp>
          <p:nvSpPr>
            <p:cNvPr id="22" name="21 Elipse"/>
            <p:cNvSpPr/>
            <p:nvPr/>
          </p:nvSpPr>
          <p:spPr>
            <a:xfrm>
              <a:off x="2758272" y="2372516"/>
              <a:ext cx="3613928" cy="260472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AR">
                <a:solidFill>
                  <a:srgbClr val="00B05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22 CuadroTexto"/>
                <p:cNvSpPr txBox="1"/>
                <p:nvPr/>
              </p:nvSpPr>
              <p:spPr>
                <a:xfrm>
                  <a:off x="5603584" y="2230612"/>
                  <a:ext cx="73671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𝚰</m:t>
                        </m:r>
                      </m:oMath>
                    </m:oMathPara>
                  </a14:m>
                  <a:endParaRPr lang="es-AR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2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584" y="2230612"/>
                  <a:ext cx="736714" cy="46166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Rectángulo"/>
              <p:cNvSpPr/>
              <p:nvPr/>
            </p:nvSpPr>
            <p:spPr>
              <a:xfrm>
                <a:off x="3439830" y="2580806"/>
                <a:ext cx="717056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830" y="2580806"/>
                <a:ext cx="717056" cy="57394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Rectángulo"/>
              <p:cNvSpPr/>
              <p:nvPr/>
            </p:nvSpPr>
            <p:spPr>
              <a:xfrm>
                <a:off x="2968052" y="3271027"/>
                <a:ext cx="971228" cy="576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AR" sz="28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𝟑</m:t>
                          </m:r>
                        </m:deg>
                        <m:e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052" y="3271027"/>
                <a:ext cx="971228" cy="576568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3541717" y="3982279"/>
                <a:ext cx="51328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dirty="0" smtClean="0">
                          <a:latin typeface="Cambria Math"/>
                          <a:ea typeface="Cambria Math"/>
                        </a:rPr>
                        <m:t>𝝅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717" y="3982279"/>
                <a:ext cx="513282" cy="52322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Rectángulo"/>
              <p:cNvSpPr/>
              <p:nvPr/>
            </p:nvSpPr>
            <p:spPr>
              <a:xfrm>
                <a:off x="5489660" y="3744896"/>
                <a:ext cx="56297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dirty="0" smtClean="0">
                          <a:latin typeface="Cambria Math"/>
                          <a:ea typeface="Cambria Math"/>
                        </a:rPr>
                        <m:t>𝜱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1" name="1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660" y="3744896"/>
                <a:ext cx="562975" cy="52322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Rectángulo"/>
              <p:cNvSpPr/>
              <p:nvPr/>
            </p:nvSpPr>
            <p:spPr>
              <a:xfrm>
                <a:off x="4635076" y="3487874"/>
                <a:ext cx="4635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mtClean="0">
                          <a:latin typeface="Cambria Math"/>
                        </a:rPr>
                        <m:t>𝒆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2" name="1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076" y="3487874"/>
                <a:ext cx="463588" cy="52322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Rectángulo"/>
              <p:cNvSpPr/>
              <p:nvPr/>
            </p:nvSpPr>
            <p:spPr>
              <a:xfrm>
                <a:off x="4065079" y="2847675"/>
                <a:ext cx="2067169" cy="6141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28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° </m:t>
                          </m:r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𝒑𝒓𝒊𝒎𝒐</m:t>
                          </m:r>
                        </m:e>
                      </m:rad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13" name="1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079" y="2847675"/>
                <a:ext cx="2067169" cy="61414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Rectángulo"/>
              <p:cNvSpPr/>
              <p:nvPr/>
            </p:nvSpPr>
            <p:spPr>
              <a:xfrm>
                <a:off x="4294277" y="4274495"/>
                <a:ext cx="5725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dirty="0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4" name="1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277" y="4274495"/>
                <a:ext cx="572593" cy="52322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80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1" grpId="0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números IRRACIONALES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1" i="1" dirty="0" smtClean="0">
                        <a:latin typeface="Cambria Math"/>
                        <a:ea typeface="Cambria Math"/>
                      </a:rPr>
                      <m:t>Ι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20" name="19 Grupo"/>
          <p:cNvGrpSpPr/>
          <p:nvPr/>
        </p:nvGrpSpPr>
        <p:grpSpPr>
          <a:xfrm>
            <a:off x="1264532" y="4259139"/>
            <a:ext cx="2020489" cy="2301256"/>
            <a:chOff x="7847250" y="1393982"/>
            <a:chExt cx="2020489" cy="2301256"/>
          </a:xfrm>
        </p:grpSpPr>
        <p:grpSp>
          <p:nvGrpSpPr>
            <p:cNvPr id="49" name="48 Grupo"/>
            <p:cNvGrpSpPr/>
            <p:nvPr/>
          </p:nvGrpSpPr>
          <p:grpSpPr>
            <a:xfrm>
              <a:off x="8141947" y="1733176"/>
              <a:ext cx="1440162" cy="1845067"/>
              <a:chOff x="5800966" y="2699775"/>
              <a:chExt cx="1582877" cy="2555211"/>
            </a:xfrm>
          </p:grpSpPr>
          <p:sp>
            <p:nvSpPr>
              <p:cNvPr id="51" name="50 Elipse"/>
              <p:cNvSpPr/>
              <p:nvPr/>
            </p:nvSpPr>
            <p:spPr>
              <a:xfrm>
                <a:off x="5800966" y="3242183"/>
                <a:ext cx="1582877" cy="2012803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55 CuadroTexto"/>
                  <p:cNvSpPr txBox="1"/>
                  <p:nvPr/>
                </p:nvSpPr>
                <p:spPr>
                  <a:xfrm>
                    <a:off x="5829036" y="269977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55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9036" y="269977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38 Grupo"/>
            <p:cNvGrpSpPr/>
            <p:nvPr/>
          </p:nvGrpSpPr>
          <p:grpSpPr>
            <a:xfrm>
              <a:off x="8326490" y="2211504"/>
              <a:ext cx="1107090" cy="1169733"/>
              <a:chOff x="5922666" y="3423364"/>
              <a:chExt cx="1107090" cy="1698728"/>
            </a:xfrm>
          </p:grpSpPr>
          <p:sp>
            <p:nvSpPr>
              <p:cNvPr id="41" name="40 Elipse"/>
              <p:cNvSpPr/>
              <p:nvPr/>
            </p:nvSpPr>
            <p:spPr>
              <a:xfrm>
                <a:off x="6289348" y="3960158"/>
                <a:ext cx="740408" cy="1161934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47 CuadroTexto"/>
                  <p:cNvSpPr txBox="1"/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4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2666" y="3423364"/>
                    <a:ext cx="601994" cy="461666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33 Grupo"/>
            <p:cNvGrpSpPr/>
            <p:nvPr/>
          </p:nvGrpSpPr>
          <p:grpSpPr>
            <a:xfrm>
              <a:off x="7847250" y="1393982"/>
              <a:ext cx="2020489" cy="2301256"/>
              <a:chOff x="7265078" y="2557218"/>
              <a:chExt cx="1651011" cy="2125420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7265078" y="2794679"/>
                <a:ext cx="1644428" cy="1887959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37 CuadroTexto"/>
                  <p:cNvSpPr txBox="1"/>
                  <p:nvPr/>
                </p:nvSpPr>
                <p:spPr>
                  <a:xfrm>
                    <a:off x="8314095" y="2557218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3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4095" y="2557218"/>
                    <a:ext cx="601994" cy="459519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b="-493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58 Rectángulo"/>
              <p:cNvSpPr/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dirty="0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s-AR" sz="32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9" name="5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66" y="4977240"/>
                <a:ext cx="5040560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21 Elipse"/>
          <p:cNvSpPr/>
          <p:nvPr/>
        </p:nvSpPr>
        <p:spPr>
          <a:xfrm>
            <a:off x="3591115" y="4386661"/>
            <a:ext cx="3613928" cy="223563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CuadroTexto"/>
              <p:cNvSpPr txBox="1"/>
              <p:nvPr/>
            </p:nvSpPr>
            <p:spPr>
              <a:xfrm>
                <a:off x="6436427" y="4244757"/>
                <a:ext cx="73671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𝚰</m:t>
                      </m:r>
                    </m:oMath>
                  </m:oMathPara>
                </a14:m>
                <a:endParaRPr lang="es-AR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427" y="4244757"/>
                <a:ext cx="736714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Rectángulo"/>
              <p:cNvSpPr/>
              <p:nvPr/>
            </p:nvSpPr>
            <p:spPr>
              <a:xfrm>
                <a:off x="4272673" y="4594951"/>
                <a:ext cx="717056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673" y="4594951"/>
                <a:ext cx="717056" cy="57394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Rectángulo"/>
              <p:cNvSpPr/>
              <p:nvPr/>
            </p:nvSpPr>
            <p:spPr>
              <a:xfrm>
                <a:off x="3800895" y="5256357"/>
                <a:ext cx="971228" cy="576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AR" sz="28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𝟑</m:t>
                          </m:r>
                        </m:deg>
                        <m:e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895" y="5256357"/>
                <a:ext cx="971228" cy="5765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4374560" y="5996424"/>
                <a:ext cx="51328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dirty="0" smtClean="0">
                          <a:latin typeface="Cambria Math"/>
                          <a:ea typeface="Cambria Math"/>
                        </a:rPr>
                        <m:t>𝝅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560" y="5996424"/>
                <a:ext cx="513282" cy="52322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Rectángulo"/>
              <p:cNvSpPr/>
              <p:nvPr/>
            </p:nvSpPr>
            <p:spPr>
              <a:xfrm>
                <a:off x="6322503" y="5759041"/>
                <a:ext cx="56297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dirty="0" smtClean="0">
                          <a:latin typeface="Cambria Math"/>
                          <a:ea typeface="Cambria Math"/>
                        </a:rPr>
                        <m:t>𝜱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1" name="1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503" y="5759041"/>
                <a:ext cx="562975" cy="52322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Rectángulo"/>
              <p:cNvSpPr/>
              <p:nvPr/>
            </p:nvSpPr>
            <p:spPr>
              <a:xfrm>
                <a:off x="5467919" y="5502019"/>
                <a:ext cx="4635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mtClean="0">
                          <a:latin typeface="Cambria Math"/>
                        </a:rPr>
                        <m:t>𝒆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2" name="1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19" y="5502019"/>
                <a:ext cx="463588" cy="5232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Rectángulo"/>
              <p:cNvSpPr/>
              <p:nvPr/>
            </p:nvSpPr>
            <p:spPr>
              <a:xfrm>
                <a:off x="4897922" y="4861820"/>
                <a:ext cx="2067169" cy="6141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2800" b="1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° </m:t>
                          </m:r>
                          <m:r>
                            <a:rPr lang="es-AR" sz="2800" b="1" i="1" dirty="0">
                              <a:latin typeface="Cambria Math"/>
                              <a:ea typeface="Cambria Math"/>
                            </a:rPr>
                            <m:t>𝒑𝒓𝒊𝒎𝒐</m:t>
                          </m:r>
                        </m:e>
                      </m:rad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13" name="1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922" y="4861820"/>
                <a:ext cx="2067169" cy="61414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Rectángulo"/>
              <p:cNvSpPr/>
              <p:nvPr/>
            </p:nvSpPr>
            <p:spPr>
              <a:xfrm>
                <a:off x="5181622" y="6099076"/>
                <a:ext cx="5725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dirty="0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14" name="1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22" y="6099076"/>
                <a:ext cx="572593" cy="52322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2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3147265"/>
                  </p:ext>
                </p:extLst>
              </p:nvPr>
            </p:nvGraphicFramePr>
            <p:xfrm>
              <a:off x="245895" y="2297776"/>
              <a:ext cx="8682590" cy="17363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825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73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s-AR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Arial" pitchFamily="34" charset="0"/>
                              <a:ea typeface="+mn-ea"/>
                              <a:cs typeface="Arial" pitchFamily="34" charset="0"/>
                            </a:rPr>
                            <a:t>I-RRACIONAL: Que NO se</a:t>
                          </a:r>
                          <a:r>
                            <a:rPr lang="es-AR" sz="1800" b="1" kern="1200" baseline="0" dirty="0">
                              <a:solidFill>
                                <a:schemeClr val="lt1"/>
                              </a:solidFill>
                              <a:effectLst/>
                              <a:latin typeface="Arial" pitchFamily="34" charset="0"/>
                              <a:ea typeface="+mn-ea"/>
                              <a:cs typeface="Arial" pitchFamily="34" charset="0"/>
                            </a:rPr>
                            <a:t> puede expresar como el cociente entre dos números Enteros</a:t>
                          </a:r>
                          <a:r>
                            <a:rPr lang="es-AR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Arial" pitchFamily="34" charset="0"/>
                              <a:ea typeface="+mn-ea"/>
                              <a:cs typeface="Arial" pitchFamily="34" charset="0"/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s-AR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Arial" pitchFamily="34" charset="0"/>
                              <a:ea typeface="+mn-ea"/>
                              <a:cs typeface="Arial" pitchFamily="34" charset="0"/>
                            </a:rPr>
                            <a:t>(no existen</a:t>
                          </a:r>
                          <a:r>
                            <a:rPr lang="es-AR" sz="1800" b="1" kern="1200" baseline="0" dirty="0">
                              <a:solidFill>
                                <a:schemeClr val="lt1"/>
                              </a:solidFill>
                              <a:effectLst/>
                              <a:latin typeface="Arial" pitchFamily="34" charset="0"/>
                              <a:ea typeface="+mn-ea"/>
                              <a:cs typeface="Arial" pitchFamily="34" charset="0"/>
                            </a:rPr>
                            <a:t> dos números enteros que al dividirlo de como resultado </a:t>
                          </a:r>
                          <a14:m>
                            <m:oMath xmlns:m="http://schemas.openxmlformats.org/officeDocument/2006/math">
                              <m:r>
                                <a:rPr lang="es-AR" sz="1800" b="1" i="1" kern="1200" baseline="0" smtClean="0">
                                  <a:solidFill>
                                    <a:schemeClr val="lt1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Arial" pitchFamily="34" charset="0"/>
                                </a:rPr>
                                <m:t>𝝅</m:t>
                              </m:r>
                            </m:oMath>
                          </a14:m>
                          <a:r>
                            <a:rPr lang="es-AR" sz="1800" b="1" kern="1200" baseline="0" dirty="0">
                              <a:solidFill>
                                <a:schemeClr val="lt1"/>
                              </a:solidFill>
                              <a:effectLst/>
                              <a:latin typeface="Arial" pitchFamily="34" charset="0"/>
                              <a:ea typeface="Cambria Math"/>
                              <a:cs typeface="Arial" pitchFamily="34" charset="0"/>
                            </a:rPr>
                            <a:t>)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8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/>
                                        <a:cs typeface="Arial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AR" sz="1800" b="1" i="1" smtClean="0">
                                        <a:effectLst/>
                                        <a:latin typeface="Cambria Math"/>
                                        <a:ea typeface="Calibri"/>
                                        <a:cs typeface="Arial" pitchFamily="34" charset="0"/>
                                      </a:rPr>
                                      <m:t>𝒂</m:t>
                                    </m:r>
                                  </m:num>
                                  <m:den>
                                    <m:r>
                                      <a:rPr lang="es-AR" sz="1800" b="1" i="1" smtClean="0">
                                        <a:effectLst/>
                                        <a:latin typeface="Cambria Math"/>
                                        <a:ea typeface="Calibri"/>
                                        <a:cs typeface="Arial" pitchFamily="34" charset="0"/>
                                      </a:rPr>
                                      <m:t>𝒃</m:t>
                                    </m:r>
                                  </m:den>
                                </m:f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libri"/>
                                    <a:cs typeface="Arial" pitchFamily="34" charset="0"/>
                                  </a:rPr>
                                  <m:t>≠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𝝅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    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𝒄𝒐𝒏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 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𝒂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;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𝒃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 ∈</m:t>
                                </m:r>
                                <m:r>
                                  <a:rPr lang="es-AR" sz="1800" b="1" i="1" smtClean="0">
                                    <a:effectLst/>
                                    <a:latin typeface="Cambria Math"/>
                                    <a:ea typeface="Cambria Math"/>
                                    <a:cs typeface="Arial" pitchFamily="34" charset="0"/>
                                  </a:rPr>
                                  <m:t>ℤ</m:t>
                                </m:r>
                              </m:oMath>
                            </m:oMathPara>
                          </a14:m>
                          <a:endParaRPr lang="es-AR" sz="1800" dirty="0">
                            <a:effectLst/>
                            <a:latin typeface="Arial" pitchFamily="34" charset="0"/>
                            <a:ea typeface="Calibri"/>
                            <a:cs typeface="Arial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2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3147265"/>
                  </p:ext>
                </p:extLst>
              </p:nvPr>
            </p:nvGraphicFramePr>
            <p:xfrm>
              <a:off x="245895" y="2297776"/>
              <a:ext cx="8682590" cy="17363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82590"/>
                  </a:tblGrid>
                  <a:tr h="1736335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7"/>
                          <a:stretch>
                            <a:fillRect t="-35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0535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" grpId="0"/>
      <p:bldP spid="3" grpId="0"/>
      <p:bldP spid="10" grpId="0"/>
      <p:bldP spid="11" grpId="0"/>
      <p:bldP spid="12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OPERACIONES y PROPIEDADES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números REALES </a:t>
                </a:r>
                <a14:m>
                  <m:oMath xmlns:m="http://schemas.openxmlformats.org/officeDocument/2006/math">
                    <m:r>
                      <a:rPr lang="es-AR" sz="2800" b="1" i="1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1049" t="-2825" b="-1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16" name="15 Grupo"/>
          <p:cNvGrpSpPr/>
          <p:nvPr/>
        </p:nvGrpSpPr>
        <p:grpSpPr>
          <a:xfrm>
            <a:off x="84989" y="2329491"/>
            <a:ext cx="3689945" cy="3378965"/>
            <a:chOff x="606985" y="1913810"/>
            <a:chExt cx="3689945" cy="3378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28 CuadroTexto"/>
                <p:cNvSpPr txBox="1"/>
                <p:nvPr/>
              </p:nvSpPr>
              <p:spPr>
                <a:xfrm>
                  <a:off x="606985" y="1913810"/>
                  <a:ext cx="157219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smtClean="0">
                            <a:latin typeface="Cambria Math"/>
                            <a:ea typeface="Cambria Math"/>
                          </a:rPr>
                          <m:t>ℝ</m:t>
                        </m:r>
                        <m:r>
                          <a:rPr lang="es-AR" sz="2400" b="1" i="1" smtClean="0">
                            <a:latin typeface="Cambria Math"/>
                            <a:ea typeface="Cambria Math"/>
                          </a:rPr>
                          <m:t>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AR" sz="2400" b="1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s-AR" sz="2400" b="1" i="1" smtClean="0">
                                <a:latin typeface="Cambria Math"/>
                                <a:ea typeface="Cambria Math"/>
                              </a:rPr>
                              <m:t>ℚ</m:t>
                            </m:r>
                            <m:r>
                              <a:rPr lang="es-AR" sz="2400" b="1" i="1" smtClean="0">
                                <a:latin typeface="Cambria Math"/>
                                <a:ea typeface="Cambria Math"/>
                              </a:rPr>
                              <m:t>∪</m:t>
                            </m:r>
                            <m:r>
                              <a:rPr lang="es-AR" sz="2400" b="1" i="1" smtClean="0">
                                <a:latin typeface="Cambria Math"/>
                                <a:ea typeface="Cambria Math"/>
                              </a:rPr>
                              <m:t>𝚰</m:t>
                            </m:r>
                          </m:e>
                        </m:d>
                      </m:oMath>
                    </m:oMathPara>
                  </a14:m>
                  <a:endParaRPr lang="es-AR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28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985" y="1913810"/>
                  <a:ext cx="1572195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84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14 Grupo"/>
            <p:cNvGrpSpPr/>
            <p:nvPr/>
          </p:nvGrpSpPr>
          <p:grpSpPr>
            <a:xfrm>
              <a:off x="612775" y="2250454"/>
              <a:ext cx="3684155" cy="3042321"/>
              <a:chOff x="2024282" y="2114870"/>
              <a:chExt cx="3684155" cy="3042321"/>
            </a:xfrm>
          </p:grpSpPr>
          <p:grpSp>
            <p:nvGrpSpPr>
              <p:cNvPr id="20" name="19 Grupo"/>
              <p:cNvGrpSpPr/>
              <p:nvPr/>
            </p:nvGrpSpPr>
            <p:grpSpPr>
              <a:xfrm>
                <a:off x="2278374" y="2475685"/>
                <a:ext cx="2421164" cy="2475337"/>
                <a:chOff x="7870148" y="1321534"/>
                <a:chExt cx="2421164" cy="2475337"/>
              </a:xfrm>
            </p:grpSpPr>
            <p:grpSp>
              <p:nvGrpSpPr>
                <p:cNvPr id="49" name="48 Grupo"/>
                <p:cNvGrpSpPr/>
                <p:nvPr/>
              </p:nvGrpSpPr>
              <p:grpSpPr>
                <a:xfrm>
                  <a:off x="8141947" y="1594761"/>
                  <a:ext cx="1440161" cy="2048239"/>
                  <a:chOff x="5800966" y="2508087"/>
                  <a:chExt cx="1582876" cy="2836582"/>
                </a:xfrm>
              </p:grpSpPr>
              <p:sp>
                <p:nvSpPr>
                  <p:cNvPr id="51" name="50 Elipse"/>
                  <p:cNvSpPr/>
                  <p:nvPr/>
                </p:nvSpPr>
                <p:spPr>
                  <a:xfrm>
                    <a:off x="5800966" y="2930608"/>
                    <a:ext cx="1582876" cy="2414061"/>
                  </a:xfrm>
                  <a:prstGeom prst="ellipse">
                    <a:avLst/>
                  </a:prstGeom>
                  <a:noFill/>
                  <a:ln w="571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6" name="55 CuadroTexto"/>
                      <p:cNvSpPr txBox="1"/>
                      <p:nvPr/>
                    </p:nvSpPr>
                    <p:spPr>
                      <a:xfrm>
                        <a:off x="5852811" y="2508087"/>
                        <a:ext cx="601994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s-AR" sz="2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ℤ</m:t>
                              </m:r>
                            </m:oMath>
                          </m:oMathPara>
                        </a14:m>
                        <a:endParaRPr lang="es-AR" sz="2400" b="1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6" name="55 CuadroTexto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852811" y="2508087"/>
                        <a:ext cx="601994" cy="461665"/>
                      </a:xfrm>
                      <a:prstGeom prst="rect">
                        <a:avLst/>
                      </a:prstGeom>
                      <a:blipFill rotWithShape="1">
                        <a:blip r:embed="rId6"/>
                        <a:stretch>
                          <a:fillRect b="-309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s-A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9" name="38 Grupo"/>
                <p:cNvGrpSpPr/>
                <p:nvPr/>
              </p:nvGrpSpPr>
              <p:grpSpPr>
                <a:xfrm>
                  <a:off x="8627487" y="2081603"/>
                  <a:ext cx="872154" cy="1294435"/>
                  <a:chOff x="6223663" y="3234716"/>
                  <a:chExt cx="872154" cy="1879824"/>
                </a:xfrm>
              </p:grpSpPr>
              <p:sp>
                <p:nvSpPr>
                  <p:cNvPr id="41" name="40 Elipse"/>
                  <p:cNvSpPr/>
                  <p:nvPr/>
                </p:nvSpPr>
                <p:spPr>
                  <a:xfrm>
                    <a:off x="6223663" y="3866339"/>
                    <a:ext cx="872154" cy="1248201"/>
                  </a:xfrm>
                  <a:prstGeom prst="ellipse">
                    <a:avLst/>
                  </a:prstGeom>
                  <a:ln w="571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47 CuadroTexto"/>
                      <p:cNvSpPr txBox="1"/>
                      <p:nvPr/>
                    </p:nvSpPr>
                    <p:spPr>
                      <a:xfrm>
                        <a:off x="6373353" y="3234716"/>
                        <a:ext cx="601994" cy="461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AR" sz="2400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1" i="1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</a:rPr>
                                    <m:t>ℕ</m:t>
                                  </m:r>
                                </m:e>
                                <m:sub>
                                  <m:r>
                                    <a:rPr lang="es-AR" sz="2400" b="1" i="1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s-AR" sz="2400" b="1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8" name="47 CuadroTexto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73353" y="3234716"/>
                        <a:ext cx="601994" cy="461666"/>
                      </a:xfrm>
                      <a:prstGeom prst="rect">
                        <a:avLst/>
                      </a:prstGeom>
                      <a:blipFill rotWithShape="1">
                        <a:blip r:embed="rId7"/>
                        <a:stretch>
                          <a:fillRect b="-48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s-A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4" name="33 Grupo"/>
                <p:cNvGrpSpPr/>
                <p:nvPr/>
              </p:nvGrpSpPr>
              <p:grpSpPr>
                <a:xfrm>
                  <a:off x="7870148" y="1321534"/>
                  <a:ext cx="2421164" cy="2475337"/>
                  <a:chOff x="7283788" y="2490306"/>
                  <a:chExt cx="1978416" cy="2286199"/>
                </a:xfrm>
              </p:grpSpPr>
              <p:sp>
                <p:nvSpPr>
                  <p:cNvPr id="36" name="35 Elipse"/>
                  <p:cNvSpPr/>
                  <p:nvPr/>
                </p:nvSpPr>
                <p:spPr>
                  <a:xfrm>
                    <a:off x="7283788" y="2552209"/>
                    <a:ext cx="1908516" cy="2224296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>
                      <a:solidFill>
                        <a:srgbClr val="00B050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37 CuadroTexto"/>
                      <p:cNvSpPr txBox="1"/>
                      <p:nvPr/>
                    </p:nvSpPr>
                    <p:spPr>
                      <a:xfrm>
                        <a:off x="8660210" y="2490306"/>
                        <a:ext cx="601994" cy="459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s-AR" sz="2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ℚ</m:t>
                              </m:r>
                            </m:oMath>
                          </m:oMathPara>
                        </a14:m>
                        <a:endParaRPr lang="es-AR" sz="2400" b="1" dirty="0">
                          <a:solidFill>
                            <a:srgbClr val="00B05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8" name="37 CuadroTexto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660210" y="2490306"/>
                        <a:ext cx="601994" cy="459519"/>
                      </a:xfrm>
                      <a:prstGeom prst="rect">
                        <a:avLst/>
                      </a:prstGeom>
                      <a:blipFill rotWithShape="1">
                        <a:blip r:embed="rId8"/>
                        <a:stretch>
                          <a:fillRect b="-4938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s-A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22" name="21 Elipse"/>
              <p:cNvSpPr/>
              <p:nvPr/>
            </p:nvSpPr>
            <p:spPr>
              <a:xfrm>
                <a:off x="4674640" y="2971919"/>
                <a:ext cx="843391" cy="153119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4643391" y="2592342"/>
                    <a:ext cx="736714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𝚰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3391" y="2592342"/>
                    <a:ext cx="736714" cy="46166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8 Elipse"/>
              <p:cNvSpPr/>
              <p:nvPr/>
            </p:nvSpPr>
            <p:spPr>
              <a:xfrm>
                <a:off x="2024282" y="2114870"/>
                <a:ext cx="3684155" cy="3042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</p:grpSp>
      <p:grpSp>
        <p:nvGrpSpPr>
          <p:cNvPr id="139" name="138 Grupo"/>
          <p:cNvGrpSpPr/>
          <p:nvPr/>
        </p:nvGrpSpPr>
        <p:grpSpPr>
          <a:xfrm>
            <a:off x="1235421" y="2754147"/>
            <a:ext cx="7596480" cy="2198971"/>
            <a:chOff x="1235421" y="2754147"/>
            <a:chExt cx="7596480" cy="2198971"/>
          </a:xfrm>
        </p:grpSpPr>
        <p:grpSp>
          <p:nvGrpSpPr>
            <p:cNvPr id="21" name="20 Grupo"/>
            <p:cNvGrpSpPr/>
            <p:nvPr/>
          </p:nvGrpSpPr>
          <p:grpSpPr>
            <a:xfrm>
              <a:off x="4208756" y="2754147"/>
              <a:ext cx="4623145" cy="673707"/>
              <a:chOff x="4524255" y="2350499"/>
              <a:chExt cx="4623145" cy="673707"/>
            </a:xfrm>
          </p:grpSpPr>
          <p:grpSp>
            <p:nvGrpSpPr>
              <p:cNvPr id="37" name="36 Grupo"/>
              <p:cNvGrpSpPr/>
              <p:nvPr/>
            </p:nvGrpSpPr>
            <p:grpSpPr>
              <a:xfrm>
                <a:off x="4524255" y="2419449"/>
                <a:ext cx="4322148" cy="604757"/>
                <a:chOff x="3834695" y="4476801"/>
                <a:chExt cx="4322148" cy="604757"/>
              </a:xfrm>
            </p:grpSpPr>
            <p:sp>
              <p:nvSpPr>
                <p:cNvPr id="46" name="45 Rectángulo"/>
                <p:cNvSpPr/>
                <p:nvPr/>
              </p:nvSpPr>
              <p:spPr>
                <a:xfrm>
                  <a:off x="3834695" y="4712226"/>
                  <a:ext cx="4322148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s-AR" b="1" dirty="0">
                      <a:solidFill>
                        <a:schemeClr val="accent1"/>
                      </a:solidFill>
                      <a:latin typeface="Comic Sans MS" pitchFamily="66" charset="0"/>
                      <a:ea typeface="AGaramondPro-Regular" charset="-128"/>
                      <a:cs typeface="Arial" pitchFamily="34" charset="0"/>
                    </a:rPr>
                    <a:t>0        1        2        3       4 </a:t>
                  </a:r>
                  <a:endParaRPr lang="es-AR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50" name="49 Elipse"/>
                <p:cNvSpPr/>
                <p:nvPr/>
              </p:nvSpPr>
              <p:spPr>
                <a:xfrm>
                  <a:off x="3905936" y="447680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52" name="51 Elipse"/>
                <p:cNvSpPr/>
                <p:nvPr/>
              </p:nvSpPr>
              <p:spPr>
                <a:xfrm>
                  <a:off x="4825740" y="447840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54" name="53 Elipse"/>
                <p:cNvSpPr/>
                <p:nvPr/>
              </p:nvSpPr>
              <p:spPr>
                <a:xfrm>
                  <a:off x="7551918" y="4478545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55" name="54 Elipse"/>
                <p:cNvSpPr/>
                <p:nvPr/>
              </p:nvSpPr>
              <p:spPr>
                <a:xfrm>
                  <a:off x="5743694" y="447840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57" name="56 Elipse"/>
                <p:cNvSpPr/>
                <p:nvPr/>
              </p:nvSpPr>
              <p:spPr>
                <a:xfrm>
                  <a:off x="6670864" y="447840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64 CuadroTexto"/>
                  <p:cNvSpPr txBox="1"/>
                  <p:nvPr/>
                </p:nvSpPr>
                <p:spPr>
                  <a:xfrm>
                    <a:off x="8545406" y="2350499"/>
                    <a:ext cx="601994" cy="3179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6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45406" y="2350499"/>
                    <a:ext cx="601994" cy="317900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137 CuadroTexto"/>
                <p:cNvSpPr txBox="1"/>
                <p:nvPr/>
              </p:nvSpPr>
              <p:spPr>
                <a:xfrm>
                  <a:off x="1235421" y="4368343"/>
                  <a:ext cx="69454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𝟎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s-AR" sz="1600" b="1" i="1" dirty="0">
                    <a:solidFill>
                      <a:schemeClr val="accent1"/>
                    </a:solidFill>
                    <a:latin typeface="Cambria Math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s-AR" sz="1600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s-AR" sz="16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13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5421" y="4368343"/>
                  <a:ext cx="694541" cy="584775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140 Grupo"/>
          <p:cNvGrpSpPr/>
          <p:nvPr/>
        </p:nvGrpSpPr>
        <p:grpSpPr>
          <a:xfrm>
            <a:off x="527459" y="3560882"/>
            <a:ext cx="8304442" cy="1277109"/>
            <a:chOff x="527459" y="3560882"/>
            <a:chExt cx="8304442" cy="1277109"/>
          </a:xfrm>
        </p:grpSpPr>
        <p:grpSp>
          <p:nvGrpSpPr>
            <p:cNvPr id="30" name="29 Grupo"/>
            <p:cNvGrpSpPr/>
            <p:nvPr/>
          </p:nvGrpSpPr>
          <p:grpSpPr>
            <a:xfrm>
              <a:off x="3995936" y="3560882"/>
              <a:ext cx="4835965" cy="671963"/>
              <a:chOff x="4211961" y="3560882"/>
              <a:chExt cx="4835965" cy="671963"/>
            </a:xfrm>
          </p:grpSpPr>
          <p:grpSp>
            <p:nvGrpSpPr>
              <p:cNvPr id="77" name="76 Grupo"/>
              <p:cNvGrpSpPr/>
              <p:nvPr/>
            </p:nvGrpSpPr>
            <p:grpSpPr>
              <a:xfrm>
                <a:off x="4211961" y="3628088"/>
                <a:ext cx="4233972" cy="604757"/>
                <a:chOff x="3745803" y="4476801"/>
                <a:chExt cx="4233972" cy="604757"/>
              </a:xfrm>
            </p:grpSpPr>
            <p:sp>
              <p:nvSpPr>
                <p:cNvPr id="79" name="78 Rectángulo"/>
                <p:cNvSpPr/>
                <p:nvPr/>
              </p:nvSpPr>
              <p:spPr>
                <a:xfrm>
                  <a:off x="3745803" y="4712226"/>
                  <a:ext cx="4233972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s-AR" b="1" dirty="0">
                      <a:solidFill>
                        <a:srgbClr val="FF0000"/>
                      </a:solidFill>
                      <a:latin typeface="Comic Sans MS" pitchFamily="66" charset="0"/>
                      <a:ea typeface="AGaramondPro-Regular" charset="-128"/>
                      <a:cs typeface="Arial" pitchFamily="34" charset="0"/>
                    </a:rPr>
                    <a:t>-4 -3  -2  -1</a:t>
                  </a:r>
                  <a:r>
                    <a:rPr lang="es-AR" b="1" dirty="0">
                      <a:solidFill>
                        <a:schemeClr val="accent1"/>
                      </a:solidFill>
                      <a:latin typeface="Comic Sans MS" pitchFamily="66" charset="0"/>
                      <a:ea typeface="AGaramondPro-Regular" charset="-128"/>
                      <a:cs typeface="Arial" pitchFamily="34" charset="0"/>
                    </a:rPr>
                    <a:t>   0   1    2   3   4   </a:t>
                  </a:r>
                  <a:endParaRPr lang="es-AR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80" name="79 Elipse"/>
                <p:cNvSpPr/>
                <p:nvPr/>
              </p:nvSpPr>
              <p:spPr>
                <a:xfrm>
                  <a:off x="3905936" y="4476801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81" name="80 Elipse"/>
                <p:cNvSpPr/>
                <p:nvPr/>
              </p:nvSpPr>
              <p:spPr>
                <a:xfrm>
                  <a:off x="4825740" y="4478406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82" name="81 Elipse"/>
                <p:cNvSpPr/>
                <p:nvPr/>
              </p:nvSpPr>
              <p:spPr>
                <a:xfrm>
                  <a:off x="7551918" y="4478545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83" name="82 Elipse"/>
                <p:cNvSpPr/>
                <p:nvPr/>
              </p:nvSpPr>
              <p:spPr>
                <a:xfrm>
                  <a:off x="5743694" y="447840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84" name="83 Elipse"/>
                <p:cNvSpPr/>
                <p:nvPr/>
              </p:nvSpPr>
              <p:spPr>
                <a:xfrm>
                  <a:off x="6670864" y="447840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</p:grpSp>
          <p:grpSp>
            <p:nvGrpSpPr>
              <p:cNvPr id="85" name="84 Grupo"/>
              <p:cNvGrpSpPr/>
              <p:nvPr/>
            </p:nvGrpSpPr>
            <p:grpSpPr>
              <a:xfrm>
                <a:off x="4814183" y="3560882"/>
                <a:ext cx="4233743" cy="461665"/>
                <a:chOff x="4595496" y="2360818"/>
                <a:chExt cx="4233743" cy="461665"/>
              </a:xfrm>
            </p:grpSpPr>
            <p:grpSp>
              <p:nvGrpSpPr>
                <p:cNvPr id="86" name="85 Grupo"/>
                <p:cNvGrpSpPr/>
                <p:nvPr/>
              </p:nvGrpSpPr>
              <p:grpSpPr>
                <a:xfrm>
                  <a:off x="4595496" y="2419449"/>
                  <a:ext cx="2944928" cy="181605"/>
                  <a:chOff x="3905936" y="4476801"/>
                  <a:chExt cx="2944928" cy="181605"/>
                </a:xfrm>
              </p:grpSpPr>
              <p:sp>
                <p:nvSpPr>
                  <p:cNvPr id="89" name="88 Elipse"/>
                  <p:cNvSpPr/>
                  <p:nvPr/>
                </p:nvSpPr>
                <p:spPr>
                  <a:xfrm>
                    <a:off x="3905936" y="4476801"/>
                    <a:ext cx="144000" cy="144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p:sp>
                <p:nvSpPr>
                  <p:cNvPr id="90" name="89 Elipse"/>
                  <p:cNvSpPr/>
                  <p:nvPr/>
                </p:nvSpPr>
                <p:spPr>
                  <a:xfrm>
                    <a:off x="4825740" y="4478406"/>
                    <a:ext cx="144000" cy="144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p:sp>
                <p:nvSpPr>
                  <p:cNvPr id="92" name="91 Elipse"/>
                  <p:cNvSpPr/>
                  <p:nvPr/>
                </p:nvSpPr>
                <p:spPr>
                  <a:xfrm>
                    <a:off x="5743694" y="4478406"/>
                    <a:ext cx="180000" cy="1800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p:sp>
                <p:nvSpPr>
                  <p:cNvPr id="93" name="92 Elipse"/>
                  <p:cNvSpPr/>
                  <p:nvPr/>
                </p:nvSpPr>
                <p:spPr>
                  <a:xfrm>
                    <a:off x="6670864" y="4478406"/>
                    <a:ext cx="180000" cy="1800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86 CuadroTexto"/>
                    <p:cNvSpPr txBox="1"/>
                    <p:nvPr/>
                  </p:nvSpPr>
                  <p:spPr>
                    <a:xfrm>
                      <a:off x="8227245" y="2360818"/>
                      <a:ext cx="60199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AR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oMath>
                        </m:oMathPara>
                      </a14:m>
                      <a:endParaRPr lang="es-AR" sz="24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86 CuadroTexto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27245" y="2360818"/>
                      <a:ext cx="601994" cy="461665"/>
                    </a:xfrm>
                    <a:prstGeom prst="rect">
                      <a:avLst/>
                    </a:prstGeom>
                    <a:blipFill rotWithShape="1"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A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139 CuadroTexto"/>
                <p:cNvSpPr txBox="1"/>
                <p:nvPr/>
              </p:nvSpPr>
              <p:spPr>
                <a:xfrm>
                  <a:off x="527459" y="3898695"/>
                  <a:ext cx="719848" cy="9392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s-AR" sz="1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s-AR" sz="1400" b="1" i="1" dirty="0">
                    <a:solidFill>
                      <a:srgbClr val="FF0000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40" name="139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459" y="3898695"/>
                  <a:ext cx="719848" cy="939296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142 Grupo"/>
          <p:cNvGrpSpPr/>
          <p:nvPr/>
        </p:nvGrpSpPr>
        <p:grpSpPr>
          <a:xfrm>
            <a:off x="1657184" y="3234752"/>
            <a:ext cx="7207085" cy="2009409"/>
            <a:chOff x="1657184" y="3234752"/>
            <a:chExt cx="7207085" cy="2009409"/>
          </a:xfrm>
        </p:grpSpPr>
        <p:grpSp>
          <p:nvGrpSpPr>
            <p:cNvPr id="94" name="93 Grupo"/>
            <p:cNvGrpSpPr/>
            <p:nvPr/>
          </p:nvGrpSpPr>
          <p:grpSpPr>
            <a:xfrm>
              <a:off x="4117196" y="4431642"/>
              <a:ext cx="4747073" cy="812519"/>
              <a:chOff x="4300853" y="3488999"/>
              <a:chExt cx="4747073" cy="812519"/>
            </a:xfrm>
          </p:grpSpPr>
          <p:grpSp>
            <p:nvGrpSpPr>
              <p:cNvPr id="95" name="94 Grupo"/>
              <p:cNvGrpSpPr/>
              <p:nvPr/>
            </p:nvGrpSpPr>
            <p:grpSpPr>
              <a:xfrm>
                <a:off x="4300853" y="3628088"/>
                <a:ext cx="4112711" cy="673430"/>
                <a:chOff x="3834695" y="4476801"/>
                <a:chExt cx="4112711" cy="67343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3" name="102 Rectángulo"/>
                    <p:cNvSpPr/>
                    <p:nvPr/>
                  </p:nvSpPr>
                  <p:spPr>
                    <a:xfrm>
                      <a:off x="3834695" y="4712226"/>
                      <a:ext cx="4112711" cy="43800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s-AR" sz="12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−</m:t>
                            </m:r>
                            <m:r>
                              <a:rPr lang="es-AR" sz="12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𝟏</m:t>
                            </m:r>
                            <m:r>
                              <a:rPr lang="es-AR" sz="12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−</m:t>
                            </m:r>
                            <m:f>
                              <m:fPr>
                                <m:ctrlP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AGaramondPro-Regular" charset="-128"/>
                                    <a:cs typeface="Arial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s-AR" sz="12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−</m:t>
                            </m:r>
                            <m:f>
                              <m:fPr>
                                <m:ctrlP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AGaramondPro-Regular" charset="-128"/>
                                    <a:cs typeface="Arial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s-AR" sz="12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−</m:t>
                            </m:r>
                            <m:f>
                              <m:fPr>
                                <m:ctrlP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AGaramondPro-Regular" charset="-128"/>
                                    <a:cs typeface="Arial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s-AR" sz="12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    </m:t>
                            </m:r>
                            <m:r>
                              <a:rPr lang="es-AR" sz="1200" b="1" i="1" dirty="0" smtClean="0">
                                <a:solidFill>
                                  <a:schemeClr val="accent1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𝟎</m:t>
                            </m:r>
                            <m:r>
                              <a:rPr lang="es-AR" sz="1200" b="1" i="1" dirty="0" smtClean="0">
                                <a:solidFill>
                                  <a:schemeClr val="accent1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   </m:t>
                            </m:r>
                            <m:f>
                              <m:fPr>
                                <m:ctrlP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AGaramondPro-Regular" charset="-128"/>
                                    <a:cs typeface="Arial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s-AR" sz="12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     </m:t>
                            </m:r>
                            <m:f>
                              <m:fPr>
                                <m:ctrlP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AGaramondPro-Regular" charset="-128"/>
                                    <a:cs typeface="Arial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s-AR" sz="12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    </m:t>
                            </m:r>
                            <m:f>
                              <m:fPr>
                                <m:ctrlP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AGaramondPro-Regular" charset="-128"/>
                                    <a:cs typeface="Arial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s-AR" sz="1200" b="1" i="1" dirty="0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  <a:ea typeface="AGaramondPro-Regular" charset="-128"/>
                                    <a:cs typeface="Arial" pitchFamily="34" charset="0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s-AR" sz="12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      </m:t>
                            </m:r>
                            <m:r>
                              <a:rPr lang="es-AR" sz="1200" b="1" i="1" dirty="0" smtClean="0">
                                <a:solidFill>
                                  <a:schemeClr val="accent1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𝟏</m:t>
                            </m:r>
                            <m:r>
                              <a:rPr lang="es-AR" sz="1200" b="1" i="1" dirty="0" smtClean="0">
                                <a:solidFill>
                                  <a:schemeClr val="accent1"/>
                                </a:solidFill>
                                <a:latin typeface="Cambria Math"/>
                                <a:ea typeface="AGaramondPro-Regular" charset="-128"/>
                                <a:cs typeface="Arial" pitchFamily="34" charset="0"/>
                              </a:rPr>
                              <m:t>   </m:t>
                            </m:r>
                          </m:oMath>
                        </m:oMathPara>
                      </a14:m>
                      <a:endParaRPr lang="es-AR" sz="1200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3" name="102 Rectángulo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34695" y="4712226"/>
                      <a:ext cx="4112711" cy="438005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A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4" name="103 Elipse"/>
                <p:cNvSpPr/>
                <p:nvPr/>
              </p:nvSpPr>
              <p:spPr>
                <a:xfrm>
                  <a:off x="3905936" y="4476801"/>
                  <a:ext cx="180000" cy="18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105" name="104 Elipse"/>
                <p:cNvSpPr/>
                <p:nvPr/>
              </p:nvSpPr>
              <p:spPr>
                <a:xfrm>
                  <a:off x="4825740" y="4523214"/>
                  <a:ext cx="108000" cy="108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106" name="105 Elipse"/>
                <p:cNvSpPr/>
                <p:nvPr/>
              </p:nvSpPr>
              <p:spPr>
                <a:xfrm>
                  <a:off x="7551918" y="4478545"/>
                  <a:ext cx="180000" cy="18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107" name="106 Elipse"/>
                <p:cNvSpPr/>
                <p:nvPr/>
              </p:nvSpPr>
              <p:spPr>
                <a:xfrm>
                  <a:off x="5743694" y="4478406"/>
                  <a:ext cx="180000" cy="18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  <p:sp>
              <p:nvSpPr>
                <p:cNvPr id="108" name="107 Elipse"/>
                <p:cNvSpPr/>
                <p:nvPr/>
              </p:nvSpPr>
              <p:spPr>
                <a:xfrm>
                  <a:off x="6670864" y="4523214"/>
                  <a:ext cx="108000" cy="108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</p:grpSp>
          <p:grpSp>
            <p:nvGrpSpPr>
              <p:cNvPr id="96" name="95 Grupo"/>
              <p:cNvGrpSpPr/>
              <p:nvPr/>
            </p:nvGrpSpPr>
            <p:grpSpPr>
              <a:xfrm>
                <a:off x="4814183" y="3488999"/>
                <a:ext cx="4233743" cy="461665"/>
                <a:chOff x="4595496" y="2288935"/>
                <a:chExt cx="4233743" cy="461665"/>
              </a:xfrm>
            </p:grpSpPr>
            <p:grpSp>
              <p:nvGrpSpPr>
                <p:cNvPr id="97" name="96 Grupo"/>
                <p:cNvGrpSpPr/>
                <p:nvPr/>
              </p:nvGrpSpPr>
              <p:grpSpPr>
                <a:xfrm>
                  <a:off x="4595496" y="2464257"/>
                  <a:ext cx="2872928" cy="109605"/>
                  <a:chOff x="3905936" y="4521609"/>
                  <a:chExt cx="2872928" cy="109605"/>
                </a:xfrm>
              </p:grpSpPr>
              <p:sp>
                <p:nvSpPr>
                  <p:cNvPr id="99" name="98 Elipse"/>
                  <p:cNvSpPr/>
                  <p:nvPr/>
                </p:nvSpPr>
                <p:spPr>
                  <a:xfrm>
                    <a:off x="3905936" y="4521609"/>
                    <a:ext cx="108000" cy="108000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p:sp>
                <p:nvSpPr>
                  <p:cNvPr id="100" name="99 Elipse"/>
                  <p:cNvSpPr/>
                  <p:nvPr/>
                </p:nvSpPr>
                <p:spPr>
                  <a:xfrm>
                    <a:off x="4825740" y="4523214"/>
                    <a:ext cx="108000" cy="108000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p:sp>
                <p:nvSpPr>
                  <p:cNvPr id="101" name="100 Elipse"/>
                  <p:cNvSpPr/>
                  <p:nvPr/>
                </p:nvSpPr>
                <p:spPr>
                  <a:xfrm>
                    <a:off x="5743694" y="4523214"/>
                    <a:ext cx="108000" cy="108000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  <p:sp>
                <p:nvSpPr>
                  <p:cNvPr id="102" name="101 Elipse"/>
                  <p:cNvSpPr/>
                  <p:nvPr/>
                </p:nvSpPr>
                <p:spPr>
                  <a:xfrm>
                    <a:off x="6670864" y="4523214"/>
                    <a:ext cx="108000" cy="108000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97 CuadroTexto"/>
                    <p:cNvSpPr txBox="1"/>
                    <p:nvPr/>
                  </p:nvSpPr>
                  <p:spPr>
                    <a:xfrm>
                      <a:off x="8227245" y="2288935"/>
                      <a:ext cx="60199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AR" sz="2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ℚ</m:t>
                            </m:r>
                          </m:oMath>
                        </m:oMathPara>
                      </a14:m>
                      <a:endParaRPr lang="es-AR" sz="2400" b="1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97 CuadroTexto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27245" y="2288935"/>
                      <a:ext cx="601994" cy="461665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b="-1184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A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141 CuadroTexto"/>
                <p:cNvSpPr txBox="1"/>
                <p:nvPr/>
              </p:nvSpPr>
              <p:spPr>
                <a:xfrm>
                  <a:off x="1657184" y="3234752"/>
                  <a:ext cx="1083389" cy="1733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  <m:r>
                          <a:rPr lang="es-AR" sz="14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  </m:t>
                        </m:r>
                      </m:oMath>
                    </m:oMathPara>
                  </a14:m>
                  <a:endParaRPr lang="es-AR" sz="1400" b="1" i="1" dirty="0">
                    <a:solidFill>
                      <a:srgbClr val="00B05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4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𝟑</m:t>
                            </m:r>
                          </m:num>
                          <m:den>
                            <m: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𝟓</m:t>
                            </m:r>
                          </m:den>
                        </m:f>
                      </m:oMath>
                    </m:oMathPara>
                  </a14:m>
                  <a:endParaRPr lang="es-AR" sz="1400" b="1" i="1" dirty="0">
                    <a:solidFill>
                      <a:srgbClr val="00B050"/>
                    </a:solidFill>
                    <a:latin typeface="Cambria Math"/>
                  </a:endParaRPr>
                </a:p>
                <a:p>
                  <a:endParaRPr lang="es-AR" sz="1400" b="1" i="1" dirty="0">
                    <a:solidFill>
                      <a:srgbClr val="00B05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400" b="1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        </m:t>
                        </m:r>
                        <m:f>
                          <m:fPr>
                            <m:ctrlP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num>
                          <m:den>
                            <m:r>
                              <a:rPr lang="es-AR" sz="1400" b="1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den>
                        </m:f>
                        <m:r>
                          <a:rPr lang="es-AR" sz="1400" b="1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s-AR" sz="1400" b="1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ℚ</m:t>
                        </m:r>
                      </m:oMath>
                    </m:oMathPara>
                  </a14:m>
                  <a:endParaRPr lang="es-AR" sz="1400" b="1" i="1" dirty="0">
                    <a:solidFill>
                      <a:srgbClr val="00B050"/>
                    </a:solidFill>
                    <a:latin typeface="Cambria Math"/>
                  </a:endParaRPr>
                </a:p>
                <a:p>
                  <a:endParaRPr lang="es-AR" sz="1400" b="1" i="1" dirty="0">
                    <a:solidFill>
                      <a:srgbClr val="00B050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42" name="14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184" y="3234752"/>
                  <a:ext cx="1083389" cy="1733167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147 Grupo"/>
          <p:cNvGrpSpPr/>
          <p:nvPr/>
        </p:nvGrpSpPr>
        <p:grpSpPr>
          <a:xfrm>
            <a:off x="2838705" y="3715790"/>
            <a:ext cx="6197791" cy="2449514"/>
            <a:chOff x="2838705" y="3715790"/>
            <a:chExt cx="6197791" cy="2449514"/>
          </a:xfrm>
        </p:grpSpPr>
        <p:grpSp>
          <p:nvGrpSpPr>
            <p:cNvPr id="137" name="136 Grupo"/>
            <p:cNvGrpSpPr/>
            <p:nvPr/>
          </p:nvGrpSpPr>
          <p:grpSpPr>
            <a:xfrm>
              <a:off x="4005375" y="5242133"/>
              <a:ext cx="5031121" cy="923171"/>
              <a:chOff x="4005375" y="5242133"/>
              <a:chExt cx="5031121" cy="923171"/>
            </a:xfrm>
          </p:grpSpPr>
          <p:grpSp>
            <p:nvGrpSpPr>
              <p:cNvPr id="136" name="135 Grupo"/>
              <p:cNvGrpSpPr/>
              <p:nvPr/>
            </p:nvGrpSpPr>
            <p:grpSpPr>
              <a:xfrm>
                <a:off x="4005375" y="5242133"/>
                <a:ext cx="5031121" cy="923171"/>
                <a:chOff x="4005375" y="5242133"/>
                <a:chExt cx="5031121" cy="923171"/>
              </a:xfrm>
            </p:grpSpPr>
            <p:grpSp>
              <p:nvGrpSpPr>
                <p:cNvPr id="135" name="134 Grupo"/>
                <p:cNvGrpSpPr/>
                <p:nvPr/>
              </p:nvGrpSpPr>
              <p:grpSpPr>
                <a:xfrm>
                  <a:off x="4005375" y="5242133"/>
                  <a:ext cx="5031121" cy="923171"/>
                  <a:chOff x="4005375" y="5242133"/>
                  <a:chExt cx="5031121" cy="923171"/>
                </a:xfrm>
              </p:grpSpPr>
              <p:grpSp>
                <p:nvGrpSpPr>
                  <p:cNvPr id="134" name="133 Grupo"/>
                  <p:cNvGrpSpPr/>
                  <p:nvPr/>
                </p:nvGrpSpPr>
                <p:grpSpPr>
                  <a:xfrm>
                    <a:off x="4005375" y="5242133"/>
                    <a:ext cx="5031121" cy="923171"/>
                    <a:chOff x="4005375" y="5242133"/>
                    <a:chExt cx="5031121" cy="923171"/>
                  </a:xfrm>
                </p:grpSpPr>
                <p:cxnSp>
                  <p:nvCxnSpPr>
                    <p:cNvPr id="33" name="32 Conector recto de flecha"/>
                    <p:cNvCxnSpPr/>
                    <p:nvPr/>
                  </p:nvCxnSpPr>
                  <p:spPr>
                    <a:xfrm flipV="1">
                      <a:off x="4005375" y="5584287"/>
                      <a:ext cx="4156903" cy="4953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0" name="109 Grupo"/>
                    <p:cNvGrpSpPr/>
                    <p:nvPr/>
                  </p:nvGrpSpPr>
                  <p:grpSpPr>
                    <a:xfrm>
                      <a:off x="4079027" y="5242133"/>
                      <a:ext cx="4957469" cy="923171"/>
                      <a:chOff x="4300853" y="3378347"/>
                      <a:chExt cx="4957469" cy="923171"/>
                    </a:xfrm>
                  </p:grpSpPr>
                  <p:grpSp>
                    <p:nvGrpSpPr>
                      <p:cNvPr id="111" name="110 Grupo"/>
                      <p:cNvGrpSpPr/>
                      <p:nvPr/>
                    </p:nvGrpSpPr>
                    <p:grpSpPr>
                      <a:xfrm>
                        <a:off x="4300853" y="3628088"/>
                        <a:ext cx="4112711" cy="673430"/>
                        <a:chOff x="3834695" y="4476801"/>
                        <a:chExt cx="4112711" cy="673430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19" name="118 Rectángulo"/>
                            <p:cNvSpPr/>
                            <p:nvPr/>
                          </p:nvSpPr>
                          <p:spPr>
                            <a:xfrm>
                              <a:off x="3834695" y="4712226"/>
                              <a:ext cx="4112711" cy="438005"/>
                            </a:xfrm>
                            <a:prstGeom prst="rect">
                              <a:avLst/>
                            </a:prstGeom>
                          </p:spPr>
                          <p:txBody>
                            <a:bodyPr wrap="square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r>
                                      <a:rPr lang="es-AR" sz="12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−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𝟐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−</m:t>
                                    </m:r>
                                    <m:f>
                                      <m:fPr>
                                        <m:ctrlP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𝟑</m:t>
                                        </m:r>
                                      </m:num>
                                      <m:den>
                                        <m: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s-AR" sz="1200" b="1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−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𝟏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−</m:t>
                                    </m:r>
                                    <m:f>
                                      <m:fPr>
                                        <m:ctrlP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𝟒</m:t>
                                        </m:r>
                                      </m:den>
                                    </m:f>
                                    <m:r>
                                      <a:rPr lang="es-AR" sz="1200" b="1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    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𝟎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   </m:t>
                                    </m:r>
                                    <m:f>
                                      <m:fPr>
                                        <m:ctrlP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s-AR" sz="1200" b="1" i="1" dirty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𝟒</m:t>
                                        </m:r>
                                      </m:den>
                                    </m:f>
                                    <m:r>
                                      <a:rPr lang="es-AR" sz="1200" b="1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     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𝟏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 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s-AR" sz="12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AR" sz="12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AGaramondPro-Regular" charset="-128"/>
                                            <a:cs typeface="Arial" pitchFamily="34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  <m:r>
                                      <a:rPr lang="es-AR" sz="1200" b="1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        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𝟐</m:t>
                                    </m:r>
                                    <m:r>
                                      <a:rPr lang="es-AR" sz="1200" b="1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  <a:ea typeface="AGaramondPro-Regular" charset="-128"/>
                                        <a:cs typeface="Arial" pitchFamily="34" charset="0"/>
                                      </a:rPr>
                                      <m:t>  </m:t>
                                    </m:r>
                                  </m:oMath>
                                </m:oMathPara>
                              </a14:m>
                              <a:endParaRPr lang="es-AR" sz="1200" dirty="0">
                                <a:solidFill>
                                  <a:schemeClr val="accent1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19" name="118 Rectángulo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834695" y="4712226"/>
                              <a:ext cx="4112711" cy="438005"/>
                            </a:xfrm>
                            <a:prstGeom prst="rect">
                              <a:avLst/>
                            </a:prstGeom>
                            <a:blipFill rotWithShape="1">
                              <a:blip r:embed="rId17"/>
                              <a:stretch>
                                <a:fillRect b="-1408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s-AR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sp>
                      <p:nvSpPr>
                        <p:cNvPr id="120" name="119 Elipse"/>
                        <p:cNvSpPr/>
                        <p:nvPr/>
                      </p:nvSpPr>
                      <p:spPr>
                        <a:xfrm>
                          <a:off x="3905936" y="4476801"/>
                          <a:ext cx="180000" cy="180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tx2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AR"/>
                        </a:p>
                      </p:txBody>
                    </p:sp>
                    <p:sp>
                      <p:nvSpPr>
                        <p:cNvPr id="121" name="120 Elipse"/>
                        <p:cNvSpPr/>
                        <p:nvPr/>
                      </p:nvSpPr>
                      <p:spPr>
                        <a:xfrm>
                          <a:off x="4824149" y="4487214"/>
                          <a:ext cx="180000" cy="180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tx2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AR"/>
                        </a:p>
                      </p:txBody>
                    </p:sp>
                    <p:sp>
                      <p:nvSpPr>
                        <p:cNvPr id="122" name="121 Elipse"/>
                        <p:cNvSpPr/>
                        <p:nvPr/>
                      </p:nvSpPr>
                      <p:spPr>
                        <a:xfrm>
                          <a:off x="7551918" y="4478545"/>
                          <a:ext cx="180000" cy="180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tx2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AR"/>
                        </a:p>
                      </p:txBody>
                    </p:sp>
                    <p:sp>
                      <p:nvSpPr>
                        <p:cNvPr id="123" name="122 Elipse"/>
                        <p:cNvSpPr/>
                        <p:nvPr/>
                      </p:nvSpPr>
                      <p:spPr>
                        <a:xfrm>
                          <a:off x="5743694" y="4478406"/>
                          <a:ext cx="180000" cy="180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tx2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AR"/>
                        </a:p>
                      </p:txBody>
                    </p:sp>
                    <p:sp>
                      <p:nvSpPr>
                        <p:cNvPr id="124" name="123 Elipse"/>
                        <p:cNvSpPr/>
                        <p:nvPr/>
                      </p:nvSpPr>
                      <p:spPr>
                        <a:xfrm>
                          <a:off x="6665078" y="4476801"/>
                          <a:ext cx="180000" cy="180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tx2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AR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14" name="113 CuadroTexto"/>
                          <p:cNvSpPr txBox="1"/>
                          <p:nvPr/>
                        </p:nvSpPr>
                        <p:spPr>
                          <a:xfrm>
                            <a:off x="8327805" y="3378347"/>
                            <a:ext cx="930517" cy="7545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limLow>
                                    <m:limLowPr>
                                      <m:ctrlPr>
                                        <a:rPr lang="es-AR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limLowPr>
                                    <m:e>
                                      <m:groupChr>
                                        <m:groupChrPr>
                                          <m:chr m:val="⏟"/>
                                          <m:ctrlPr>
                                            <a:rPr lang="es-AR" sz="2400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groupChrPr>
                                        <m:e>
                                          <m:r>
                                            <a:rPr lang="es-AR" sz="2400" b="1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ℚ</m:t>
                                          </m:r>
                                          <m:r>
                                            <a:rPr lang="es-AR" sz="2400" b="1" i="1">
                                              <a:latin typeface="Cambria Math"/>
                                              <a:ea typeface="Cambria Math"/>
                                            </a:rPr>
                                            <m:t>∪</m:t>
                                          </m:r>
                                          <m:r>
                                            <a:rPr lang="es-AR" sz="2400" b="1" i="1">
                                              <a:latin typeface="Cambria Math"/>
                                              <a:ea typeface="Cambria Math"/>
                                            </a:rPr>
                                            <m:t>𝑰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AR" sz="2400" b="1" dirty="0"/>
                                            <m:t> </m:t>
                                          </m:r>
                                        </m:e>
                                      </m:groupChr>
                                    </m:e>
                                    <m:lim>
                                      <m:r>
                                        <a:rPr lang="es-AR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ℝ</m:t>
                                      </m:r>
                                    </m:lim>
                                  </m:limLow>
                                </m:oMath>
                              </m:oMathPara>
                            </a14:m>
                            <a:endParaRPr lang="es-AR" sz="2400" b="1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14" name="113 CuadroTexto"/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8327805" y="3378347"/>
                            <a:ext cx="930517" cy="754566"/>
                          </a:xfrm>
                          <a:prstGeom prst="rect">
                            <a:avLst/>
                          </a:prstGeom>
                          <a:blipFill rotWithShape="1">
                            <a:blip r:embed="rId18"/>
                            <a:stretch>
                              <a:fillRect l="-4605" b="-1613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s-AR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130" name="129 Elipse"/>
                    <p:cNvSpPr/>
                    <p:nvPr/>
                  </p:nvSpPr>
                  <p:spPr>
                    <a:xfrm flipV="1">
                      <a:off x="7297572" y="5532763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AR"/>
                    </a:p>
                  </p:txBody>
                </p:sp>
              </p:grpSp>
              <p:sp>
                <p:nvSpPr>
                  <p:cNvPr id="127" name="126 Elipse"/>
                  <p:cNvSpPr/>
                  <p:nvPr/>
                </p:nvSpPr>
                <p:spPr>
                  <a:xfrm flipV="1">
                    <a:off x="4661665" y="5541940"/>
                    <a:ext cx="108000" cy="108000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/>
                  </a:p>
                </p:txBody>
              </p:sp>
            </p:grpSp>
            <p:sp>
              <p:nvSpPr>
                <p:cNvPr id="129" name="128 Elipse"/>
                <p:cNvSpPr/>
                <p:nvPr/>
              </p:nvSpPr>
              <p:spPr>
                <a:xfrm flipH="1" flipV="1">
                  <a:off x="6456684" y="5529618"/>
                  <a:ext cx="108000" cy="108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/>
                </a:p>
              </p:txBody>
            </p:sp>
          </p:grpSp>
          <p:sp>
            <p:nvSpPr>
              <p:cNvPr id="128" name="127 Elipse"/>
              <p:cNvSpPr/>
              <p:nvPr/>
            </p:nvSpPr>
            <p:spPr>
              <a:xfrm flipV="1">
                <a:off x="5581469" y="5543545"/>
                <a:ext cx="108000" cy="108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grpSp>
          <p:nvGrpSpPr>
            <p:cNvPr id="147" name="146 Grupo"/>
            <p:cNvGrpSpPr/>
            <p:nvPr/>
          </p:nvGrpSpPr>
          <p:grpSpPr>
            <a:xfrm>
              <a:off x="2838705" y="3715790"/>
              <a:ext cx="607897" cy="1023629"/>
              <a:chOff x="2838705" y="3715790"/>
              <a:chExt cx="607897" cy="10236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143 Rectángulo"/>
                  <p:cNvSpPr/>
                  <p:nvPr/>
                </p:nvSpPr>
                <p:spPr>
                  <a:xfrm>
                    <a:off x="2937802" y="3715790"/>
                    <a:ext cx="450059" cy="33316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s-AR" sz="14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1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e>
                          </m:rad>
                        </m:oMath>
                      </m:oMathPara>
                    </a14:m>
                    <a:endParaRPr lang="es-AR" sz="1400" b="1" dirty="0"/>
                  </a:p>
                </p:txBody>
              </p:sp>
            </mc:Choice>
            <mc:Fallback xmlns="">
              <p:sp>
                <p:nvSpPr>
                  <p:cNvPr id="144" name="143 Rectángulo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7802" y="3715790"/>
                    <a:ext cx="450059" cy="333168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144 Rectángulo"/>
                  <p:cNvSpPr/>
                  <p:nvPr/>
                </p:nvSpPr>
                <p:spPr>
                  <a:xfrm>
                    <a:off x="3098430" y="4431642"/>
                    <a:ext cx="348172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1400" b="1" i="1" dirty="0" smtClean="0">
                              <a:latin typeface="Cambria Math"/>
                              <a:ea typeface="Cambria Math"/>
                            </a:rPr>
                            <m:t>𝝅</m:t>
                          </m:r>
                        </m:oMath>
                      </m:oMathPara>
                    </a14:m>
                    <a:endParaRPr lang="es-AR" sz="1400" b="1" dirty="0"/>
                  </a:p>
                </p:txBody>
              </p:sp>
            </mc:Choice>
            <mc:Fallback xmlns="">
              <p:sp>
                <p:nvSpPr>
                  <p:cNvPr id="145" name="144 Rectángulo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8430" y="4431642"/>
                    <a:ext cx="348172" cy="307777"/>
                  </a:xfrm>
                  <a:prstGeom prst="rect">
                    <a:avLst/>
                  </a:prstGeom>
                  <a:blipFill rotWithShape="1"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145 Rectángulo"/>
                  <p:cNvSpPr/>
                  <p:nvPr/>
                </p:nvSpPr>
                <p:spPr>
                  <a:xfrm>
                    <a:off x="2838705" y="4166279"/>
                    <a:ext cx="324127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1400" b="1" i="1" smtClean="0">
                              <a:latin typeface="Cambria Math"/>
                            </a:rPr>
                            <m:t>𝒆</m:t>
                          </m:r>
                        </m:oMath>
                      </m:oMathPara>
                    </a14:m>
                    <a:endParaRPr lang="es-AR" sz="1400" b="1" dirty="0"/>
                  </a:p>
                </p:txBody>
              </p:sp>
            </mc:Choice>
            <mc:Fallback xmlns="">
              <p:sp>
                <p:nvSpPr>
                  <p:cNvPr id="146" name="145 Rectángulo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8705" y="4166279"/>
                    <a:ext cx="324127" cy="307777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2005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6 Imagen"/>
          <p:cNvPicPr/>
          <p:nvPr/>
        </p:nvPicPr>
        <p:blipFill>
          <a:blip r:embed="rId3"/>
          <a:stretch/>
        </p:blipFill>
        <p:spPr>
          <a:xfrm>
            <a:off x="0" y="0"/>
            <a:ext cx="9143640" cy="1075320"/>
          </a:xfrm>
          <a:prstGeom prst="rect">
            <a:avLst/>
          </a:prstGeom>
          <a:ln>
            <a:noFill/>
          </a:ln>
        </p:spPr>
      </p:pic>
      <p:sp>
        <p:nvSpPr>
          <p:cNvPr id="513" name="CustomShape 1"/>
          <p:cNvSpPr/>
          <p:nvPr/>
        </p:nvSpPr>
        <p:spPr>
          <a:xfrm>
            <a:off x="2843640" y="2925000"/>
            <a:ext cx="3456000" cy="210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s-AR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s-AR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s-AR" sz="1800" b="0" strike="noStrike" spc="-1">
              <a:latin typeface="Arial"/>
            </a:endParaRPr>
          </a:p>
        </p:txBody>
      </p:sp>
      <p:sp>
        <p:nvSpPr>
          <p:cNvPr id="514" name="Custom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3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6" name="TextShape 4"/>
          <p:cNvSpPr txBox="1"/>
          <p:nvPr/>
        </p:nvSpPr>
        <p:spPr>
          <a:xfrm>
            <a:off x="288000" y="1728000"/>
            <a:ext cx="8666280" cy="371722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/>
            <a:r>
              <a:rPr lang="es-AR" sz="1800" b="1" i="1" strike="noStrike" spc="-1" dirty="0">
                <a:solidFill>
                  <a:schemeClr val="tx2"/>
                </a:solidFill>
                <a:latin typeface="Arial"/>
              </a:rPr>
              <a:t>Conclusiones</a:t>
            </a:r>
          </a:p>
          <a:p>
            <a:pPr algn="just"/>
            <a:endParaRPr lang="es-AR" sz="1800" b="1" i="1" strike="noStrike" spc="-1" dirty="0">
              <a:solidFill>
                <a:schemeClr val="tx2"/>
              </a:solidFill>
              <a:latin typeface="Arial"/>
            </a:endParaRPr>
          </a:p>
          <a:p>
            <a:pPr algn="just"/>
            <a:r>
              <a:rPr lang="es-AR" sz="1800" b="1" i="1" strike="noStrike" spc="-1" dirty="0">
                <a:solidFill>
                  <a:schemeClr val="tx2"/>
                </a:solidFill>
                <a:latin typeface="Arial"/>
              </a:rPr>
              <a:t>Dentro de los infinitos números, podemos asociarles un conjunto a cada uno según sus propiedades.</a:t>
            </a:r>
          </a:p>
          <a:p>
            <a:pPr algn="just"/>
            <a:endParaRPr lang="es-AR" sz="1800" b="1" i="1" strike="noStrike" spc="-1" dirty="0">
              <a:solidFill>
                <a:schemeClr val="tx2"/>
              </a:solidFill>
              <a:latin typeface="Arial"/>
            </a:endParaRPr>
          </a:p>
          <a:p>
            <a:pPr algn="just"/>
            <a:r>
              <a:rPr lang="es-AR" sz="1800" b="1" i="1" strike="noStrike" spc="-1" dirty="0">
                <a:solidFill>
                  <a:schemeClr val="tx2"/>
                </a:solidFill>
                <a:latin typeface="Arial"/>
              </a:rPr>
              <a:t>A su vez, hay un campo numérico que abarca a todos los números que </a:t>
            </a:r>
            <a:r>
              <a:rPr lang="es-AR" b="1" i="1" spc="-1" dirty="0">
                <a:solidFill>
                  <a:schemeClr val="tx2"/>
                </a:solidFill>
                <a:latin typeface="Arial"/>
              </a:rPr>
              <a:t>c</a:t>
            </a:r>
            <a:r>
              <a:rPr lang="es-AR" sz="1800" b="1" i="1" strike="noStrike" spc="-1" dirty="0">
                <a:solidFill>
                  <a:schemeClr val="tx2"/>
                </a:solidFill>
                <a:latin typeface="Arial"/>
              </a:rPr>
              <a:t>onocemos.</a:t>
            </a:r>
          </a:p>
          <a:p>
            <a:pPr algn="just"/>
            <a:endParaRPr lang="es-AR" sz="1800" b="1" i="1" strike="noStrike" spc="-1" dirty="0">
              <a:solidFill>
                <a:schemeClr val="tx2"/>
              </a:solidFill>
              <a:latin typeface="Arial"/>
            </a:endParaRPr>
          </a:p>
          <a:p>
            <a:pPr algn="just"/>
            <a:r>
              <a:rPr lang="es-AR" sz="1800" b="1" i="1" strike="noStrike" spc="-1" dirty="0">
                <a:solidFill>
                  <a:schemeClr val="tx2"/>
                </a:solidFill>
                <a:latin typeface="Arial"/>
              </a:rPr>
              <a:t>Todos son números reales, ese es el universo más grande.</a:t>
            </a:r>
          </a:p>
          <a:p>
            <a:pPr algn="just"/>
            <a:endParaRPr lang="es-AR" sz="1800" b="1" i="1" strike="noStrike" spc="-1" dirty="0">
              <a:solidFill>
                <a:schemeClr val="tx2"/>
              </a:solidFill>
              <a:latin typeface="Arial"/>
            </a:endParaRPr>
          </a:p>
          <a:p>
            <a:pPr algn="just"/>
            <a:r>
              <a:rPr lang="es-AR" sz="1800" b="1" i="1" strike="noStrike" spc="-1" dirty="0">
                <a:solidFill>
                  <a:schemeClr val="tx2"/>
                </a:solidFill>
                <a:latin typeface="Arial"/>
              </a:rPr>
              <a:t>La importancia de reconocer los dominios y campos numéricos nos habilitará a definir propiedades de funciones, restricciones de dominios y campos de trabajo.</a:t>
            </a:r>
          </a:p>
          <a:p>
            <a:pPr algn="just"/>
            <a:endParaRPr lang="es-AR" sz="1800" b="1" i="1" strike="noStrike" spc="-1" dirty="0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33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6 Imagen"/>
          <p:cNvPicPr/>
          <p:nvPr/>
        </p:nvPicPr>
        <p:blipFill>
          <a:blip r:embed="rId3"/>
          <a:stretch/>
        </p:blipFill>
        <p:spPr>
          <a:xfrm>
            <a:off x="0" y="0"/>
            <a:ext cx="9143640" cy="1075320"/>
          </a:xfrm>
          <a:prstGeom prst="rect">
            <a:avLst/>
          </a:prstGeom>
          <a:ln>
            <a:noFill/>
          </a:ln>
        </p:spPr>
      </p:pic>
      <p:sp>
        <p:nvSpPr>
          <p:cNvPr id="513" name="CustomShape 1"/>
          <p:cNvSpPr/>
          <p:nvPr/>
        </p:nvSpPr>
        <p:spPr>
          <a:xfrm>
            <a:off x="2843640" y="2925000"/>
            <a:ext cx="3456000" cy="210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s-AR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s-AR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s-AR" sz="1800" b="0" strike="noStrike" spc="-1">
              <a:latin typeface="Arial"/>
            </a:endParaRPr>
          </a:p>
        </p:txBody>
      </p:sp>
      <p:sp>
        <p:nvSpPr>
          <p:cNvPr id="514" name="Custom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3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6" name="TextShape 4"/>
              <p:cNvSpPr txBox="1"/>
              <p:nvPr/>
            </p:nvSpPr>
            <p:spPr>
              <a:xfrm>
                <a:off x="288000" y="1728000"/>
                <a:ext cx="8666280" cy="37172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pPr algn="just"/>
                <a:r>
                  <a:rPr lang="es-AR" sz="1800" b="1" i="1" strike="noStrike" spc="-1" dirty="0">
                    <a:solidFill>
                      <a:schemeClr val="tx2"/>
                    </a:solidFill>
                    <a:latin typeface="Arial"/>
                  </a:rPr>
                  <a:t>MÁS NÚMEROS !!!</a:t>
                </a:r>
              </a:p>
              <a:p>
                <a:pPr algn="just"/>
                <a:endParaRPr lang="es-AR" b="1" i="1" spc="-1" dirty="0">
                  <a:solidFill>
                    <a:schemeClr val="tx2"/>
                  </a:solidFill>
                  <a:latin typeface="Arial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r>
                  <a:rPr lang="es-AR" b="1" i="1" spc="-1" dirty="0">
                    <a:solidFill>
                      <a:schemeClr val="tx2"/>
                    </a:solidFill>
                    <a:latin typeface="Arial"/>
                  </a:rPr>
                  <a:t>Complejos: </a:t>
                </a:r>
                <a14:m>
                  <m:oMath xmlns:m="http://schemas.openxmlformats.org/officeDocument/2006/math"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𝒘𝒆𝒓𝒆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b="1" i="1" spc="-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pc="-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pc="-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rad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𝒆𝒔</m:t>
                        </m:r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𝒅𝒆𝒄𝒊𝒓</m:t>
                        </m:r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en-US" b="1" i="1" spc="-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i="1" spc="-1" dirty="0">
                  <a:solidFill>
                    <a:schemeClr val="tx2"/>
                  </a:solidFill>
                  <a:latin typeface="Arial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endParaRPr lang="en-US" b="1" i="1" spc="-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endParaRPr lang="en-US" b="1" i="1" spc="-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endParaRPr lang="en-US" b="1" i="1" spc="-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endParaRPr lang="en-US" b="1" i="1" spc="-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endParaRPr lang="en-US" b="1" i="1" spc="-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endParaRPr lang="en-US" b="1" i="1" spc="-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buFont typeface="Wingdings" pitchFamily="2" charset="2"/>
                  <a:buChar char="Ø"/>
                </a:pPr>
                <a:r>
                  <a:rPr lang="en-US" b="1" spc="-1" dirty="0">
                    <a:solidFill>
                      <a:schemeClr val="tx2"/>
                    </a:solidFill>
                  </a:rPr>
                  <a:t>Quaternions:</a:t>
                </a:r>
                <a14:m>
                  <m:oMath xmlns:m="http://schemas.openxmlformats.org/officeDocument/2006/math">
                    <m:r>
                      <a:rPr lang="en-US" b="1" i="0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 spc="-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pc="-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pc="-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pc="-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pc="-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pc="-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s-AR" sz="1800" b="1" i="1" strike="noStrike" spc="-1" dirty="0">
                  <a:solidFill>
                    <a:schemeClr val="tx2"/>
                  </a:solidFill>
                  <a:latin typeface="Arial"/>
                </a:endParaRPr>
              </a:p>
              <a:p>
                <a:pPr algn="just"/>
                <a:endParaRPr lang="es-AR" sz="1800" b="1" i="1" strike="noStrike" spc="-1" dirty="0">
                  <a:solidFill>
                    <a:schemeClr val="tx2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516" name="TextShap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00" y="1728000"/>
                <a:ext cx="8666280" cy="3717224"/>
              </a:xfrm>
              <a:prstGeom prst="rect">
                <a:avLst/>
              </a:prstGeom>
              <a:blipFill>
                <a:blip r:embed="rId4"/>
                <a:stretch>
                  <a:fillRect l="-586" t="-6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7334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Números periodicos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>
                <a:blip r:embed="rId4"/>
                <a:stretch>
                  <a:fillRect l="-1019" t="-1163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6" name="5 Grupo"/>
          <p:cNvGrpSpPr/>
          <p:nvPr/>
        </p:nvGrpSpPr>
        <p:grpSpPr>
          <a:xfrm>
            <a:off x="5467399" y="2504958"/>
            <a:ext cx="2645685" cy="3417131"/>
            <a:chOff x="6017228" y="2327904"/>
            <a:chExt cx="2645685" cy="3417131"/>
          </a:xfrm>
        </p:grpSpPr>
        <p:grpSp>
          <p:nvGrpSpPr>
            <p:cNvPr id="26" name="25 Grupo"/>
            <p:cNvGrpSpPr/>
            <p:nvPr/>
          </p:nvGrpSpPr>
          <p:grpSpPr>
            <a:xfrm>
              <a:off x="6017228" y="2327904"/>
              <a:ext cx="2645685" cy="3417131"/>
              <a:chOff x="5166291" y="2038345"/>
              <a:chExt cx="2907863" cy="4732344"/>
            </a:xfrm>
          </p:grpSpPr>
          <p:sp>
            <p:nvSpPr>
              <p:cNvPr id="27" name="26 Elipse"/>
              <p:cNvSpPr/>
              <p:nvPr/>
            </p:nvSpPr>
            <p:spPr>
              <a:xfrm>
                <a:off x="5166291" y="2522218"/>
                <a:ext cx="2907863" cy="424847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27 CuadroTexto"/>
                  <p:cNvSpPr txBox="1"/>
                  <p:nvPr/>
                </p:nvSpPr>
                <p:spPr>
                  <a:xfrm>
                    <a:off x="5469170" y="4089756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2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9170" y="4089756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r="-10000"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30 CuadroTexto"/>
                  <p:cNvSpPr txBox="1"/>
                  <p:nvPr/>
                </p:nvSpPr>
                <p:spPr>
                  <a:xfrm>
                    <a:off x="5712194" y="350498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3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2194" y="350498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r="-11111"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31 CuadroTexto"/>
                  <p:cNvSpPr txBox="1"/>
                  <p:nvPr/>
                </p:nvSpPr>
                <p:spPr>
                  <a:xfrm>
                    <a:off x="5300684" y="503300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3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0684" y="503300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r="-10000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32 CuadroTexto"/>
                  <p:cNvSpPr txBox="1"/>
                  <p:nvPr/>
                </p:nvSpPr>
                <p:spPr>
                  <a:xfrm>
                    <a:off x="5208244" y="5593167"/>
                    <a:ext cx="1329437" cy="639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3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8244" y="5593167"/>
                    <a:ext cx="1329437" cy="6393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33 CuadroTexto"/>
                  <p:cNvSpPr txBox="1"/>
                  <p:nvPr/>
                </p:nvSpPr>
                <p:spPr>
                  <a:xfrm>
                    <a:off x="5657978" y="203834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3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57978" y="203834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41 CuadroTexto"/>
                <p:cNvSpPr txBox="1"/>
                <p:nvPr/>
              </p:nvSpPr>
              <p:spPr>
                <a:xfrm>
                  <a:off x="6624834" y="524811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−∞</m:t>
                        </m:r>
                      </m:oMath>
                    </m:oMathPara>
                  </a14:m>
                  <a:endParaRPr lang="es-AR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4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4834" y="5248112"/>
                  <a:ext cx="774934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3 Grupo"/>
          <p:cNvGrpSpPr/>
          <p:nvPr/>
        </p:nvGrpSpPr>
        <p:grpSpPr>
          <a:xfrm>
            <a:off x="6462471" y="2922872"/>
            <a:ext cx="1676509" cy="2610617"/>
            <a:chOff x="6861998" y="2817966"/>
            <a:chExt cx="1712152" cy="2610617"/>
          </a:xfrm>
        </p:grpSpPr>
        <p:grpSp>
          <p:nvGrpSpPr>
            <p:cNvPr id="15" name="14 Grupo"/>
            <p:cNvGrpSpPr/>
            <p:nvPr/>
          </p:nvGrpSpPr>
          <p:grpSpPr>
            <a:xfrm>
              <a:off x="6861998" y="2817966"/>
              <a:ext cx="1712152" cy="2610617"/>
              <a:chOff x="6049510" y="2571511"/>
              <a:chExt cx="1712152" cy="3791230"/>
            </a:xfrm>
          </p:grpSpPr>
          <p:sp>
            <p:nvSpPr>
              <p:cNvPr id="16" name="15 Elipse"/>
              <p:cNvSpPr/>
              <p:nvPr/>
            </p:nvSpPr>
            <p:spPr>
              <a:xfrm>
                <a:off x="6223662" y="2978365"/>
                <a:ext cx="1449605" cy="3384376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18 CuadroTexto"/>
                  <p:cNvSpPr txBox="1"/>
                  <p:nvPr/>
                </p:nvSpPr>
                <p:spPr>
                  <a:xfrm>
                    <a:off x="7071273" y="3751962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18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1273" y="3751962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19 CuadroTexto"/>
                  <p:cNvSpPr txBox="1"/>
                  <p:nvPr/>
                </p:nvSpPr>
                <p:spPr>
                  <a:xfrm>
                    <a:off x="7071273" y="4594767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1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1273" y="4594767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20 CuadroTexto"/>
                  <p:cNvSpPr txBox="1"/>
                  <p:nvPr/>
                </p:nvSpPr>
                <p:spPr>
                  <a:xfrm>
                    <a:off x="6336873" y="3996568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2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6873" y="3996568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21 CuadroTexto"/>
                  <p:cNvSpPr txBox="1"/>
                  <p:nvPr/>
                </p:nvSpPr>
                <p:spPr>
                  <a:xfrm>
                    <a:off x="6637870" y="3152305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2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7870" y="3152305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6307969" y="4839079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𝟒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7969" y="4839079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23 CuadroTexto"/>
                  <p:cNvSpPr txBox="1"/>
                  <p:nvPr/>
                </p:nvSpPr>
                <p:spPr>
                  <a:xfrm>
                    <a:off x="6432224" y="5252297"/>
                    <a:ext cx="1329438" cy="670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2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2224" y="5252297"/>
                    <a:ext cx="1329438" cy="670446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24 CuadroTexto"/>
                  <p:cNvSpPr txBox="1"/>
                  <p:nvPr/>
                </p:nvSpPr>
                <p:spPr>
                  <a:xfrm>
                    <a:off x="6049510" y="2571511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2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9510" y="2571511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42 CuadroTexto"/>
                <p:cNvSpPr txBox="1"/>
                <p:nvPr/>
              </p:nvSpPr>
              <p:spPr>
                <a:xfrm>
                  <a:off x="7386167" y="4907197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chemeClr val="tx2"/>
                            </a:solidFill>
                            <a:latin typeface="Cambria Math"/>
                            <a:ea typeface="Cambria Math"/>
                          </a:rPr>
                          <m:t>+∞</m:t>
                        </m:r>
                      </m:oMath>
                    </m:oMathPara>
                  </a14:m>
                  <a:endParaRPr lang="es-AR" sz="24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4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167" y="4907197"/>
                  <a:ext cx="774934" cy="46166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8 Grupo"/>
          <p:cNvGrpSpPr/>
          <p:nvPr/>
        </p:nvGrpSpPr>
        <p:grpSpPr>
          <a:xfrm>
            <a:off x="430537" y="1983563"/>
            <a:ext cx="8497948" cy="4757805"/>
            <a:chOff x="3995936" y="1776437"/>
            <a:chExt cx="4972819" cy="4415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45 CuadroTexto"/>
                <p:cNvSpPr txBox="1"/>
                <p:nvPr/>
              </p:nvSpPr>
              <p:spPr>
                <a:xfrm>
                  <a:off x="6517747" y="4260001"/>
                  <a:ext cx="1167681" cy="512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num>
                          <m:den>
                            <m:r>
                              <a:rPr lang="es-AR" sz="1600" b="1" i="1" dirty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den>
                        </m:f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ℚ</m:t>
                        </m:r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4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7747" y="4260001"/>
                  <a:ext cx="1167681" cy="512086"/>
                </a:xfrm>
                <a:prstGeom prst="rect">
                  <a:avLst/>
                </a:prstGeom>
                <a:blipFill>
                  <a:blip r:embed="rId19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49 CuadroTexto"/>
                <p:cNvSpPr txBox="1"/>
                <p:nvPr/>
              </p:nvSpPr>
              <p:spPr>
                <a:xfrm>
                  <a:off x="6957139" y="2316370"/>
                  <a:ext cx="513811" cy="5127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𝟒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49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7139" y="2316370"/>
                  <a:ext cx="513811" cy="512740"/>
                </a:xfrm>
                <a:prstGeom prst="rect">
                  <a:avLst/>
                </a:prstGeom>
                <a:blipFill>
                  <a:blip r:embed="rId20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50 CuadroTexto"/>
                <p:cNvSpPr txBox="1"/>
                <p:nvPr/>
              </p:nvSpPr>
              <p:spPr>
                <a:xfrm>
                  <a:off x="6203547" y="2464511"/>
                  <a:ext cx="727269" cy="5150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𝟏𝟐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𝟑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5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547" y="2464511"/>
                  <a:ext cx="727269" cy="515061"/>
                </a:xfrm>
                <a:prstGeom prst="rect">
                  <a:avLst/>
                </a:prstGeom>
                <a:blipFill>
                  <a:blip r:embed="rId21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51 CuadroTexto"/>
                <p:cNvSpPr txBox="1"/>
                <p:nvPr/>
              </p:nvSpPr>
              <p:spPr>
                <a:xfrm>
                  <a:off x="6410906" y="3451979"/>
                  <a:ext cx="374418" cy="5150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𝟑</m:t>
                            </m:r>
                          </m:den>
                        </m:f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5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906" y="3451979"/>
                  <a:ext cx="374418" cy="51506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52 CuadroTexto"/>
                <p:cNvSpPr txBox="1"/>
                <p:nvPr/>
              </p:nvSpPr>
              <p:spPr>
                <a:xfrm>
                  <a:off x="6707026" y="5197915"/>
                  <a:ext cx="727269" cy="5135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𝟐𝟎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5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7026" y="5197915"/>
                  <a:ext cx="727269" cy="513573"/>
                </a:xfrm>
                <a:prstGeom prst="rect">
                  <a:avLst/>
                </a:prstGeom>
                <a:blipFill>
                  <a:blip r:embed="rId23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53 CuadroTexto"/>
                <p:cNvSpPr txBox="1"/>
                <p:nvPr/>
              </p:nvSpPr>
              <p:spPr>
                <a:xfrm>
                  <a:off x="6721137" y="3096177"/>
                  <a:ext cx="380450" cy="518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5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137" y="3096177"/>
                  <a:ext cx="380450" cy="518215"/>
                </a:xfrm>
                <a:prstGeom prst="rect">
                  <a:avLst/>
                </a:prstGeom>
                <a:blipFill>
                  <a:blip r:embed="rId24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34 Grupo"/>
            <p:cNvGrpSpPr/>
            <p:nvPr/>
          </p:nvGrpSpPr>
          <p:grpSpPr>
            <a:xfrm>
              <a:off x="3995936" y="1776437"/>
              <a:ext cx="4972819" cy="4415743"/>
              <a:chOff x="5353680" y="2051586"/>
              <a:chExt cx="4063460" cy="4078341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5353680" y="2402916"/>
                <a:ext cx="4063460" cy="3727011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39 CuadroTexto"/>
                  <p:cNvSpPr txBox="1"/>
                  <p:nvPr/>
                </p:nvSpPr>
                <p:spPr>
                  <a:xfrm>
                    <a:off x="6794632" y="5514143"/>
                    <a:ext cx="72592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3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4632" y="5514143"/>
                    <a:ext cx="725924" cy="45951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40 CuadroTexto"/>
                  <p:cNvSpPr txBox="1"/>
                  <p:nvPr/>
                </p:nvSpPr>
                <p:spPr>
                  <a:xfrm>
                    <a:off x="7723923" y="2051586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4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3923" y="2051586"/>
                    <a:ext cx="601994" cy="459519"/>
                  </a:xfrm>
                  <a:prstGeom prst="rect">
                    <a:avLst/>
                  </a:prstGeom>
                  <a:blipFill rotWithShape="1">
                    <a:blip r:embed="rId26"/>
                    <a:stretch>
                      <a:fillRect b="-365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43 CuadroTexto"/>
                <p:cNvSpPr txBox="1"/>
                <p:nvPr/>
              </p:nvSpPr>
              <p:spPr>
                <a:xfrm>
                  <a:off x="6166607" y="5631344"/>
                  <a:ext cx="774934" cy="31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∞</m:t>
                        </m:r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4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6607" y="5631344"/>
                  <a:ext cx="774934" cy="31421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51 CuadroTexto">
                <a:extLst>
                  <a:ext uri="{FF2B5EF4-FFF2-40B4-BE49-F238E27FC236}">
                    <a16:creationId xmlns:a16="http://schemas.microsoft.com/office/drawing/2014/main" id="{44D2EA70-35D7-C444-9BE0-D41BE3476F2C}"/>
                  </a:ext>
                </a:extLst>
              </p:cNvPr>
              <p:cNvSpPr txBox="1"/>
              <p:nvPr/>
            </p:nvSpPr>
            <p:spPr>
              <a:xfrm>
                <a:off x="1889406" y="3024337"/>
                <a:ext cx="200228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𝟒</m:t>
                          </m:r>
                        </m:den>
                      </m:f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9" name="51 CuadroTexto">
                <a:extLst>
                  <a:ext uri="{FF2B5EF4-FFF2-40B4-BE49-F238E27FC236}">
                    <a16:creationId xmlns:a16="http://schemas.microsoft.com/office/drawing/2014/main" id="{44D2EA70-35D7-C444-9BE0-D41BE3476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406" y="3024337"/>
                <a:ext cx="2002289" cy="668516"/>
              </a:xfrm>
              <a:prstGeom prst="rect">
                <a:avLst/>
              </a:prstGeom>
              <a:blipFill>
                <a:blip r:embed="rId2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51 CuadroTexto">
                <a:extLst>
                  <a:ext uri="{FF2B5EF4-FFF2-40B4-BE49-F238E27FC236}">
                    <a16:creationId xmlns:a16="http://schemas.microsoft.com/office/drawing/2014/main" id="{506161D4-B579-5B4C-84CB-8F62A962CD27}"/>
                  </a:ext>
                </a:extLst>
              </p:cNvPr>
              <p:cNvSpPr txBox="1"/>
              <p:nvPr/>
            </p:nvSpPr>
            <p:spPr>
              <a:xfrm>
                <a:off x="1525515" y="3813737"/>
                <a:ext cx="2730070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𝟏𝟎</m:t>
                          </m:r>
                        </m:num>
                        <m:den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𝟑𝟑𝟑𝟑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…=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e>
                      </m:acc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5" name="51 CuadroTexto">
                <a:extLst>
                  <a:ext uri="{FF2B5EF4-FFF2-40B4-BE49-F238E27FC236}">
                    <a16:creationId xmlns:a16="http://schemas.microsoft.com/office/drawing/2014/main" id="{506161D4-B579-5B4C-84CB-8F62A962C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515" y="3813737"/>
                <a:ext cx="2730070" cy="670568"/>
              </a:xfrm>
              <a:prstGeom prst="rect">
                <a:avLst/>
              </a:prstGeom>
              <a:blipFill>
                <a:blip r:embed="rId29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51 CuadroTexto">
                <a:extLst>
                  <a:ext uri="{FF2B5EF4-FFF2-40B4-BE49-F238E27FC236}">
                    <a16:creationId xmlns:a16="http://schemas.microsoft.com/office/drawing/2014/main" id="{9FD93B11-05C5-7447-969A-7668F5268F63}"/>
                  </a:ext>
                </a:extLst>
              </p:cNvPr>
              <p:cNvSpPr txBox="1"/>
              <p:nvPr/>
            </p:nvSpPr>
            <p:spPr>
              <a:xfrm>
                <a:off x="1011326" y="4720397"/>
                <a:ext cx="2730070" cy="47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acc>
                    </m:oMath>
                  </m:oMathPara>
                </a14:m>
                <a:endParaRPr lang="es-A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" name="51 CuadroTexto">
                <a:extLst>
                  <a:ext uri="{FF2B5EF4-FFF2-40B4-BE49-F238E27FC236}">
                    <a16:creationId xmlns:a16="http://schemas.microsoft.com/office/drawing/2014/main" id="{9FD93B11-05C5-7447-969A-7668F5268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26" y="4720397"/>
                <a:ext cx="2730070" cy="473976"/>
              </a:xfrm>
              <a:prstGeom prst="rect">
                <a:avLst/>
              </a:prstGeom>
              <a:blipFill>
                <a:blip r:embed="rId30"/>
                <a:stretch>
                  <a:fillRect l="-463" t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51 CuadroTexto">
                <a:extLst>
                  <a:ext uri="{FF2B5EF4-FFF2-40B4-BE49-F238E27FC236}">
                    <a16:creationId xmlns:a16="http://schemas.microsoft.com/office/drawing/2014/main" id="{ABEA0A11-5D09-2249-88A1-CF25C1B34493}"/>
                  </a:ext>
                </a:extLst>
              </p:cNvPr>
              <p:cNvSpPr txBox="1"/>
              <p:nvPr/>
            </p:nvSpPr>
            <p:spPr>
              <a:xfrm>
                <a:off x="1841930" y="5404320"/>
                <a:ext cx="2730070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𝟎𝟎𝟒</m:t>
                      </m:r>
                      <m:acc>
                        <m:accPr>
                          <m:chr m:val="̂"/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𝟏𝟗𝟖𝟑</m:t>
                          </m:r>
                        </m:e>
                      </m:acc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" name="51 CuadroTexto">
                <a:extLst>
                  <a:ext uri="{FF2B5EF4-FFF2-40B4-BE49-F238E27FC236}">
                    <a16:creationId xmlns:a16="http://schemas.microsoft.com/office/drawing/2014/main" id="{ABEA0A11-5D09-2249-88A1-CF25C1B34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930" y="5404320"/>
                <a:ext cx="2730070" cy="408445"/>
              </a:xfrm>
              <a:prstGeom prst="rect">
                <a:avLst/>
              </a:prstGeom>
              <a:blipFill>
                <a:blip r:embed="rId31"/>
                <a:stretch>
                  <a:fillRect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51 CuadroTexto">
                <a:extLst>
                  <a:ext uri="{FF2B5EF4-FFF2-40B4-BE49-F238E27FC236}">
                    <a16:creationId xmlns:a16="http://schemas.microsoft.com/office/drawing/2014/main" id="{0940EE67-33C1-5545-BB0E-F238AAEE9123}"/>
                  </a:ext>
                </a:extLst>
              </p:cNvPr>
              <p:cNvSpPr txBox="1"/>
              <p:nvPr/>
            </p:nvSpPr>
            <p:spPr>
              <a:xfrm>
                <a:off x="2655357" y="4730148"/>
                <a:ext cx="2730070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̂"/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</m:e>
                      </m:acc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8" name="51 CuadroTexto">
                <a:extLst>
                  <a:ext uri="{FF2B5EF4-FFF2-40B4-BE49-F238E27FC236}">
                    <a16:creationId xmlns:a16="http://schemas.microsoft.com/office/drawing/2014/main" id="{0940EE67-33C1-5545-BB0E-F238AAEE9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357" y="4730148"/>
                <a:ext cx="2730070" cy="40844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38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Números periodicos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>
                <a:blip r:embed="rId3"/>
                <a:stretch>
                  <a:fillRect l="-1019" t="-1163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/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𝟐𝟒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blipFill>
                <a:blip r:embed="rId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83B4E48-3B8F-7B42-9FD7-C7CCBF7777FC}"/>
              </a:ext>
            </a:extLst>
          </p:cNvPr>
          <p:cNvSpPr txBox="1"/>
          <p:nvPr/>
        </p:nvSpPr>
        <p:spPr>
          <a:xfrm>
            <a:off x="2775408" y="265771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</a:t>
            </a:r>
            <a:r>
              <a:rPr lang="en-US" dirty="0" err="1"/>
              <a:t>dividido</a:t>
            </a:r>
            <a:r>
              <a:rPr lang="en-US" dirty="0"/>
              <a:t>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/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𝟒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𝟖</m:t>
                      </m:r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/>
              <p:nvPr/>
            </p:nvSpPr>
            <p:spPr>
              <a:xfrm>
                <a:off x="755575" y="3645024"/>
                <a:ext cx="1242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𝟖𝟑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𝟒𝟔</m:t>
                      </m:r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3645024"/>
                <a:ext cx="124281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D87C128-E085-1D45-8DD3-9EFCF712BF8B}"/>
              </a:ext>
            </a:extLst>
          </p:cNvPr>
          <p:cNvSpPr txBox="1"/>
          <p:nvPr/>
        </p:nvSpPr>
        <p:spPr>
          <a:xfrm>
            <a:off x="2717405" y="3645024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8346 </a:t>
            </a:r>
            <a:r>
              <a:rPr lang="en-US" dirty="0" err="1"/>
              <a:t>dividido</a:t>
            </a:r>
            <a:r>
              <a:rPr lang="en-US" dirty="0"/>
              <a:t>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/>
              <p:nvPr/>
            </p:nvSpPr>
            <p:spPr>
              <a:xfrm>
                <a:off x="5925783" y="3552210"/>
                <a:ext cx="1242815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𝟖𝟑𝟒𝟔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783" y="3552210"/>
                <a:ext cx="1242815" cy="554960"/>
              </a:xfrm>
              <a:prstGeom prst="rect">
                <a:avLst/>
              </a:prstGeom>
              <a:blipFill>
                <a:blip r:embed="rId7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E2866D1-1A2C-1143-ADFA-24768137EED2}"/>
              </a:ext>
            </a:extLst>
          </p:cNvPr>
          <p:cNvSpPr/>
          <p:nvPr/>
        </p:nvSpPr>
        <p:spPr>
          <a:xfrm>
            <a:off x="4067944" y="3645024"/>
            <a:ext cx="432048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97FE70-5905-6D4A-BEE8-2EC36BBD5C1C}"/>
              </a:ext>
            </a:extLst>
          </p:cNvPr>
          <p:cNvSpPr/>
          <p:nvPr/>
        </p:nvSpPr>
        <p:spPr>
          <a:xfrm>
            <a:off x="1152808" y="3645024"/>
            <a:ext cx="432048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209C05CF-C138-6640-AE47-1E389D06C1E7}"/>
              </a:ext>
            </a:extLst>
          </p:cNvPr>
          <p:cNvCxnSpPr>
            <a:cxnSpLocks/>
            <a:stCxn id="4" idx="4"/>
            <a:endCxn id="15" idx="4"/>
          </p:cNvCxnSpPr>
          <p:nvPr/>
        </p:nvCxnSpPr>
        <p:spPr>
          <a:xfrm rot="5400000">
            <a:off x="2826400" y="2556788"/>
            <a:ext cx="12700" cy="2915136"/>
          </a:xfrm>
          <a:prstGeom prst="curved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52273C1-B391-394A-9A52-2AD601458671}"/>
              </a:ext>
            </a:extLst>
          </p:cNvPr>
          <p:cNvSpPr txBox="1"/>
          <p:nvPr/>
        </p:nvSpPr>
        <p:spPr>
          <a:xfrm>
            <a:off x="1998390" y="4232220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 </a:t>
            </a:r>
            <a:r>
              <a:rPr lang="en-US" dirty="0" err="1">
                <a:solidFill>
                  <a:schemeClr val="accent1"/>
                </a:solidFill>
              </a:rPr>
              <a:t>cifras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decimales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595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Números periodicos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>
                <a:blip r:embed="rId3"/>
                <a:stretch>
                  <a:fillRect l="-1019" t="-1163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/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83B4E48-3B8F-7B42-9FD7-C7CCBF7777FC}"/>
              </a:ext>
            </a:extLst>
          </p:cNvPr>
          <p:cNvSpPr txBox="1"/>
          <p:nvPr/>
        </p:nvSpPr>
        <p:spPr>
          <a:xfrm>
            <a:off x="2775408" y="265771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 err="1"/>
              <a:t>dividido</a:t>
            </a:r>
            <a:r>
              <a:rPr lang="en-US" dirty="0"/>
              <a:t>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/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𝟑𝟑𝟑𝟑𝟑𝟑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…</m:t>
                      </m:r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/>
              <p:nvPr/>
            </p:nvSpPr>
            <p:spPr>
              <a:xfrm>
                <a:off x="755575" y="3645024"/>
                <a:ext cx="1242815" cy="481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𝟐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𝟎𝟎𝟑</m:t>
                    </m:r>
                    <m:acc>
                      <m:accPr>
                        <m:chr m:val="̂"/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𝟓𝟕</m:t>
                        </m:r>
                      </m:e>
                    </m:acc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</m:oMath>
                </a14:m>
                <a:r>
                  <a:rPr lang="es-AR" sz="2400" b="1" dirty="0">
                    <a:solidFill>
                      <a:srgbClr val="00B05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3645024"/>
                <a:ext cx="1242815" cy="481222"/>
              </a:xfrm>
              <a:prstGeom prst="rect">
                <a:avLst/>
              </a:prstGeom>
              <a:blipFill>
                <a:blip r:embed="rId6"/>
                <a:stretch>
                  <a:fillRect t="-7692" r="-34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/>
              <p:nvPr/>
            </p:nvSpPr>
            <p:spPr>
              <a:xfrm>
                <a:off x="2726455" y="3520662"/>
                <a:ext cx="1242815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𝟐𝟎𝟎𝟑𝟓𝟕</m:t>
                          </m:r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−</m:t>
                          </m:r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𝟐𝟎𝟎𝟑</m:t>
                          </m:r>
                        </m:num>
                        <m:den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𝟗𝟗𝟎𝟎𝟎</m:t>
                          </m:r>
                        </m:den>
                      </m:f>
                    </m:oMath>
                  </m:oMathPara>
                </a14:m>
                <a:endParaRPr lang="es-A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455" y="3520662"/>
                <a:ext cx="1242815" cy="793679"/>
              </a:xfrm>
              <a:prstGeom prst="rect">
                <a:avLst/>
              </a:prstGeom>
              <a:blipFill>
                <a:blip r:embed="rId7"/>
                <a:stretch>
                  <a:fillRect l="-1010" t="-1563" r="-94949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20ACC95-4CA9-4149-950F-750A0EDB21A7}"/>
              </a:ext>
            </a:extLst>
          </p:cNvPr>
          <p:cNvSpPr/>
          <p:nvPr/>
        </p:nvSpPr>
        <p:spPr>
          <a:xfrm>
            <a:off x="3366475" y="4032425"/>
            <a:ext cx="485445" cy="2413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4F5F1B-8FA0-C041-8685-A48BC5D1BF98}"/>
              </a:ext>
            </a:extLst>
          </p:cNvPr>
          <p:cNvSpPr/>
          <p:nvPr/>
        </p:nvSpPr>
        <p:spPr>
          <a:xfrm>
            <a:off x="3818372" y="4014139"/>
            <a:ext cx="681620" cy="3002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1A7045-0A17-CA48-9F75-EA25404F9265}"/>
              </a:ext>
            </a:extLst>
          </p:cNvPr>
          <p:cNvSpPr/>
          <p:nvPr/>
        </p:nvSpPr>
        <p:spPr>
          <a:xfrm>
            <a:off x="1043608" y="3697293"/>
            <a:ext cx="620560" cy="3783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825CEF-2208-6349-AB9A-D4FDF8609073}"/>
              </a:ext>
            </a:extLst>
          </p:cNvPr>
          <p:cNvSpPr/>
          <p:nvPr/>
        </p:nvSpPr>
        <p:spPr>
          <a:xfrm>
            <a:off x="1644843" y="3645024"/>
            <a:ext cx="411225" cy="4812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B4CF1B97-9F0D-9945-A4E0-5736247F7747}"/>
              </a:ext>
            </a:extLst>
          </p:cNvPr>
          <p:cNvCxnSpPr>
            <a:cxnSpLocks/>
            <a:stCxn id="16" idx="4"/>
            <a:endCxn id="21" idx="4"/>
          </p:cNvCxnSpPr>
          <p:nvPr/>
        </p:nvCxnSpPr>
        <p:spPr>
          <a:xfrm rot="5400000" flipH="1">
            <a:off x="2656080" y="3320622"/>
            <a:ext cx="147494" cy="1758742"/>
          </a:xfrm>
          <a:prstGeom prst="curvedConnector3">
            <a:avLst>
              <a:gd name="adj1" fmla="val -15498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3AF30796-B934-6741-9ECE-87C167F568D7}"/>
              </a:ext>
            </a:extLst>
          </p:cNvPr>
          <p:cNvCxnSpPr>
            <a:cxnSpLocks/>
            <a:stCxn id="18" idx="4"/>
            <a:endCxn id="20" idx="4"/>
          </p:cNvCxnSpPr>
          <p:nvPr/>
        </p:nvCxnSpPr>
        <p:spPr>
          <a:xfrm rot="5400000" flipH="1">
            <a:off x="2637175" y="2792335"/>
            <a:ext cx="238719" cy="2805294"/>
          </a:xfrm>
          <a:prstGeom prst="curvedConnector3">
            <a:avLst>
              <a:gd name="adj1" fmla="val -9576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50 CuadroTexto">
                <a:extLst>
                  <a:ext uri="{FF2B5EF4-FFF2-40B4-BE49-F238E27FC236}">
                    <a16:creationId xmlns:a16="http://schemas.microsoft.com/office/drawing/2014/main" id="{0586F512-63A5-564E-B375-6A7D6E4ED971}"/>
                  </a:ext>
                </a:extLst>
              </p:cNvPr>
              <p:cNvSpPr txBox="1"/>
              <p:nvPr/>
            </p:nvSpPr>
            <p:spPr>
              <a:xfrm>
                <a:off x="5940151" y="3520662"/>
                <a:ext cx="2592289" cy="631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b="1" dirty="0">
                    <a:solidFill>
                      <a:schemeClr val="tx1"/>
                    </a:solidFill>
                    <a:ea typeface="Cambria Math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𝟏𝟗𝟖𝟑𝟓𝟒</m:t>
                        </m:r>
                      </m:num>
                      <m:den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𝟗𝟗𝟎𝟎𝟎</m:t>
                        </m:r>
                      </m:den>
                    </m:f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s-AR" sz="24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𝟑𝟑𝟎𝟓𝟗</m:t>
                        </m:r>
                      </m:num>
                      <m:den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𝟏𝟔𝟓𝟎𝟎</m:t>
                        </m:r>
                      </m:den>
                    </m:f>
                  </m:oMath>
                </a14:m>
                <a:endParaRPr lang="es-A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50 CuadroTexto">
                <a:extLst>
                  <a:ext uri="{FF2B5EF4-FFF2-40B4-BE49-F238E27FC236}">
                    <a16:creationId xmlns:a16="http://schemas.microsoft.com/office/drawing/2014/main" id="{0586F512-63A5-564E-B375-6A7D6E4E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1" y="3520662"/>
                <a:ext cx="2592289" cy="631263"/>
              </a:xfrm>
              <a:prstGeom prst="rect">
                <a:avLst/>
              </a:prstGeom>
              <a:blipFill>
                <a:blip r:embed="rId8"/>
                <a:stretch>
                  <a:fillRect l="-3922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50 CuadroTexto">
                <a:extLst>
                  <a:ext uri="{FF2B5EF4-FFF2-40B4-BE49-F238E27FC236}">
                    <a16:creationId xmlns:a16="http://schemas.microsoft.com/office/drawing/2014/main" id="{56A5354A-711B-9742-9126-66F19417EE64}"/>
                  </a:ext>
                </a:extLst>
              </p:cNvPr>
              <p:cNvSpPr txBox="1"/>
              <p:nvPr/>
            </p:nvSpPr>
            <p:spPr>
              <a:xfrm>
                <a:off x="2810631" y="5431867"/>
                <a:ext cx="592553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e>
                    </m:acc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</m:oMath>
                </a14:m>
                <a:r>
                  <a:rPr lang="es-AR" sz="28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28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−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𝟎</m:t>
                        </m:r>
                      </m:num>
                      <m:den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den>
                    </m:f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s-AR" sz="28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num>
                      <m:den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den>
                    </m:f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/>
                      </a:rPr>
                      <m:t>𝟏</m:t>
                    </m:r>
                  </m:oMath>
                </a14:m>
                <a:endParaRPr lang="es-AR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5" name="50 CuadroTexto">
                <a:extLst>
                  <a:ext uri="{FF2B5EF4-FFF2-40B4-BE49-F238E27FC236}">
                    <a16:creationId xmlns:a16="http://schemas.microsoft.com/office/drawing/2014/main" id="{56A5354A-711B-9742-9126-66F19417E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631" y="5431867"/>
                <a:ext cx="5925531" cy="714683"/>
              </a:xfrm>
              <a:prstGeom prst="rect">
                <a:avLst/>
              </a:prstGeom>
              <a:blipFill>
                <a:blip r:embed="rId9"/>
                <a:stretch>
                  <a:fillRect l="-427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105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6" name="4 Rectángulo">
            <a:extLst>
              <a:ext uri="{FF2B5EF4-FFF2-40B4-BE49-F238E27FC236}">
                <a16:creationId xmlns:a16="http://schemas.microsoft.com/office/drawing/2014/main" id="{EE8EB5A7-36D7-CF41-BCA2-392D33493CBA}"/>
              </a:ext>
            </a:extLst>
          </p:cNvPr>
          <p:cNvSpPr/>
          <p:nvPr/>
        </p:nvSpPr>
        <p:spPr>
          <a:xfrm>
            <a:off x="215517" y="1196754"/>
            <a:ext cx="87129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Números Irracionales </a:t>
            </a: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s-AR" sz="2400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Ejemplo: Cómo demostrar que       es irracional? </a:t>
            </a:r>
          </a:p>
          <a:p>
            <a:endParaRPr lang="es-AR" sz="2400" dirty="0">
              <a:solidFill>
                <a:srgbClr val="000000"/>
              </a:solidFill>
              <a:latin typeface="Arial" pitchFamily="34" charset="0"/>
              <a:ea typeface="AGaramondPro-Regular" charset="-128"/>
              <a:cs typeface="Arial" pitchFamily="34" charset="0"/>
            </a:endParaRPr>
          </a:p>
          <a:p>
            <a:endParaRPr lang="es-AR" sz="2800" dirty="0">
              <a:solidFill>
                <a:srgbClr val="000000"/>
              </a:solidFill>
              <a:latin typeface="Arial" pitchFamily="34" charset="0"/>
              <a:ea typeface="AGaramondPro-Regular" charset="-128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1 Rectángulo">
                <a:extLst>
                  <a:ext uri="{FF2B5EF4-FFF2-40B4-BE49-F238E27FC236}">
                    <a16:creationId xmlns:a16="http://schemas.microsoft.com/office/drawing/2014/main" id="{E33C5EE1-5F8F-A84F-A504-992B2ADD21AB}"/>
                  </a:ext>
                </a:extLst>
              </p:cNvPr>
              <p:cNvSpPr/>
              <p:nvPr/>
            </p:nvSpPr>
            <p:spPr>
              <a:xfrm>
                <a:off x="4355976" y="1925446"/>
                <a:ext cx="717056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9" name="1 Rectángulo">
                <a:extLst>
                  <a:ext uri="{FF2B5EF4-FFF2-40B4-BE49-F238E27FC236}">
                    <a16:creationId xmlns:a16="http://schemas.microsoft.com/office/drawing/2014/main" id="{E33C5EE1-5F8F-A84F-A504-992B2ADD21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925446"/>
                <a:ext cx="717056" cy="5739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0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6" name="4 Rectángulo">
            <a:extLst>
              <a:ext uri="{FF2B5EF4-FFF2-40B4-BE49-F238E27FC236}">
                <a16:creationId xmlns:a16="http://schemas.microsoft.com/office/drawing/2014/main" id="{EE8EB5A7-36D7-CF41-BCA2-392D33493CBA}"/>
              </a:ext>
            </a:extLst>
          </p:cNvPr>
          <p:cNvSpPr/>
          <p:nvPr/>
        </p:nvSpPr>
        <p:spPr>
          <a:xfrm>
            <a:off x="215517" y="1196754"/>
            <a:ext cx="871296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Números Irracionales </a:t>
            </a: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s-AR" sz="2400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Ejemplo: Cómo demostrar que       es irracional? </a:t>
            </a:r>
          </a:p>
          <a:p>
            <a:endParaRPr lang="es-AR" sz="2400" dirty="0">
              <a:solidFill>
                <a:srgbClr val="000000"/>
              </a:solidFill>
              <a:latin typeface="Arial" pitchFamily="34" charset="0"/>
              <a:ea typeface="AGaramondPro-Regular" charset="-128"/>
              <a:cs typeface="Arial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itchFamily="34" charset="0"/>
                <a:ea typeface="AGaramondPro-Regular" charset="-128"/>
                <a:cs typeface="Arial" pitchFamily="34" charset="0"/>
              </a:rPr>
              <a:t>Lo podemos visualizar en la recta    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1 Rectángulo">
                <a:extLst>
                  <a:ext uri="{FF2B5EF4-FFF2-40B4-BE49-F238E27FC236}">
                    <a16:creationId xmlns:a16="http://schemas.microsoft.com/office/drawing/2014/main" id="{E33C5EE1-5F8F-A84F-A504-992B2ADD21AB}"/>
                  </a:ext>
                </a:extLst>
              </p:cNvPr>
              <p:cNvSpPr/>
              <p:nvPr/>
            </p:nvSpPr>
            <p:spPr>
              <a:xfrm>
                <a:off x="4355976" y="1925446"/>
                <a:ext cx="717056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s-AR" sz="2800" b="1" i="1" dirty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AR" sz="2800" b="1" dirty="0"/>
              </a:p>
            </p:txBody>
          </p:sp>
        </mc:Choice>
        <mc:Fallback xmlns="">
          <p:sp>
            <p:nvSpPr>
              <p:cNvPr id="9" name="1 Rectángulo">
                <a:extLst>
                  <a:ext uri="{FF2B5EF4-FFF2-40B4-BE49-F238E27FC236}">
                    <a16:creationId xmlns:a16="http://schemas.microsoft.com/office/drawing/2014/main" id="{E33C5EE1-5F8F-A84F-A504-992B2ADD21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925446"/>
                <a:ext cx="717056" cy="5739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244D21-7BF7-0447-859A-6EC7E3E7B8E2}"/>
                  </a:ext>
                </a:extLst>
              </p:cNvPr>
              <p:cNvSpPr txBox="1"/>
              <p:nvPr/>
            </p:nvSpPr>
            <p:spPr>
              <a:xfrm>
                <a:off x="3435344" y="2708920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244D21-7BF7-0447-859A-6EC7E3E7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344" y="2708920"/>
                <a:ext cx="864096" cy="307777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6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899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056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2043</Words>
  <Application>Microsoft Macintosh PowerPoint</Application>
  <PresentationFormat>On-screen Show (4:3)</PresentationFormat>
  <Paragraphs>608</Paragraphs>
  <Slides>38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AGaramondPro-Regular</vt:lpstr>
      <vt:lpstr>Arial</vt:lpstr>
      <vt:lpstr>Arial Black</vt:lpstr>
      <vt:lpstr>Calibri</vt:lpstr>
      <vt:lpstr>Calibri Light</vt:lpstr>
      <vt:lpstr>Cambria Math</vt:lpstr>
      <vt:lpstr>Comic Sans MS</vt:lpstr>
      <vt:lpstr>Helvetica</vt:lpstr>
      <vt:lpstr>Noto Sans CJK SC</vt:lpstr>
      <vt:lpstr>Open Sans</vt:lpstr>
      <vt:lpstr>Times New Roman</vt:lpstr>
      <vt:lpstr>Wingdings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lastModifiedBy>Agustin Ambrossio</cp:lastModifiedBy>
  <cp:revision>71</cp:revision>
  <dcterms:created xsi:type="dcterms:W3CDTF">2020-04-01T12:31:54Z</dcterms:created>
  <dcterms:modified xsi:type="dcterms:W3CDTF">2022-04-19T19:51:39Z</dcterms:modified>
</cp:coreProperties>
</file>