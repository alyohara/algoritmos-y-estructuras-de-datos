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0"/>
  </p:notesMasterIdLst>
  <p:sldIdLst>
    <p:sldId id="264" r:id="rId3"/>
    <p:sldId id="256" r:id="rId4"/>
    <p:sldId id="299" r:id="rId5"/>
    <p:sldId id="302" r:id="rId6"/>
    <p:sldId id="303" r:id="rId7"/>
    <p:sldId id="306" r:id="rId8"/>
    <p:sldId id="307" r:id="rId9"/>
    <p:sldId id="305" r:id="rId10"/>
    <p:sldId id="300" r:id="rId11"/>
    <p:sldId id="301" r:id="rId12"/>
    <p:sldId id="304" r:id="rId13"/>
    <p:sldId id="284" r:id="rId14"/>
    <p:sldId id="288" r:id="rId15"/>
    <p:sldId id="293" r:id="rId16"/>
    <p:sldId id="308" r:id="rId17"/>
    <p:sldId id="309" r:id="rId18"/>
    <p:sldId id="310" r:id="rId19"/>
  </p:sldIdLst>
  <p:sldSz cx="9144000" cy="6858000" type="screen4x3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60"/>
    <p:restoredTop sz="94643"/>
  </p:normalViewPr>
  <p:slideViewPr>
    <p:cSldViewPr>
      <p:cViewPr varScale="1">
        <p:scale>
          <a:sx n="120" d="100"/>
          <a:sy n="120" d="100"/>
        </p:scale>
        <p:origin x="192" y="1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C9B637-CDC0-4A60-98E8-1AF66D8A2354}" type="datetimeFigureOut">
              <a:rPr lang="es-AR" smtClean="0"/>
              <a:t>26/4/22</a:t>
            </a:fld>
            <a:endParaRPr lang="es-AR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7E38B1-1131-4F2F-904D-E26946682827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811465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7E38B1-1131-4F2F-904D-E26946682827}" type="slidenum">
              <a:rPr lang="es-AR" smtClean="0"/>
              <a:t>4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642872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7E38B1-1131-4F2F-904D-E26946682827}" type="slidenum">
              <a:rPr lang="es-AR" smtClean="0"/>
              <a:t>5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2583222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7E38B1-1131-4F2F-904D-E26946682827}" type="slidenum">
              <a:rPr lang="es-AR" smtClean="0"/>
              <a:t>6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611114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7E38B1-1131-4F2F-904D-E26946682827}" type="slidenum">
              <a:rPr lang="es-AR" smtClean="0"/>
              <a:t>7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8815639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7E38B1-1131-4F2F-904D-E26946682827}" type="slidenum">
              <a:rPr lang="es-AR" smtClean="0"/>
              <a:t>8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794652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7E38B1-1131-4F2F-904D-E26946682827}" type="slidenum">
              <a:rPr lang="es-AR" smtClean="0"/>
              <a:t>9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257647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7E38B1-1131-4F2F-904D-E26946682827}" type="slidenum">
              <a:rPr lang="es-AR" smtClean="0"/>
              <a:t>10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3701204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7E38B1-1131-4F2F-904D-E26946682827}" type="slidenum">
              <a:rPr lang="es-AR" smtClean="0"/>
              <a:t>11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2633244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7E38B1-1131-4F2F-904D-E26946682827}" type="slidenum">
              <a:rPr lang="es-AR" smtClean="0"/>
              <a:t>13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1377051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861A7-A2BE-4396-9343-333936956773}" type="datetimeFigureOut">
              <a:rPr lang="es-AR" smtClean="0"/>
              <a:t>26/4/22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ABBB6-31A4-4EB2-B986-935752563B8C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950958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861A7-A2BE-4396-9343-333936956773}" type="datetimeFigureOut">
              <a:rPr lang="es-AR" smtClean="0"/>
              <a:t>26/4/22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ABBB6-31A4-4EB2-B986-935752563B8C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8321182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861A7-A2BE-4396-9343-333936956773}" type="datetimeFigureOut">
              <a:rPr lang="es-AR" smtClean="0"/>
              <a:t>26/4/22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ABBB6-31A4-4EB2-B986-935752563B8C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9658407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861A7-A2BE-4396-9343-333936956773}" type="datetimeFigureOut">
              <a:rPr lang="es-AR" smtClean="0"/>
              <a:t>26/4/22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ABBB6-31A4-4EB2-B986-935752563B8C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067267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861A7-A2BE-4396-9343-333936956773}" type="datetimeFigureOut">
              <a:rPr lang="es-AR" smtClean="0"/>
              <a:t>26/4/22</a:t>
            </a:fld>
            <a:endParaRPr lang="es-AR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ABBB6-31A4-4EB2-B986-935752563B8C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2228746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861A7-A2BE-4396-9343-333936956773}" type="datetimeFigureOut">
              <a:rPr lang="es-AR" smtClean="0"/>
              <a:t>26/4/22</a:t>
            </a:fld>
            <a:endParaRPr lang="es-AR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ABBB6-31A4-4EB2-B986-935752563B8C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6415989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861A7-A2BE-4396-9343-333936956773}" type="datetimeFigureOut">
              <a:rPr lang="es-AR" smtClean="0"/>
              <a:t>26/4/22</a:t>
            </a:fld>
            <a:endParaRPr lang="es-AR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ABBB6-31A4-4EB2-B986-935752563B8C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6255850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1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861A7-A2BE-4396-9343-333936956773}" type="datetimeFigureOut">
              <a:rPr lang="es-AR" smtClean="0"/>
              <a:t>26/4/22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ABBB6-31A4-4EB2-B986-935752563B8C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0664318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861A7-A2BE-4396-9343-333936956773}" type="datetimeFigureOut">
              <a:rPr lang="es-AR" smtClean="0"/>
              <a:t>26/4/22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ABBB6-31A4-4EB2-B986-935752563B8C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376500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861A7-A2BE-4396-9343-333936956773}" type="datetimeFigureOut">
              <a:rPr lang="es-AR" smtClean="0"/>
              <a:t>26/4/22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ABBB6-31A4-4EB2-B986-935752563B8C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597442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861A7-A2BE-4396-9343-333936956773}" type="datetimeFigureOut">
              <a:rPr lang="es-AR" smtClean="0"/>
              <a:t>26/4/22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ABBB6-31A4-4EB2-B986-935752563B8C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44330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01650-D94C-4688-A36C-AA83C0BC3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4/26/22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C71F-EBF0-4BA3-AA24-8E7B4FA81DF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3938635"/>
      </p:ext>
    </p:extLst>
  </p:cSld>
  <p:clrMapOvr>
    <a:masterClrMapping/>
  </p:clrMapOvr>
  <p:hf sldNum="0"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01650-D94C-4688-A36C-AA83C0BC3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4/26/22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C71F-EBF0-4BA3-AA24-8E7B4FA81DF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1130585"/>
      </p:ext>
    </p:extLst>
  </p:cSld>
  <p:clrMapOvr>
    <a:masterClrMapping/>
  </p:clrMapOvr>
  <p:hf sldNum="0"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9" y="1709741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9" y="4589466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01650-D94C-4688-A36C-AA83C0BC3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4/26/22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C71F-EBF0-4BA3-AA24-8E7B4FA81DF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4046952"/>
      </p:ext>
    </p:extLst>
  </p:cSld>
  <p:clrMapOvr>
    <a:masterClrMapping/>
  </p:clrMapOvr>
  <p:hf sldNum="0"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01650-D94C-4688-A36C-AA83C0BC3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4/26/22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C71F-EBF0-4BA3-AA24-8E7B4FA81DF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2559893"/>
      </p:ext>
    </p:extLst>
  </p:cSld>
  <p:clrMapOvr>
    <a:masterClrMapping/>
  </p:clrMapOvr>
  <p:hf sldNum="0" hd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2" y="365128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01650-D94C-4688-A36C-AA83C0BC3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4/26/22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C71F-EBF0-4BA3-AA24-8E7B4FA81DF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4316507"/>
      </p:ext>
    </p:extLst>
  </p:cSld>
  <p:clrMapOvr>
    <a:masterClrMapping/>
  </p:clrMapOvr>
  <p:hf sldNum="0" hd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01650-D94C-4688-A36C-AA83C0BC3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4/26/22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C71F-EBF0-4BA3-AA24-8E7B4FA81DF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0105869"/>
      </p:ext>
    </p:extLst>
  </p:cSld>
  <p:clrMapOvr>
    <a:masterClrMapping/>
  </p:clrMapOvr>
  <p:hf sldNum="0" hd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01650-D94C-4688-A36C-AA83C0BC3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4/26/22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C71F-EBF0-4BA3-AA24-8E7B4FA81DF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0291956"/>
      </p:ext>
    </p:extLst>
  </p:cSld>
  <p:clrMapOvr>
    <a:masterClrMapping/>
  </p:clrMapOvr>
  <p:hf sldNum="0" hd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2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8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2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01650-D94C-4688-A36C-AA83C0BC3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4/26/22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C71F-EBF0-4BA3-AA24-8E7B4FA81DF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929406"/>
      </p:ext>
    </p:extLst>
  </p:cSld>
  <p:clrMapOvr>
    <a:masterClrMapping/>
  </p:clrMapOvr>
  <p:hf sldNum="0" hd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2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8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2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01650-D94C-4688-A36C-AA83C0BC3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4/26/22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C71F-EBF0-4BA3-AA24-8E7B4FA81DF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742071"/>
      </p:ext>
    </p:extLst>
  </p:cSld>
  <p:clrMapOvr>
    <a:masterClrMapping/>
  </p:clrMapOvr>
  <p:hf sldNum="0" hd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01650-D94C-4688-A36C-AA83C0BC3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4/26/22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C71F-EBF0-4BA3-AA24-8E7B4FA81DF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3163925"/>
      </p:ext>
    </p:extLst>
  </p:cSld>
  <p:clrMapOvr>
    <a:masterClrMapping/>
  </p:clrMapOvr>
  <p:hf sldNum="0" hd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01650-D94C-4688-A36C-AA83C0BC3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4/26/22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C71F-EBF0-4BA3-AA24-8E7B4FA81DF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9411269"/>
      </p:ext>
    </p:extLst>
  </p:cSld>
  <p:clrMapOvr>
    <a:masterClrMapping/>
  </p:clrMapOvr>
  <p:hf sldNum="0"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3861A7-A2BE-4396-9343-333936956773}" type="datetimeFigureOut">
              <a:rPr lang="es-AR" smtClean="0"/>
              <a:t>26/4/22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1ABBB6-31A4-4EB2-B986-935752563B8C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7576695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1" y="365128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1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E01650-D94C-4688-A36C-AA83C0BC3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4/26/22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1" y="6356353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47C71F-EBF0-4BA3-AA24-8E7B4FA81DF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05861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4283968" y="4725144"/>
            <a:ext cx="4689425" cy="1900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400" b="1" dirty="0" err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Algóritmos</a:t>
            </a:r>
            <a:r>
              <a:rPr lang="en-US" sz="24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y </a:t>
            </a:r>
            <a:r>
              <a:rPr lang="en-US" sz="2400" b="1" dirty="0" err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Estructuras</a:t>
            </a:r>
            <a:r>
              <a:rPr lang="en-US" sz="24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de </a:t>
            </a:r>
            <a:r>
              <a:rPr lang="en-US" sz="2400" b="1" dirty="0" err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Datos</a:t>
            </a:r>
            <a:endParaRPr lang="en-US" sz="2400" b="1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r"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</a:rPr>
              <a:t>-00184-</a:t>
            </a:r>
            <a:endParaRPr lang="en-US" sz="2400" b="1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en-US" sz="16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Dr. Diego </a:t>
            </a:r>
            <a:r>
              <a:rPr lang="en-US" sz="1600" b="1" dirty="0" err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Agustín</a:t>
            </a:r>
            <a:r>
              <a:rPr lang="en-US" sz="16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Ambrossio</a:t>
            </a:r>
          </a:p>
          <a:p>
            <a:pPr algn="ctr">
              <a:lnSpc>
                <a:spcPct val="150000"/>
              </a:lnSpc>
            </a:pPr>
            <a:r>
              <a:rPr lang="en-US" sz="1600" b="1" dirty="0" err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Anl</a:t>
            </a:r>
            <a:r>
              <a:rPr lang="en-US" sz="16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Sis. Angel Leonardo Bianco</a:t>
            </a:r>
          </a:p>
        </p:txBody>
      </p:sp>
      <p:sp>
        <p:nvSpPr>
          <p:cNvPr id="4" name="TextShape 2"/>
          <p:cNvSpPr txBox="1"/>
          <p:nvPr/>
        </p:nvSpPr>
        <p:spPr>
          <a:xfrm>
            <a:off x="4834105" y="2060848"/>
            <a:ext cx="4104456" cy="65736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r>
              <a:rPr lang="es-AR" sz="4000" b="1" i="1" strike="noStrike" spc="-1" dirty="0">
                <a:solidFill>
                  <a:srgbClr val="FFFFFF"/>
                </a:solidFill>
                <a:latin typeface="Arial"/>
              </a:rPr>
              <a:t>Tipos de Datos</a:t>
            </a:r>
          </a:p>
          <a:p>
            <a:endParaRPr lang="es-AR" sz="40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259067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 de texto 2"/>
          <p:cNvSpPr txBox="1">
            <a:spLocks noChangeArrowheads="1"/>
          </p:cNvSpPr>
          <p:nvPr/>
        </p:nvSpPr>
        <p:spPr bwMode="auto">
          <a:xfrm>
            <a:off x="2258801" y="232551"/>
            <a:ext cx="4252595" cy="2971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AR" sz="1400" dirty="0">
                <a:solidFill>
                  <a:srgbClr val="FFFFFF"/>
                </a:solidFill>
                <a:effectLst/>
                <a:latin typeface="Arial Black" pitchFamily="34" charset="0"/>
                <a:ea typeface="Calibri"/>
                <a:cs typeface="Times New Roman"/>
              </a:rPr>
              <a:t> </a:t>
            </a:r>
            <a:endParaRPr lang="es-AR" sz="1100" dirty="0">
              <a:effectLst/>
              <a:latin typeface="Arial Black" pitchFamily="34" charset="0"/>
              <a:ea typeface="Calibri"/>
              <a:cs typeface="Times New Roman"/>
            </a:endParaRPr>
          </a:p>
        </p:txBody>
      </p:sp>
      <p:sp>
        <p:nvSpPr>
          <p:cNvPr id="9" name="TextShape 3">
            <a:extLst>
              <a:ext uri="{FF2B5EF4-FFF2-40B4-BE49-F238E27FC236}">
                <a16:creationId xmlns:a16="http://schemas.microsoft.com/office/drawing/2014/main" id="{1EE73370-1CB5-184B-A778-C70CB3735C00}"/>
              </a:ext>
            </a:extLst>
          </p:cNvPr>
          <p:cNvSpPr txBox="1"/>
          <p:nvPr/>
        </p:nvSpPr>
        <p:spPr>
          <a:xfrm>
            <a:off x="1619672" y="1772816"/>
            <a:ext cx="8100392" cy="5179498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just"/>
            <a:r>
              <a:rPr lang="es-AR" sz="2000" u="sng" strike="noStrike" spc="-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Tipos de Datos: </a:t>
            </a:r>
          </a:p>
          <a:p>
            <a:pPr algn="just"/>
            <a:endParaRPr lang="es-AR" sz="2000" strike="noStrike" spc="-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elvetica" pitchFamily="2" charset="0"/>
            </a:endParaRPr>
          </a:p>
          <a:p>
            <a:pPr marL="800100" lvl="1" indent="-342900" algn="just">
              <a:buFont typeface="Wingdings" pitchFamily="2" charset="2"/>
              <a:buChar char="Ø"/>
            </a:pPr>
            <a:r>
              <a:rPr lang="es-AR" sz="2000" strike="noStrike" spc="-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Definidos por el lenguaje (simples)</a:t>
            </a:r>
          </a:p>
          <a:p>
            <a:pPr marL="1257300" lvl="2" indent="-342900" algn="just">
              <a:buFont typeface="Wingdings" pitchFamily="2" charset="2"/>
              <a:buChar char="Ø"/>
            </a:pPr>
            <a:r>
              <a:rPr lang="es-AR" sz="2000" spc="-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Númericos: Enteros, Reales, Complejos,</a:t>
            </a:r>
          </a:p>
          <a:p>
            <a:pPr marL="1257300" lvl="2" indent="-342900" algn="just">
              <a:buFont typeface="Wingdings" pitchFamily="2" charset="2"/>
              <a:buChar char="Ø"/>
            </a:pPr>
            <a:r>
              <a:rPr lang="es-AR" sz="2000" spc="-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Cadena de Caracteres,</a:t>
            </a:r>
          </a:p>
          <a:p>
            <a:pPr marL="1257300" lvl="2" indent="-342900" algn="just">
              <a:buFont typeface="Wingdings" pitchFamily="2" charset="2"/>
              <a:buChar char="Ø"/>
            </a:pPr>
            <a:r>
              <a:rPr lang="es-AR" sz="2000" spc="-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LÓGICOS (booleanos). </a:t>
            </a:r>
            <a:r>
              <a:rPr lang="es-AR" sz="2000" strike="noStrike" spc="-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 </a:t>
            </a:r>
          </a:p>
          <a:p>
            <a:pPr lvl="1" algn="just"/>
            <a:endParaRPr lang="es-AR" sz="2000" strike="noStrike" spc="-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elvetica" pitchFamily="2" charset="0"/>
            </a:endParaRPr>
          </a:p>
          <a:p>
            <a:pPr marL="800100" lvl="1" indent="-342900" algn="just">
              <a:buFont typeface="Wingdings" pitchFamily="2" charset="2"/>
              <a:buChar char="Ø"/>
            </a:pPr>
            <a:r>
              <a:rPr lang="es-AR" sz="2000" spc="-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Definidos por el Usuario (complejos)</a:t>
            </a:r>
          </a:p>
          <a:p>
            <a:pPr marL="1257300" lvl="2" indent="-342900" algn="just">
              <a:buFont typeface="Wingdings" pitchFamily="2" charset="2"/>
              <a:buChar char="Ø"/>
            </a:pPr>
            <a:r>
              <a:rPr lang="es-AR" sz="2000" spc="-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Tuplas,</a:t>
            </a:r>
          </a:p>
          <a:p>
            <a:pPr marL="1257300" lvl="2" indent="-342900" algn="just">
              <a:buFont typeface="Wingdings" pitchFamily="2" charset="2"/>
              <a:buChar char="Ø"/>
            </a:pPr>
            <a:r>
              <a:rPr lang="es-AR" sz="2000" spc="-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Conjuntos,</a:t>
            </a:r>
          </a:p>
          <a:p>
            <a:pPr marL="1257300" lvl="2" indent="-342900" algn="just">
              <a:buFont typeface="Wingdings" pitchFamily="2" charset="2"/>
              <a:buChar char="Ø"/>
            </a:pPr>
            <a:r>
              <a:rPr lang="es-AR" sz="2000" spc="-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Diccionarios,</a:t>
            </a:r>
          </a:p>
          <a:p>
            <a:pPr marL="1257300" lvl="2" indent="-342900" algn="just">
              <a:buFont typeface="Wingdings" pitchFamily="2" charset="2"/>
              <a:buChar char="Ø"/>
            </a:pPr>
            <a:r>
              <a:rPr lang="es-AR" sz="2000" spc="-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Listas,</a:t>
            </a:r>
          </a:p>
          <a:p>
            <a:pPr marL="1257300" lvl="2" indent="-342900" algn="just">
              <a:buFont typeface="Wingdings" pitchFamily="2" charset="2"/>
              <a:buChar char="Ø"/>
            </a:pPr>
            <a:r>
              <a:rPr lang="es-AR" sz="2000" spc="-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Rangos.</a:t>
            </a:r>
          </a:p>
          <a:p>
            <a:pPr lvl="1" algn="just"/>
            <a:endParaRPr lang="es-AR" sz="2000" spc="-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elvetica" pitchFamily="2" charset="0"/>
            </a:endParaRPr>
          </a:p>
          <a:p>
            <a:pPr marL="800100" lvl="1" indent="-342900" algn="just">
              <a:buFont typeface="Wingdings" pitchFamily="2" charset="2"/>
              <a:buChar char="Ø"/>
            </a:pPr>
            <a:r>
              <a:rPr lang="es-AR" sz="2000" spc="-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Datos Mutables e Inmutables.</a:t>
            </a:r>
          </a:p>
          <a:p>
            <a:pPr marL="800100" lvl="1" indent="-342900" algn="just">
              <a:buFont typeface="Wingdings" pitchFamily="2" charset="2"/>
              <a:buChar char="Ø"/>
            </a:pPr>
            <a:r>
              <a:rPr lang="es-AR" sz="2000" spc="-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Punteros.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4B28B1-6C17-8845-BD55-65F0693B65C3}"/>
              </a:ext>
            </a:extLst>
          </p:cNvPr>
          <p:cNvSpPr txBox="1"/>
          <p:nvPr/>
        </p:nvSpPr>
        <p:spPr>
          <a:xfrm>
            <a:off x="0" y="1192816"/>
            <a:ext cx="16562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u="sng" dirty="0">
                <a:solidFill>
                  <a:schemeClr val="accent1"/>
                </a:solidFill>
                <a:latin typeface="Helvetica" pitchFamily="2" charset="0"/>
              </a:rPr>
              <a:t>Overview</a:t>
            </a:r>
            <a:r>
              <a:rPr lang="en-US" sz="2400" b="1" dirty="0">
                <a:solidFill>
                  <a:schemeClr val="accent1"/>
                </a:solidFill>
                <a:latin typeface="Helvetica" pitchFamily="2" charset="0"/>
              </a:rPr>
              <a:t>:</a:t>
            </a:r>
          </a:p>
        </p:txBody>
      </p:sp>
      <p:pic>
        <p:nvPicPr>
          <p:cNvPr id="6" name="16 Imagen">
            <a:extLst>
              <a:ext uri="{FF2B5EF4-FFF2-40B4-BE49-F238E27FC236}">
                <a16:creationId xmlns:a16="http://schemas.microsoft.com/office/drawing/2014/main" id="{139B1D3E-31E1-9944-98E8-E47EE1AB52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80"/>
            <a:ext cx="9144000" cy="1171495"/>
          </a:xfrm>
          <a:prstGeom prst="rect">
            <a:avLst/>
          </a:prstGeom>
        </p:spPr>
      </p:pic>
      <p:sp>
        <p:nvSpPr>
          <p:cNvPr id="10" name="17 CuadroTexto">
            <a:extLst>
              <a:ext uri="{FF2B5EF4-FFF2-40B4-BE49-F238E27FC236}">
                <a16:creationId xmlns:a16="http://schemas.microsoft.com/office/drawing/2014/main" id="{951E7934-4893-164F-B2FE-56B95ED1E907}"/>
              </a:ext>
            </a:extLst>
          </p:cNvPr>
          <p:cNvSpPr txBox="1"/>
          <p:nvPr/>
        </p:nvSpPr>
        <p:spPr>
          <a:xfrm>
            <a:off x="212156" y="87951"/>
            <a:ext cx="327972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b="1" dirty="0">
                <a:solidFill>
                  <a:schemeClr val="bg1"/>
                </a:solidFill>
                <a:latin typeface="TeXGyreAdventor" pitchFamily="50" charset="0"/>
              </a:rPr>
              <a:t>Algoritmos y Estructuras</a:t>
            </a:r>
          </a:p>
          <a:p>
            <a:r>
              <a:rPr lang="es-AR" sz="2400" b="1" dirty="0">
                <a:solidFill>
                  <a:schemeClr val="bg1"/>
                </a:solidFill>
                <a:latin typeface="TeXGyreAdventor" pitchFamily="50" charset="0"/>
              </a:rPr>
              <a:t>de Datos</a:t>
            </a:r>
          </a:p>
          <a:p>
            <a:endParaRPr lang="es-AR" dirty="0"/>
          </a:p>
        </p:txBody>
      </p:sp>
      <p:sp>
        <p:nvSpPr>
          <p:cNvPr id="11" name="17 CuadroTexto">
            <a:extLst>
              <a:ext uri="{FF2B5EF4-FFF2-40B4-BE49-F238E27FC236}">
                <a16:creationId xmlns:a16="http://schemas.microsoft.com/office/drawing/2014/main" id="{662DE885-54DE-D64A-BAD9-C745C56091DE}"/>
              </a:ext>
            </a:extLst>
          </p:cNvPr>
          <p:cNvSpPr txBox="1"/>
          <p:nvPr/>
        </p:nvSpPr>
        <p:spPr>
          <a:xfrm>
            <a:off x="3486476" y="605210"/>
            <a:ext cx="2171048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000" b="1" dirty="0">
                <a:solidFill>
                  <a:schemeClr val="bg1"/>
                </a:solidFill>
                <a:latin typeface="TeXGyreAdventor" pitchFamily="50" charset="0"/>
              </a:rPr>
              <a:t> - </a:t>
            </a:r>
            <a:r>
              <a:rPr lang="es-AR" sz="2000" b="1" u="sng" dirty="0">
                <a:solidFill>
                  <a:schemeClr val="bg1"/>
                </a:solidFill>
                <a:latin typeface="TeXGyreAdventor" pitchFamily="50" charset="0"/>
              </a:rPr>
              <a:t>Tipos de Datos </a:t>
            </a:r>
            <a:r>
              <a:rPr lang="es-AR" sz="2000" b="1" dirty="0">
                <a:solidFill>
                  <a:schemeClr val="bg1"/>
                </a:solidFill>
                <a:latin typeface="TeXGyreAdventor" pitchFamily="50" charset="0"/>
              </a:rPr>
              <a:t>-</a:t>
            </a:r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2596045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Shape 3">
            <a:extLst>
              <a:ext uri="{FF2B5EF4-FFF2-40B4-BE49-F238E27FC236}">
                <a16:creationId xmlns:a16="http://schemas.microsoft.com/office/drawing/2014/main" id="{1EE73370-1CB5-184B-A778-C70CB3735C00}"/>
              </a:ext>
            </a:extLst>
          </p:cNvPr>
          <p:cNvSpPr txBox="1"/>
          <p:nvPr/>
        </p:nvSpPr>
        <p:spPr>
          <a:xfrm>
            <a:off x="334902" y="1556792"/>
            <a:ext cx="8100392" cy="5179498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marL="800100" lvl="1" indent="-342900" algn="just">
              <a:buFont typeface="Wingdings" pitchFamily="2" charset="2"/>
              <a:buChar char="Ø"/>
            </a:pPr>
            <a:r>
              <a:rPr lang="es-AR" sz="2000" strike="noStrike" spc="-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Tipos de Datos Simples.</a:t>
            </a:r>
          </a:p>
          <a:p>
            <a:pPr marL="1257300" lvl="2" indent="-342900" algn="just">
              <a:buFont typeface="Wingdings" pitchFamily="2" charset="2"/>
              <a:buChar char="Ø"/>
            </a:pPr>
            <a:r>
              <a:rPr lang="es-AR" sz="2000" strike="noStrike" spc="-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Definidos por el lenguaje.</a:t>
            </a:r>
          </a:p>
          <a:p>
            <a:pPr marL="1257300" lvl="2" indent="-342900" algn="just">
              <a:buFont typeface="Wingdings" pitchFamily="2" charset="2"/>
              <a:buChar char="Ø"/>
            </a:pPr>
            <a:r>
              <a:rPr lang="es-AR" sz="2000" spc="-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Números:</a:t>
            </a:r>
          </a:p>
          <a:p>
            <a:pPr marL="1714500" lvl="3" indent="-342900" algn="just">
              <a:buFont typeface="Wingdings" pitchFamily="2" charset="2"/>
              <a:buChar char="Ø"/>
            </a:pPr>
            <a:r>
              <a:rPr lang="es-AR" sz="2000" spc="-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Enteros ( </a:t>
            </a:r>
            <a:r>
              <a:rPr lang="es-AR" sz="2000" spc="-1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type</a:t>
            </a:r>
            <a:r>
              <a:rPr lang="es-AR" sz="2000" spc="-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 ‘int’ )</a:t>
            </a:r>
          </a:p>
          <a:p>
            <a:pPr marL="1714500" lvl="3" indent="-342900" algn="just">
              <a:buFont typeface="Wingdings" pitchFamily="2" charset="2"/>
              <a:buChar char="Ø"/>
            </a:pPr>
            <a:r>
              <a:rPr lang="es-AR" sz="2000" spc="-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Reales ( </a:t>
            </a:r>
            <a:r>
              <a:rPr lang="es-AR" sz="2000" spc="-1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type </a:t>
            </a:r>
            <a:r>
              <a:rPr lang="es-AR" sz="2000" spc="-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‘float’ )</a:t>
            </a:r>
          </a:p>
          <a:p>
            <a:pPr marL="1714500" lvl="3" indent="-342900" algn="just">
              <a:buFont typeface="Wingdings" pitchFamily="2" charset="2"/>
              <a:buChar char="Ø"/>
            </a:pPr>
            <a:r>
              <a:rPr lang="es-AR" sz="2000" spc="-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Complejos (</a:t>
            </a:r>
            <a:r>
              <a:rPr lang="es-AR" sz="2000" spc="-1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type </a:t>
            </a:r>
            <a:r>
              <a:rPr lang="es-AR" sz="2000" spc="-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‘complex’ )</a:t>
            </a:r>
          </a:p>
          <a:p>
            <a:pPr marL="1257300" lvl="2" indent="-342900" algn="just">
              <a:buFont typeface="Wingdings" pitchFamily="2" charset="2"/>
              <a:buChar char="Ø"/>
            </a:pPr>
            <a:r>
              <a:rPr lang="es-AR" sz="2000" spc="-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Cadena de Caracteres (</a:t>
            </a:r>
            <a:r>
              <a:rPr lang="es-AR" sz="2000" spc="-1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type  </a:t>
            </a:r>
            <a:r>
              <a:rPr lang="es-AR" sz="2000" spc="-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‘str’ )</a:t>
            </a:r>
          </a:p>
          <a:p>
            <a:pPr marL="1257300" lvl="2" indent="-342900" algn="just">
              <a:buFont typeface="Wingdings" pitchFamily="2" charset="2"/>
              <a:buChar char="Ø"/>
            </a:pPr>
            <a:r>
              <a:rPr lang="es-AR" sz="2000" spc="-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Booleanos </a:t>
            </a:r>
            <a:r>
              <a:rPr lang="es-AR" sz="2000" strike="noStrike" spc="-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 ( </a:t>
            </a:r>
            <a:r>
              <a:rPr lang="es-AR" sz="2000" spc="-1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type </a:t>
            </a:r>
            <a:r>
              <a:rPr lang="es-AR" sz="2000" spc="-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‘</a:t>
            </a:r>
            <a:r>
              <a:rPr lang="es-AR" sz="2000" strike="noStrike" spc="-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bool’ )</a:t>
            </a:r>
          </a:p>
          <a:p>
            <a:pPr marL="1714500" lvl="3" indent="-342900" algn="just">
              <a:buFont typeface="Wingdings" pitchFamily="2" charset="2"/>
              <a:buChar char="Ø"/>
            </a:pPr>
            <a:r>
              <a:rPr lang="es-AR" sz="2000" spc="-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Ooperadores Relacionales</a:t>
            </a:r>
            <a:endParaRPr lang="es-AR" sz="2000" strike="noStrike" spc="-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elvetica" pitchFamily="2" charset="0"/>
            </a:endParaRPr>
          </a:p>
          <a:p>
            <a:pPr marL="800100" lvl="1" indent="-34290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s-AR" sz="2000" spc="-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Tipos de Datos Complejos</a:t>
            </a:r>
          </a:p>
          <a:p>
            <a:pPr marL="1257300" lvl="2" indent="-342900" algn="just">
              <a:buFont typeface="Wingdings" pitchFamily="2" charset="2"/>
              <a:buChar char="Ø"/>
            </a:pPr>
            <a:r>
              <a:rPr lang="es-AR" sz="2000" spc="-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Definidos por el Usuario</a:t>
            </a:r>
          </a:p>
          <a:p>
            <a:pPr marL="1257300" lvl="2" indent="-342900" algn="just">
              <a:buFont typeface="Wingdings" pitchFamily="2" charset="2"/>
              <a:buChar char="Ø"/>
            </a:pPr>
            <a:r>
              <a:rPr lang="es-AR" sz="2000" spc="-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Tuplas ( </a:t>
            </a:r>
            <a:r>
              <a:rPr lang="es-AR" sz="2000" spc="-1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type</a:t>
            </a:r>
            <a:r>
              <a:rPr lang="es-AR" sz="2000" spc="-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 ‘tuple’ )</a:t>
            </a:r>
          </a:p>
          <a:p>
            <a:pPr marL="1257300" lvl="2" indent="-342900" algn="just">
              <a:buFont typeface="Wingdings" pitchFamily="2" charset="2"/>
              <a:buChar char="Ø"/>
            </a:pPr>
            <a:r>
              <a:rPr lang="es-AR" sz="2000" spc="-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Conjuntos ( </a:t>
            </a:r>
            <a:r>
              <a:rPr lang="es-AR" sz="2000" spc="-1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type</a:t>
            </a:r>
            <a:r>
              <a:rPr lang="es-AR" sz="2000" spc="-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 ‘set’ )</a:t>
            </a:r>
          </a:p>
          <a:p>
            <a:pPr marL="1257300" lvl="2" indent="-342900" algn="just">
              <a:buFont typeface="Wingdings" pitchFamily="2" charset="2"/>
              <a:buChar char="Ø"/>
            </a:pPr>
            <a:r>
              <a:rPr lang="es-AR" sz="2000" spc="-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Diccionarios ( </a:t>
            </a:r>
            <a:r>
              <a:rPr lang="es-AR" sz="2000" spc="-1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type</a:t>
            </a:r>
            <a:r>
              <a:rPr lang="es-AR" sz="2000" spc="-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 ‘dicc’ )</a:t>
            </a:r>
          </a:p>
          <a:p>
            <a:pPr marL="1257300" lvl="2" indent="-342900" algn="just">
              <a:buFont typeface="Wingdings" pitchFamily="2" charset="2"/>
              <a:buChar char="Ø"/>
            </a:pPr>
            <a:r>
              <a:rPr lang="es-AR" sz="2000" spc="-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Listas ( </a:t>
            </a:r>
            <a:r>
              <a:rPr lang="es-AR" sz="2000" spc="-1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type</a:t>
            </a:r>
            <a:r>
              <a:rPr lang="es-AR" sz="2000" spc="-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 ‘list’ )</a:t>
            </a:r>
          </a:p>
          <a:p>
            <a:pPr marL="1257300" lvl="2" indent="-342900" algn="just">
              <a:buFont typeface="Wingdings" pitchFamily="2" charset="2"/>
              <a:buChar char="Ø"/>
            </a:pPr>
            <a:r>
              <a:rPr lang="es-AR" sz="2000" spc="-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Rangos ( </a:t>
            </a:r>
            <a:r>
              <a:rPr lang="es-AR" sz="2000" spc="-1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type</a:t>
            </a:r>
            <a:r>
              <a:rPr lang="es-AR" sz="2000" spc="-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pitchFamily="2" charset="0"/>
              </a:rPr>
              <a:t> ‘range’ ) </a:t>
            </a:r>
            <a:endParaRPr lang="es-AR" sz="2200" spc="-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elvetica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4B28B1-6C17-8845-BD55-65F0693B65C3}"/>
              </a:ext>
            </a:extLst>
          </p:cNvPr>
          <p:cNvSpPr txBox="1"/>
          <p:nvPr/>
        </p:nvSpPr>
        <p:spPr>
          <a:xfrm>
            <a:off x="0" y="1173075"/>
            <a:ext cx="24858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Tipos de Datos:</a:t>
            </a:r>
          </a:p>
        </p:txBody>
      </p:sp>
      <p:pic>
        <p:nvPicPr>
          <p:cNvPr id="6" name="16 Imagen">
            <a:extLst>
              <a:ext uri="{FF2B5EF4-FFF2-40B4-BE49-F238E27FC236}">
                <a16:creationId xmlns:a16="http://schemas.microsoft.com/office/drawing/2014/main" id="{E67A9D36-DE5C-F743-A80C-E9C38804AB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80"/>
            <a:ext cx="9144000" cy="1171495"/>
          </a:xfrm>
          <a:prstGeom prst="rect">
            <a:avLst/>
          </a:prstGeom>
        </p:spPr>
      </p:pic>
      <p:sp>
        <p:nvSpPr>
          <p:cNvPr id="10" name="17 CuadroTexto">
            <a:extLst>
              <a:ext uri="{FF2B5EF4-FFF2-40B4-BE49-F238E27FC236}">
                <a16:creationId xmlns:a16="http://schemas.microsoft.com/office/drawing/2014/main" id="{173CB93E-B0DC-C44C-B54B-D9677FAD5920}"/>
              </a:ext>
            </a:extLst>
          </p:cNvPr>
          <p:cNvSpPr txBox="1"/>
          <p:nvPr/>
        </p:nvSpPr>
        <p:spPr>
          <a:xfrm>
            <a:off x="212156" y="87951"/>
            <a:ext cx="327972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b="1" dirty="0">
                <a:solidFill>
                  <a:schemeClr val="bg1"/>
                </a:solidFill>
                <a:latin typeface="TeXGyreAdventor" pitchFamily="50" charset="0"/>
              </a:rPr>
              <a:t>Algoritmos y Estructuras</a:t>
            </a:r>
          </a:p>
          <a:p>
            <a:r>
              <a:rPr lang="es-AR" sz="2400" b="1" dirty="0">
                <a:solidFill>
                  <a:schemeClr val="bg1"/>
                </a:solidFill>
                <a:latin typeface="TeXGyreAdventor" pitchFamily="50" charset="0"/>
              </a:rPr>
              <a:t>de Datos</a:t>
            </a:r>
          </a:p>
          <a:p>
            <a:endParaRPr lang="es-AR" dirty="0"/>
          </a:p>
        </p:txBody>
      </p:sp>
      <p:sp>
        <p:nvSpPr>
          <p:cNvPr id="11" name="17 CuadroTexto">
            <a:extLst>
              <a:ext uri="{FF2B5EF4-FFF2-40B4-BE49-F238E27FC236}">
                <a16:creationId xmlns:a16="http://schemas.microsoft.com/office/drawing/2014/main" id="{DC38DFAF-C154-044E-B2C7-CCCB8CD0ED37}"/>
              </a:ext>
            </a:extLst>
          </p:cNvPr>
          <p:cNvSpPr txBox="1"/>
          <p:nvPr/>
        </p:nvSpPr>
        <p:spPr>
          <a:xfrm>
            <a:off x="3486476" y="605210"/>
            <a:ext cx="2171048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000" b="1" dirty="0">
                <a:solidFill>
                  <a:schemeClr val="bg1"/>
                </a:solidFill>
                <a:latin typeface="TeXGyreAdventor" pitchFamily="50" charset="0"/>
              </a:rPr>
              <a:t> - </a:t>
            </a:r>
            <a:r>
              <a:rPr lang="es-AR" sz="2000" b="1" u="sng" dirty="0">
                <a:solidFill>
                  <a:schemeClr val="bg1"/>
                </a:solidFill>
                <a:latin typeface="TeXGyreAdventor" pitchFamily="50" charset="0"/>
              </a:rPr>
              <a:t>Tipos de Datos </a:t>
            </a:r>
            <a:r>
              <a:rPr lang="es-AR" sz="2000" b="1" dirty="0">
                <a:solidFill>
                  <a:schemeClr val="bg1"/>
                </a:solidFill>
                <a:latin typeface="TeXGyreAdventor" pitchFamily="50" charset="0"/>
              </a:rPr>
              <a:t>-</a:t>
            </a:r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6855547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16 Imagen">
            <a:extLst>
              <a:ext uri="{FF2B5EF4-FFF2-40B4-BE49-F238E27FC236}">
                <a16:creationId xmlns:a16="http://schemas.microsoft.com/office/drawing/2014/main" id="{E18833CA-28BE-584F-9880-8012D82710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80"/>
            <a:ext cx="9144000" cy="1171495"/>
          </a:xfrm>
          <a:prstGeom prst="rect">
            <a:avLst/>
          </a:prstGeom>
        </p:spPr>
      </p:pic>
      <p:sp>
        <p:nvSpPr>
          <p:cNvPr id="11" name="17 CuadroTexto">
            <a:extLst>
              <a:ext uri="{FF2B5EF4-FFF2-40B4-BE49-F238E27FC236}">
                <a16:creationId xmlns:a16="http://schemas.microsoft.com/office/drawing/2014/main" id="{6BED238C-223E-7F4A-BFF1-2F3910B2B049}"/>
              </a:ext>
            </a:extLst>
          </p:cNvPr>
          <p:cNvSpPr txBox="1"/>
          <p:nvPr/>
        </p:nvSpPr>
        <p:spPr>
          <a:xfrm>
            <a:off x="212156" y="87951"/>
            <a:ext cx="327972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b="1" dirty="0">
                <a:solidFill>
                  <a:schemeClr val="bg1"/>
                </a:solidFill>
                <a:latin typeface="TeXGyreAdventor" pitchFamily="50" charset="0"/>
              </a:rPr>
              <a:t>Algoritmos y Estructuras</a:t>
            </a:r>
          </a:p>
          <a:p>
            <a:r>
              <a:rPr lang="es-AR" sz="2400" b="1" dirty="0">
                <a:solidFill>
                  <a:schemeClr val="bg1"/>
                </a:solidFill>
                <a:latin typeface="TeXGyreAdventor" pitchFamily="50" charset="0"/>
              </a:rPr>
              <a:t>de Datos</a:t>
            </a:r>
          </a:p>
          <a:p>
            <a:endParaRPr lang="es-AR" dirty="0"/>
          </a:p>
        </p:txBody>
      </p:sp>
      <p:sp>
        <p:nvSpPr>
          <p:cNvPr id="12" name="17 CuadroTexto">
            <a:extLst>
              <a:ext uri="{FF2B5EF4-FFF2-40B4-BE49-F238E27FC236}">
                <a16:creationId xmlns:a16="http://schemas.microsoft.com/office/drawing/2014/main" id="{B26987D4-C5D9-0146-A6C8-1CEC49293F37}"/>
              </a:ext>
            </a:extLst>
          </p:cNvPr>
          <p:cNvSpPr txBox="1"/>
          <p:nvPr/>
        </p:nvSpPr>
        <p:spPr>
          <a:xfrm>
            <a:off x="3486476" y="605210"/>
            <a:ext cx="2171048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000" b="1" dirty="0">
                <a:solidFill>
                  <a:schemeClr val="bg1"/>
                </a:solidFill>
                <a:latin typeface="TeXGyreAdventor" pitchFamily="50" charset="0"/>
              </a:rPr>
              <a:t> - </a:t>
            </a:r>
            <a:r>
              <a:rPr lang="es-AR" sz="2000" b="1" u="sng" dirty="0">
                <a:solidFill>
                  <a:schemeClr val="bg1"/>
                </a:solidFill>
                <a:latin typeface="TeXGyreAdventor" pitchFamily="50" charset="0"/>
              </a:rPr>
              <a:t>Tipos de Datos </a:t>
            </a:r>
            <a:r>
              <a:rPr lang="es-AR" sz="2000" b="1" dirty="0">
                <a:solidFill>
                  <a:schemeClr val="bg1"/>
                </a:solidFill>
                <a:latin typeface="TeXGyreAdventor" pitchFamily="50" charset="0"/>
              </a:rPr>
              <a:t>-</a:t>
            </a:r>
          </a:p>
          <a:p>
            <a:endParaRPr lang="es-AR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711F11B-CFCC-6F4C-987C-61BCBAF2DD91}"/>
              </a:ext>
            </a:extLst>
          </p:cNvPr>
          <p:cNvSpPr txBox="1"/>
          <p:nvPr/>
        </p:nvSpPr>
        <p:spPr>
          <a:xfrm>
            <a:off x="0" y="1173075"/>
            <a:ext cx="11432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Datos: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589B56C-C98A-9F4A-A6C5-EB5726A40C70}"/>
              </a:ext>
            </a:extLst>
          </p:cNvPr>
          <p:cNvSpPr txBox="1"/>
          <p:nvPr/>
        </p:nvSpPr>
        <p:spPr>
          <a:xfrm>
            <a:off x="1475656" y="1347197"/>
            <a:ext cx="64279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Un </a:t>
            </a:r>
            <a:r>
              <a:rPr lang="en-US" b="1" dirty="0" err="1"/>
              <a:t>dato</a:t>
            </a:r>
            <a:r>
              <a:rPr lang="en-US" b="1" dirty="0"/>
              <a:t> </a:t>
            </a:r>
            <a:r>
              <a:rPr lang="en-US" b="1" dirty="0" err="1"/>
              <a:t>es</a:t>
            </a:r>
            <a:r>
              <a:rPr lang="en-US" b="1" dirty="0"/>
              <a:t> </a:t>
            </a:r>
            <a:r>
              <a:rPr lang="en-US" b="1" dirty="0" err="1"/>
              <a:t>simplemente</a:t>
            </a:r>
            <a:r>
              <a:rPr lang="en-US" b="1" dirty="0"/>
              <a:t> la </a:t>
            </a:r>
            <a:r>
              <a:rPr lang="en-US" b="1" dirty="0" err="1"/>
              <a:t>representación</a:t>
            </a:r>
            <a:r>
              <a:rPr lang="en-US" b="1" dirty="0"/>
              <a:t> de un </a:t>
            </a:r>
            <a:r>
              <a:rPr lang="en-US" b="1" dirty="0" err="1"/>
              <a:t>objeto</a:t>
            </a:r>
            <a:r>
              <a:rPr lang="en-US" b="1" dirty="0"/>
              <a:t> </a:t>
            </a:r>
            <a:r>
              <a:rPr lang="en-US" b="1" dirty="0" err="1"/>
              <a:t>mediante</a:t>
            </a:r>
            <a:r>
              <a:rPr lang="en-US" b="1" dirty="0"/>
              <a:t> </a:t>
            </a:r>
            <a:r>
              <a:rPr lang="en-US" b="1" dirty="0" err="1"/>
              <a:t>símbolos</a:t>
            </a:r>
            <a:r>
              <a:rPr lang="en-US" b="1" dirty="0"/>
              <a:t> </a:t>
            </a:r>
            <a:r>
              <a:rPr lang="en-US" b="1" dirty="0" err="1"/>
              <a:t>manejables</a:t>
            </a:r>
            <a:r>
              <a:rPr lang="en-US" b="1" dirty="0"/>
              <a:t> </a:t>
            </a:r>
            <a:r>
              <a:rPr lang="en-US" b="1" dirty="0" err="1"/>
              <a:t>por</a:t>
            </a:r>
            <a:r>
              <a:rPr lang="en-US" b="1" dirty="0"/>
              <a:t> </a:t>
            </a:r>
            <a:r>
              <a:rPr lang="en-US" b="1" dirty="0" err="1"/>
              <a:t>una</a:t>
            </a:r>
            <a:r>
              <a:rPr lang="en-US" b="1" dirty="0"/>
              <a:t> </a:t>
            </a:r>
            <a:r>
              <a:rPr lang="en-US" b="1" dirty="0" err="1"/>
              <a:t>computadora</a:t>
            </a:r>
            <a:r>
              <a:rPr lang="en-US" b="1" dirty="0"/>
              <a:t>.</a:t>
            </a:r>
          </a:p>
          <a:p>
            <a:pPr algn="ctr"/>
            <a:endParaRPr lang="en-US" b="1" dirty="0"/>
          </a:p>
        </p:txBody>
      </p:sp>
      <p:sp>
        <p:nvSpPr>
          <p:cNvPr id="17" name="Los algoritmos se organizan en dos aspectos inseparables:">
            <a:extLst>
              <a:ext uri="{FF2B5EF4-FFF2-40B4-BE49-F238E27FC236}">
                <a16:creationId xmlns:a16="http://schemas.microsoft.com/office/drawing/2014/main" id="{AB2CC5FA-CD2B-F24E-BA05-2FC720BB331A}"/>
              </a:ext>
            </a:extLst>
          </p:cNvPr>
          <p:cNvSpPr txBox="1"/>
          <p:nvPr/>
        </p:nvSpPr>
        <p:spPr>
          <a:xfrm>
            <a:off x="566577" y="2321030"/>
            <a:ext cx="7973061" cy="461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1600"/>
              </a:spcBef>
              <a:buSzPct val="100000"/>
              <a:buChar char="•"/>
              <a:defRPr sz="2800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rPr sz="2400" dirty="0"/>
              <a:t> Los </a:t>
            </a:r>
            <a:r>
              <a:rPr sz="2400" dirty="0" err="1"/>
              <a:t>algoritmos</a:t>
            </a:r>
            <a:r>
              <a:rPr sz="2400" dirty="0"/>
              <a:t> se </a:t>
            </a:r>
            <a:r>
              <a:rPr sz="2400" dirty="0" err="1"/>
              <a:t>organizan</a:t>
            </a:r>
            <a:r>
              <a:rPr sz="2400" dirty="0"/>
              <a:t> </a:t>
            </a:r>
            <a:r>
              <a:rPr sz="2400" dirty="0" err="1"/>
              <a:t>en</a:t>
            </a:r>
            <a:r>
              <a:rPr sz="2400" dirty="0"/>
              <a:t> dos </a:t>
            </a:r>
            <a:r>
              <a:rPr sz="2400" dirty="0" err="1"/>
              <a:t>aspectos</a:t>
            </a:r>
            <a:r>
              <a:rPr sz="2400" dirty="0"/>
              <a:t> inseparables:</a:t>
            </a:r>
          </a:p>
        </p:txBody>
      </p:sp>
      <p:sp>
        <p:nvSpPr>
          <p:cNvPr id="18" name="ALGORITMO = ACCIONES Y DATOS">
            <a:extLst>
              <a:ext uri="{FF2B5EF4-FFF2-40B4-BE49-F238E27FC236}">
                <a16:creationId xmlns:a16="http://schemas.microsoft.com/office/drawing/2014/main" id="{DEF2EBC0-FA44-1F49-9638-9456A91D6F4C}"/>
              </a:ext>
            </a:extLst>
          </p:cNvPr>
          <p:cNvSpPr txBox="1"/>
          <p:nvPr/>
        </p:nvSpPr>
        <p:spPr>
          <a:xfrm>
            <a:off x="1179682" y="3097228"/>
            <a:ext cx="6411551" cy="659766"/>
          </a:xfrm>
          <a:prstGeom prst="rect">
            <a:avLst/>
          </a:prstGeom>
          <a:ln>
            <a:solidFill>
              <a:srgbClr val="FF0000"/>
            </a:solidFill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3600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rPr dirty="0"/>
              <a:t>ALGORITMO = ACCIONES Y DATOS</a:t>
            </a:r>
          </a:p>
        </p:txBody>
      </p:sp>
      <p:sp>
        <p:nvSpPr>
          <p:cNvPr id="19" name="Las entradas colección inicial de datos.…">
            <a:extLst>
              <a:ext uri="{FF2B5EF4-FFF2-40B4-BE49-F238E27FC236}">
                <a16:creationId xmlns:a16="http://schemas.microsoft.com/office/drawing/2014/main" id="{4DE0C32F-D862-9940-8EDC-5714BDC7F39D}"/>
              </a:ext>
            </a:extLst>
          </p:cNvPr>
          <p:cNvSpPr txBox="1"/>
          <p:nvPr/>
        </p:nvSpPr>
        <p:spPr>
          <a:xfrm>
            <a:off x="585469" y="4301644"/>
            <a:ext cx="7973061" cy="1036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600"/>
              </a:spcBef>
              <a:buSzPct val="100000"/>
              <a:buChar char="•"/>
              <a:defRPr sz="2800">
                <a:latin typeface="Calibri"/>
                <a:ea typeface="Calibri"/>
                <a:cs typeface="Calibri"/>
                <a:sym typeface="Calibri"/>
              </a:defRPr>
            </a:pPr>
            <a:r>
              <a:rPr sz="2400" dirty="0"/>
              <a:t> Las entradas </a:t>
            </a:r>
            <a:r>
              <a:rPr sz="2400" dirty="0" err="1"/>
              <a:t>colección</a:t>
            </a:r>
            <a:r>
              <a:rPr sz="2400" dirty="0"/>
              <a:t> </a:t>
            </a:r>
            <a:r>
              <a:rPr sz="2400" dirty="0" err="1"/>
              <a:t>inicial</a:t>
            </a:r>
            <a:r>
              <a:rPr sz="2400" dirty="0"/>
              <a:t> de </a:t>
            </a:r>
            <a:r>
              <a:rPr sz="2400" dirty="0" err="1"/>
              <a:t>datos</a:t>
            </a:r>
            <a:r>
              <a:rPr sz="2400" dirty="0"/>
              <a:t>.</a:t>
            </a:r>
          </a:p>
          <a:p>
            <a:pPr>
              <a:spcBef>
                <a:spcPts val="1600"/>
              </a:spcBef>
              <a:buSzPct val="100000"/>
              <a:buChar char="•"/>
              <a:defRPr sz="2800">
                <a:latin typeface="Calibri"/>
                <a:ea typeface="Calibri"/>
                <a:cs typeface="Calibri"/>
                <a:sym typeface="Calibri"/>
              </a:defRPr>
            </a:pPr>
            <a:r>
              <a:rPr sz="2400" dirty="0"/>
              <a:t> Las </a:t>
            </a:r>
            <a:r>
              <a:rPr sz="2400" dirty="0" err="1"/>
              <a:t>salidas</a:t>
            </a:r>
            <a:r>
              <a:rPr sz="2400" dirty="0"/>
              <a:t> conjunto de </a:t>
            </a:r>
            <a:r>
              <a:rPr sz="2400" dirty="0" err="1"/>
              <a:t>datos</a:t>
            </a:r>
            <a:r>
              <a:rPr sz="2400" dirty="0"/>
              <a:t> </a:t>
            </a:r>
            <a:r>
              <a:rPr sz="2400" dirty="0" err="1"/>
              <a:t>resultantes</a:t>
            </a:r>
            <a:r>
              <a:rPr sz="2400" dirty="0"/>
              <a:t>.</a:t>
            </a:r>
          </a:p>
        </p:txBody>
      </p:sp>
      <p:sp>
        <p:nvSpPr>
          <p:cNvPr id="20" name="Las entradas antes de convertirse en salidas, pueden pasar por un sinfín de…">
            <a:extLst>
              <a:ext uri="{FF2B5EF4-FFF2-40B4-BE49-F238E27FC236}">
                <a16:creationId xmlns:a16="http://schemas.microsoft.com/office/drawing/2014/main" id="{15489E6F-845A-A64A-B7A7-1C0847A7071F}"/>
              </a:ext>
            </a:extLst>
          </p:cNvPr>
          <p:cNvSpPr txBox="1"/>
          <p:nvPr/>
        </p:nvSpPr>
        <p:spPr>
          <a:xfrm>
            <a:off x="169709" y="5949280"/>
            <a:ext cx="8766795" cy="70788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tIns="45719" rIns="45719" bIns="45719" numCol="1" anchor="ctr">
            <a:spAutoFit/>
          </a:bodyPr>
          <a:lstStyle/>
          <a:p>
            <a:pPr algn="ctr"/>
            <a:r>
              <a:rPr sz="2000" b="1" dirty="0"/>
              <a:t>Las entradas antes de </a:t>
            </a:r>
            <a:r>
              <a:rPr sz="2000" b="1" dirty="0" err="1"/>
              <a:t>convertirse</a:t>
            </a:r>
            <a:r>
              <a:rPr sz="2000" b="1" dirty="0"/>
              <a:t> </a:t>
            </a:r>
            <a:r>
              <a:rPr sz="2000" b="1" dirty="0" err="1"/>
              <a:t>en</a:t>
            </a:r>
            <a:r>
              <a:rPr sz="2000" b="1" dirty="0"/>
              <a:t> </a:t>
            </a:r>
            <a:r>
              <a:rPr sz="2000" b="1" dirty="0" err="1"/>
              <a:t>salidas</a:t>
            </a:r>
            <a:r>
              <a:rPr sz="2000" b="1" dirty="0"/>
              <a:t>, </a:t>
            </a:r>
            <a:r>
              <a:rPr sz="2000" b="1" dirty="0" err="1"/>
              <a:t>pueden</a:t>
            </a:r>
            <a:r>
              <a:rPr sz="2000" b="1" dirty="0"/>
              <a:t> </a:t>
            </a:r>
            <a:r>
              <a:rPr sz="2000" b="1" dirty="0" err="1"/>
              <a:t>pasar</a:t>
            </a:r>
            <a:r>
              <a:rPr sz="2000" b="1" dirty="0"/>
              <a:t> </a:t>
            </a:r>
            <a:r>
              <a:rPr sz="2000" b="1" dirty="0" err="1"/>
              <a:t>por</a:t>
            </a:r>
            <a:r>
              <a:rPr sz="2000" b="1" dirty="0"/>
              <a:t> un </a:t>
            </a:r>
            <a:r>
              <a:rPr sz="2000" b="1" dirty="0" err="1"/>
              <a:t>sinfín</a:t>
            </a:r>
            <a:r>
              <a:rPr sz="2000" b="1" dirty="0"/>
              <a:t> de </a:t>
            </a:r>
          </a:p>
          <a:p>
            <a:pPr algn="ctr"/>
            <a:r>
              <a:rPr sz="2000" b="1" dirty="0" err="1"/>
              <a:t>resultados</a:t>
            </a:r>
            <a:r>
              <a:rPr sz="2000" b="1" dirty="0"/>
              <a:t> </a:t>
            </a:r>
            <a:r>
              <a:rPr sz="2000" b="1" dirty="0" err="1"/>
              <a:t>provisionales</a:t>
            </a:r>
            <a:r>
              <a:rPr sz="2000" b="1" dirty="0"/>
              <a:t> antes de </a:t>
            </a:r>
            <a:r>
              <a:rPr sz="2000" b="1" dirty="0" err="1"/>
              <a:t>convertirse</a:t>
            </a:r>
            <a:r>
              <a:rPr sz="2000" b="1" dirty="0"/>
              <a:t> </a:t>
            </a:r>
            <a:r>
              <a:rPr sz="2000" b="1" dirty="0" err="1"/>
              <a:t>en</a:t>
            </a:r>
            <a:r>
              <a:rPr sz="2000" b="1" dirty="0"/>
              <a:t> un conjunto de </a:t>
            </a:r>
            <a:r>
              <a:rPr sz="2000" b="1" dirty="0" err="1"/>
              <a:t>datos</a:t>
            </a:r>
            <a:r>
              <a:rPr sz="2000" b="1" dirty="0"/>
              <a:t> </a:t>
            </a:r>
            <a:r>
              <a:rPr sz="2000" b="1" dirty="0" err="1"/>
              <a:t>resultantes</a:t>
            </a:r>
            <a:endParaRPr sz="2000" b="1" dirty="0"/>
          </a:p>
        </p:txBody>
      </p:sp>
    </p:spTree>
    <p:extLst>
      <p:ext uri="{BB962C8B-B14F-4D97-AF65-F5344CB8AC3E}">
        <p14:creationId xmlns:p14="http://schemas.microsoft.com/office/powerpoint/2010/main" val="1761293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16 Imagen">
            <a:extLst>
              <a:ext uri="{FF2B5EF4-FFF2-40B4-BE49-F238E27FC236}">
                <a16:creationId xmlns:a16="http://schemas.microsoft.com/office/drawing/2014/main" id="{E18833CA-28BE-584F-9880-8012D82710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80"/>
            <a:ext cx="9144000" cy="1171495"/>
          </a:xfrm>
          <a:prstGeom prst="rect">
            <a:avLst/>
          </a:prstGeom>
        </p:spPr>
      </p:pic>
      <p:sp>
        <p:nvSpPr>
          <p:cNvPr id="11" name="17 CuadroTexto">
            <a:extLst>
              <a:ext uri="{FF2B5EF4-FFF2-40B4-BE49-F238E27FC236}">
                <a16:creationId xmlns:a16="http://schemas.microsoft.com/office/drawing/2014/main" id="{6BED238C-223E-7F4A-BFF1-2F3910B2B049}"/>
              </a:ext>
            </a:extLst>
          </p:cNvPr>
          <p:cNvSpPr txBox="1"/>
          <p:nvPr/>
        </p:nvSpPr>
        <p:spPr>
          <a:xfrm>
            <a:off x="212156" y="87951"/>
            <a:ext cx="327972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b="1" dirty="0">
                <a:solidFill>
                  <a:schemeClr val="bg1"/>
                </a:solidFill>
                <a:latin typeface="TeXGyreAdventor" pitchFamily="50" charset="0"/>
              </a:rPr>
              <a:t>Algoritmos y Estructuras</a:t>
            </a:r>
          </a:p>
          <a:p>
            <a:r>
              <a:rPr lang="es-AR" sz="2400" b="1" dirty="0">
                <a:solidFill>
                  <a:schemeClr val="bg1"/>
                </a:solidFill>
                <a:latin typeface="TeXGyreAdventor" pitchFamily="50" charset="0"/>
              </a:rPr>
              <a:t>de Datos</a:t>
            </a:r>
          </a:p>
          <a:p>
            <a:endParaRPr lang="es-AR" dirty="0"/>
          </a:p>
        </p:txBody>
      </p:sp>
      <p:sp>
        <p:nvSpPr>
          <p:cNvPr id="12" name="17 CuadroTexto">
            <a:extLst>
              <a:ext uri="{FF2B5EF4-FFF2-40B4-BE49-F238E27FC236}">
                <a16:creationId xmlns:a16="http://schemas.microsoft.com/office/drawing/2014/main" id="{B26987D4-C5D9-0146-A6C8-1CEC49293F37}"/>
              </a:ext>
            </a:extLst>
          </p:cNvPr>
          <p:cNvSpPr txBox="1"/>
          <p:nvPr/>
        </p:nvSpPr>
        <p:spPr>
          <a:xfrm>
            <a:off x="3486476" y="605210"/>
            <a:ext cx="2171048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000" b="1" dirty="0">
                <a:solidFill>
                  <a:schemeClr val="bg1"/>
                </a:solidFill>
                <a:latin typeface="TeXGyreAdventor" pitchFamily="50" charset="0"/>
              </a:rPr>
              <a:t> - </a:t>
            </a:r>
            <a:r>
              <a:rPr lang="es-AR" sz="2000" b="1" u="sng" dirty="0">
                <a:solidFill>
                  <a:schemeClr val="bg1"/>
                </a:solidFill>
                <a:latin typeface="TeXGyreAdventor" pitchFamily="50" charset="0"/>
              </a:rPr>
              <a:t>Tipos de Datos </a:t>
            </a:r>
            <a:r>
              <a:rPr lang="es-AR" sz="2000" b="1" dirty="0">
                <a:solidFill>
                  <a:schemeClr val="bg1"/>
                </a:solidFill>
                <a:latin typeface="TeXGyreAdventor" pitchFamily="50" charset="0"/>
              </a:rPr>
              <a:t>-</a:t>
            </a:r>
          </a:p>
          <a:p>
            <a:endParaRPr lang="es-AR" dirty="0"/>
          </a:p>
        </p:txBody>
      </p:sp>
      <p:sp>
        <p:nvSpPr>
          <p:cNvPr id="22" name="El tipo Integer (Entero)">
            <a:extLst>
              <a:ext uri="{FF2B5EF4-FFF2-40B4-BE49-F238E27FC236}">
                <a16:creationId xmlns:a16="http://schemas.microsoft.com/office/drawing/2014/main" id="{71B07B76-C3F4-3143-966F-85C28FA487B6}"/>
              </a:ext>
            </a:extLst>
          </p:cNvPr>
          <p:cNvSpPr txBox="1"/>
          <p:nvPr/>
        </p:nvSpPr>
        <p:spPr>
          <a:xfrm>
            <a:off x="323528" y="1326174"/>
            <a:ext cx="8138161" cy="461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2800" b="1">
                <a:solidFill>
                  <a:srgbClr val="33CC33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r>
              <a:rPr sz="24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</a:t>
            </a:r>
            <a:r>
              <a:rPr sz="2400" dirty="0" err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tipo</a:t>
            </a:r>
            <a:r>
              <a:rPr sz="24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Integer (</a:t>
            </a:r>
            <a:r>
              <a:rPr sz="2400" dirty="0" err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Entero</a:t>
            </a:r>
            <a:r>
              <a:rPr sz="24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n-US" sz="24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sz="2400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Dominio:…">
            <a:extLst>
              <a:ext uri="{FF2B5EF4-FFF2-40B4-BE49-F238E27FC236}">
                <a16:creationId xmlns:a16="http://schemas.microsoft.com/office/drawing/2014/main" id="{A5E2AC4C-8DA8-7C4C-B95C-314B19A11ED9}"/>
              </a:ext>
            </a:extLst>
          </p:cNvPr>
          <p:cNvSpPr txBox="1"/>
          <p:nvPr/>
        </p:nvSpPr>
        <p:spPr>
          <a:xfrm>
            <a:off x="315391" y="1940938"/>
            <a:ext cx="7973062" cy="1774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600"/>
              </a:spcBef>
              <a:buSzPct val="100000"/>
              <a:buChar char="•"/>
              <a:defRPr sz="2800">
                <a:latin typeface="Calibri"/>
                <a:ea typeface="Calibri"/>
                <a:cs typeface="Calibri"/>
                <a:sym typeface="Calibri"/>
              </a:defRPr>
            </a:pPr>
            <a:r>
              <a:rPr sz="2400" dirty="0"/>
              <a:t> </a:t>
            </a:r>
            <a:r>
              <a:rPr sz="2400" dirty="0" err="1"/>
              <a:t>Dominio</a:t>
            </a:r>
            <a:r>
              <a:rPr sz="2400" dirty="0"/>
              <a:t>:</a:t>
            </a:r>
          </a:p>
          <a:p>
            <a:pPr marL="742950" lvl="1" indent="-285750">
              <a:spcBef>
                <a:spcPts val="1600"/>
              </a:spcBef>
              <a:buSzPct val="100000"/>
              <a:buChar char="•"/>
              <a:defRPr sz="2800">
                <a:latin typeface="Calibri"/>
                <a:ea typeface="Calibri"/>
                <a:cs typeface="Calibri"/>
                <a:sym typeface="Calibri"/>
              </a:defRPr>
            </a:pPr>
            <a:r>
              <a:rPr sz="2400" dirty="0"/>
              <a:t>Son </a:t>
            </a:r>
            <a:r>
              <a:rPr sz="2400" dirty="0" err="1"/>
              <a:t>todos</a:t>
            </a:r>
            <a:r>
              <a:rPr sz="2400" dirty="0"/>
              <a:t> </a:t>
            </a:r>
            <a:r>
              <a:rPr sz="2400" dirty="0" err="1"/>
              <a:t>los</a:t>
            </a:r>
            <a:r>
              <a:rPr sz="2400" dirty="0"/>
              <a:t> </a:t>
            </a:r>
            <a:r>
              <a:rPr sz="2400" dirty="0" err="1"/>
              <a:t>números</a:t>
            </a:r>
            <a:r>
              <a:rPr sz="2400" dirty="0"/>
              <a:t> </a:t>
            </a:r>
            <a:r>
              <a:rPr sz="2400" dirty="0" err="1"/>
              <a:t>enteros</a:t>
            </a:r>
            <a:r>
              <a:rPr sz="2400" dirty="0"/>
              <a:t> </a:t>
            </a:r>
            <a:r>
              <a:rPr sz="2400" dirty="0" err="1"/>
              <a:t>positivos</a:t>
            </a:r>
            <a:r>
              <a:rPr sz="2400" dirty="0"/>
              <a:t> y </a:t>
            </a:r>
            <a:r>
              <a:rPr sz="2400" dirty="0" err="1"/>
              <a:t>negativos</a:t>
            </a:r>
            <a:r>
              <a:rPr sz="2400" dirty="0"/>
              <a:t>. El </a:t>
            </a:r>
            <a:r>
              <a:rPr sz="2400" dirty="0" err="1"/>
              <a:t>rango</a:t>
            </a:r>
            <a:r>
              <a:rPr sz="2400" dirty="0"/>
              <a:t> de </a:t>
            </a:r>
            <a:r>
              <a:rPr sz="2400" dirty="0" err="1"/>
              <a:t>valores</a:t>
            </a:r>
            <a:r>
              <a:rPr sz="2400" dirty="0"/>
              <a:t> {-32.768..32.768}</a:t>
            </a:r>
            <a:br>
              <a:rPr sz="2400" dirty="0"/>
            </a:br>
            <a:r>
              <a:rPr sz="2400" dirty="0"/>
              <a:t>(</a:t>
            </a:r>
            <a:r>
              <a:rPr sz="2400" dirty="0" err="1"/>
              <a:t>depende</a:t>
            </a:r>
            <a:r>
              <a:rPr sz="2400" dirty="0"/>
              <a:t> de </a:t>
            </a:r>
            <a:r>
              <a:rPr sz="2400" dirty="0" err="1"/>
              <a:t>cada</a:t>
            </a:r>
            <a:r>
              <a:rPr sz="2400" dirty="0"/>
              <a:t> </a:t>
            </a:r>
            <a:r>
              <a:rPr sz="2400" dirty="0" err="1"/>
              <a:t>lenguaje</a:t>
            </a:r>
            <a:r>
              <a:rPr sz="2400" dirty="0"/>
              <a:t>)</a:t>
            </a:r>
          </a:p>
        </p:txBody>
      </p:sp>
      <p:sp>
        <p:nvSpPr>
          <p:cNvPr id="24" name="Operaciones y Funciones:">
            <a:extLst>
              <a:ext uri="{FF2B5EF4-FFF2-40B4-BE49-F238E27FC236}">
                <a16:creationId xmlns:a16="http://schemas.microsoft.com/office/drawing/2014/main" id="{A5E37B59-8681-CD4B-8E7A-998D10AA6A3F}"/>
              </a:ext>
            </a:extLst>
          </p:cNvPr>
          <p:cNvSpPr txBox="1"/>
          <p:nvPr/>
        </p:nvSpPr>
        <p:spPr>
          <a:xfrm>
            <a:off x="323528" y="3728284"/>
            <a:ext cx="7973061" cy="980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2800">
                <a:latin typeface="Calibri"/>
                <a:ea typeface="Calibri"/>
                <a:cs typeface="Calibri"/>
                <a:sym typeface="Calibri"/>
              </a:defRPr>
            </a:pPr>
            <a:r>
              <a:rPr dirty="0"/>
              <a:t> </a:t>
            </a:r>
            <a:r>
              <a:rPr dirty="0" err="1"/>
              <a:t>Operaciones</a:t>
            </a:r>
            <a:r>
              <a:rPr dirty="0"/>
              <a:t> y </a:t>
            </a:r>
            <a:r>
              <a:rPr dirty="0" err="1"/>
              <a:t>Funciones</a:t>
            </a:r>
            <a:r>
              <a:rPr dirty="0"/>
              <a:t>:</a:t>
            </a:r>
            <a:br>
              <a:rPr dirty="0"/>
            </a:br>
            <a:r>
              <a:rPr dirty="0"/>
              <a:t>	</a:t>
            </a:r>
          </a:p>
        </p:txBody>
      </p:sp>
      <p:sp>
        <p:nvSpPr>
          <p:cNvPr id="25" name="Rectangle">
            <a:extLst>
              <a:ext uri="{FF2B5EF4-FFF2-40B4-BE49-F238E27FC236}">
                <a16:creationId xmlns:a16="http://schemas.microsoft.com/office/drawing/2014/main" id="{69123D90-B846-964E-B420-7DB82781697F}"/>
              </a:ext>
            </a:extLst>
          </p:cNvPr>
          <p:cNvSpPr/>
          <p:nvPr/>
        </p:nvSpPr>
        <p:spPr>
          <a:xfrm>
            <a:off x="441948" y="4465657"/>
            <a:ext cx="8137526" cy="1584326"/>
          </a:xfrm>
          <a:prstGeom prst="rect">
            <a:avLst/>
          </a:prstGeom>
          <a:ln>
            <a:solidFill>
              <a:srgbClr val="99CC00"/>
            </a:solidFill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26" name="SUMA">
            <a:extLst>
              <a:ext uri="{FF2B5EF4-FFF2-40B4-BE49-F238E27FC236}">
                <a16:creationId xmlns:a16="http://schemas.microsoft.com/office/drawing/2014/main" id="{062C5CA1-D203-2449-A6BE-23EAA211FAC1}"/>
              </a:ext>
            </a:extLst>
          </p:cNvPr>
          <p:cNvSpPr txBox="1"/>
          <p:nvPr/>
        </p:nvSpPr>
        <p:spPr>
          <a:xfrm>
            <a:off x="1691680" y="4725144"/>
            <a:ext cx="764603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r>
              <a:t>SUMA</a:t>
            </a:r>
          </a:p>
        </p:txBody>
      </p:sp>
      <p:sp>
        <p:nvSpPr>
          <p:cNvPr id="27" name="RESTA">
            <a:extLst>
              <a:ext uri="{FF2B5EF4-FFF2-40B4-BE49-F238E27FC236}">
                <a16:creationId xmlns:a16="http://schemas.microsoft.com/office/drawing/2014/main" id="{B759BB36-75EA-7348-8503-542C83650088}"/>
              </a:ext>
            </a:extLst>
          </p:cNvPr>
          <p:cNvSpPr txBox="1"/>
          <p:nvPr/>
        </p:nvSpPr>
        <p:spPr>
          <a:xfrm>
            <a:off x="1691680" y="5083919"/>
            <a:ext cx="849323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r>
              <a:t>RESTA</a:t>
            </a:r>
          </a:p>
        </p:txBody>
      </p:sp>
      <p:sp>
        <p:nvSpPr>
          <p:cNvPr id="28" name="MULTIPLICACION">
            <a:extLst>
              <a:ext uri="{FF2B5EF4-FFF2-40B4-BE49-F238E27FC236}">
                <a16:creationId xmlns:a16="http://schemas.microsoft.com/office/drawing/2014/main" id="{506F9F84-5514-8345-A802-087004EC1A9F}"/>
              </a:ext>
            </a:extLst>
          </p:cNvPr>
          <p:cNvSpPr txBox="1"/>
          <p:nvPr/>
        </p:nvSpPr>
        <p:spPr>
          <a:xfrm>
            <a:off x="1691680" y="5444282"/>
            <a:ext cx="2005160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r>
              <a:t>MULTIPLICACION</a:t>
            </a:r>
          </a:p>
        </p:txBody>
      </p:sp>
      <p:sp>
        <p:nvSpPr>
          <p:cNvPr id="29" name="DIVISION ENTERA">
            <a:extLst>
              <a:ext uri="{FF2B5EF4-FFF2-40B4-BE49-F238E27FC236}">
                <a16:creationId xmlns:a16="http://schemas.microsoft.com/office/drawing/2014/main" id="{0EE517DC-65F0-8547-959C-BEBD13EE4A47}"/>
              </a:ext>
            </a:extLst>
          </p:cNvPr>
          <p:cNvSpPr txBox="1"/>
          <p:nvPr/>
        </p:nvSpPr>
        <p:spPr>
          <a:xfrm>
            <a:off x="5076230" y="4796582"/>
            <a:ext cx="2098363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r>
              <a:t>DIVISION ENTERA</a:t>
            </a:r>
          </a:p>
        </p:txBody>
      </p:sp>
      <p:sp>
        <p:nvSpPr>
          <p:cNvPr id="30" name="RESTO DE LA DIVISION ENTERA">
            <a:extLst>
              <a:ext uri="{FF2B5EF4-FFF2-40B4-BE49-F238E27FC236}">
                <a16:creationId xmlns:a16="http://schemas.microsoft.com/office/drawing/2014/main" id="{33D48690-4998-0F4D-B20A-17AA2E0DAA96}"/>
              </a:ext>
            </a:extLst>
          </p:cNvPr>
          <p:cNvSpPr txBox="1"/>
          <p:nvPr/>
        </p:nvSpPr>
        <p:spPr>
          <a:xfrm>
            <a:off x="5076230" y="5301407"/>
            <a:ext cx="3656817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r>
              <a:t>RESTO DE LA DIVISION ENTERA</a:t>
            </a:r>
          </a:p>
        </p:txBody>
      </p:sp>
    </p:spTree>
    <p:extLst>
      <p:ext uri="{BB962C8B-B14F-4D97-AF65-F5344CB8AC3E}">
        <p14:creationId xmlns:p14="http://schemas.microsoft.com/office/powerpoint/2010/main" val="11657461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16 Imagen">
            <a:extLst>
              <a:ext uri="{FF2B5EF4-FFF2-40B4-BE49-F238E27FC236}">
                <a16:creationId xmlns:a16="http://schemas.microsoft.com/office/drawing/2014/main" id="{E18833CA-28BE-584F-9880-8012D82710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80"/>
            <a:ext cx="9144000" cy="1171495"/>
          </a:xfrm>
          <a:prstGeom prst="rect">
            <a:avLst/>
          </a:prstGeom>
        </p:spPr>
      </p:pic>
      <p:sp>
        <p:nvSpPr>
          <p:cNvPr id="11" name="17 CuadroTexto">
            <a:extLst>
              <a:ext uri="{FF2B5EF4-FFF2-40B4-BE49-F238E27FC236}">
                <a16:creationId xmlns:a16="http://schemas.microsoft.com/office/drawing/2014/main" id="{6BED238C-223E-7F4A-BFF1-2F3910B2B049}"/>
              </a:ext>
            </a:extLst>
          </p:cNvPr>
          <p:cNvSpPr txBox="1"/>
          <p:nvPr/>
        </p:nvSpPr>
        <p:spPr>
          <a:xfrm>
            <a:off x="212156" y="87951"/>
            <a:ext cx="327972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b="1" dirty="0">
                <a:solidFill>
                  <a:schemeClr val="bg1"/>
                </a:solidFill>
                <a:latin typeface="TeXGyreAdventor" pitchFamily="50" charset="0"/>
              </a:rPr>
              <a:t>Algoritmos y Estructuras</a:t>
            </a:r>
          </a:p>
          <a:p>
            <a:r>
              <a:rPr lang="es-AR" sz="2400" b="1" dirty="0">
                <a:solidFill>
                  <a:schemeClr val="bg1"/>
                </a:solidFill>
                <a:latin typeface="TeXGyreAdventor" pitchFamily="50" charset="0"/>
              </a:rPr>
              <a:t>de Datos</a:t>
            </a:r>
          </a:p>
          <a:p>
            <a:endParaRPr lang="es-AR" dirty="0"/>
          </a:p>
        </p:txBody>
      </p:sp>
      <p:sp>
        <p:nvSpPr>
          <p:cNvPr id="12" name="17 CuadroTexto">
            <a:extLst>
              <a:ext uri="{FF2B5EF4-FFF2-40B4-BE49-F238E27FC236}">
                <a16:creationId xmlns:a16="http://schemas.microsoft.com/office/drawing/2014/main" id="{B26987D4-C5D9-0146-A6C8-1CEC49293F37}"/>
              </a:ext>
            </a:extLst>
          </p:cNvPr>
          <p:cNvSpPr txBox="1"/>
          <p:nvPr/>
        </p:nvSpPr>
        <p:spPr>
          <a:xfrm>
            <a:off x="3486476" y="605210"/>
            <a:ext cx="2171048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000" b="1" dirty="0">
                <a:solidFill>
                  <a:schemeClr val="bg1"/>
                </a:solidFill>
                <a:latin typeface="TeXGyreAdventor" pitchFamily="50" charset="0"/>
              </a:rPr>
              <a:t> - </a:t>
            </a:r>
            <a:r>
              <a:rPr lang="es-AR" sz="2000" b="1" u="sng" dirty="0">
                <a:solidFill>
                  <a:schemeClr val="bg1"/>
                </a:solidFill>
                <a:latin typeface="TeXGyreAdventor" pitchFamily="50" charset="0"/>
              </a:rPr>
              <a:t>Tipos de Datos </a:t>
            </a:r>
            <a:r>
              <a:rPr lang="es-AR" sz="2000" b="1" dirty="0">
                <a:solidFill>
                  <a:schemeClr val="bg1"/>
                </a:solidFill>
                <a:latin typeface="TeXGyreAdventor" pitchFamily="50" charset="0"/>
              </a:rPr>
              <a:t>-</a:t>
            </a:r>
          </a:p>
          <a:p>
            <a:endParaRPr lang="es-AR" dirty="0"/>
          </a:p>
        </p:txBody>
      </p:sp>
      <p:sp>
        <p:nvSpPr>
          <p:cNvPr id="22" name="El tipo Integer (Entero)">
            <a:extLst>
              <a:ext uri="{FF2B5EF4-FFF2-40B4-BE49-F238E27FC236}">
                <a16:creationId xmlns:a16="http://schemas.microsoft.com/office/drawing/2014/main" id="{71B07B76-C3F4-3143-966F-85C28FA487B6}"/>
              </a:ext>
            </a:extLst>
          </p:cNvPr>
          <p:cNvSpPr txBox="1"/>
          <p:nvPr/>
        </p:nvSpPr>
        <p:spPr>
          <a:xfrm>
            <a:off x="323528" y="1326174"/>
            <a:ext cx="8138161" cy="461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2800" b="1">
                <a:solidFill>
                  <a:srgbClr val="33CC33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r>
              <a:rPr sz="24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</a:t>
            </a:r>
            <a:r>
              <a:rPr sz="2400" dirty="0" err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tipo</a:t>
            </a:r>
            <a:r>
              <a:rPr sz="24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Integer (</a:t>
            </a:r>
            <a:r>
              <a:rPr sz="2400" dirty="0" err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Entero</a:t>
            </a:r>
            <a:r>
              <a:rPr sz="24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n-US" sz="24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sz="2400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Precedencia de operaciones:…">
            <a:extLst>
              <a:ext uri="{FF2B5EF4-FFF2-40B4-BE49-F238E27FC236}">
                <a16:creationId xmlns:a16="http://schemas.microsoft.com/office/drawing/2014/main" id="{EE80877E-7A71-BD4C-86E0-1235267EF360}"/>
              </a:ext>
            </a:extLst>
          </p:cNvPr>
          <p:cNvSpPr txBox="1"/>
          <p:nvPr/>
        </p:nvSpPr>
        <p:spPr>
          <a:xfrm>
            <a:off x="323528" y="1940938"/>
            <a:ext cx="7973062" cy="2225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200"/>
              </a:spcBef>
              <a:buSzPct val="100000"/>
              <a:buChar char="•"/>
              <a:defRPr sz="2000">
                <a:latin typeface="Calibri"/>
                <a:ea typeface="Calibri"/>
                <a:cs typeface="Calibri"/>
                <a:sym typeface="Calibri"/>
              </a:defRPr>
            </a:pPr>
            <a:r>
              <a:rPr dirty="0"/>
              <a:t> </a:t>
            </a:r>
            <a:r>
              <a:rPr dirty="0" err="1"/>
              <a:t>Precedencia</a:t>
            </a:r>
            <a:r>
              <a:rPr dirty="0"/>
              <a:t> de </a:t>
            </a:r>
            <a:r>
              <a:rPr dirty="0" err="1"/>
              <a:t>operaciones</a:t>
            </a:r>
            <a:r>
              <a:rPr dirty="0"/>
              <a:t>:</a:t>
            </a:r>
          </a:p>
          <a:p>
            <a:pPr marL="285750" lvl="1" indent="171450">
              <a:spcBef>
                <a:spcPts val="1200"/>
              </a:spcBef>
              <a:defRPr sz="2000">
                <a:latin typeface="Calibri"/>
                <a:ea typeface="Calibri"/>
                <a:cs typeface="Calibri"/>
                <a:sym typeface="Calibri"/>
              </a:defRPr>
            </a:pPr>
            <a:r>
              <a:rPr dirty="0"/>
              <a:t>	Al </a:t>
            </a:r>
            <a:r>
              <a:rPr dirty="0" err="1"/>
              <a:t>igual</a:t>
            </a:r>
            <a:r>
              <a:rPr dirty="0"/>
              <a:t> que </a:t>
            </a:r>
            <a:r>
              <a:rPr dirty="0" err="1"/>
              <a:t>en</a:t>
            </a:r>
            <a:r>
              <a:rPr dirty="0"/>
              <a:t> las </a:t>
            </a:r>
            <a:r>
              <a:rPr dirty="0" err="1"/>
              <a:t>matemáticas</a:t>
            </a:r>
            <a:r>
              <a:rPr dirty="0"/>
              <a:t> la </a:t>
            </a:r>
            <a:r>
              <a:rPr dirty="0" err="1"/>
              <a:t>precedencia</a:t>
            </a:r>
            <a:r>
              <a:rPr dirty="0"/>
              <a:t> de las </a:t>
            </a:r>
            <a:r>
              <a:rPr dirty="0" err="1"/>
              <a:t>operaciones</a:t>
            </a:r>
            <a:r>
              <a:rPr dirty="0"/>
              <a:t> de </a:t>
            </a:r>
            <a:r>
              <a:rPr dirty="0" err="1"/>
              <a:t>multiplicación</a:t>
            </a:r>
            <a:r>
              <a:rPr dirty="0"/>
              <a:t>, </a:t>
            </a:r>
            <a:r>
              <a:rPr dirty="0" err="1"/>
              <a:t>división</a:t>
            </a:r>
            <a:r>
              <a:rPr dirty="0"/>
              <a:t>, resto y </a:t>
            </a:r>
            <a:r>
              <a:rPr dirty="0" err="1"/>
              <a:t>funciones</a:t>
            </a:r>
            <a:r>
              <a:rPr dirty="0"/>
              <a:t> </a:t>
            </a:r>
            <a:r>
              <a:rPr dirty="0" err="1"/>
              <a:t>predefinidas</a:t>
            </a:r>
            <a:r>
              <a:rPr dirty="0"/>
              <a:t> </a:t>
            </a:r>
            <a:r>
              <a:rPr dirty="0" err="1"/>
              <a:t>es</a:t>
            </a:r>
            <a:r>
              <a:rPr dirty="0"/>
              <a:t> mayor que las </a:t>
            </a:r>
            <a:r>
              <a:rPr dirty="0" err="1"/>
              <a:t>otras</a:t>
            </a:r>
            <a:r>
              <a:rPr dirty="0"/>
              <a:t>.</a:t>
            </a:r>
          </a:p>
          <a:p>
            <a:pPr marL="285750" lvl="1" indent="171450">
              <a:spcBef>
                <a:spcPts val="1200"/>
              </a:spcBef>
              <a:defRPr sz="2000">
                <a:latin typeface="Calibri"/>
                <a:ea typeface="Calibri"/>
                <a:cs typeface="Calibri"/>
                <a:sym typeface="Calibri"/>
              </a:defRPr>
            </a:pPr>
            <a:r>
              <a:rPr dirty="0"/>
              <a:t>	</a:t>
            </a:r>
            <a:r>
              <a:rPr dirty="0" err="1"/>
              <a:t>Cuando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operación</a:t>
            </a:r>
            <a:r>
              <a:rPr dirty="0"/>
              <a:t> se </a:t>
            </a:r>
            <a:r>
              <a:rPr dirty="0" err="1"/>
              <a:t>presenta</a:t>
            </a:r>
            <a:r>
              <a:rPr dirty="0"/>
              <a:t> </a:t>
            </a:r>
            <a:r>
              <a:rPr dirty="0" err="1"/>
              <a:t>ambigua</a:t>
            </a:r>
            <a:r>
              <a:rPr dirty="0"/>
              <a:t> (</a:t>
            </a:r>
            <a:r>
              <a:rPr dirty="0" err="1"/>
              <a:t>igual</a:t>
            </a:r>
            <a:r>
              <a:rPr dirty="0"/>
              <a:t> </a:t>
            </a:r>
            <a:r>
              <a:rPr dirty="0" err="1"/>
              <a:t>precedencia</a:t>
            </a:r>
            <a:r>
              <a:rPr dirty="0"/>
              <a:t>) se </a:t>
            </a:r>
            <a:r>
              <a:rPr dirty="0" err="1"/>
              <a:t>valoriza</a:t>
            </a:r>
            <a:r>
              <a:rPr dirty="0"/>
              <a:t> la </a:t>
            </a:r>
            <a:r>
              <a:rPr dirty="0" err="1"/>
              <a:t>operación</a:t>
            </a:r>
            <a:r>
              <a:rPr dirty="0"/>
              <a:t> </a:t>
            </a:r>
            <a:r>
              <a:rPr dirty="0" err="1"/>
              <a:t>asumiendo</a:t>
            </a:r>
            <a:r>
              <a:rPr dirty="0"/>
              <a:t> la </a:t>
            </a:r>
            <a:r>
              <a:rPr dirty="0" err="1"/>
              <a:t>asociatividad</a:t>
            </a:r>
            <a:r>
              <a:rPr dirty="0"/>
              <a:t> a la </a:t>
            </a:r>
            <a:r>
              <a:rPr dirty="0" err="1"/>
              <a:t>izquierda</a:t>
            </a:r>
            <a:endParaRPr dirty="0"/>
          </a:p>
        </p:txBody>
      </p:sp>
      <p:grpSp>
        <p:nvGrpSpPr>
          <p:cNvPr id="38" name="Group">
            <a:extLst>
              <a:ext uri="{FF2B5EF4-FFF2-40B4-BE49-F238E27FC236}">
                <a16:creationId xmlns:a16="http://schemas.microsoft.com/office/drawing/2014/main" id="{39577C96-3404-514C-BA9A-0C29FC4B374F}"/>
              </a:ext>
            </a:extLst>
          </p:cNvPr>
          <p:cNvGrpSpPr/>
          <p:nvPr/>
        </p:nvGrpSpPr>
        <p:grpSpPr>
          <a:xfrm>
            <a:off x="467544" y="4259303"/>
            <a:ext cx="4217907" cy="709694"/>
            <a:chOff x="0" y="0"/>
            <a:chExt cx="5689599" cy="792162"/>
          </a:xfrm>
        </p:grpSpPr>
        <p:sp>
          <p:nvSpPr>
            <p:cNvPr id="39" name="Rectangle">
              <a:extLst>
                <a:ext uri="{FF2B5EF4-FFF2-40B4-BE49-F238E27FC236}">
                  <a16:creationId xmlns:a16="http://schemas.microsoft.com/office/drawing/2014/main" id="{52A5D1A8-5F2D-9F40-A367-7539964E63E5}"/>
                </a:ext>
              </a:extLst>
            </p:cNvPr>
            <p:cNvSpPr/>
            <p:nvPr/>
          </p:nvSpPr>
          <p:spPr>
            <a:xfrm>
              <a:off x="0" y="0"/>
              <a:ext cx="5689600" cy="792163"/>
            </a:xfrm>
            <a:prstGeom prst="rect">
              <a:avLst/>
            </a:prstGeom>
            <a:solidFill>
              <a:srgbClr val="CCFFCC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  <a:endParaRPr/>
            </a:p>
          </p:txBody>
        </p:sp>
        <p:pic>
          <p:nvPicPr>
            <p:cNvPr id="40" name="image.png" descr="image.png">
              <a:extLst>
                <a:ext uri="{FF2B5EF4-FFF2-40B4-BE49-F238E27FC236}">
                  <a16:creationId xmlns:a16="http://schemas.microsoft.com/office/drawing/2014/main" id="{B3B1D2BB-1495-3E46-B1FD-19E05D8A691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93662" y="204787"/>
              <a:ext cx="5472113" cy="43180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grpSp>
        <p:nvGrpSpPr>
          <p:cNvPr id="41" name="Group">
            <a:extLst>
              <a:ext uri="{FF2B5EF4-FFF2-40B4-BE49-F238E27FC236}">
                <a16:creationId xmlns:a16="http://schemas.microsoft.com/office/drawing/2014/main" id="{3189534F-E851-B848-8888-DAA612AB033A}"/>
              </a:ext>
            </a:extLst>
          </p:cNvPr>
          <p:cNvGrpSpPr/>
          <p:nvPr/>
        </p:nvGrpSpPr>
        <p:grpSpPr>
          <a:xfrm>
            <a:off x="2987824" y="5062209"/>
            <a:ext cx="4896372" cy="710215"/>
            <a:chOff x="0" y="0"/>
            <a:chExt cx="6599946" cy="792162"/>
          </a:xfrm>
        </p:grpSpPr>
        <p:grpSp>
          <p:nvGrpSpPr>
            <p:cNvPr id="42" name="Group">
              <a:extLst>
                <a:ext uri="{FF2B5EF4-FFF2-40B4-BE49-F238E27FC236}">
                  <a16:creationId xmlns:a16="http://schemas.microsoft.com/office/drawing/2014/main" id="{AF3BEA51-C614-1041-BF20-3C9B75D50013}"/>
                </a:ext>
              </a:extLst>
            </p:cNvPr>
            <p:cNvGrpSpPr/>
            <p:nvPr/>
          </p:nvGrpSpPr>
          <p:grpSpPr>
            <a:xfrm>
              <a:off x="0" y="0"/>
              <a:ext cx="3816350" cy="792163"/>
              <a:chOff x="0" y="0"/>
              <a:chExt cx="3816350" cy="792162"/>
            </a:xfrm>
          </p:grpSpPr>
          <p:sp>
            <p:nvSpPr>
              <p:cNvPr id="45" name="Rectangle">
                <a:extLst>
                  <a:ext uri="{FF2B5EF4-FFF2-40B4-BE49-F238E27FC236}">
                    <a16:creationId xmlns:a16="http://schemas.microsoft.com/office/drawing/2014/main" id="{1D368A03-4936-0A41-A948-8A9E132EC07F}"/>
                  </a:ext>
                </a:extLst>
              </p:cNvPr>
              <p:cNvSpPr/>
              <p:nvPr/>
            </p:nvSpPr>
            <p:spPr>
              <a:xfrm>
                <a:off x="0" y="0"/>
                <a:ext cx="3816350" cy="792163"/>
              </a:xfrm>
              <a:prstGeom prst="rect">
                <a:avLst/>
              </a:prstGeom>
              <a:solidFill>
                <a:srgbClr val="CCFFCC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/>
                <a:endParaRPr/>
              </a:p>
            </p:txBody>
          </p:sp>
          <p:pic>
            <p:nvPicPr>
              <p:cNvPr id="46" name="image.png" descr="image.png">
                <a:extLst>
                  <a:ext uri="{FF2B5EF4-FFF2-40B4-BE49-F238E27FC236}">
                    <a16:creationId xmlns:a16="http://schemas.microsoft.com/office/drawing/2014/main" id="{B6394D62-5C83-244A-BC94-6D8CB6BDB68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/>
              </a:blip>
              <a:stretch>
                <a:fillRect/>
              </a:stretch>
            </p:blipFill>
            <p:spPr>
              <a:xfrm>
                <a:off x="142875" y="119062"/>
                <a:ext cx="3529013" cy="528638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sp>
          <p:nvSpPr>
            <p:cNvPr id="43" name="Asociatividad a la izquierda">
              <a:extLst>
                <a:ext uri="{FF2B5EF4-FFF2-40B4-BE49-F238E27FC236}">
                  <a16:creationId xmlns:a16="http://schemas.microsoft.com/office/drawing/2014/main" id="{AFBBBB01-2395-634A-BD62-3AFAC1375895}"/>
                </a:ext>
              </a:extLst>
            </p:cNvPr>
            <p:cNvSpPr txBox="1"/>
            <p:nvPr/>
          </p:nvSpPr>
          <p:spPr>
            <a:xfrm>
              <a:off x="3985894" y="171450"/>
              <a:ext cx="2614053" cy="3708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r>
                <a:t>Asociatividad a la izquierda</a:t>
              </a:r>
            </a:p>
          </p:txBody>
        </p:sp>
        <p:sp>
          <p:nvSpPr>
            <p:cNvPr id="44" name="Shape">
              <a:extLst>
                <a:ext uri="{FF2B5EF4-FFF2-40B4-BE49-F238E27FC236}">
                  <a16:creationId xmlns:a16="http://schemas.microsoft.com/office/drawing/2014/main" id="{757208A4-729B-B543-9E16-33EEDE967850}"/>
                </a:ext>
              </a:extLst>
            </p:cNvPr>
            <p:cNvSpPr/>
            <p:nvPr/>
          </p:nvSpPr>
          <p:spPr>
            <a:xfrm>
              <a:off x="4103687" y="504825"/>
              <a:ext cx="2303463" cy="2159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close/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close/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close/>
                </a:path>
              </a:pathLst>
            </a:custGeom>
            <a:solidFill>
              <a:srgbClr val="FFFF99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</p:grpSp>
      <p:grpSp>
        <p:nvGrpSpPr>
          <p:cNvPr id="47" name="Group">
            <a:extLst>
              <a:ext uri="{FF2B5EF4-FFF2-40B4-BE49-F238E27FC236}">
                <a16:creationId xmlns:a16="http://schemas.microsoft.com/office/drawing/2014/main" id="{90758554-1288-5740-B720-3E8B3A2E36CC}"/>
              </a:ext>
            </a:extLst>
          </p:cNvPr>
          <p:cNvGrpSpPr/>
          <p:nvPr/>
        </p:nvGrpSpPr>
        <p:grpSpPr>
          <a:xfrm>
            <a:off x="2771801" y="5941796"/>
            <a:ext cx="4608512" cy="751056"/>
            <a:chOff x="0" y="0"/>
            <a:chExt cx="6620782" cy="792162"/>
          </a:xfrm>
        </p:grpSpPr>
        <p:sp>
          <p:nvSpPr>
            <p:cNvPr id="48" name="Rectangle">
              <a:extLst>
                <a:ext uri="{FF2B5EF4-FFF2-40B4-BE49-F238E27FC236}">
                  <a16:creationId xmlns:a16="http://schemas.microsoft.com/office/drawing/2014/main" id="{154DBB0A-E620-4E46-8466-9A9F0196C15C}"/>
                </a:ext>
              </a:extLst>
            </p:cNvPr>
            <p:cNvSpPr/>
            <p:nvPr/>
          </p:nvSpPr>
          <p:spPr>
            <a:xfrm>
              <a:off x="0" y="0"/>
              <a:ext cx="3816350" cy="792163"/>
            </a:xfrm>
            <a:prstGeom prst="rect">
              <a:avLst/>
            </a:prstGeom>
            <a:solidFill>
              <a:srgbClr val="CCFFCC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  <a:endParaRPr/>
            </a:p>
          </p:txBody>
        </p:sp>
        <p:pic>
          <p:nvPicPr>
            <p:cNvPr id="49" name="image.png" descr="image.png">
              <a:extLst>
                <a:ext uri="{FF2B5EF4-FFF2-40B4-BE49-F238E27FC236}">
                  <a16:creationId xmlns:a16="http://schemas.microsoft.com/office/drawing/2014/main" id="{6B11405F-F653-5949-BB47-488BAE37ECE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/>
            </a:blip>
            <a:stretch>
              <a:fillRect/>
            </a:stretch>
          </p:blipFill>
          <p:spPr>
            <a:xfrm>
              <a:off x="142875" y="142875"/>
              <a:ext cx="3600450" cy="48895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50" name="Forzar orden de evaluación">
              <a:extLst>
                <a:ext uri="{FF2B5EF4-FFF2-40B4-BE49-F238E27FC236}">
                  <a16:creationId xmlns:a16="http://schemas.microsoft.com/office/drawing/2014/main" id="{958749E8-B5B0-E240-A912-B3CAEAFB88F5}"/>
                </a:ext>
              </a:extLst>
            </p:cNvPr>
            <p:cNvSpPr txBox="1"/>
            <p:nvPr/>
          </p:nvSpPr>
          <p:spPr>
            <a:xfrm>
              <a:off x="4004944" y="209550"/>
              <a:ext cx="2615839" cy="3708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r>
                <a:t>Forzar orden de evaluación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51837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 advAuto="0"/>
      <p:bldP spid="41" grpId="0" animBg="1" advAuto="0"/>
      <p:bldP spid="47" grpId="0" animBg="1" advAuto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16 Imagen">
            <a:extLst>
              <a:ext uri="{FF2B5EF4-FFF2-40B4-BE49-F238E27FC236}">
                <a16:creationId xmlns:a16="http://schemas.microsoft.com/office/drawing/2014/main" id="{E18833CA-28BE-584F-9880-8012D82710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80"/>
            <a:ext cx="9144000" cy="1171495"/>
          </a:xfrm>
          <a:prstGeom prst="rect">
            <a:avLst/>
          </a:prstGeom>
        </p:spPr>
      </p:pic>
      <p:sp>
        <p:nvSpPr>
          <p:cNvPr id="11" name="17 CuadroTexto">
            <a:extLst>
              <a:ext uri="{FF2B5EF4-FFF2-40B4-BE49-F238E27FC236}">
                <a16:creationId xmlns:a16="http://schemas.microsoft.com/office/drawing/2014/main" id="{6BED238C-223E-7F4A-BFF1-2F3910B2B049}"/>
              </a:ext>
            </a:extLst>
          </p:cNvPr>
          <p:cNvSpPr txBox="1"/>
          <p:nvPr/>
        </p:nvSpPr>
        <p:spPr>
          <a:xfrm>
            <a:off x="212156" y="87951"/>
            <a:ext cx="327972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b="1" dirty="0">
                <a:solidFill>
                  <a:schemeClr val="bg1"/>
                </a:solidFill>
                <a:latin typeface="TeXGyreAdventor" pitchFamily="50" charset="0"/>
              </a:rPr>
              <a:t>Algoritmos y Estructuras</a:t>
            </a:r>
          </a:p>
          <a:p>
            <a:r>
              <a:rPr lang="es-AR" sz="2400" b="1" dirty="0">
                <a:solidFill>
                  <a:schemeClr val="bg1"/>
                </a:solidFill>
                <a:latin typeface="TeXGyreAdventor" pitchFamily="50" charset="0"/>
              </a:rPr>
              <a:t>de Datos</a:t>
            </a:r>
          </a:p>
          <a:p>
            <a:endParaRPr lang="es-AR" dirty="0"/>
          </a:p>
        </p:txBody>
      </p:sp>
      <p:sp>
        <p:nvSpPr>
          <p:cNvPr id="12" name="17 CuadroTexto">
            <a:extLst>
              <a:ext uri="{FF2B5EF4-FFF2-40B4-BE49-F238E27FC236}">
                <a16:creationId xmlns:a16="http://schemas.microsoft.com/office/drawing/2014/main" id="{B26987D4-C5D9-0146-A6C8-1CEC49293F37}"/>
              </a:ext>
            </a:extLst>
          </p:cNvPr>
          <p:cNvSpPr txBox="1"/>
          <p:nvPr/>
        </p:nvSpPr>
        <p:spPr>
          <a:xfrm>
            <a:off x="3486476" y="605210"/>
            <a:ext cx="2171048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000" b="1" dirty="0">
                <a:solidFill>
                  <a:schemeClr val="bg1"/>
                </a:solidFill>
                <a:latin typeface="TeXGyreAdventor" pitchFamily="50" charset="0"/>
              </a:rPr>
              <a:t> - </a:t>
            </a:r>
            <a:r>
              <a:rPr lang="es-AR" sz="2000" b="1" u="sng" dirty="0">
                <a:solidFill>
                  <a:schemeClr val="bg1"/>
                </a:solidFill>
                <a:latin typeface="TeXGyreAdventor" pitchFamily="50" charset="0"/>
              </a:rPr>
              <a:t>Tipos de Datos </a:t>
            </a:r>
            <a:r>
              <a:rPr lang="es-AR" sz="2000" b="1" dirty="0">
                <a:solidFill>
                  <a:schemeClr val="bg1"/>
                </a:solidFill>
                <a:latin typeface="TeXGyreAdventor" pitchFamily="50" charset="0"/>
              </a:rPr>
              <a:t>-</a:t>
            </a:r>
          </a:p>
          <a:p>
            <a:endParaRPr lang="es-AR" dirty="0"/>
          </a:p>
        </p:txBody>
      </p:sp>
      <p:sp>
        <p:nvSpPr>
          <p:cNvPr id="22" name="El tipo Integer (Entero)">
            <a:extLst>
              <a:ext uri="{FF2B5EF4-FFF2-40B4-BE49-F238E27FC236}">
                <a16:creationId xmlns:a16="http://schemas.microsoft.com/office/drawing/2014/main" id="{71B07B76-C3F4-3143-966F-85C28FA487B6}"/>
              </a:ext>
            </a:extLst>
          </p:cNvPr>
          <p:cNvSpPr txBox="1"/>
          <p:nvPr/>
        </p:nvSpPr>
        <p:spPr>
          <a:xfrm>
            <a:off x="323528" y="1326174"/>
            <a:ext cx="8138161" cy="461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2800" b="1">
                <a:solidFill>
                  <a:srgbClr val="33CC33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r>
              <a:rPr sz="24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</a:t>
            </a:r>
            <a:r>
              <a:rPr sz="2400" dirty="0" err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tipo</a:t>
            </a:r>
            <a:r>
              <a:rPr sz="24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Real</a:t>
            </a:r>
            <a:r>
              <a:rPr sz="24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24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Float</a:t>
            </a:r>
            <a:r>
              <a:rPr sz="24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n-US" sz="24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sz="2400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Dominio:…">
            <a:extLst>
              <a:ext uri="{FF2B5EF4-FFF2-40B4-BE49-F238E27FC236}">
                <a16:creationId xmlns:a16="http://schemas.microsoft.com/office/drawing/2014/main" id="{DC5374D8-BFD8-AF4C-B8BA-BE5724CB889B}"/>
              </a:ext>
            </a:extLst>
          </p:cNvPr>
          <p:cNvSpPr txBox="1"/>
          <p:nvPr/>
        </p:nvSpPr>
        <p:spPr>
          <a:xfrm>
            <a:off x="406077" y="1869862"/>
            <a:ext cx="7973062" cy="2072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200"/>
              </a:spcBef>
              <a:buSzPct val="100000"/>
              <a:buChar char="•"/>
              <a:defRPr sz="2000">
                <a:latin typeface="Calibri"/>
                <a:ea typeface="Calibri"/>
                <a:cs typeface="Calibri"/>
                <a:sym typeface="Calibri"/>
              </a:defRPr>
            </a:pPr>
            <a:r>
              <a:rPr dirty="0"/>
              <a:t> </a:t>
            </a:r>
            <a:r>
              <a:rPr dirty="0" err="1"/>
              <a:t>Dominio</a:t>
            </a:r>
            <a:r>
              <a:rPr dirty="0"/>
              <a:t>:</a:t>
            </a:r>
          </a:p>
          <a:p>
            <a:pPr marL="742950" lvl="1" indent="-285750">
              <a:spcBef>
                <a:spcPts val="1200"/>
              </a:spcBef>
              <a:buSzPct val="100000"/>
              <a:buChar char="•"/>
              <a:defRPr sz="2000">
                <a:latin typeface="Calibri"/>
                <a:ea typeface="Calibri"/>
                <a:cs typeface="Calibri"/>
                <a:sym typeface="Calibri"/>
              </a:defRPr>
            </a:pPr>
            <a:r>
              <a:rPr dirty="0" err="1"/>
              <a:t>Incluye</a:t>
            </a:r>
            <a:r>
              <a:rPr dirty="0"/>
              <a:t> </a:t>
            </a:r>
            <a:r>
              <a:rPr dirty="0" err="1"/>
              <a:t>valores</a:t>
            </a:r>
            <a:r>
              <a:rPr dirty="0"/>
              <a:t> </a:t>
            </a:r>
            <a:r>
              <a:rPr dirty="0" err="1"/>
              <a:t>numéricos</a:t>
            </a:r>
            <a:r>
              <a:rPr dirty="0"/>
              <a:t> con </a:t>
            </a:r>
            <a:r>
              <a:rPr dirty="0" err="1"/>
              <a:t>parte</a:t>
            </a:r>
            <a:r>
              <a:rPr dirty="0"/>
              <a:t> decimal. Las </a:t>
            </a:r>
            <a:r>
              <a:rPr dirty="0" err="1"/>
              <a:t>limitaciones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la </a:t>
            </a:r>
            <a:r>
              <a:rPr dirty="0" err="1"/>
              <a:t>representación</a:t>
            </a:r>
            <a:r>
              <a:rPr dirty="0"/>
              <a:t> son </a:t>
            </a:r>
            <a:r>
              <a:rPr dirty="0" err="1"/>
              <a:t>afectadas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dos </a:t>
            </a:r>
            <a:r>
              <a:rPr dirty="0" err="1"/>
              <a:t>aspectos</a:t>
            </a:r>
            <a:r>
              <a:rPr dirty="0"/>
              <a:t>:</a:t>
            </a:r>
          </a:p>
          <a:p>
            <a:pPr marL="1143000" lvl="2" indent="-228600">
              <a:spcBef>
                <a:spcPts val="1200"/>
              </a:spcBef>
              <a:buSzPct val="100000"/>
              <a:buChar char="•"/>
              <a:defRPr sz="2000">
                <a:latin typeface="Calibri"/>
                <a:ea typeface="Calibri"/>
                <a:cs typeface="Calibri"/>
                <a:sym typeface="Calibri"/>
              </a:defRPr>
            </a:pPr>
            <a:r>
              <a:rPr dirty="0"/>
              <a:t>La </a:t>
            </a:r>
            <a:r>
              <a:rPr dirty="0" err="1"/>
              <a:t>magnitud</a:t>
            </a:r>
            <a:r>
              <a:rPr dirty="0"/>
              <a:t> de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valores</a:t>
            </a:r>
            <a:r>
              <a:rPr dirty="0"/>
              <a:t> </a:t>
            </a:r>
            <a:r>
              <a:rPr dirty="0" err="1"/>
              <a:t>incluidos</a:t>
            </a:r>
            <a:endParaRPr dirty="0"/>
          </a:p>
          <a:p>
            <a:pPr marL="1143000" lvl="2" indent="-228600">
              <a:spcBef>
                <a:spcPts val="1200"/>
              </a:spcBef>
              <a:buSzPct val="100000"/>
              <a:buChar char="•"/>
              <a:defRPr sz="2000">
                <a:latin typeface="Calibri"/>
                <a:ea typeface="Calibri"/>
                <a:cs typeface="Calibri"/>
                <a:sym typeface="Calibri"/>
              </a:defRPr>
            </a:pPr>
            <a:r>
              <a:rPr dirty="0"/>
              <a:t> Y la </a:t>
            </a:r>
            <a:r>
              <a:rPr dirty="0" err="1"/>
              <a:t>precisión</a:t>
            </a:r>
            <a:r>
              <a:rPr dirty="0"/>
              <a:t> (hasta 10 </a:t>
            </a:r>
            <a:r>
              <a:rPr dirty="0" err="1"/>
              <a:t>cifras</a:t>
            </a:r>
            <a:r>
              <a:rPr dirty="0"/>
              <a:t> </a:t>
            </a:r>
            <a:r>
              <a:rPr dirty="0" err="1"/>
              <a:t>significativas</a:t>
            </a:r>
            <a:r>
              <a:rPr dirty="0"/>
              <a:t>)</a:t>
            </a:r>
          </a:p>
        </p:txBody>
      </p:sp>
      <p:sp>
        <p:nvSpPr>
          <p:cNvPr id="21" name="Operaciones y Funciones:">
            <a:extLst>
              <a:ext uri="{FF2B5EF4-FFF2-40B4-BE49-F238E27FC236}">
                <a16:creationId xmlns:a16="http://schemas.microsoft.com/office/drawing/2014/main" id="{AAC4E244-736D-F041-88FD-F16DB0540F68}"/>
              </a:ext>
            </a:extLst>
          </p:cNvPr>
          <p:cNvSpPr txBox="1"/>
          <p:nvPr/>
        </p:nvSpPr>
        <p:spPr>
          <a:xfrm>
            <a:off x="406077" y="4070425"/>
            <a:ext cx="7973061" cy="461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2800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rPr sz="2400" dirty="0"/>
              <a:t> </a:t>
            </a:r>
            <a:r>
              <a:rPr sz="2400" dirty="0" err="1"/>
              <a:t>Operaciones</a:t>
            </a:r>
            <a:r>
              <a:rPr sz="2400" dirty="0"/>
              <a:t> y </a:t>
            </a:r>
            <a:r>
              <a:rPr sz="2400" dirty="0" err="1"/>
              <a:t>Funciones</a:t>
            </a:r>
            <a:r>
              <a:rPr sz="2400" dirty="0"/>
              <a:t>:</a:t>
            </a:r>
          </a:p>
        </p:txBody>
      </p:sp>
      <p:grpSp>
        <p:nvGrpSpPr>
          <p:cNvPr id="23" name="Group">
            <a:extLst>
              <a:ext uri="{FF2B5EF4-FFF2-40B4-BE49-F238E27FC236}">
                <a16:creationId xmlns:a16="http://schemas.microsoft.com/office/drawing/2014/main" id="{931C9313-AB61-C648-9519-48FF98BE2152}"/>
              </a:ext>
            </a:extLst>
          </p:cNvPr>
          <p:cNvGrpSpPr/>
          <p:nvPr/>
        </p:nvGrpSpPr>
        <p:grpSpPr>
          <a:xfrm>
            <a:off x="1476499" y="4648200"/>
            <a:ext cx="3095625" cy="2209800"/>
            <a:chOff x="0" y="0"/>
            <a:chExt cx="3095625" cy="2209800"/>
          </a:xfrm>
        </p:grpSpPr>
        <p:grpSp>
          <p:nvGrpSpPr>
            <p:cNvPr id="24" name="Group">
              <a:extLst>
                <a:ext uri="{FF2B5EF4-FFF2-40B4-BE49-F238E27FC236}">
                  <a16:creationId xmlns:a16="http://schemas.microsoft.com/office/drawing/2014/main" id="{4E34213C-D042-9146-8E4B-8175F6BF979D}"/>
                </a:ext>
              </a:extLst>
            </p:cNvPr>
            <p:cNvGrpSpPr/>
            <p:nvPr/>
          </p:nvGrpSpPr>
          <p:grpSpPr>
            <a:xfrm>
              <a:off x="287337" y="184238"/>
              <a:ext cx="288926" cy="350662"/>
              <a:chOff x="0" y="0"/>
              <a:chExt cx="288925" cy="350661"/>
            </a:xfrm>
          </p:grpSpPr>
          <p:sp>
            <p:nvSpPr>
              <p:cNvPr id="53" name="Square">
                <a:extLst>
                  <a:ext uri="{FF2B5EF4-FFF2-40B4-BE49-F238E27FC236}">
                    <a16:creationId xmlns:a16="http://schemas.microsoft.com/office/drawing/2014/main" id="{A104E43B-8725-1E45-975B-4528AC823C60}"/>
                  </a:ext>
                </a:extLst>
              </p:cNvPr>
              <p:cNvSpPr/>
              <p:nvPr/>
            </p:nvSpPr>
            <p:spPr>
              <a:xfrm>
                <a:off x="0" y="31661"/>
                <a:ext cx="288925" cy="287339"/>
              </a:xfrm>
              <a:prstGeom prst="rect">
                <a:avLst/>
              </a:prstGeom>
              <a:solidFill>
                <a:schemeClr val="accent1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54" name="+">
                <a:extLst>
                  <a:ext uri="{FF2B5EF4-FFF2-40B4-BE49-F238E27FC236}">
                    <a16:creationId xmlns:a16="http://schemas.microsoft.com/office/drawing/2014/main" id="{DE4CEDF4-325D-B64C-BA70-1D10A2515BB5}"/>
                  </a:ext>
                </a:extLst>
              </p:cNvPr>
              <p:cNvSpPr txBox="1"/>
              <p:nvPr/>
            </p:nvSpPr>
            <p:spPr>
              <a:xfrm>
                <a:off x="25643" y="0"/>
                <a:ext cx="237639" cy="35066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45719" tIns="45719" rIns="45719" bIns="45719" numCol="1" anchor="ctr">
                <a:spAutoFit/>
              </a:bodyPr>
              <a:lstStyle>
                <a:lvl1pPr algn="ctr"/>
              </a:lstStyle>
              <a:p>
                <a:r>
                  <a:t>+</a:t>
                </a:r>
              </a:p>
            </p:txBody>
          </p:sp>
        </p:grpSp>
        <p:grpSp>
          <p:nvGrpSpPr>
            <p:cNvPr id="25" name="Group">
              <a:extLst>
                <a:ext uri="{FF2B5EF4-FFF2-40B4-BE49-F238E27FC236}">
                  <a16:creationId xmlns:a16="http://schemas.microsoft.com/office/drawing/2014/main" id="{1E476F1A-61BA-BC46-A45B-0B9A03A560D1}"/>
                </a:ext>
              </a:extLst>
            </p:cNvPr>
            <p:cNvGrpSpPr/>
            <p:nvPr/>
          </p:nvGrpSpPr>
          <p:grpSpPr>
            <a:xfrm>
              <a:off x="287337" y="544600"/>
              <a:ext cx="288926" cy="350662"/>
              <a:chOff x="0" y="0"/>
              <a:chExt cx="288925" cy="350661"/>
            </a:xfrm>
          </p:grpSpPr>
          <p:sp>
            <p:nvSpPr>
              <p:cNvPr id="51" name="Square">
                <a:extLst>
                  <a:ext uri="{FF2B5EF4-FFF2-40B4-BE49-F238E27FC236}">
                    <a16:creationId xmlns:a16="http://schemas.microsoft.com/office/drawing/2014/main" id="{D9461B3E-9902-2842-8D3C-C073ACD44989}"/>
                  </a:ext>
                </a:extLst>
              </p:cNvPr>
              <p:cNvSpPr/>
              <p:nvPr/>
            </p:nvSpPr>
            <p:spPr>
              <a:xfrm>
                <a:off x="0" y="31661"/>
                <a:ext cx="288925" cy="287339"/>
              </a:xfrm>
              <a:prstGeom prst="rect">
                <a:avLst/>
              </a:prstGeom>
              <a:solidFill>
                <a:schemeClr val="accent1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52" name="-">
                <a:extLst>
                  <a:ext uri="{FF2B5EF4-FFF2-40B4-BE49-F238E27FC236}">
                    <a16:creationId xmlns:a16="http://schemas.microsoft.com/office/drawing/2014/main" id="{16C5ADFC-1890-9D43-A5B1-EF7D45FEFDEA}"/>
                  </a:ext>
                </a:extLst>
              </p:cNvPr>
              <p:cNvSpPr txBox="1"/>
              <p:nvPr/>
            </p:nvSpPr>
            <p:spPr>
              <a:xfrm>
                <a:off x="54329" y="0"/>
                <a:ext cx="180267" cy="35066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45719" tIns="45719" rIns="45719" bIns="45719" numCol="1" anchor="ctr">
                <a:spAutoFit/>
              </a:bodyPr>
              <a:lstStyle>
                <a:lvl1pPr algn="ctr"/>
              </a:lstStyle>
              <a:p>
                <a:r>
                  <a:t>-</a:t>
                </a:r>
              </a:p>
            </p:txBody>
          </p:sp>
        </p:grpSp>
        <p:grpSp>
          <p:nvGrpSpPr>
            <p:cNvPr id="26" name="Group">
              <a:extLst>
                <a:ext uri="{FF2B5EF4-FFF2-40B4-BE49-F238E27FC236}">
                  <a16:creationId xmlns:a16="http://schemas.microsoft.com/office/drawing/2014/main" id="{2B24610D-EB29-5749-ADBD-5B0BFE47A143}"/>
                </a:ext>
              </a:extLst>
            </p:cNvPr>
            <p:cNvGrpSpPr/>
            <p:nvPr/>
          </p:nvGrpSpPr>
          <p:grpSpPr>
            <a:xfrm>
              <a:off x="287337" y="892678"/>
              <a:ext cx="288926" cy="375231"/>
              <a:chOff x="0" y="0"/>
              <a:chExt cx="288925" cy="375230"/>
            </a:xfrm>
          </p:grpSpPr>
          <p:sp>
            <p:nvSpPr>
              <p:cNvPr id="35" name="Square">
                <a:extLst>
                  <a:ext uri="{FF2B5EF4-FFF2-40B4-BE49-F238E27FC236}">
                    <a16:creationId xmlns:a16="http://schemas.microsoft.com/office/drawing/2014/main" id="{D3DEEA9D-0926-9243-AE30-EA1B50EAF755}"/>
                  </a:ext>
                </a:extLst>
              </p:cNvPr>
              <p:cNvSpPr/>
              <p:nvPr/>
            </p:nvSpPr>
            <p:spPr>
              <a:xfrm>
                <a:off x="0" y="43946"/>
                <a:ext cx="288925" cy="287338"/>
              </a:xfrm>
              <a:prstGeom prst="rect">
                <a:avLst/>
              </a:prstGeom>
              <a:solidFill>
                <a:schemeClr val="accent1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2000"/>
                </a:pPr>
                <a:endParaRPr/>
              </a:p>
            </p:txBody>
          </p:sp>
          <p:sp>
            <p:nvSpPr>
              <p:cNvPr id="36" name="*">
                <a:extLst>
                  <a:ext uri="{FF2B5EF4-FFF2-40B4-BE49-F238E27FC236}">
                    <a16:creationId xmlns:a16="http://schemas.microsoft.com/office/drawing/2014/main" id="{5CB304A3-6D5F-0D42-A236-BEB46883C1BF}"/>
                  </a:ext>
                </a:extLst>
              </p:cNvPr>
              <p:cNvSpPr txBox="1"/>
              <p:nvPr/>
            </p:nvSpPr>
            <p:spPr>
              <a:xfrm>
                <a:off x="42969" y="0"/>
                <a:ext cx="202987" cy="37523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45719" tIns="45719" rIns="45719" bIns="45719" numCol="1" anchor="ctr">
                <a:spAutoFit/>
              </a:bodyPr>
              <a:lstStyle>
                <a:lvl1pPr algn="ctr">
                  <a:defRPr sz="2000"/>
                </a:lvl1pPr>
              </a:lstStyle>
              <a:p>
                <a:r>
                  <a:t>*</a:t>
                </a:r>
              </a:p>
            </p:txBody>
          </p:sp>
        </p:grpSp>
        <p:sp>
          <p:nvSpPr>
            <p:cNvPr id="27" name="SUMA">
              <a:extLst>
                <a:ext uri="{FF2B5EF4-FFF2-40B4-BE49-F238E27FC236}">
                  <a16:creationId xmlns:a16="http://schemas.microsoft.com/office/drawing/2014/main" id="{D5F8E61D-7112-CF4A-B705-7B59DB0370CB}"/>
                </a:ext>
              </a:extLst>
            </p:cNvPr>
            <p:cNvSpPr txBox="1"/>
            <p:nvPr/>
          </p:nvSpPr>
          <p:spPr>
            <a:xfrm>
              <a:off x="693419" y="144462"/>
              <a:ext cx="764604" cy="3506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/>
            <a:p>
              <a:r>
                <a:t>SUMA</a:t>
              </a:r>
            </a:p>
          </p:txBody>
        </p:sp>
        <p:sp>
          <p:nvSpPr>
            <p:cNvPr id="28" name="RESTA">
              <a:extLst>
                <a:ext uri="{FF2B5EF4-FFF2-40B4-BE49-F238E27FC236}">
                  <a16:creationId xmlns:a16="http://schemas.microsoft.com/office/drawing/2014/main" id="{B3AC2CA4-0196-8946-BECD-17C9BABCE2FC}"/>
                </a:ext>
              </a:extLst>
            </p:cNvPr>
            <p:cNvSpPr txBox="1"/>
            <p:nvPr/>
          </p:nvSpPr>
          <p:spPr>
            <a:xfrm>
              <a:off x="693419" y="503237"/>
              <a:ext cx="849324" cy="3506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/>
            <a:p>
              <a:r>
                <a:t>RESTA</a:t>
              </a:r>
            </a:p>
          </p:txBody>
        </p:sp>
        <p:sp>
          <p:nvSpPr>
            <p:cNvPr id="29" name="MULTIPLICACION">
              <a:extLst>
                <a:ext uri="{FF2B5EF4-FFF2-40B4-BE49-F238E27FC236}">
                  <a16:creationId xmlns:a16="http://schemas.microsoft.com/office/drawing/2014/main" id="{9B612628-A3CB-7341-9E3A-7FB3C43BCB72}"/>
                </a:ext>
              </a:extLst>
            </p:cNvPr>
            <p:cNvSpPr txBox="1"/>
            <p:nvPr/>
          </p:nvSpPr>
          <p:spPr>
            <a:xfrm>
              <a:off x="693419" y="863600"/>
              <a:ext cx="2005160" cy="3506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/>
            <a:p>
              <a:r>
                <a:t>MULTIPLICACION</a:t>
              </a:r>
            </a:p>
          </p:txBody>
        </p:sp>
        <p:grpSp>
          <p:nvGrpSpPr>
            <p:cNvPr id="30" name="Group">
              <a:extLst>
                <a:ext uri="{FF2B5EF4-FFF2-40B4-BE49-F238E27FC236}">
                  <a16:creationId xmlns:a16="http://schemas.microsoft.com/office/drawing/2014/main" id="{3CC029D3-D099-1143-88F0-0FAF24846A06}"/>
                </a:ext>
              </a:extLst>
            </p:cNvPr>
            <p:cNvGrpSpPr/>
            <p:nvPr/>
          </p:nvGrpSpPr>
          <p:grpSpPr>
            <a:xfrm>
              <a:off x="300037" y="1292728"/>
              <a:ext cx="288926" cy="375231"/>
              <a:chOff x="0" y="0"/>
              <a:chExt cx="288925" cy="375230"/>
            </a:xfrm>
          </p:grpSpPr>
          <p:sp>
            <p:nvSpPr>
              <p:cNvPr id="33" name="Square">
                <a:extLst>
                  <a:ext uri="{FF2B5EF4-FFF2-40B4-BE49-F238E27FC236}">
                    <a16:creationId xmlns:a16="http://schemas.microsoft.com/office/drawing/2014/main" id="{B417C79A-417B-9446-9137-E58740534961}"/>
                  </a:ext>
                </a:extLst>
              </p:cNvPr>
              <p:cNvSpPr/>
              <p:nvPr/>
            </p:nvSpPr>
            <p:spPr>
              <a:xfrm>
                <a:off x="0" y="43946"/>
                <a:ext cx="288925" cy="287338"/>
              </a:xfrm>
              <a:prstGeom prst="rect">
                <a:avLst/>
              </a:prstGeom>
              <a:solidFill>
                <a:schemeClr val="accent1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2000"/>
                </a:pPr>
                <a:endParaRPr/>
              </a:p>
            </p:txBody>
          </p:sp>
          <p:sp>
            <p:nvSpPr>
              <p:cNvPr id="34" name="/">
                <a:extLst>
                  <a:ext uri="{FF2B5EF4-FFF2-40B4-BE49-F238E27FC236}">
                    <a16:creationId xmlns:a16="http://schemas.microsoft.com/office/drawing/2014/main" id="{A4B7F520-C780-4249-BF7A-D9C3FDD5B410}"/>
                  </a:ext>
                </a:extLst>
              </p:cNvPr>
              <p:cNvSpPr txBox="1"/>
              <p:nvPr/>
            </p:nvSpPr>
            <p:spPr>
              <a:xfrm>
                <a:off x="57107" y="0"/>
                <a:ext cx="174711" cy="37523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45719" tIns="45719" rIns="45719" bIns="45719" numCol="1" anchor="ctr">
                <a:spAutoFit/>
              </a:bodyPr>
              <a:lstStyle>
                <a:lvl1pPr algn="ctr">
                  <a:defRPr sz="2000"/>
                </a:lvl1pPr>
              </a:lstStyle>
              <a:p>
                <a:r>
                  <a:t>/</a:t>
                </a:r>
              </a:p>
            </p:txBody>
          </p:sp>
        </p:grpSp>
        <p:sp>
          <p:nvSpPr>
            <p:cNvPr id="31" name="DIVISION">
              <a:extLst>
                <a:ext uri="{FF2B5EF4-FFF2-40B4-BE49-F238E27FC236}">
                  <a16:creationId xmlns:a16="http://schemas.microsoft.com/office/drawing/2014/main" id="{CC2F74A2-C5F3-4D42-B269-F03053F56655}"/>
                </a:ext>
              </a:extLst>
            </p:cNvPr>
            <p:cNvSpPr txBox="1"/>
            <p:nvPr/>
          </p:nvSpPr>
          <p:spPr>
            <a:xfrm>
              <a:off x="706120" y="1263650"/>
              <a:ext cx="1107614" cy="3506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/>
            <a:p>
              <a:r>
                <a:t>DIVISION</a:t>
              </a:r>
            </a:p>
          </p:txBody>
        </p:sp>
        <p:sp>
          <p:nvSpPr>
            <p:cNvPr id="32" name="Rectangle">
              <a:extLst>
                <a:ext uri="{FF2B5EF4-FFF2-40B4-BE49-F238E27FC236}">
                  <a16:creationId xmlns:a16="http://schemas.microsoft.com/office/drawing/2014/main" id="{0230A9E5-DA18-9244-861B-86F7960DA432}"/>
                </a:ext>
              </a:extLst>
            </p:cNvPr>
            <p:cNvSpPr/>
            <p:nvPr/>
          </p:nvSpPr>
          <p:spPr>
            <a:xfrm>
              <a:off x="0" y="0"/>
              <a:ext cx="3095625" cy="2209800"/>
            </a:xfrm>
            <a:prstGeom prst="rect">
              <a:avLst/>
            </a:prstGeom>
            <a:noFill/>
            <a:ln w="9525" cap="flat">
              <a:solidFill>
                <a:srgbClr val="99CC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</p:grpSp>
      <p:grpSp>
        <p:nvGrpSpPr>
          <p:cNvPr id="55" name="Group">
            <a:extLst>
              <a:ext uri="{FF2B5EF4-FFF2-40B4-BE49-F238E27FC236}">
                <a16:creationId xmlns:a16="http://schemas.microsoft.com/office/drawing/2014/main" id="{51B4A6CB-9163-9C40-868F-186FCA0D1608}"/>
              </a:ext>
            </a:extLst>
          </p:cNvPr>
          <p:cNvGrpSpPr/>
          <p:nvPr/>
        </p:nvGrpSpPr>
        <p:grpSpPr>
          <a:xfrm>
            <a:off x="4788024" y="4648200"/>
            <a:ext cx="3095625" cy="2209800"/>
            <a:chOff x="0" y="0"/>
            <a:chExt cx="3095625" cy="2209800"/>
          </a:xfrm>
        </p:grpSpPr>
        <p:pic>
          <p:nvPicPr>
            <p:cNvPr id="56" name="image.png" descr="image.png">
              <a:extLst>
                <a:ext uri="{FF2B5EF4-FFF2-40B4-BE49-F238E27FC236}">
                  <a16:creationId xmlns:a16="http://schemas.microsoft.com/office/drawing/2014/main" id="{03F4B4A8-7E7E-E945-85F5-1205FF42E56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144462" y="0"/>
              <a:ext cx="2886076" cy="216217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57" name="Rectangle">
              <a:extLst>
                <a:ext uri="{FF2B5EF4-FFF2-40B4-BE49-F238E27FC236}">
                  <a16:creationId xmlns:a16="http://schemas.microsoft.com/office/drawing/2014/main" id="{ACB2C419-A1E1-474D-AEE7-04C691502DCE}"/>
                </a:ext>
              </a:extLst>
            </p:cNvPr>
            <p:cNvSpPr/>
            <p:nvPr/>
          </p:nvSpPr>
          <p:spPr>
            <a:xfrm>
              <a:off x="0" y="0"/>
              <a:ext cx="3095625" cy="2209800"/>
            </a:xfrm>
            <a:prstGeom prst="rect">
              <a:avLst/>
            </a:prstGeom>
            <a:noFill/>
            <a:ln w="9525" cap="flat">
              <a:solidFill>
                <a:srgbClr val="99CC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3503381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16 Imagen">
            <a:extLst>
              <a:ext uri="{FF2B5EF4-FFF2-40B4-BE49-F238E27FC236}">
                <a16:creationId xmlns:a16="http://schemas.microsoft.com/office/drawing/2014/main" id="{E18833CA-28BE-584F-9880-8012D82710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80"/>
            <a:ext cx="9144000" cy="1171495"/>
          </a:xfrm>
          <a:prstGeom prst="rect">
            <a:avLst/>
          </a:prstGeom>
        </p:spPr>
      </p:pic>
      <p:sp>
        <p:nvSpPr>
          <p:cNvPr id="11" name="17 CuadroTexto">
            <a:extLst>
              <a:ext uri="{FF2B5EF4-FFF2-40B4-BE49-F238E27FC236}">
                <a16:creationId xmlns:a16="http://schemas.microsoft.com/office/drawing/2014/main" id="{6BED238C-223E-7F4A-BFF1-2F3910B2B049}"/>
              </a:ext>
            </a:extLst>
          </p:cNvPr>
          <p:cNvSpPr txBox="1"/>
          <p:nvPr/>
        </p:nvSpPr>
        <p:spPr>
          <a:xfrm>
            <a:off x="212156" y="87951"/>
            <a:ext cx="327972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b="1" dirty="0">
                <a:solidFill>
                  <a:schemeClr val="bg1"/>
                </a:solidFill>
                <a:latin typeface="TeXGyreAdventor" pitchFamily="50" charset="0"/>
              </a:rPr>
              <a:t>Algoritmos y Estructuras</a:t>
            </a:r>
          </a:p>
          <a:p>
            <a:r>
              <a:rPr lang="es-AR" sz="2400" b="1" dirty="0">
                <a:solidFill>
                  <a:schemeClr val="bg1"/>
                </a:solidFill>
                <a:latin typeface="TeXGyreAdventor" pitchFamily="50" charset="0"/>
              </a:rPr>
              <a:t>de Datos</a:t>
            </a:r>
          </a:p>
          <a:p>
            <a:endParaRPr lang="es-AR" dirty="0"/>
          </a:p>
        </p:txBody>
      </p:sp>
      <p:sp>
        <p:nvSpPr>
          <p:cNvPr id="12" name="17 CuadroTexto">
            <a:extLst>
              <a:ext uri="{FF2B5EF4-FFF2-40B4-BE49-F238E27FC236}">
                <a16:creationId xmlns:a16="http://schemas.microsoft.com/office/drawing/2014/main" id="{B26987D4-C5D9-0146-A6C8-1CEC49293F37}"/>
              </a:ext>
            </a:extLst>
          </p:cNvPr>
          <p:cNvSpPr txBox="1"/>
          <p:nvPr/>
        </p:nvSpPr>
        <p:spPr>
          <a:xfrm>
            <a:off x="3486476" y="605210"/>
            <a:ext cx="2171048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000" b="1" dirty="0">
                <a:solidFill>
                  <a:schemeClr val="bg1"/>
                </a:solidFill>
                <a:latin typeface="TeXGyreAdventor" pitchFamily="50" charset="0"/>
              </a:rPr>
              <a:t> - </a:t>
            </a:r>
            <a:r>
              <a:rPr lang="es-AR" sz="2000" b="1" u="sng" dirty="0">
                <a:solidFill>
                  <a:schemeClr val="bg1"/>
                </a:solidFill>
                <a:latin typeface="TeXGyreAdventor" pitchFamily="50" charset="0"/>
              </a:rPr>
              <a:t>Tipos de Datos </a:t>
            </a:r>
            <a:r>
              <a:rPr lang="es-AR" sz="2000" b="1" dirty="0">
                <a:solidFill>
                  <a:schemeClr val="bg1"/>
                </a:solidFill>
                <a:latin typeface="TeXGyreAdventor" pitchFamily="50" charset="0"/>
              </a:rPr>
              <a:t>-</a:t>
            </a:r>
          </a:p>
          <a:p>
            <a:endParaRPr lang="es-AR" dirty="0"/>
          </a:p>
        </p:txBody>
      </p:sp>
      <p:sp>
        <p:nvSpPr>
          <p:cNvPr id="5" name="El tipo Integer (Entero)">
            <a:extLst>
              <a:ext uri="{FF2B5EF4-FFF2-40B4-BE49-F238E27FC236}">
                <a16:creationId xmlns:a16="http://schemas.microsoft.com/office/drawing/2014/main" id="{77F5FAA7-D009-8347-9EEE-0B1FE96CF385}"/>
              </a:ext>
            </a:extLst>
          </p:cNvPr>
          <p:cNvSpPr txBox="1"/>
          <p:nvPr/>
        </p:nvSpPr>
        <p:spPr>
          <a:xfrm>
            <a:off x="323528" y="1326174"/>
            <a:ext cx="8138161" cy="461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2800" b="1">
                <a:solidFill>
                  <a:srgbClr val="33CC33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r>
              <a:rPr sz="24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</a:t>
            </a:r>
            <a:r>
              <a:rPr sz="2400" dirty="0" err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tipo</a:t>
            </a:r>
            <a:r>
              <a:rPr sz="24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String</a:t>
            </a:r>
            <a:r>
              <a:rPr sz="24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2400" dirty="0" err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cadena</a:t>
            </a:r>
            <a:r>
              <a:rPr lang="en-US" sz="24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2400" dirty="0" err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carácteres</a:t>
            </a:r>
            <a:r>
              <a:rPr sz="24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n-US" sz="24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sz="2400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" name="image.png" descr="image.png">
            <a:extLst>
              <a:ext uri="{FF2B5EF4-FFF2-40B4-BE49-F238E27FC236}">
                <a16:creationId xmlns:a16="http://schemas.microsoft.com/office/drawing/2014/main" id="{D16DD7BC-2660-8C4B-BC11-660EFA347F7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547664" y="1918066"/>
            <a:ext cx="5486400" cy="6770688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073734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3" presetClass="exit" presetSubtype="32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 advAuto="0"/>
      <p:bldP spid="20" grpId="1" animBg="1" advAuto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Shape 3">
            <a:extLst>
              <a:ext uri="{FF2B5EF4-FFF2-40B4-BE49-F238E27FC236}">
                <a16:creationId xmlns:a16="http://schemas.microsoft.com/office/drawing/2014/main" id="{1EE73370-1CB5-184B-A778-C70CB3735C00}"/>
              </a:ext>
            </a:extLst>
          </p:cNvPr>
          <p:cNvSpPr txBox="1"/>
          <p:nvPr/>
        </p:nvSpPr>
        <p:spPr>
          <a:xfrm>
            <a:off x="355602" y="1633878"/>
            <a:ext cx="8557578" cy="5179498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r>
              <a:rPr lang="en-US" dirty="0"/>
              <a:t>Una </a:t>
            </a:r>
            <a:r>
              <a:rPr lang="en-US" dirty="0" err="1"/>
              <a:t>cadena</a:t>
            </a:r>
            <a:r>
              <a:rPr lang="en-US" dirty="0"/>
              <a:t> de </a:t>
            </a:r>
            <a:r>
              <a:rPr lang="en-US" dirty="0" err="1"/>
              <a:t>carácteres</a:t>
            </a:r>
            <a:r>
              <a:rPr lang="en-US" dirty="0"/>
              <a:t> (string) </a:t>
            </a:r>
            <a:r>
              <a:rPr lang="en-US" dirty="0" err="1"/>
              <a:t>es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secuencia</a:t>
            </a:r>
            <a:r>
              <a:rPr lang="en-US" dirty="0"/>
              <a:t> </a:t>
            </a:r>
            <a:r>
              <a:rPr lang="en-US" dirty="0" err="1"/>
              <a:t>ordenada</a:t>
            </a:r>
            <a:r>
              <a:rPr lang="en-US" dirty="0"/>
              <a:t> de </a:t>
            </a:r>
            <a:r>
              <a:rPr lang="en-US" dirty="0" err="1"/>
              <a:t>carácteres</a:t>
            </a:r>
            <a:r>
              <a:rPr lang="en-US" dirty="0"/>
              <a:t>. Podemos </a:t>
            </a:r>
            <a:r>
              <a:rPr lang="en-US" dirty="0" err="1"/>
              <a:t>acceder</a:t>
            </a:r>
            <a:r>
              <a:rPr lang="en-US" dirty="0"/>
              <a:t> a </a:t>
            </a:r>
            <a:r>
              <a:rPr lang="en-US" dirty="0" err="1"/>
              <a:t>cada</a:t>
            </a:r>
            <a:r>
              <a:rPr lang="en-US" dirty="0"/>
              <a:t> </a:t>
            </a:r>
            <a:r>
              <a:rPr lang="en-US" dirty="0" err="1"/>
              <a:t>elemento</a:t>
            </a:r>
            <a:r>
              <a:rPr lang="en-US" dirty="0"/>
              <a:t> </a:t>
            </a:r>
            <a:r>
              <a:rPr lang="en-US" dirty="0" err="1"/>
              <a:t>utilizando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índice</a:t>
            </a:r>
            <a:r>
              <a:rPr lang="en-US" dirty="0"/>
              <a:t> (</a:t>
            </a:r>
            <a:r>
              <a:rPr lang="en-US" dirty="0" err="1"/>
              <a:t>siempre</a:t>
            </a:r>
            <a:r>
              <a:rPr lang="en-US" dirty="0"/>
              <a:t> que el </a:t>
            </a:r>
            <a:r>
              <a:rPr lang="en-US" dirty="0" err="1"/>
              <a:t>índice</a:t>
            </a:r>
            <a:r>
              <a:rPr lang="en-US" dirty="0"/>
              <a:t> no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furea</a:t>
            </a:r>
            <a:r>
              <a:rPr lang="en-US" dirty="0"/>
              <a:t> de </a:t>
            </a:r>
            <a:r>
              <a:rPr lang="en-US" dirty="0" err="1"/>
              <a:t>rango</a:t>
            </a:r>
            <a:r>
              <a:rPr lang="en-US" dirty="0"/>
              <a:t>).</a:t>
            </a:r>
          </a:p>
          <a:p>
            <a:pPr algn="ctr"/>
            <a:endParaRPr lang="en-US" dirty="0"/>
          </a:p>
          <a:p>
            <a:pPr marL="742950" lvl="1" indent="-285750">
              <a:buFont typeface="Wingdings" pitchFamily="2" charset="2"/>
              <a:buChar char="§"/>
            </a:pPr>
            <a:r>
              <a:rPr lang="en-US" dirty="0"/>
              <a:t>Los </a:t>
            </a:r>
            <a:r>
              <a:rPr lang="en-US" dirty="0" err="1"/>
              <a:t>índices</a:t>
            </a:r>
            <a:r>
              <a:rPr lang="en-US" dirty="0"/>
              <a:t> </a:t>
            </a:r>
            <a:r>
              <a:rPr lang="en-US" dirty="0" err="1"/>
              <a:t>comienzan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0 </a:t>
            </a:r>
          </a:p>
          <a:p>
            <a:pPr marL="742950" lvl="1" indent="-285750">
              <a:buFont typeface="Wingdings" pitchFamily="2" charset="2"/>
              <a:buChar char="§"/>
            </a:pPr>
            <a:r>
              <a:rPr lang="en-US" dirty="0" err="1"/>
              <a:t>Accederemos</a:t>
            </a:r>
            <a:r>
              <a:rPr lang="en-US" dirty="0"/>
              <a:t> al </a:t>
            </a:r>
            <a:r>
              <a:rPr lang="en-US" dirty="0" err="1"/>
              <a:t>i-ésimo</a:t>
            </a:r>
            <a:r>
              <a:rPr lang="en-US" dirty="0"/>
              <a:t> </a:t>
            </a:r>
            <a:r>
              <a:rPr lang="en-US" dirty="0" err="1"/>
              <a:t>elemento</a:t>
            </a:r>
            <a:r>
              <a:rPr lang="en-US" dirty="0"/>
              <a:t> del string 𝚌 </a:t>
            </a:r>
            <a:r>
              <a:rPr lang="en-US" dirty="0" err="1"/>
              <a:t>escribiendo</a:t>
            </a:r>
            <a:r>
              <a:rPr lang="en-US" dirty="0"/>
              <a:t> 𝚌[𝚒]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fontAlgn="b"/>
            <a:br>
              <a:rPr lang="en-US" dirty="0"/>
            </a:br>
            <a:endParaRPr lang="en-US" dirty="0"/>
          </a:p>
          <a:p>
            <a:pPr lvl="1" algn="just"/>
            <a:endParaRPr lang="en-US" sz="2000" dirty="0"/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Python </a:t>
            </a:r>
            <a:r>
              <a:rPr lang="en-US" sz="2000" dirty="0" err="1"/>
              <a:t>nos</a:t>
            </a:r>
            <a:r>
              <a:rPr lang="en-US" sz="2000" dirty="0"/>
              <a:t> </a:t>
            </a:r>
            <a:r>
              <a:rPr lang="en-US" sz="2000" dirty="0" err="1"/>
              <a:t>permmite</a:t>
            </a:r>
            <a:r>
              <a:rPr lang="en-US" sz="2000" dirty="0"/>
              <a:t> el </a:t>
            </a:r>
            <a:r>
              <a:rPr lang="en-US" sz="2000" dirty="0" err="1"/>
              <a:t>uso</a:t>
            </a:r>
            <a:r>
              <a:rPr lang="en-US" sz="2000" dirty="0"/>
              <a:t> de </a:t>
            </a:r>
            <a:r>
              <a:rPr lang="en-US" sz="2000" dirty="0" err="1"/>
              <a:t>índices</a:t>
            </a:r>
            <a:r>
              <a:rPr lang="en-US" sz="2000" dirty="0"/>
              <a:t> </a:t>
            </a:r>
            <a:r>
              <a:rPr lang="en-US" sz="2000" dirty="0" err="1"/>
              <a:t>negativos</a:t>
            </a:r>
            <a:r>
              <a:rPr lang="en-US" sz="2000" dirty="0"/>
              <a:t> ( </a:t>
            </a:r>
            <a:r>
              <a:rPr lang="en-US" sz="2000" dirty="0" err="1"/>
              <a:t>aunque</a:t>
            </a:r>
            <a:r>
              <a:rPr lang="en-US" sz="2000" dirty="0"/>
              <a:t> no </a:t>
            </a:r>
            <a:r>
              <a:rPr lang="en-US" sz="2000" dirty="0" err="1"/>
              <a:t>es</a:t>
            </a:r>
            <a:r>
              <a:rPr lang="en-US" sz="2000" dirty="0"/>
              <a:t> </a:t>
            </a:r>
            <a:r>
              <a:rPr lang="en-US" sz="2000" dirty="0" err="1"/>
              <a:t>una</a:t>
            </a:r>
            <a:r>
              <a:rPr lang="en-US" sz="2000" dirty="0"/>
              <a:t> </a:t>
            </a:r>
            <a:r>
              <a:rPr lang="en-US" sz="2000" dirty="0" err="1"/>
              <a:t>buena</a:t>
            </a:r>
            <a:r>
              <a:rPr lang="en-US" sz="2000" dirty="0"/>
              <a:t> </a:t>
            </a:r>
            <a:r>
              <a:rPr lang="en-US" sz="2000" dirty="0" err="1"/>
              <a:t>practica</a:t>
            </a:r>
            <a:r>
              <a:rPr lang="en-US" sz="2000" dirty="0"/>
              <a:t>)</a:t>
            </a:r>
          </a:p>
          <a:p>
            <a:pPr lvl="1" algn="just"/>
            <a:endParaRPr lang="es-AR" sz="2000" strike="noStrike" spc="-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elvetica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4B28B1-6C17-8845-BD55-65F0693B65C3}"/>
              </a:ext>
            </a:extLst>
          </p:cNvPr>
          <p:cNvSpPr txBox="1"/>
          <p:nvPr/>
        </p:nvSpPr>
        <p:spPr>
          <a:xfrm>
            <a:off x="107504" y="1227266"/>
            <a:ext cx="29354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Manejo de Strings: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7E51283-547C-6A45-ABAB-70CDB9268B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02" y="3501008"/>
            <a:ext cx="7832017" cy="115212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8363E59-70E6-104A-9039-7B5BDE3B99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602" y="5819065"/>
            <a:ext cx="8071466" cy="994311"/>
          </a:xfrm>
          <a:prstGeom prst="rect">
            <a:avLst/>
          </a:prstGeom>
        </p:spPr>
      </p:pic>
      <p:pic>
        <p:nvPicPr>
          <p:cNvPr id="10" name="16 Imagen">
            <a:extLst>
              <a:ext uri="{FF2B5EF4-FFF2-40B4-BE49-F238E27FC236}">
                <a16:creationId xmlns:a16="http://schemas.microsoft.com/office/drawing/2014/main" id="{E18833CA-28BE-584F-9880-8012D82710A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80"/>
            <a:ext cx="9144000" cy="1171495"/>
          </a:xfrm>
          <a:prstGeom prst="rect">
            <a:avLst/>
          </a:prstGeom>
        </p:spPr>
      </p:pic>
      <p:sp>
        <p:nvSpPr>
          <p:cNvPr id="11" name="17 CuadroTexto">
            <a:extLst>
              <a:ext uri="{FF2B5EF4-FFF2-40B4-BE49-F238E27FC236}">
                <a16:creationId xmlns:a16="http://schemas.microsoft.com/office/drawing/2014/main" id="{6BED238C-223E-7F4A-BFF1-2F3910B2B049}"/>
              </a:ext>
            </a:extLst>
          </p:cNvPr>
          <p:cNvSpPr txBox="1"/>
          <p:nvPr/>
        </p:nvSpPr>
        <p:spPr>
          <a:xfrm>
            <a:off x="212156" y="87951"/>
            <a:ext cx="327972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b="1" dirty="0">
                <a:solidFill>
                  <a:schemeClr val="bg1"/>
                </a:solidFill>
                <a:latin typeface="TeXGyreAdventor" pitchFamily="50" charset="0"/>
              </a:rPr>
              <a:t>Algoritmos y Estructuras</a:t>
            </a:r>
          </a:p>
          <a:p>
            <a:r>
              <a:rPr lang="es-AR" sz="2400" b="1" dirty="0">
                <a:solidFill>
                  <a:schemeClr val="bg1"/>
                </a:solidFill>
                <a:latin typeface="TeXGyreAdventor" pitchFamily="50" charset="0"/>
              </a:rPr>
              <a:t>de Datos</a:t>
            </a:r>
          </a:p>
          <a:p>
            <a:endParaRPr lang="es-AR" dirty="0"/>
          </a:p>
        </p:txBody>
      </p:sp>
      <p:sp>
        <p:nvSpPr>
          <p:cNvPr id="12" name="17 CuadroTexto">
            <a:extLst>
              <a:ext uri="{FF2B5EF4-FFF2-40B4-BE49-F238E27FC236}">
                <a16:creationId xmlns:a16="http://schemas.microsoft.com/office/drawing/2014/main" id="{B26987D4-C5D9-0146-A6C8-1CEC49293F37}"/>
              </a:ext>
            </a:extLst>
          </p:cNvPr>
          <p:cNvSpPr txBox="1"/>
          <p:nvPr/>
        </p:nvSpPr>
        <p:spPr>
          <a:xfrm>
            <a:off x="3486476" y="605210"/>
            <a:ext cx="2171048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000" b="1" dirty="0">
                <a:solidFill>
                  <a:schemeClr val="bg1"/>
                </a:solidFill>
                <a:latin typeface="TeXGyreAdventor" pitchFamily="50" charset="0"/>
              </a:rPr>
              <a:t> - </a:t>
            </a:r>
            <a:r>
              <a:rPr lang="es-AR" sz="2000" b="1" u="sng" dirty="0">
                <a:solidFill>
                  <a:schemeClr val="bg1"/>
                </a:solidFill>
                <a:latin typeface="TeXGyreAdventor" pitchFamily="50" charset="0"/>
              </a:rPr>
              <a:t>Tipos de Datos </a:t>
            </a:r>
            <a:r>
              <a:rPr lang="es-AR" sz="2000" b="1" dirty="0">
                <a:solidFill>
                  <a:schemeClr val="bg1"/>
                </a:solidFill>
                <a:latin typeface="TeXGyreAdventor" pitchFamily="50" charset="0"/>
              </a:rPr>
              <a:t>-</a:t>
            </a:r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9935032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Shape 3">
            <a:extLst>
              <a:ext uri="{FF2B5EF4-FFF2-40B4-BE49-F238E27FC236}">
                <a16:creationId xmlns:a16="http://schemas.microsoft.com/office/drawing/2014/main" id="{1EE73370-1CB5-184B-A778-C70CB3735C00}"/>
              </a:ext>
            </a:extLst>
          </p:cNvPr>
          <p:cNvSpPr txBox="1"/>
          <p:nvPr/>
        </p:nvSpPr>
        <p:spPr>
          <a:xfrm>
            <a:off x="355602" y="1633878"/>
            <a:ext cx="8557578" cy="5179498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marL="800100" lvl="1" indent="-342900" algn="just">
              <a:buFont typeface="Wingdings" pitchFamily="2" charset="2"/>
              <a:buChar char="§"/>
            </a:pPr>
            <a:r>
              <a:rPr lang="en-US" sz="2400" dirty="0" err="1"/>
              <a:t>Funciones</a:t>
            </a:r>
            <a:r>
              <a:rPr lang="en-US" sz="2400" dirty="0"/>
              <a:t> y </a:t>
            </a:r>
            <a:r>
              <a:rPr lang="en-US" sz="2400" dirty="0" err="1"/>
              <a:t>Operaciones</a:t>
            </a:r>
            <a:r>
              <a:rPr lang="en-US" sz="2400" dirty="0"/>
              <a:t> </a:t>
            </a:r>
            <a:r>
              <a:rPr lang="en-US" sz="2400" dirty="0" err="1"/>
              <a:t>Básicas</a:t>
            </a:r>
            <a:endParaRPr lang="en-US" sz="2400" dirty="0"/>
          </a:p>
          <a:p>
            <a:pPr lvl="2"/>
            <a:endParaRPr lang="en-US" dirty="0"/>
          </a:p>
          <a:p>
            <a:pPr marL="1200150" lvl="2" indent="-285750">
              <a:buFont typeface="Wingdings" pitchFamily="2" charset="2"/>
              <a:buChar char="§"/>
            </a:pPr>
            <a:r>
              <a:rPr lang="en-US" dirty="0"/>
              <a:t>La </a:t>
            </a:r>
            <a:r>
              <a:rPr lang="en-US" dirty="0" err="1"/>
              <a:t>función</a:t>
            </a:r>
            <a:r>
              <a:rPr lang="en-US" dirty="0"/>
              <a:t> </a:t>
            </a:r>
            <a:r>
              <a:rPr lang="en-US" dirty="0" err="1">
                <a:solidFill>
                  <a:srgbClr val="92D050"/>
                </a:solidFill>
              </a:rPr>
              <a:t>len</a:t>
            </a:r>
            <a:r>
              <a:rPr lang="en-US" dirty="0">
                <a:solidFill>
                  <a:srgbClr val="92D050"/>
                </a:solidFill>
              </a:rPr>
              <a:t> </a:t>
            </a:r>
            <a:r>
              <a:rPr lang="en-US" dirty="0"/>
              <a:t>(length – </a:t>
            </a:r>
            <a:r>
              <a:rPr lang="en-US" dirty="0" err="1"/>
              <a:t>longitud</a:t>
            </a:r>
            <a:r>
              <a:rPr lang="en-US" dirty="0"/>
              <a:t>)</a:t>
            </a:r>
          </a:p>
          <a:p>
            <a:pPr lvl="2"/>
            <a:r>
              <a:rPr lang="en-US" dirty="0"/>
              <a:t> </a:t>
            </a:r>
          </a:p>
          <a:p>
            <a:pPr fontAlgn="b"/>
            <a:endParaRPr lang="en-US" dirty="0"/>
          </a:p>
          <a:p>
            <a:pPr fontAlgn="b"/>
            <a:endParaRPr lang="en-US" dirty="0"/>
          </a:p>
          <a:p>
            <a:pPr fontAlgn="b"/>
            <a:br>
              <a:rPr lang="en-US" dirty="0"/>
            </a:br>
            <a:endParaRPr lang="en-US" dirty="0"/>
          </a:p>
          <a:p>
            <a:pPr lvl="1" algn="just"/>
            <a:endParaRPr lang="en-US" sz="2000" dirty="0"/>
          </a:p>
          <a:p>
            <a:pPr lvl="1" algn="just"/>
            <a:r>
              <a:rPr lang="en-US" sz="2000" dirty="0"/>
              <a:t> La </a:t>
            </a:r>
            <a:r>
              <a:rPr lang="en-US" sz="2000" dirty="0" err="1"/>
              <a:t>función</a:t>
            </a:r>
            <a:r>
              <a:rPr lang="en-US" sz="2000" dirty="0"/>
              <a:t> </a:t>
            </a:r>
            <a:r>
              <a:rPr lang="en-US" sz="2000" dirty="0" err="1"/>
              <a:t>len</a:t>
            </a:r>
            <a:r>
              <a:rPr lang="en-US" sz="2000" dirty="0"/>
              <a:t> </a:t>
            </a:r>
            <a:r>
              <a:rPr lang="en-US" sz="2000" dirty="0" err="1"/>
              <a:t>nos</a:t>
            </a:r>
            <a:r>
              <a:rPr lang="en-US" sz="2000" dirty="0"/>
              <a:t> </a:t>
            </a:r>
            <a:r>
              <a:rPr lang="en-US" sz="2000" dirty="0" err="1"/>
              <a:t>devuelve</a:t>
            </a:r>
            <a:r>
              <a:rPr lang="en-US" sz="2000" dirty="0"/>
              <a:t> el </a:t>
            </a:r>
            <a:r>
              <a:rPr lang="en-US" sz="2000" dirty="0" err="1"/>
              <a:t>número</a:t>
            </a:r>
            <a:r>
              <a:rPr lang="en-US" sz="2000" dirty="0"/>
              <a:t> de </a:t>
            </a:r>
            <a:r>
              <a:rPr lang="en-US" sz="2000" dirty="0" err="1"/>
              <a:t>elementos</a:t>
            </a:r>
            <a:r>
              <a:rPr lang="en-US" sz="2000" dirty="0"/>
              <a:t> y no el </a:t>
            </a:r>
            <a:r>
              <a:rPr lang="en-US" sz="2000" dirty="0" err="1"/>
              <a:t>índice</a:t>
            </a:r>
            <a:r>
              <a:rPr lang="en-US" sz="2000" dirty="0"/>
              <a:t> !!</a:t>
            </a:r>
          </a:p>
          <a:p>
            <a:pPr lvl="1" algn="just"/>
            <a:endParaRPr lang="en-US" sz="2000" dirty="0"/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Python </a:t>
            </a:r>
            <a:r>
              <a:rPr lang="en-US" sz="2000" dirty="0" err="1"/>
              <a:t>nos</a:t>
            </a:r>
            <a:r>
              <a:rPr lang="en-US" sz="2000" dirty="0"/>
              <a:t> </a:t>
            </a:r>
            <a:r>
              <a:rPr lang="en-US" sz="2000" dirty="0" err="1"/>
              <a:t>permmite</a:t>
            </a:r>
            <a:r>
              <a:rPr lang="en-US" sz="2000" dirty="0"/>
              <a:t> el </a:t>
            </a:r>
            <a:r>
              <a:rPr lang="en-US" sz="2000" dirty="0" err="1"/>
              <a:t>uso</a:t>
            </a:r>
            <a:r>
              <a:rPr lang="en-US" sz="2000" dirty="0"/>
              <a:t> de </a:t>
            </a:r>
            <a:r>
              <a:rPr lang="en-US" sz="2000" dirty="0" err="1"/>
              <a:t>índices</a:t>
            </a:r>
            <a:r>
              <a:rPr lang="en-US" sz="2000" dirty="0"/>
              <a:t> </a:t>
            </a:r>
            <a:r>
              <a:rPr lang="en-US" sz="2000" dirty="0" err="1"/>
              <a:t>negativos</a:t>
            </a:r>
            <a:r>
              <a:rPr lang="en-US" sz="2000" dirty="0"/>
              <a:t> ( </a:t>
            </a:r>
            <a:r>
              <a:rPr lang="en-US" sz="2000" dirty="0" err="1"/>
              <a:t>aunque</a:t>
            </a:r>
            <a:r>
              <a:rPr lang="en-US" sz="2000" dirty="0"/>
              <a:t> no </a:t>
            </a:r>
            <a:r>
              <a:rPr lang="en-US" sz="2000" dirty="0" err="1"/>
              <a:t>es</a:t>
            </a:r>
            <a:r>
              <a:rPr lang="en-US" sz="2000" dirty="0"/>
              <a:t> </a:t>
            </a:r>
            <a:r>
              <a:rPr lang="en-US" sz="2000" dirty="0" err="1"/>
              <a:t>una</a:t>
            </a:r>
            <a:r>
              <a:rPr lang="en-US" sz="2000" dirty="0"/>
              <a:t> </a:t>
            </a:r>
            <a:r>
              <a:rPr lang="en-US" sz="2000" dirty="0" err="1"/>
              <a:t>buena</a:t>
            </a:r>
            <a:r>
              <a:rPr lang="en-US" sz="2000" dirty="0"/>
              <a:t> </a:t>
            </a:r>
            <a:r>
              <a:rPr lang="en-US" sz="2000" dirty="0" err="1"/>
              <a:t>practica</a:t>
            </a:r>
            <a:r>
              <a:rPr lang="en-US" sz="2000" dirty="0"/>
              <a:t>)</a:t>
            </a:r>
          </a:p>
          <a:p>
            <a:pPr lvl="1" algn="just"/>
            <a:endParaRPr lang="es-AR" sz="2000" strike="noStrike" spc="-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elvetica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4B28B1-6C17-8845-BD55-65F0693B65C3}"/>
              </a:ext>
            </a:extLst>
          </p:cNvPr>
          <p:cNvSpPr txBox="1"/>
          <p:nvPr/>
        </p:nvSpPr>
        <p:spPr>
          <a:xfrm>
            <a:off x="0" y="1149341"/>
            <a:ext cx="29354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Manejo de Strings: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9E943D4-EA8F-DB43-9B6D-56825AB389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2780928"/>
            <a:ext cx="8509000" cy="1143000"/>
          </a:xfrm>
          <a:prstGeom prst="rect">
            <a:avLst/>
          </a:prstGeom>
        </p:spPr>
      </p:pic>
      <p:pic>
        <p:nvPicPr>
          <p:cNvPr id="10" name="16 Imagen">
            <a:extLst>
              <a:ext uri="{FF2B5EF4-FFF2-40B4-BE49-F238E27FC236}">
                <a16:creationId xmlns:a16="http://schemas.microsoft.com/office/drawing/2014/main" id="{52243091-0C8C-CB47-99D8-906DE99E3B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80"/>
            <a:ext cx="9144000" cy="1171495"/>
          </a:xfrm>
          <a:prstGeom prst="rect">
            <a:avLst/>
          </a:prstGeom>
        </p:spPr>
      </p:pic>
      <p:sp>
        <p:nvSpPr>
          <p:cNvPr id="12" name="17 CuadroTexto">
            <a:extLst>
              <a:ext uri="{FF2B5EF4-FFF2-40B4-BE49-F238E27FC236}">
                <a16:creationId xmlns:a16="http://schemas.microsoft.com/office/drawing/2014/main" id="{A8AB6B16-119D-C142-8B90-BA36AEF0EA88}"/>
              </a:ext>
            </a:extLst>
          </p:cNvPr>
          <p:cNvSpPr txBox="1"/>
          <p:nvPr/>
        </p:nvSpPr>
        <p:spPr>
          <a:xfrm>
            <a:off x="212156" y="87951"/>
            <a:ext cx="327972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b="1" dirty="0">
                <a:solidFill>
                  <a:schemeClr val="bg1"/>
                </a:solidFill>
                <a:latin typeface="TeXGyreAdventor" pitchFamily="50" charset="0"/>
              </a:rPr>
              <a:t>Algoritmos y Estructuras</a:t>
            </a:r>
          </a:p>
          <a:p>
            <a:r>
              <a:rPr lang="es-AR" sz="2400" b="1" dirty="0">
                <a:solidFill>
                  <a:schemeClr val="bg1"/>
                </a:solidFill>
                <a:latin typeface="TeXGyreAdventor" pitchFamily="50" charset="0"/>
              </a:rPr>
              <a:t>de Datos</a:t>
            </a:r>
          </a:p>
          <a:p>
            <a:endParaRPr lang="es-AR" dirty="0"/>
          </a:p>
        </p:txBody>
      </p:sp>
      <p:sp>
        <p:nvSpPr>
          <p:cNvPr id="13" name="17 CuadroTexto">
            <a:extLst>
              <a:ext uri="{FF2B5EF4-FFF2-40B4-BE49-F238E27FC236}">
                <a16:creationId xmlns:a16="http://schemas.microsoft.com/office/drawing/2014/main" id="{38CA5401-B749-154C-985A-3DC21F69CC89}"/>
              </a:ext>
            </a:extLst>
          </p:cNvPr>
          <p:cNvSpPr txBox="1"/>
          <p:nvPr/>
        </p:nvSpPr>
        <p:spPr>
          <a:xfrm>
            <a:off x="3486476" y="605210"/>
            <a:ext cx="2171048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000" b="1" dirty="0">
                <a:solidFill>
                  <a:schemeClr val="bg1"/>
                </a:solidFill>
                <a:latin typeface="TeXGyreAdventor" pitchFamily="50" charset="0"/>
              </a:rPr>
              <a:t> - </a:t>
            </a:r>
            <a:r>
              <a:rPr lang="es-AR" sz="2000" b="1" u="sng" dirty="0">
                <a:solidFill>
                  <a:schemeClr val="bg1"/>
                </a:solidFill>
                <a:latin typeface="TeXGyreAdventor" pitchFamily="50" charset="0"/>
              </a:rPr>
              <a:t>Tipos de Datos </a:t>
            </a:r>
            <a:r>
              <a:rPr lang="es-AR" sz="2000" b="1" dirty="0">
                <a:solidFill>
                  <a:schemeClr val="bg1"/>
                </a:solidFill>
                <a:latin typeface="TeXGyreAdventor" pitchFamily="50" charset="0"/>
              </a:rPr>
              <a:t>-</a:t>
            </a:r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3081347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16 Imagen">
            <a:extLst>
              <a:ext uri="{FF2B5EF4-FFF2-40B4-BE49-F238E27FC236}">
                <a16:creationId xmlns:a16="http://schemas.microsoft.com/office/drawing/2014/main" id="{E18833CA-28BE-584F-9880-8012D82710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80"/>
            <a:ext cx="9144000" cy="1171495"/>
          </a:xfrm>
          <a:prstGeom prst="rect">
            <a:avLst/>
          </a:prstGeom>
        </p:spPr>
      </p:pic>
      <p:sp>
        <p:nvSpPr>
          <p:cNvPr id="11" name="17 CuadroTexto">
            <a:extLst>
              <a:ext uri="{FF2B5EF4-FFF2-40B4-BE49-F238E27FC236}">
                <a16:creationId xmlns:a16="http://schemas.microsoft.com/office/drawing/2014/main" id="{6BED238C-223E-7F4A-BFF1-2F3910B2B049}"/>
              </a:ext>
            </a:extLst>
          </p:cNvPr>
          <p:cNvSpPr txBox="1"/>
          <p:nvPr/>
        </p:nvSpPr>
        <p:spPr>
          <a:xfrm>
            <a:off x="212156" y="87951"/>
            <a:ext cx="327972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b="1" dirty="0">
                <a:solidFill>
                  <a:schemeClr val="bg1"/>
                </a:solidFill>
                <a:latin typeface="TeXGyreAdventor" pitchFamily="50" charset="0"/>
              </a:rPr>
              <a:t>Algoritmos y Estructuras</a:t>
            </a:r>
          </a:p>
          <a:p>
            <a:r>
              <a:rPr lang="es-AR" sz="2400" b="1" dirty="0">
                <a:solidFill>
                  <a:schemeClr val="bg1"/>
                </a:solidFill>
                <a:latin typeface="TeXGyreAdventor" pitchFamily="50" charset="0"/>
              </a:rPr>
              <a:t>de Datos</a:t>
            </a:r>
          </a:p>
          <a:p>
            <a:endParaRPr lang="es-AR" dirty="0"/>
          </a:p>
        </p:txBody>
      </p:sp>
      <p:sp>
        <p:nvSpPr>
          <p:cNvPr id="12" name="17 CuadroTexto">
            <a:extLst>
              <a:ext uri="{FF2B5EF4-FFF2-40B4-BE49-F238E27FC236}">
                <a16:creationId xmlns:a16="http://schemas.microsoft.com/office/drawing/2014/main" id="{B26987D4-C5D9-0146-A6C8-1CEC49293F37}"/>
              </a:ext>
            </a:extLst>
          </p:cNvPr>
          <p:cNvSpPr txBox="1"/>
          <p:nvPr/>
        </p:nvSpPr>
        <p:spPr>
          <a:xfrm>
            <a:off x="3486476" y="605210"/>
            <a:ext cx="2171048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000" b="1" dirty="0">
                <a:solidFill>
                  <a:schemeClr val="bg1"/>
                </a:solidFill>
                <a:latin typeface="TeXGyreAdventor" pitchFamily="50" charset="0"/>
              </a:rPr>
              <a:t> - </a:t>
            </a:r>
            <a:r>
              <a:rPr lang="es-AR" sz="2000" b="1" u="sng" dirty="0">
                <a:solidFill>
                  <a:schemeClr val="bg1"/>
                </a:solidFill>
                <a:latin typeface="TeXGyreAdventor" pitchFamily="50" charset="0"/>
              </a:rPr>
              <a:t>Tipos de Datos </a:t>
            </a:r>
            <a:r>
              <a:rPr lang="es-AR" sz="2000" b="1" dirty="0">
                <a:solidFill>
                  <a:schemeClr val="bg1"/>
                </a:solidFill>
                <a:latin typeface="TeXGyreAdventor" pitchFamily="50" charset="0"/>
              </a:rPr>
              <a:t>-</a:t>
            </a:r>
          </a:p>
          <a:p>
            <a:endParaRPr lang="es-AR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94BCCA9-8CD8-9246-B742-B728F3B46515}"/>
              </a:ext>
            </a:extLst>
          </p:cNvPr>
          <p:cNvSpPr/>
          <p:nvPr/>
        </p:nvSpPr>
        <p:spPr>
          <a:xfrm>
            <a:off x="147189" y="1259446"/>
            <a:ext cx="390523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2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El tipo Booleano (lógico):</a:t>
            </a:r>
          </a:p>
        </p:txBody>
      </p:sp>
      <p:sp>
        <p:nvSpPr>
          <p:cNvPr id="6" name="Dominio:…">
            <a:extLst>
              <a:ext uri="{FF2B5EF4-FFF2-40B4-BE49-F238E27FC236}">
                <a16:creationId xmlns:a16="http://schemas.microsoft.com/office/drawing/2014/main" id="{B574A52D-8929-BB41-B191-7C01CBEFD8A0}"/>
              </a:ext>
            </a:extLst>
          </p:cNvPr>
          <p:cNvSpPr txBox="1"/>
          <p:nvPr/>
        </p:nvSpPr>
        <p:spPr>
          <a:xfrm>
            <a:off x="369569" y="1940445"/>
            <a:ext cx="7973062" cy="146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1200"/>
              </a:spcBef>
              <a:buSzPct val="100000"/>
              <a:buChar char="•"/>
              <a:defRPr sz="2000">
                <a:latin typeface="Calibri"/>
                <a:ea typeface="Calibri"/>
                <a:cs typeface="Calibri"/>
                <a:sym typeface="Calibri"/>
              </a:defRPr>
            </a:lvl1pPr>
            <a:lvl2pPr marL="742950" indent="-285750">
              <a:spcBef>
                <a:spcPts val="1200"/>
              </a:spcBef>
              <a:buSzPct val="100000"/>
              <a:buChar char="•"/>
              <a:defRPr sz="2000">
                <a:latin typeface="Calibri"/>
                <a:ea typeface="Calibri"/>
                <a:cs typeface="Calibri"/>
                <a:sym typeface="Calibri"/>
              </a:defRPr>
            </a:lvl2pPr>
          </a:lstStyle>
          <a:p>
            <a:r>
              <a:rPr dirty="0"/>
              <a:t> </a:t>
            </a:r>
            <a:r>
              <a:rPr dirty="0" err="1"/>
              <a:t>Dominio</a:t>
            </a:r>
            <a:r>
              <a:rPr dirty="0"/>
              <a:t>:</a:t>
            </a:r>
          </a:p>
          <a:p>
            <a:pPr lvl="1"/>
            <a:r>
              <a:rPr dirty="0"/>
              <a:t>Este </a:t>
            </a:r>
            <a:r>
              <a:rPr dirty="0" err="1"/>
              <a:t>tipo</a:t>
            </a:r>
            <a:r>
              <a:rPr dirty="0"/>
              <a:t> </a:t>
            </a:r>
            <a:r>
              <a:rPr dirty="0" err="1"/>
              <a:t>proviene</a:t>
            </a:r>
            <a:r>
              <a:rPr dirty="0"/>
              <a:t> del </a:t>
            </a:r>
            <a:r>
              <a:rPr dirty="0" err="1"/>
              <a:t>álgebra</a:t>
            </a:r>
            <a:r>
              <a:rPr dirty="0"/>
              <a:t> de bool. Su </a:t>
            </a:r>
            <a:r>
              <a:rPr dirty="0" err="1"/>
              <a:t>dominio</a:t>
            </a:r>
            <a:r>
              <a:rPr dirty="0"/>
              <a:t> </a:t>
            </a:r>
            <a:r>
              <a:rPr dirty="0" err="1"/>
              <a:t>obtiene</a:t>
            </a:r>
            <a:r>
              <a:rPr dirty="0"/>
              <a:t> dos </a:t>
            </a:r>
            <a:r>
              <a:rPr dirty="0" err="1"/>
              <a:t>valores</a:t>
            </a:r>
            <a:r>
              <a:rPr dirty="0"/>
              <a:t> </a:t>
            </a:r>
            <a:r>
              <a:rPr dirty="0" err="1"/>
              <a:t>lógicos</a:t>
            </a:r>
            <a:r>
              <a:rPr dirty="0"/>
              <a:t>. </a:t>
            </a:r>
            <a:r>
              <a:rPr dirty="0" err="1"/>
              <a:t>Verdadero</a:t>
            </a:r>
            <a:r>
              <a:rPr dirty="0"/>
              <a:t> o </a:t>
            </a:r>
            <a:r>
              <a:rPr dirty="0" err="1"/>
              <a:t>Falso</a:t>
            </a:r>
            <a:r>
              <a:rPr dirty="0"/>
              <a:t>. (True y False). </a:t>
            </a:r>
            <a:r>
              <a:rPr dirty="0" err="1"/>
              <a:t>Es</a:t>
            </a:r>
            <a:r>
              <a:rPr dirty="0"/>
              <a:t> </a:t>
            </a:r>
            <a:r>
              <a:rPr dirty="0" err="1"/>
              <a:t>util</a:t>
            </a:r>
            <a:r>
              <a:rPr dirty="0"/>
              <a:t> para las </a:t>
            </a:r>
            <a:r>
              <a:rPr dirty="0" err="1"/>
              <a:t>tareas</a:t>
            </a:r>
            <a:r>
              <a:rPr dirty="0"/>
              <a:t> de control de </a:t>
            </a:r>
            <a:r>
              <a:rPr dirty="0" err="1"/>
              <a:t>bucles</a:t>
            </a:r>
            <a:r>
              <a:rPr dirty="0"/>
              <a:t> y </a:t>
            </a:r>
            <a:r>
              <a:rPr dirty="0" err="1"/>
              <a:t>selecciones</a:t>
            </a:r>
            <a:endParaRPr dirty="0"/>
          </a:p>
        </p:txBody>
      </p:sp>
      <p:sp>
        <p:nvSpPr>
          <p:cNvPr id="7" name="Operaciones y Funciones:">
            <a:extLst>
              <a:ext uri="{FF2B5EF4-FFF2-40B4-BE49-F238E27FC236}">
                <a16:creationId xmlns:a16="http://schemas.microsoft.com/office/drawing/2014/main" id="{5FB83434-D883-8746-8DFC-ED315E225945}"/>
              </a:ext>
            </a:extLst>
          </p:cNvPr>
          <p:cNvSpPr txBox="1"/>
          <p:nvPr/>
        </p:nvSpPr>
        <p:spPr>
          <a:xfrm>
            <a:off x="467544" y="3585494"/>
            <a:ext cx="7973061" cy="396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buSzPct val="100000"/>
              <a:buChar char="•"/>
              <a:defRPr sz="2000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rPr dirty="0"/>
              <a:t> </a:t>
            </a:r>
            <a:r>
              <a:rPr dirty="0" err="1"/>
              <a:t>Operaciones</a:t>
            </a:r>
            <a:r>
              <a:rPr dirty="0"/>
              <a:t> y </a:t>
            </a:r>
            <a:r>
              <a:rPr dirty="0" err="1"/>
              <a:t>Funciones</a:t>
            </a:r>
            <a:r>
              <a:rPr dirty="0"/>
              <a:t>:</a:t>
            </a:r>
          </a:p>
        </p:txBody>
      </p:sp>
      <p:pic>
        <p:nvPicPr>
          <p:cNvPr id="8" name="image.png" descr="image.png">
            <a:extLst>
              <a:ext uri="{FF2B5EF4-FFF2-40B4-BE49-F238E27FC236}">
                <a16:creationId xmlns:a16="http://schemas.microsoft.com/office/drawing/2014/main" id="{3E68D113-89CE-F64B-BC6F-484AB33C7B8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972811" y="4205173"/>
            <a:ext cx="4962526" cy="866776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image.png" descr="image.png">
            <a:extLst>
              <a:ext uri="{FF2B5EF4-FFF2-40B4-BE49-F238E27FC236}">
                <a16:creationId xmlns:a16="http://schemas.microsoft.com/office/drawing/2014/main" id="{7DFBE568-6354-7446-AF60-0EE8C9627CD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2195512" y="5539308"/>
            <a:ext cx="4324351" cy="1562100"/>
          </a:xfrm>
          <a:prstGeom prst="rect">
            <a:avLst/>
          </a:prstGeom>
          <a:ln w="12700">
            <a:miter lim="400000"/>
          </a:ln>
        </p:spPr>
      </p:pic>
      <p:sp>
        <p:nvSpPr>
          <p:cNvPr id="13" name="Su funcionamiento viene dado por la siguiente tabla de verdad">
            <a:extLst>
              <a:ext uri="{FF2B5EF4-FFF2-40B4-BE49-F238E27FC236}">
                <a16:creationId xmlns:a16="http://schemas.microsoft.com/office/drawing/2014/main" id="{E5F10921-0B15-FB42-BD21-FD98FB4AF5D4}"/>
              </a:ext>
            </a:extLst>
          </p:cNvPr>
          <p:cNvSpPr txBox="1"/>
          <p:nvPr/>
        </p:nvSpPr>
        <p:spPr>
          <a:xfrm>
            <a:off x="585469" y="5107508"/>
            <a:ext cx="7973062" cy="396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2000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rPr dirty="0"/>
              <a:t>Su </a:t>
            </a:r>
            <a:r>
              <a:rPr dirty="0" err="1"/>
              <a:t>funcionamiento</a:t>
            </a:r>
            <a:r>
              <a:rPr dirty="0"/>
              <a:t> </a:t>
            </a:r>
            <a:r>
              <a:rPr dirty="0" err="1"/>
              <a:t>viene</a:t>
            </a:r>
            <a:r>
              <a:rPr dirty="0"/>
              <a:t> dado </a:t>
            </a:r>
            <a:r>
              <a:rPr dirty="0" err="1"/>
              <a:t>por</a:t>
            </a:r>
            <a:r>
              <a:rPr dirty="0"/>
              <a:t> la </a:t>
            </a:r>
            <a:r>
              <a:rPr dirty="0" err="1"/>
              <a:t>siguiente</a:t>
            </a:r>
            <a:r>
              <a:rPr dirty="0"/>
              <a:t> </a:t>
            </a:r>
            <a:r>
              <a:rPr dirty="0" err="1"/>
              <a:t>tabla</a:t>
            </a:r>
            <a:r>
              <a:rPr dirty="0"/>
              <a:t> de </a:t>
            </a:r>
            <a:r>
              <a:rPr dirty="0" err="1"/>
              <a:t>verdad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622424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0CC9BE0-44C9-BD4C-BF23-EF5281A241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9832" y="1772816"/>
            <a:ext cx="2952328" cy="3407934"/>
          </a:xfrm>
          <a:prstGeom prst="rect">
            <a:avLst/>
          </a:prstGeom>
        </p:spPr>
      </p:pic>
      <p:pic>
        <p:nvPicPr>
          <p:cNvPr id="6" name="16 Imagen">
            <a:extLst>
              <a:ext uri="{FF2B5EF4-FFF2-40B4-BE49-F238E27FC236}">
                <a16:creationId xmlns:a16="http://schemas.microsoft.com/office/drawing/2014/main" id="{FBAE774F-3A2F-BD4D-93D5-97896FB105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80"/>
            <a:ext cx="9144000" cy="1171495"/>
          </a:xfrm>
          <a:prstGeom prst="rect">
            <a:avLst/>
          </a:prstGeom>
        </p:spPr>
      </p:pic>
      <p:sp>
        <p:nvSpPr>
          <p:cNvPr id="9" name="17 CuadroTexto">
            <a:extLst>
              <a:ext uri="{FF2B5EF4-FFF2-40B4-BE49-F238E27FC236}">
                <a16:creationId xmlns:a16="http://schemas.microsoft.com/office/drawing/2014/main" id="{91674295-4B1A-A842-9126-7FE5F5566082}"/>
              </a:ext>
            </a:extLst>
          </p:cNvPr>
          <p:cNvSpPr txBox="1"/>
          <p:nvPr/>
        </p:nvSpPr>
        <p:spPr>
          <a:xfrm>
            <a:off x="212156" y="87951"/>
            <a:ext cx="327972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b="1" dirty="0">
                <a:solidFill>
                  <a:schemeClr val="bg1"/>
                </a:solidFill>
                <a:latin typeface="TeXGyreAdventor" pitchFamily="50" charset="0"/>
              </a:rPr>
              <a:t>Algoritmos y Estructuras</a:t>
            </a:r>
          </a:p>
          <a:p>
            <a:r>
              <a:rPr lang="es-AR" sz="2400" b="1" dirty="0">
                <a:solidFill>
                  <a:schemeClr val="bg1"/>
                </a:solidFill>
                <a:latin typeface="TeXGyreAdventor" pitchFamily="50" charset="0"/>
              </a:rPr>
              <a:t>de Datos</a:t>
            </a:r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7229805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Rectángulo"/>
          <p:cNvSpPr/>
          <p:nvPr/>
        </p:nvSpPr>
        <p:spPr>
          <a:xfrm>
            <a:off x="215517" y="1196752"/>
            <a:ext cx="8712968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dirty="0">
                <a:latin typeface="Arial" pitchFamily="34" charset="0"/>
                <a:cs typeface="Arial" pitchFamily="34" charset="0"/>
              </a:rPr>
              <a:t> </a:t>
            </a:r>
          </a:p>
          <a:p>
            <a:pPr algn="just"/>
            <a:endParaRPr lang="es-AR" dirty="0">
              <a:latin typeface="Arial" pitchFamily="34" charset="0"/>
              <a:cs typeface="Arial" pitchFamily="34" charset="0"/>
            </a:endParaRPr>
          </a:p>
          <a:p>
            <a:pPr algn="just"/>
            <a:endParaRPr lang="es-AR" sz="2400" b="1" dirty="0">
              <a:latin typeface="Arial" pitchFamily="34" charset="0"/>
              <a:cs typeface="Arial" pitchFamily="34" charset="0"/>
            </a:endParaRPr>
          </a:p>
          <a:p>
            <a:r>
              <a:rPr lang="es-AR" dirty="0">
                <a:latin typeface="Arial" pitchFamily="34" charset="0"/>
                <a:cs typeface="Arial" pitchFamily="34" charset="0"/>
              </a:rPr>
              <a:t> </a:t>
            </a:r>
          </a:p>
        </p:txBody>
      </p:sp>
      <p:pic>
        <p:nvPicPr>
          <p:cNvPr id="8" name="16 Imagen">
            <a:extLst>
              <a:ext uri="{FF2B5EF4-FFF2-40B4-BE49-F238E27FC236}">
                <a16:creationId xmlns:a16="http://schemas.microsoft.com/office/drawing/2014/main" id="{2B392BBC-4E1C-9C45-A36E-727000937D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80"/>
            <a:ext cx="9144000" cy="1171495"/>
          </a:xfrm>
          <a:prstGeom prst="rect">
            <a:avLst/>
          </a:prstGeom>
        </p:spPr>
      </p:pic>
      <p:sp>
        <p:nvSpPr>
          <p:cNvPr id="9" name="17 CuadroTexto">
            <a:extLst>
              <a:ext uri="{FF2B5EF4-FFF2-40B4-BE49-F238E27FC236}">
                <a16:creationId xmlns:a16="http://schemas.microsoft.com/office/drawing/2014/main" id="{F7190952-5EA7-D54A-91A1-5FFFE34B8FD1}"/>
              </a:ext>
            </a:extLst>
          </p:cNvPr>
          <p:cNvSpPr txBox="1"/>
          <p:nvPr/>
        </p:nvSpPr>
        <p:spPr>
          <a:xfrm>
            <a:off x="212156" y="87951"/>
            <a:ext cx="327972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b="1" dirty="0">
                <a:solidFill>
                  <a:schemeClr val="bg1"/>
                </a:solidFill>
                <a:latin typeface="TeXGyreAdventor" pitchFamily="50" charset="0"/>
              </a:rPr>
              <a:t>Algoritmos y Estructuras</a:t>
            </a:r>
          </a:p>
          <a:p>
            <a:r>
              <a:rPr lang="es-AR" sz="2400" b="1" dirty="0">
                <a:solidFill>
                  <a:schemeClr val="bg1"/>
                </a:solidFill>
                <a:latin typeface="TeXGyreAdventor" pitchFamily="50" charset="0"/>
              </a:rPr>
              <a:t>de Datos</a:t>
            </a:r>
          </a:p>
          <a:p>
            <a:endParaRPr lang="es-AR" dirty="0"/>
          </a:p>
        </p:txBody>
      </p:sp>
      <p:sp>
        <p:nvSpPr>
          <p:cNvPr id="11" name="17 CuadroTexto">
            <a:extLst>
              <a:ext uri="{FF2B5EF4-FFF2-40B4-BE49-F238E27FC236}">
                <a16:creationId xmlns:a16="http://schemas.microsoft.com/office/drawing/2014/main" id="{D550C14E-95C0-1348-88A4-3ABC6830C250}"/>
              </a:ext>
            </a:extLst>
          </p:cNvPr>
          <p:cNvSpPr txBox="1"/>
          <p:nvPr/>
        </p:nvSpPr>
        <p:spPr>
          <a:xfrm>
            <a:off x="3486476" y="605210"/>
            <a:ext cx="2171048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000" b="1" dirty="0">
                <a:solidFill>
                  <a:schemeClr val="bg1"/>
                </a:solidFill>
                <a:latin typeface="TeXGyreAdventor" pitchFamily="50" charset="0"/>
              </a:rPr>
              <a:t> - </a:t>
            </a:r>
            <a:r>
              <a:rPr lang="es-AR" sz="2000" b="1" u="sng" dirty="0">
                <a:solidFill>
                  <a:schemeClr val="bg1"/>
                </a:solidFill>
                <a:latin typeface="TeXGyreAdventor" pitchFamily="50" charset="0"/>
              </a:rPr>
              <a:t>Tipos de Datos </a:t>
            </a:r>
            <a:r>
              <a:rPr lang="es-AR" sz="2000" b="1" dirty="0">
                <a:solidFill>
                  <a:schemeClr val="bg1"/>
                </a:solidFill>
                <a:latin typeface="TeXGyreAdventor" pitchFamily="50" charset="0"/>
              </a:rPr>
              <a:t>-</a:t>
            </a:r>
          </a:p>
          <a:p>
            <a:endParaRPr lang="es-AR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195E1C7-66FC-3D4A-A1DB-0AEC23C83580}"/>
              </a:ext>
            </a:extLst>
          </p:cNvPr>
          <p:cNvSpPr/>
          <p:nvPr/>
        </p:nvSpPr>
        <p:spPr>
          <a:xfrm>
            <a:off x="147189" y="1259446"/>
            <a:ext cx="468429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2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Ejercicios para hacer en clase:</a:t>
            </a:r>
          </a:p>
        </p:txBody>
      </p:sp>
      <p:sp>
        <p:nvSpPr>
          <p:cNvPr id="13" name="1 -  Expresar cuales de las siguientes afirmaciones son verdaderas y cuales falsas.">
            <a:extLst>
              <a:ext uri="{FF2B5EF4-FFF2-40B4-BE49-F238E27FC236}">
                <a16:creationId xmlns:a16="http://schemas.microsoft.com/office/drawing/2014/main" id="{100BE1FA-0044-5B40-8CD2-1F599B19CC10}"/>
              </a:ext>
            </a:extLst>
          </p:cNvPr>
          <p:cNvSpPr txBox="1"/>
          <p:nvPr/>
        </p:nvSpPr>
        <p:spPr>
          <a:xfrm>
            <a:off x="369569" y="2019748"/>
            <a:ext cx="7973062" cy="701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1200"/>
              </a:spcBef>
              <a:defRPr sz="2000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rPr dirty="0" err="1"/>
              <a:t>Expresar</a:t>
            </a:r>
            <a:r>
              <a:rPr dirty="0"/>
              <a:t> </a:t>
            </a:r>
            <a:r>
              <a:rPr dirty="0" err="1"/>
              <a:t>cuales</a:t>
            </a:r>
            <a:r>
              <a:rPr dirty="0"/>
              <a:t> de las </a:t>
            </a:r>
            <a:r>
              <a:rPr dirty="0" err="1"/>
              <a:t>siguientes</a:t>
            </a:r>
            <a:r>
              <a:rPr dirty="0"/>
              <a:t> </a:t>
            </a:r>
            <a:r>
              <a:rPr dirty="0" err="1"/>
              <a:t>afirmaciones</a:t>
            </a:r>
            <a:r>
              <a:rPr dirty="0"/>
              <a:t> son </a:t>
            </a:r>
            <a:r>
              <a:rPr dirty="0" err="1"/>
              <a:t>verdaderas</a:t>
            </a:r>
            <a:r>
              <a:rPr dirty="0"/>
              <a:t> y </a:t>
            </a:r>
            <a:r>
              <a:rPr dirty="0" err="1"/>
              <a:t>cuales</a:t>
            </a:r>
            <a:r>
              <a:rPr dirty="0"/>
              <a:t> falsas. </a:t>
            </a:r>
          </a:p>
        </p:txBody>
      </p:sp>
      <p:sp>
        <p:nvSpPr>
          <p:cNvPr id="14" name="A) 2 * 2 div 4 = 2 * (2 div 4)">
            <a:extLst>
              <a:ext uri="{FF2B5EF4-FFF2-40B4-BE49-F238E27FC236}">
                <a16:creationId xmlns:a16="http://schemas.microsoft.com/office/drawing/2014/main" id="{BBE50CAD-E205-0C44-90CC-DCB6AA6552A9}"/>
              </a:ext>
            </a:extLst>
          </p:cNvPr>
          <p:cNvSpPr txBox="1"/>
          <p:nvPr/>
        </p:nvSpPr>
        <p:spPr>
          <a:xfrm>
            <a:off x="656907" y="3170686"/>
            <a:ext cx="2905830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r>
              <a:t>A) 2 * 2 div 4 = 2 * (2 div 4) </a:t>
            </a:r>
          </a:p>
        </p:txBody>
      </p:sp>
      <p:sp>
        <p:nvSpPr>
          <p:cNvPr id="15" name="B) suma: integer;       suma:= 2*240+10000 * 3">
            <a:extLst>
              <a:ext uri="{FF2B5EF4-FFF2-40B4-BE49-F238E27FC236}">
                <a16:creationId xmlns:a16="http://schemas.microsoft.com/office/drawing/2014/main" id="{8E9A6651-BB90-DC41-88FE-70175BF0EB8C}"/>
              </a:ext>
            </a:extLst>
          </p:cNvPr>
          <p:cNvSpPr txBox="1"/>
          <p:nvPr/>
        </p:nvSpPr>
        <p:spPr>
          <a:xfrm>
            <a:off x="656907" y="3675511"/>
            <a:ext cx="3014549" cy="6173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r>
              <a:rPr dirty="0"/>
              <a:t>B) </a:t>
            </a:r>
            <a:r>
              <a:rPr dirty="0" err="1"/>
              <a:t>suma</a:t>
            </a:r>
            <a:r>
              <a:rPr dirty="0"/>
              <a:t>: integer; </a:t>
            </a:r>
            <a:br>
              <a:rPr dirty="0"/>
            </a:br>
            <a:r>
              <a:rPr dirty="0"/>
              <a:t>     </a:t>
            </a:r>
            <a:r>
              <a:rPr dirty="0" err="1"/>
              <a:t>suma</a:t>
            </a:r>
            <a:r>
              <a:rPr dirty="0"/>
              <a:t>:= 2*240+10000 * 3 </a:t>
            </a:r>
          </a:p>
        </p:txBody>
      </p:sp>
      <p:sp>
        <p:nvSpPr>
          <p:cNvPr id="16" name="C) resultado:integer       resultado:= 2/240+10000 * 3">
            <a:extLst>
              <a:ext uri="{FF2B5EF4-FFF2-40B4-BE49-F238E27FC236}">
                <a16:creationId xmlns:a16="http://schemas.microsoft.com/office/drawing/2014/main" id="{A2390C4C-66CF-F94A-91C5-FE795710518E}"/>
              </a:ext>
            </a:extLst>
          </p:cNvPr>
          <p:cNvSpPr txBox="1"/>
          <p:nvPr/>
        </p:nvSpPr>
        <p:spPr>
          <a:xfrm>
            <a:off x="656907" y="4394648"/>
            <a:ext cx="3306997" cy="6173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r>
              <a:t>C) resultado:integer </a:t>
            </a:r>
            <a:br/>
            <a:r>
              <a:t>     resultado:= 2/240+10000 * 3</a:t>
            </a:r>
          </a:p>
        </p:txBody>
      </p:sp>
      <p:sp>
        <p:nvSpPr>
          <p:cNvPr id="17" name="D) resul:real;…">
            <a:extLst>
              <a:ext uri="{FF2B5EF4-FFF2-40B4-BE49-F238E27FC236}">
                <a16:creationId xmlns:a16="http://schemas.microsoft.com/office/drawing/2014/main" id="{561C0487-6E5B-6F40-BFFB-CE99D39DCFBC}"/>
              </a:ext>
            </a:extLst>
          </p:cNvPr>
          <p:cNvSpPr txBox="1"/>
          <p:nvPr/>
        </p:nvSpPr>
        <p:spPr>
          <a:xfrm>
            <a:off x="652144" y="5186811"/>
            <a:ext cx="2518841" cy="6173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r>
              <a:t>D) resul:real;</a:t>
            </a:r>
          </a:p>
          <a:p>
            <a:r>
              <a:t>     resul:= 35000 + 375;</a:t>
            </a:r>
          </a:p>
        </p:txBody>
      </p:sp>
      <p:sp>
        <p:nvSpPr>
          <p:cNvPr id="18" name="E) 5 + (5 mod 2) =  10">
            <a:extLst>
              <a:ext uri="{FF2B5EF4-FFF2-40B4-BE49-F238E27FC236}">
                <a16:creationId xmlns:a16="http://schemas.microsoft.com/office/drawing/2014/main" id="{5108E8F3-4CCE-C943-945C-B2DCCC87C0AB}"/>
              </a:ext>
            </a:extLst>
          </p:cNvPr>
          <p:cNvSpPr txBox="1"/>
          <p:nvPr/>
        </p:nvSpPr>
        <p:spPr>
          <a:xfrm>
            <a:off x="672782" y="6051998"/>
            <a:ext cx="2340470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r>
              <a:t>E) 5 + (5 mod 2) =  10</a:t>
            </a:r>
          </a:p>
        </p:txBody>
      </p:sp>
      <p:sp>
        <p:nvSpPr>
          <p:cNvPr id="19" name="F) Succ(‘1’) + 276 = 277">
            <a:extLst>
              <a:ext uri="{FF2B5EF4-FFF2-40B4-BE49-F238E27FC236}">
                <a16:creationId xmlns:a16="http://schemas.microsoft.com/office/drawing/2014/main" id="{FE27097D-F493-F148-9DE6-720A9E322F75}"/>
              </a:ext>
            </a:extLst>
          </p:cNvPr>
          <p:cNvSpPr txBox="1"/>
          <p:nvPr/>
        </p:nvSpPr>
        <p:spPr>
          <a:xfrm>
            <a:off x="4633594" y="3170686"/>
            <a:ext cx="2619969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r>
              <a:t>F) Succ(‘1’) + 276 = 277 </a:t>
            </a:r>
          </a:p>
        </p:txBody>
      </p:sp>
      <p:sp>
        <p:nvSpPr>
          <p:cNvPr id="20" name="G) Pred(‘J’) &gt; Succ(‘I’)">
            <a:extLst>
              <a:ext uri="{FF2B5EF4-FFF2-40B4-BE49-F238E27FC236}">
                <a16:creationId xmlns:a16="http://schemas.microsoft.com/office/drawing/2014/main" id="{D51A2A97-D993-2C4B-AA46-3DA19700CE64}"/>
              </a:ext>
            </a:extLst>
          </p:cNvPr>
          <p:cNvSpPr txBox="1"/>
          <p:nvPr/>
        </p:nvSpPr>
        <p:spPr>
          <a:xfrm>
            <a:off x="4633594" y="3675511"/>
            <a:ext cx="2358664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r>
              <a:t>G) Pred(‘J’) &gt; Succ(‘I’)</a:t>
            </a:r>
          </a:p>
        </p:txBody>
      </p:sp>
      <p:sp>
        <p:nvSpPr>
          <p:cNvPr id="21" name="H) A:=true;…">
            <a:extLst>
              <a:ext uri="{FF2B5EF4-FFF2-40B4-BE49-F238E27FC236}">
                <a16:creationId xmlns:a16="http://schemas.microsoft.com/office/drawing/2014/main" id="{BDC6202D-854E-D346-8BFE-6B02459FDA70}"/>
              </a:ext>
            </a:extLst>
          </p:cNvPr>
          <p:cNvSpPr txBox="1"/>
          <p:nvPr/>
        </p:nvSpPr>
        <p:spPr>
          <a:xfrm>
            <a:off x="4633594" y="4394648"/>
            <a:ext cx="2701899" cy="6173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r>
              <a:t>H) A:=true;</a:t>
            </a:r>
          </a:p>
          <a:p>
            <a:r>
              <a:t>	A = Succ(False) </a:t>
            </a:r>
          </a:p>
        </p:txBody>
      </p:sp>
      <p:sp>
        <p:nvSpPr>
          <p:cNvPr id="22" name="I) variableA:real;…">
            <a:extLst>
              <a:ext uri="{FF2B5EF4-FFF2-40B4-BE49-F238E27FC236}">
                <a16:creationId xmlns:a16="http://schemas.microsoft.com/office/drawing/2014/main" id="{982545FD-F65B-7E41-A811-08BF45525288}"/>
              </a:ext>
            </a:extLst>
          </p:cNvPr>
          <p:cNvSpPr txBox="1"/>
          <p:nvPr/>
        </p:nvSpPr>
        <p:spPr>
          <a:xfrm>
            <a:off x="4628832" y="5186811"/>
            <a:ext cx="2549871" cy="6173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r>
              <a:t>I) variableA:real;</a:t>
            </a:r>
          </a:p>
          <a:p>
            <a:r>
              <a:t>	variableA:= 10;</a:t>
            </a:r>
          </a:p>
        </p:txBody>
      </p:sp>
      <p:sp>
        <p:nvSpPr>
          <p:cNvPr id="23" name="J) resultado:integer;…">
            <a:extLst>
              <a:ext uri="{FF2B5EF4-FFF2-40B4-BE49-F238E27FC236}">
                <a16:creationId xmlns:a16="http://schemas.microsoft.com/office/drawing/2014/main" id="{4FB07714-EABA-8F4A-AAF6-7B531793D2D1}"/>
              </a:ext>
            </a:extLst>
          </p:cNvPr>
          <p:cNvSpPr txBox="1"/>
          <p:nvPr/>
        </p:nvSpPr>
        <p:spPr>
          <a:xfrm>
            <a:off x="4649469" y="6051998"/>
            <a:ext cx="3057524" cy="6173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r>
              <a:t>J) resultado:integer;</a:t>
            </a:r>
          </a:p>
          <a:p>
            <a:r>
              <a:t>	resultado:= Ord(‘Z’);</a:t>
            </a:r>
          </a:p>
        </p:txBody>
      </p:sp>
    </p:spTree>
    <p:extLst>
      <p:ext uri="{BB962C8B-B14F-4D97-AF65-F5344CB8AC3E}">
        <p14:creationId xmlns:p14="http://schemas.microsoft.com/office/powerpoint/2010/main" val="441624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16 Imagen">
            <a:extLst>
              <a:ext uri="{FF2B5EF4-FFF2-40B4-BE49-F238E27FC236}">
                <a16:creationId xmlns:a16="http://schemas.microsoft.com/office/drawing/2014/main" id="{CCB4247C-A888-304D-8ADA-01A411D3AC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80"/>
            <a:ext cx="9144000" cy="1171495"/>
          </a:xfrm>
          <a:prstGeom prst="rect">
            <a:avLst/>
          </a:prstGeom>
        </p:spPr>
      </p:pic>
      <p:sp>
        <p:nvSpPr>
          <p:cNvPr id="6" name="17 CuadroTexto">
            <a:extLst>
              <a:ext uri="{FF2B5EF4-FFF2-40B4-BE49-F238E27FC236}">
                <a16:creationId xmlns:a16="http://schemas.microsoft.com/office/drawing/2014/main" id="{506A2263-8293-F545-8790-192FC7EB85D7}"/>
              </a:ext>
            </a:extLst>
          </p:cNvPr>
          <p:cNvSpPr txBox="1"/>
          <p:nvPr/>
        </p:nvSpPr>
        <p:spPr>
          <a:xfrm>
            <a:off x="212156" y="87951"/>
            <a:ext cx="327972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b="1" dirty="0">
                <a:solidFill>
                  <a:schemeClr val="bg1"/>
                </a:solidFill>
                <a:latin typeface="TeXGyreAdventor" pitchFamily="50" charset="0"/>
              </a:rPr>
              <a:t>Algoritmos y Estructuras</a:t>
            </a:r>
          </a:p>
          <a:p>
            <a:r>
              <a:rPr lang="es-AR" sz="2400" b="1" dirty="0">
                <a:solidFill>
                  <a:schemeClr val="bg1"/>
                </a:solidFill>
                <a:latin typeface="TeXGyreAdventor" pitchFamily="50" charset="0"/>
              </a:rPr>
              <a:t>de Datos</a:t>
            </a:r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6288993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16 Imagen">
            <a:extLst>
              <a:ext uri="{FF2B5EF4-FFF2-40B4-BE49-F238E27FC236}">
                <a16:creationId xmlns:a16="http://schemas.microsoft.com/office/drawing/2014/main" id="{CCB4247C-A888-304D-8ADA-01A411D3AC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80"/>
            <a:ext cx="9144000" cy="1171495"/>
          </a:xfrm>
          <a:prstGeom prst="rect">
            <a:avLst/>
          </a:prstGeom>
        </p:spPr>
      </p:pic>
      <p:sp>
        <p:nvSpPr>
          <p:cNvPr id="6" name="17 CuadroTexto">
            <a:extLst>
              <a:ext uri="{FF2B5EF4-FFF2-40B4-BE49-F238E27FC236}">
                <a16:creationId xmlns:a16="http://schemas.microsoft.com/office/drawing/2014/main" id="{506A2263-8293-F545-8790-192FC7EB85D7}"/>
              </a:ext>
            </a:extLst>
          </p:cNvPr>
          <p:cNvSpPr txBox="1"/>
          <p:nvPr/>
        </p:nvSpPr>
        <p:spPr>
          <a:xfrm>
            <a:off x="212156" y="87951"/>
            <a:ext cx="327972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b="1" dirty="0">
                <a:solidFill>
                  <a:schemeClr val="bg1"/>
                </a:solidFill>
                <a:latin typeface="TeXGyreAdventor" pitchFamily="50" charset="0"/>
              </a:rPr>
              <a:t>Algoritmos y Estructuras</a:t>
            </a:r>
          </a:p>
          <a:p>
            <a:r>
              <a:rPr lang="es-AR" sz="2400" b="1" dirty="0">
                <a:solidFill>
                  <a:schemeClr val="bg1"/>
                </a:solidFill>
                <a:latin typeface="TeXGyreAdventor" pitchFamily="50" charset="0"/>
              </a:rPr>
              <a:t>de Datos</a:t>
            </a:r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3646355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16 Imagen">
            <a:extLst>
              <a:ext uri="{FF2B5EF4-FFF2-40B4-BE49-F238E27FC236}">
                <a16:creationId xmlns:a16="http://schemas.microsoft.com/office/drawing/2014/main" id="{CCB4247C-A888-304D-8ADA-01A411D3AC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80"/>
            <a:ext cx="9144000" cy="1171495"/>
          </a:xfrm>
          <a:prstGeom prst="rect">
            <a:avLst/>
          </a:prstGeom>
        </p:spPr>
      </p:pic>
      <p:sp>
        <p:nvSpPr>
          <p:cNvPr id="6" name="17 CuadroTexto">
            <a:extLst>
              <a:ext uri="{FF2B5EF4-FFF2-40B4-BE49-F238E27FC236}">
                <a16:creationId xmlns:a16="http://schemas.microsoft.com/office/drawing/2014/main" id="{506A2263-8293-F545-8790-192FC7EB85D7}"/>
              </a:ext>
            </a:extLst>
          </p:cNvPr>
          <p:cNvSpPr txBox="1"/>
          <p:nvPr/>
        </p:nvSpPr>
        <p:spPr>
          <a:xfrm>
            <a:off x="212156" y="87951"/>
            <a:ext cx="327972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b="1" dirty="0">
                <a:solidFill>
                  <a:schemeClr val="bg1"/>
                </a:solidFill>
                <a:latin typeface="TeXGyreAdventor" pitchFamily="50" charset="0"/>
              </a:rPr>
              <a:t>Algoritmos y Estructuras</a:t>
            </a:r>
          </a:p>
          <a:p>
            <a:r>
              <a:rPr lang="es-AR" sz="2400" b="1" dirty="0">
                <a:solidFill>
                  <a:schemeClr val="bg1"/>
                </a:solidFill>
                <a:latin typeface="TeXGyreAdventor" pitchFamily="50" charset="0"/>
              </a:rPr>
              <a:t>de Datos</a:t>
            </a:r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9572997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16 Imagen">
            <a:extLst>
              <a:ext uri="{FF2B5EF4-FFF2-40B4-BE49-F238E27FC236}">
                <a16:creationId xmlns:a16="http://schemas.microsoft.com/office/drawing/2014/main" id="{CCB4247C-A888-304D-8ADA-01A411D3AC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80"/>
            <a:ext cx="9144000" cy="1171495"/>
          </a:xfrm>
          <a:prstGeom prst="rect">
            <a:avLst/>
          </a:prstGeom>
        </p:spPr>
      </p:pic>
      <p:sp>
        <p:nvSpPr>
          <p:cNvPr id="6" name="17 CuadroTexto">
            <a:extLst>
              <a:ext uri="{FF2B5EF4-FFF2-40B4-BE49-F238E27FC236}">
                <a16:creationId xmlns:a16="http://schemas.microsoft.com/office/drawing/2014/main" id="{506A2263-8293-F545-8790-192FC7EB85D7}"/>
              </a:ext>
            </a:extLst>
          </p:cNvPr>
          <p:cNvSpPr txBox="1"/>
          <p:nvPr/>
        </p:nvSpPr>
        <p:spPr>
          <a:xfrm>
            <a:off x="212156" y="87951"/>
            <a:ext cx="327972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b="1" dirty="0">
                <a:solidFill>
                  <a:schemeClr val="bg1"/>
                </a:solidFill>
                <a:latin typeface="TeXGyreAdventor" pitchFamily="50" charset="0"/>
              </a:rPr>
              <a:t>Algoritmos y Estructuras</a:t>
            </a:r>
          </a:p>
          <a:p>
            <a:r>
              <a:rPr lang="es-AR" sz="2400" b="1" dirty="0">
                <a:solidFill>
                  <a:schemeClr val="bg1"/>
                </a:solidFill>
                <a:latin typeface="TeXGyreAdventor" pitchFamily="50" charset="0"/>
              </a:rPr>
              <a:t>de Datos</a:t>
            </a:r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33596867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1191</TotalTime>
  <Words>913</Words>
  <Application>Microsoft Macintosh PowerPoint</Application>
  <PresentationFormat>On-screen Show (4:3)</PresentationFormat>
  <Paragraphs>178</Paragraphs>
  <Slides>17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29" baseType="lpstr">
      <vt:lpstr>Arial</vt:lpstr>
      <vt:lpstr>Arial Black</vt:lpstr>
      <vt:lpstr>Calibri</vt:lpstr>
      <vt:lpstr>Calibri Light</vt:lpstr>
      <vt:lpstr>Courier New</vt:lpstr>
      <vt:lpstr>Helvetica</vt:lpstr>
      <vt:lpstr>Open Sans</vt:lpstr>
      <vt:lpstr>TeXGyreAdventor</vt:lpstr>
      <vt:lpstr>Times New Roman</vt:lpstr>
      <vt:lpstr>Wingdings</vt:lpstr>
      <vt:lpstr>Tema de Office</vt:lpstr>
      <vt:lpstr>1_Tema de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PC10</dc:creator>
  <cp:lastModifiedBy>Agustin Ambrossio</cp:lastModifiedBy>
  <cp:revision>78</cp:revision>
  <cp:lastPrinted>2022-04-26T21:22:38Z</cp:lastPrinted>
  <dcterms:created xsi:type="dcterms:W3CDTF">2020-04-01T12:31:54Z</dcterms:created>
  <dcterms:modified xsi:type="dcterms:W3CDTF">2022-04-26T21:24:50Z</dcterms:modified>
</cp:coreProperties>
</file>