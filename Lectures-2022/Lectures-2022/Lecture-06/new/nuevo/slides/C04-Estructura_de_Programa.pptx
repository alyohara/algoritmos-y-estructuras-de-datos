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 b="def" i="def"/>
      <a:tcStyle>
        <a:tcBdr/>
        <a:fill>
          <a:solidFill>
            <a:srgbClr val="F3F9FA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>
        <a:latin typeface="+mn-lt"/>
        <a:ea typeface="+mn-ea"/>
        <a:cs typeface="+mn-cs"/>
        <a:sym typeface="Helvetica Neue"/>
      </a:defRPr>
    </a:lvl1pPr>
    <a:lvl2pPr indent="228600" latinLnBrk="0">
      <a:defRPr>
        <a:latin typeface="+mn-lt"/>
        <a:ea typeface="+mn-ea"/>
        <a:cs typeface="+mn-cs"/>
        <a:sym typeface="Helvetica Neue"/>
      </a:defRPr>
    </a:lvl2pPr>
    <a:lvl3pPr indent="457200" latinLnBrk="0">
      <a:defRPr>
        <a:latin typeface="+mn-lt"/>
        <a:ea typeface="+mn-ea"/>
        <a:cs typeface="+mn-cs"/>
        <a:sym typeface="Helvetica Neue"/>
      </a:defRPr>
    </a:lvl3pPr>
    <a:lvl4pPr indent="685800" latinLnBrk="0">
      <a:defRPr>
        <a:latin typeface="+mn-lt"/>
        <a:ea typeface="+mn-ea"/>
        <a:cs typeface="+mn-cs"/>
        <a:sym typeface="Helvetica Neue"/>
      </a:defRPr>
    </a:lvl4pPr>
    <a:lvl5pPr indent="914400" latinLnBrk="0">
      <a:defRPr>
        <a:latin typeface="+mn-lt"/>
        <a:ea typeface="+mn-ea"/>
        <a:cs typeface="+mn-cs"/>
        <a:sym typeface="Helvetica Neue"/>
      </a:defRPr>
    </a:lvl5pPr>
    <a:lvl6pPr indent="1143000" latinLnBrk="0">
      <a:defRPr>
        <a:latin typeface="+mn-lt"/>
        <a:ea typeface="+mn-ea"/>
        <a:cs typeface="+mn-cs"/>
        <a:sym typeface="Helvetica Neue"/>
      </a:defRPr>
    </a:lvl6pPr>
    <a:lvl7pPr indent="1371600" latinLnBrk="0">
      <a:defRPr>
        <a:latin typeface="+mn-lt"/>
        <a:ea typeface="+mn-ea"/>
        <a:cs typeface="+mn-cs"/>
        <a:sym typeface="Helvetica Neue"/>
      </a:defRPr>
    </a:lvl7pPr>
    <a:lvl8pPr indent="1600200" latinLnBrk="0">
      <a:defRPr>
        <a:latin typeface="+mn-lt"/>
        <a:ea typeface="+mn-ea"/>
        <a:cs typeface="+mn-cs"/>
        <a:sym typeface="Helvetica Neue"/>
      </a:defRPr>
    </a:lvl8pPr>
    <a:lvl9pPr indent="1828800" latinLnBrk="0">
      <a:defRPr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384892" y="6245225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2352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924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1496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6068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640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RSI - Litigation Support, Imaging, Coding, OCR, Branding, Bates Numbering, Redaction, Kansas City" descr="RSI - Litigation Support, Imaging, Coding, OCR, Branding, Bates Numbering, Redaction, Kansas City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03800" y="1557337"/>
            <a:ext cx="3786188" cy="381635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PROGRAMACIÓN 1"/>
          <p:cNvSpPr txBox="1"/>
          <p:nvPr>
            <p:ph type="title" idx="4294967295"/>
          </p:nvPr>
        </p:nvSpPr>
        <p:spPr>
          <a:xfrm>
            <a:off x="323850" y="404812"/>
            <a:ext cx="7200900" cy="93662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l">
              <a:defRPr sz="4000">
                <a:solidFill>
                  <a:schemeClr val="accen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PROGRAMACIÓN 1</a:t>
            </a:r>
          </a:p>
        </p:txBody>
      </p:sp>
      <p:pic>
        <p:nvPicPr>
          <p:cNvPr id="22" name="clip_image003" descr="clip_image00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5287" y="5949950"/>
            <a:ext cx="695326" cy="704850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Universidad Católica de La Plata…"/>
          <p:cNvSpPr txBox="1"/>
          <p:nvPr/>
        </p:nvSpPr>
        <p:spPr>
          <a:xfrm>
            <a:off x="1188719" y="6000749"/>
            <a:ext cx="3974665" cy="541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/>
            </a:pPr>
            <a:r>
              <a:t>Universidad Católica de La Plata</a:t>
            </a:r>
          </a:p>
          <a:p>
            <a:pPr>
              <a:defRPr sz="1600"/>
            </a:pPr>
            <a:r>
              <a:t>Facultad de Ciencias Exactas y Tecnología</a:t>
            </a:r>
          </a:p>
        </p:txBody>
      </p:sp>
      <p:sp>
        <p:nvSpPr>
          <p:cNvPr id="24" name="Andrés Garavaglia…"/>
          <p:cNvSpPr txBox="1"/>
          <p:nvPr/>
        </p:nvSpPr>
        <p:spPr>
          <a:xfrm>
            <a:off x="7081202" y="6000750"/>
            <a:ext cx="1588454" cy="574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1600">
                <a:latin typeface="Calibri"/>
                <a:ea typeface="Calibri"/>
                <a:cs typeface="Calibri"/>
                <a:sym typeface="Calibri"/>
              </a:defRPr>
            </a:pPr>
            <a:r>
              <a:t>Andrés Garavaglia</a:t>
            </a:r>
          </a:p>
          <a:p>
            <a:pPr algn="r">
              <a:defRPr sz="1600">
                <a:latin typeface="Calibri"/>
                <a:ea typeface="Calibri"/>
                <a:cs typeface="Calibri"/>
                <a:sym typeface="Calibri"/>
              </a:defRPr>
            </a:pPr>
            <a:r>
              <a:t>Antonio Restelli</a:t>
            </a:r>
          </a:p>
        </p:txBody>
      </p:sp>
      <p:sp>
        <p:nvSpPr>
          <p:cNvPr id="25" name="Estructura de un Programa PASCAL"/>
          <p:cNvSpPr txBox="1"/>
          <p:nvPr/>
        </p:nvSpPr>
        <p:spPr>
          <a:xfrm>
            <a:off x="441007" y="2276475"/>
            <a:ext cx="3653474" cy="828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40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  <a:r>
              <a:t>Estructura de un Programa</a:t>
            </a:r>
            <a:br/>
            <a:r>
              <a:t>PASCAL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ido"/>
          <p:cNvSpPr txBox="1"/>
          <p:nvPr/>
        </p:nvSpPr>
        <p:spPr>
          <a:xfrm>
            <a:off x="502919" y="239236"/>
            <a:ext cx="81381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2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Contenido</a:t>
            </a:r>
          </a:p>
        </p:txBody>
      </p:sp>
      <p:sp>
        <p:nvSpPr>
          <p:cNvPr id="28" name="Teorema de la programación estructurada…"/>
          <p:cNvSpPr txBox="1"/>
          <p:nvPr/>
        </p:nvSpPr>
        <p:spPr>
          <a:xfrm>
            <a:off x="801369" y="1125537"/>
            <a:ext cx="7973062" cy="542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400"/>
              </a:spcBef>
              <a:buSzPct val="1000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pPr>
            <a:r>
              <a:t> Teorema de la programación estructurada</a:t>
            </a:r>
          </a:p>
          <a:p>
            <a:pPr>
              <a:spcBef>
                <a:spcPts val="1400"/>
              </a:spcBef>
              <a:buSzPct val="1000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pPr>
            <a:r>
              <a:t> Constantes y variables </a:t>
            </a:r>
          </a:p>
          <a:p>
            <a:pPr>
              <a:spcBef>
                <a:spcPts val="1400"/>
              </a:spcBef>
              <a:buSzPct val="1000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pPr>
            <a:r>
              <a:t> Introducción al PASCAL</a:t>
            </a:r>
          </a:p>
          <a:p>
            <a:pPr>
              <a:spcBef>
                <a:spcPts val="1400"/>
              </a:spcBef>
              <a:buSzPct val="1000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pPr>
            <a:r>
              <a:t> Estructura de un programa en pascal</a:t>
            </a:r>
          </a:p>
          <a:p>
            <a:pPr>
              <a:spcBef>
                <a:spcPts val="1400"/>
              </a:spcBef>
              <a:buSzPct val="1000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pPr>
            <a:r>
              <a:t> De Pseudocódigo a PASCAL </a:t>
            </a:r>
          </a:p>
          <a:p>
            <a:pPr lvl="1" marL="457200" indent="0">
              <a:spcBef>
                <a:spcPts val="1400"/>
              </a:spcBef>
              <a:buSzPct val="1000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pPr>
            <a:r>
              <a:t> Asignación</a:t>
            </a:r>
          </a:p>
          <a:p>
            <a:pPr lvl="1" marL="457200" indent="0">
              <a:spcBef>
                <a:spcPts val="1400"/>
              </a:spcBef>
              <a:buSzPct val="1000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pPr>
            <a:r>
              <a:t> Repetición</a:t>
            </a:r>
          </a:p>
          <a:p>
            <a:pPr lvl="1" marL="457200" indent="0">
              <a:spcBef>
                <a:spcPts val="1400"/>
              </a:spcBef>
              <a:buSzPct val="1000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pPr>
            <a:r>
              <a:t> Decisión</a:t>
            </a:r>
          </a:p>
          <a:p>
            <a:pPr lvl="1" marL="457200" indent="0">
              <a:spcBef>
                <a:spcPts val="1400"/>
              </a:spcBef>
              <a:buSzPct val="1000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pPr>
            <a:r>
              <a:t> Iteración</a:t>
            </a:r>
          </a:p>
          <a:p>
            <a:pPr>
              <a:spcBef>
                <a:spcPts val="1400"/>
              </a:spcBef>
              <a:buSzPct val="1000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pPr>
            <a:r>
              <a:t> Práctica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orema de la programación estructurada"/>
          <p:cNvSpPr txBox="1"/>
          <p:nvPr/>
        </p:nvSpPr>
        <p:spPr>
          <a:xfrm>
            <a:off x="502919" y="302736"/>
            <a:ext cx="8138162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Teorema de la programación estructurada</a:t>
            </a:r>
          </a:p>
        </p:txBody>
      </p:sp>
      <p:sp>
        <p:nvSpPr>
          <p:cNvPr id="31" name="Todo algoritmo propio puede ser expresado en solo tres tipos de estructuras: secuencial, condicional y repetitiva."/>
          <p:cNvSpPr txBox="1"/>
          <p:nvPr/>
        </p:nvSpPr>
        <p:spPr>
          <a:xfrm>
            <a:off x="1547812" y="1142999"/>
            <a:ext cx="7200901" cy="701041"/>
          </a:xfrm>
          <a:prstGeom prst="rect">
            <a:avLst/>
          </a:prstGeom>
          <a:solidFill>
            <a:srgbClr val="FFFF6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200"/>
              </a:spcBef>
              <a:defRPr sz="2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Todo algoritmo propio puede ser expresado en solo tres tipos de estructuras: secuencial, condicional y repetitiva.</a:t>
            </a:r>
          </a:p>
        </p:txBody>
      </p:sp>
      <p:pic>
        <p:nvPicPr>
          <p:cNvPr id="32" name="info" descr="inf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1337" y="1052512"/>
            <a:ext cx="936626" cy="936626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Un algoritmo se define como propio si:"/>
          <p:cNvSpPr txBox="1"/>
          <p:nvPr/>
        </p:nvSpPr>
        <p:spPr>
          <a:xfrm>
            <a:off x="441007" y="2060575"/>
            <a:ext cx="7973061" cy="535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600"/>
              </a:spcBef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Un algoritmo se define como propio si:</a:t>
            </a:r>
          </a:p>
        </p:txBody>
      </p:sp>
      <p:sp>
        <p:nvSpPr>
          <p:cNvPr id="34" name="Tiene un único punto de entrada y un único punto de salida.…"/>
          <p:cNvSpPr txBox="1"/>
          <p:nvPr/>
        </p:nvSpPr>
        <p:spPr>
          <a:xfrm>
            <a:off x="656907" y="2952750"/>
            <a:ext cx="7973061" cy="312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Tiene un único punto de entrada y un único punto de salida.</a:t>
            </a:r>
          </a:p>
          <a:p>
            <a: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Todas las sentencia son alcanzables: no hay código muerto.</a:t>
            </a:r>
          </a:p>
          <a:p>
            <a: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No hay bucles infinitos.</a:t>
            </a:r>
          </a:p>
          <a:p>
            <a: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No hay ambigüedades.</a:t>
            </a:r>
          </a:p>
          <a:p>
            <a: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Todos los posibles caminos llevan desde el punto de entrada al de salida.</a:t>
            </a:r>
          </a:p>
          <a:p>
            <a: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El algoritmo debe producir al menos una salida o efecto.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onstantes y Variables"/>
          <p:cNvSpPr txBox="1"/>
          <p:nvPr/>
        </p:nvSpPr>
        <p:spPr>
          <a:xfrm>
            <a:off x="502919" y="302736"/>
            <a:ext cx="8138162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Constantes y Variables</a:t>
            </a:r>
          </a:p>
        </p:txBody>
      </p:sp>
      <p:sp>
        <p:nvSpPr>
          <p:cNvPr id="37" name="Una constante es un tipo de dato (valor numérico o texto) que permanece invariable, sin posibilidad de cambiar su valor durante el curso de un programa."/>
          <p:cNvSpPr txBox="1"/>
          <p:nvPr/>
        </p:nvSpPr>
        <p:spPr>
          <a:xfrm>
            <a:off x="1547812" y="1054100"/>
            <a:ext cx="7200901" cy="1005840"/>
          </a:xfrm>
          <a:prstGeom prst="rect">
            <a:avLst/>
          </a:prstGeom>
          <a:solidFill>
            <a:srgbClr val="FFFF6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b="1" sz="2000">
                <a:latin typeface="Calibri"/>
                <a:ea typeface="Calibri"/>
                <a:cs typeface="Calibri"/>
                <a:sym typeface="Calibri"/>
              </a:defRPr>
            </a:pPr>
            <a:r>
              <a:t>Una constante</a:t>
            </a:r>
            <a:r>
              <a:rPr b="0"/>
              <a:t> es un tipo de dato (valor numérico o texto) que permanece invariable, sin posibilidad de cambiar su valor durante el curso de un programa.</a:t>
            </a:r>
          </a:p>
        </p:txBody>
      </p:sp>
      <p:pic>
        <p:nvPicPr>
          <p:cNvPr id="38" name="info" descr="inf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1337" y="1052512"/>
            <a:ext cx="936626" cy="936626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Una variable corresponde a un area reservada de la memoria principal de la computadora."/>
          <p:cNvSpPr txBox="1"/>
          <p:nvPr/>
        </p:nvSpPr>
        <p:spPr>
          <a:xfrm>
            <a:off x="369569" y="3284537"/>
            <a:ext cx="7973062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40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Una variable corresponde a un area reservada de la memoria principal de la computadora.</a:t>
            </a:r>
          </a:p>
        </p:txBody>
      </p:sp>
      <p:sp>
        <p:nvSpPr>
          <p:cNvPr id="40" name="Una variable esta asociada a un tipo de datos determinado.…"/>
          <p:cNvSpPr txBox="1"/>
          <p:nvPr/>
        </p:nvSpPr>
        <p:spPr>
          <a:xfrm>
            <a:off x="729932" y="4364037"/>
            <a:ext cx="7973061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Una variable esta asociada a un tipo de datos determinado. </a:t>
            </a:r>
          </a:p>
          <a:p>
            <a: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En función al tamaño del tipo de dato se determina la cantidad de bytes necesarios para almacenarla.</a:t>
            </a:r>
          </a:p>
        </p:txBody>
      </p:sp>
      <p:sp>
        <p:nvSpPr>
          <p:cNvPr id="41" name="Una variable es un tipo de dato, que como su nombre lo indica puede cambiar su valor durante el transcurso de un programa."/>
          <p:cNvSpPr txBox="1"/>
          <p:nvPr/>
        </p:nvSpPr>
        <p:spPr>
          <a:xfrm>
            <a:off x="1547812" y="2276475"/>
            <a:ext cx="7200901" cy="1005840"/>
          </a:xfrm>
          <a:prstGeom prst="rect">
            <a:avLst/>
          </a:prstGeom>
          <a:solidFill>
            <a:srgbClr val="FFFF6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b="1" sz="2000">
                <a:latin typeface="Calibri"/>
                <a:ea typeface="Calibri"/>
                <a:cs typeface="Calibri"/>
                <a:sym typeface="Calibri"/>
              </a:defRPr>
            </a:pPr>
            <a:r>
              <a:t>Una variable</a:t>
            </a:r>
            <a:r>
              <a:rPr b="0"/>
              <a:t> es un tipo de dato, que como su nombre lo indica puede cambiar su valor durante el transcurso de un programa.</a:t>
            </a:r>
            <a:br>
              <a:rPr b="0"/>
            </a:br>
          </a:p>
        </p:txBody>
      </p:sp>
      <p:pic>
        <p:nvPicPr>
          <p:cNvPr id="42" name="info" descr="inf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1337" y="2260600"/>
            <a:ext cx="936626" cy="936625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Rectangle"/>
          <p:cNvSpPr/>
          <p:nvPr/>
        </p:nvSpPr>
        <p:spPr>
          <a:xfrm>
            <a:off x="539750" y="4292600"/>
            <a:ext cx="8064500" cy="1439863"/>
          </a:xfrm>
          <a:prstGeom prst="rect">
            <a:avLst/>
          </a:prstGeom>
          <a:ln>
            <a:solidFill>
              <a:srgbClr val="99CC00"/>
            </a:solidFill>
          </a:ln>
        </p:spPr>
        <p:txBody>
          <a:bodyPr lIns="45719" rIns="45719" anchor="ctr"/>
          <a:lstStyle/>
          <a:p>
            <a:pPr/>
          </a:p>
        </p:txBody>
      </p:sp>
      <p:grpSp>
        <p:nvGrpSpPr>
          <p:cNvPr id="46" name="Group"/>
          <p:cNvGrpSpPr/>
          <p:nvPr/>
        </p:nvGrpSpPr>
        <p:grpSpPr>
          <a:xfrm>
            <a:off x="2484437" y="1773237"/>
            <a:ext cx="3082926" cy="2160588"/>
            <a:chOff x="0" y="0"/>
            <a:chExt cx="3082925" cy="2160587"/>
          </a:xfrm>
        </p:grpSpPr>
        <p:sp>
          <p:nvSpPr>
            <p:cNvPr id="44" name="Rectangle"/>
            <p:cNvSpPr/>
            <p:nvPr/>
          </p:nvSpPr>
          <p:spPr>
            <a:xfrm>
              <a:off x="0" y="0"/>
              <a:ext cx="3082925" cy="2160588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pic>
          <p:nvPicPr>
            <p:cNvPr id="45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69862" y="195262"/>
              <a:ext cx="2705101" cy="17621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49" name="Group"/>
          <p:cNvGrpSpPr/>
          <p:nvPr/>
        </p:nvGrpSpPr>
        <p:grpSpPr>
          <a:xfrm>
            <a:off x="2484437" y="4149725"/>
            <a:ext cx="4105276" cy="1800225"/>
            <a:chOff x="0" y="0"/>
            <a:chExt cx="4105275" cy="1800225"/>
          </a:xfrm>
        </p:grpSpPr>
        <p:sp>
          <p:nvSpPr>
            <p:cNvPr id="47" name="Rectangle"/>
            <p:cNvSpPr/>
            <p:nvPr/>
          </p:nvSpPr>
          <p:spPr>
            <a:xfrm>
              <a:off x="0" y="0"/>
              <a:ext cx="4105275" cy="1800225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pic>
          <p:nvPicPr>
            <p:cNvPr id="48" name="image.png" descr="imag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44462" y="142875"/>
              <a:ext cx="3876676" cy="14287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822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822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1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822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822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9" grpId="2"/>
      <p:bldP build="whole" bldLvl="1" animBg="1" rev="0" advAuto="0" spid="4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Introducción a PASCAL"/>
          <p:cNvSpPr txBox="1"/>
          <p:nvPr/>
        </p:nvSpPr>
        <p:spPr>
          <a:xfrm>
            <a:off x="514032" y="59848"/>
            <a:ext cx="81381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Introducción a PASCAL</a:t>
            </a:r>
          </a:p>
        </p:txBody>
      </p:sp>
      <p:grpSp>
        <p:nvGrpSpPr>
          <p:cNvPr id="55" name="Group"/>
          <p:cNvGrpSpPr/>
          <p:nvPr/>
        </p:nvGrpSpPr>
        <p:grpSpPr>
          <a:xfrm>
            <a:off x="250825" y="692150"/>
            <a:ext cx="8377238" cy="2305050"/>
            <a:chOff x="0" y="0"/>
            <a:chExt cx="8377237" cy="2305050"/>
          </a:xfrm>
        </p:grpSpPr>
        <p:pic>
          <p:nvPicPr>
            <p:cNvPr id="52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73025" y="14287"/>
              <a:ext cx="8304213" cy="9810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44462" y="1081087"/>
              <a:ext cx="8113713" cy="1114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4" name="Rectangle"/>
            <p:cNvSpPr/>
            <p:nvPr/>
          </p:nvSpPr>
          <p:spPr>
            <a:xfrm>
              <a:off x="0" y="0"/>
              <a:ext cx="8353425" cy="2305050"/>
            </a:xfrm>
            <a:prstGeom prst="rect">
              <a:avLst/>
            </a:prstGeom>
            <a:noFill/>
            <a:ln w="9525" cap="flat">
              <a:solidFill>
                <a:srgbClr val="99CC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58" name="Group"/>
          <p:cNvGrpSpPr/>
          <p:nvPr/>
        </p:nvGrpSpPr>
        <p:grpSpPr>
          <a:xfrm>
            <a:off x="250825" y="3141662"/>
            <a:ext cx="8353425" cy="1081088"/>
            <a:chOff x="0" y="0"/>
            <a:chExt cx="8353425" cy="1081087"/>
          </a:xfrm>
        </p:grpSpPr>
        <p:pic>
          <p:nvPicPr>
            <p:cNvPr id="56" name="image.png" descr="imag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73025" y="71437"/>
              <a:ext cx="8237538" cy="9620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7" name="Rectangle"/>
            <p:cNvSpPr/>
            <p:nvPr/>
          </p:nvSpPr>
          <p:spPr>
            <a:xfrm>
              <a:off x="0" y="0"/>
              <a:ext cx="8353425" cy="1081088"/>
            </a:xfrm>
            <a:prstGeom prst="rect">
              <a:avLst/>
            </a:prstGeom>
            <a:noFill/>
            <a:ln w="9525" cap="flat">
              <a:solidFill>
                <a:srgbClr val="99CC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sp>
        <p:nvSpPr>
          <p:cNvPr id="59" name="Características:"/>
          <p:cNvSpPr txBox="1"/>
          <p:nvPr/>
        </p:nvSpPr>
        <p:spPr>
          <a:xfrm>
            <a:off x="296544" y="4292600"/>
            <a:ext cx="7973062" cy="535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600"/>
              </a:spcBef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Características:</a:t>
            </a:r>
          </a:p>
        </p:txBody>
      </p:sp>
      <p:sp>
        <p:nvSpPr>
          <p:cNvPr id="60" name="Lenguaje de programación estructurado.…"/>
          <p:cNvSpPr txBox="1"/>
          <p:nvPr/>
        </p:nvSpPr>
        <p:spPr>
          <a:xfrm>
            <a:off x="441007" y="4797425"/>
            <a:ext cx="7973061" cy="1767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Lenguaje de programación estructurado.</a:t>
            </a:r>
          </a:p>
          <a:p>
            <a: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Lenguaje fuertemente tipificado (valores y expresiones).</a:t>
            </a:r>
          </a:p>
          <a:p>
            <a: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El código esta dividido en funciones y procedimientos (&lt;&gt; monolítico).</a:t>
            </a:r>
          </a:p>
          <a:p>
            <a: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El tipo de todas las variables debe ser declarado antes de poder utilizarse.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Estructura de un programa en pascal"/>
          <p:cNvSpPr txBox="1"/>
          <p:nvPr/>
        </p:nvSpPr>
        <p:spPr>
          <a:xfrm>
            <a:off x="514032" y="59848"/>
            <a:ext cx="81381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Estructura de un programa en pascal</a:t>
            </a:r>
          </a:p>
        </p:txBody>
      </p:sp>
      <p:grpSp>
        <p:nvGrpSpPr>
          <p:cNvPr id="65" name="Group"/>
          <p:cNvGrpSpPr/>
          <p:nvPr/>
        </p:nvGrpSpPr>
        <p:grpSpPr>
          <a:xfrm>
            <a:off x="2051050" y="868362"/>
            <a:ext cx="5400675" cy="504826"/>
            <a:chOff x="0" y="0"/>
            <a:chExt cx="5400675" cy="504825"/>
          </a:xfrm>
        </p:grpSpPr>
        <p:sp>
          <p:nvSpPr>
            <p:cNvPr id="63" name="Rectangle"/>
            <p:cNvSpPr/>
            <p:nvPr/>
          </p:nvSpPr>
          <p:spPr>
            <a:xfrm>
              <a:off x="0" y="0"/>
              <a:ext cx="5400675" cy="504825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4" name="Program Programa_de_Ejemplo"/>
            <p:cNvSpPr txBox="1"/>
            <p:nvPr/>
          </p:nvSpPr>
          <p:spPr>
            <a:xfrm>
              <a:off x="50482" y="77081"/>
              <a:ext cx="3445853" cy="350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>
                <a:defRPr b="1"/>
              </a:pPr>
              <a:r>
                <a:t>Program </a:t>
              </a:r>
              <a:r>
                <a:rPr b="0"/>
                <a:t>Programa_de_Ejemplo</a:t>
              </a:r>
            </a:p>
          </p:txBody>
        </p:sp>
      </p:grpSp>
      <p:sp>
        <p:nvSpPr>
          <p:cNvPr id="66" name="Cabecera del programa"/>
          <p:cNvSpPr txBox="1"/>
          <p:nvPr/>
        </p:nvSpPr>
        <p:spPr>
          <a:xfrm>
            <a:off x="1860232" y="581025"/>
            <a:ext cx="2254856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Cabecera del programa</a:t>
            </a:r>
          </a:p>
        </p:txBody>
      </p:sp>
      <p:grpSp>
        <p:nvGrpSpPr>
          <p:cNvPr id="69" name="Group"/>
          <p:cNvGrpSpPr/>
          <p:nvPr/>
        </p:nvGrpSpPr>
        <p:grpSpPr>
          <a:xfrm>
            <a:off x="2051050" y="1733550"/>
            <a:ext cx="5400675" cy="647700"/>
            <a:chOff x="0" y="0"/>
            <a:chExt cx="5400675" cy="647700"/>
          </a:xfrm>
        </p:grpSpPr>
        <p:sp>
          <p:nvSpPr>
            <p:cNvPr id="67" name="Rectangle"/>
            <p:cNvSpPr/>
            <p:nvPr/>
          </p:nvSpPr>
          <p:spPr>
            <a:xfrm>
              <a:off x="0" y="0"/>
              <a:ext cx="5400675" cy="6477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8" name="const  constante1= valor;…"/>
            <p:cNvSpPr txBox="1"/>
            <p:nvPr/>
          </p:nvSpPr>
          <p:spPr>
            <a:xfrm>
              <a:off x="50482" y="15169"/>
              <a:ext cx="3781833" cy="617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>
                <a:defRPr b="1"/>
              </a:pPr>
              <a:r>
                <a:t>const 	</a:t>
              </a:r>
              <a:r>
                <a:rPr b="0"/>
                <a:t>constante1= valor;</a:t>
              </a:r>
              <a:endParaRPr b="0"/>
            </a:p>
            <a:p>
              <a:pPr/>
              <a:r>
                <a:t>		constanteN=valor;</a:t>
              </a:r>
            </a:p>
          </p:txBody>
        </p:sp>
      </p:grpSp>
      <p:sp>
        <p:nvSpPr>
          <p:cNvPr id="70" name="Definición de constantes"/>
          <p:cNvSpPr txBox="1"/>
          <p:nvPr/>
        </p:nvSpPr>
        <p:spPr>
          <a:xfrm>
            <a:off x="1830069" y="1444625"/>
            <a:ext cx="2379091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Definición de constantes</a:t>
            </a:r>
          </a:p>
        </p:txBody>
      </p:sp>
      <p:sp>
        <p:nvSpPr>
          <p:cNvPr id="71" name="Definición de tipos de datos definidos por el usuario"/>
          <p:cNvSpPr txBox="1"/>
          <p:nvPr/>
        </p:nvSpPr>
        <p:spPr>
          <a:xfrm>
            <a:off x="1787207" y="2419350"/>
            <a:ext cx="492818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Definición de tipos de datos definidos por el usuario</a:t>
            </a:r>
          </a:p>
        </p:txBody>
      </p:sp>
      <p:grpSp>
        <p:nvGrpSpPr>
          <p:cNvPr id="74" name="Group"/>
          <p:cNvGrpSpPr/>
          <p:nvPr/>
        </p:nvGrpSpPr>
        <p:grpSpPr>
          <a:xfrm>
            <a:off x="2051050" y="2708275"/>
            <a:ext cx="5400675" cy="647700"/>
            <a:chOff x="0" y="0"/>
            <a:chExt cx="5400675" cy="647700"/>
          </a:xfrm>
        </p:grpSpPr>
        <p:sp>
          <p:nvSpPr>
            <p:cNvPr id="72" name="Rectangle"/>
            <p:cNvSpPr/>
            <p:nvPr/>
          </p:nvSpPr>
          <p:spPr>
            <a:xfrm>
              <a:off x="0" y="0"/>
              <a:ext cx="5400675" cy="6477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3" name="type  variable1= tipo;…"/>
            <p:cNvSpPr txBox="1"/>
            <p:nvPr/>
          </p:nvSpPr>
          <p:spPr>
            <a:xfrm>
              <a:off x="50482" y="15169"/>
              <a:ext cx="2575320" cy="617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>
                <a:defRPr b="1"/>
              </a:pPr>
              <a:r>
                <a:t>type 	</a:t>
              </a:r>
              <a:r>
                <a:rPr b="0"/>
                <a:t>variable1= tipo;</a:t>
              </a:r>
              <a:endParaRPr b="0"/>
            </a:p>
            <a:p>
              <a:pPr/>
              <a:r>
                <a:t>	variableN=tipo;</a:t>
              </a:r>
            </a:p>
          </p:txBody>
        </p:sp>
      </p:grpSp>
      <p:sp>
        <p:nvSpPr>
          <p:cNvPr id="75" name="Definición de variables"/>
          <p:cNvSpPr txBox="1"/>
          <p:nvPr/>
        </p:nvSpPr>
        <p:spPr>
          <a:xfrm>
            <a:off x="1787207" y="3460750"/>
            <a:ext cx="2205073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Definición de variables</a:t>
            </a:r>
          </a:p>
        </p:txBody>
      </p:sp>
      <p:grpSp>
        <p:nvGrpSpPr>
          <p:cNvPr id="78" name="Group"/>
          <p:cNvGrpSpPr/>
          <p:nvPr/>
        </p:nvGrpSpPr>
        <p:grpSpPr>
          <a:xfrm>
            <a:off x="2051050" y="3749675"/>
            <a:ext cx="5400675" cy="647700"/>
            <a:chOff x="0" y="0"/>
            <a:chExt cx="5400675" cy="647700"/>
          </a:xfrm>
        </p:grpSpPr>
        <p:sp>
          <p:nvSpPr>
            <p:cNvPr id="76" name="Rectangle"/>
            <p:cNvSpPr/>
            <p:nvPr/>
          </p:nvSpPr>
          <p:spPr>
            <a:xfrm>
              <a:off x="0" y="0"/>
              <a:ext cx="5400675" cy="6477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7" name="var  variable1: tipo;…"/>
            <p:cNvSpPr txBox="1"/>
            <p:nvPr/>
          </p:nvSpPr>
          <p:spPr>
            <a:xfrm>
              <a:off x="50482" y="15169"/>
              <a:ext cx="2606798" cy="617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>
                <a:defRPr b="1"/>
              </a:pPr>
              <a:r>
                <a:t>var 	</a:t>
              </a:r>
              <a:r>
                <a:rPr b="0"/>
                <a:t>variable1: tipo;</a:t>
              </a:r>
              <a:endParaRPr b="0"/>
            </a:p>
            <a:p>
              <a:pPr/>
              <a:r>
                <a:t>	variableN : tipo;</a:t>
              </a:r>
            </a:p>
          </p:txBody>
        </p:sp>
      </p:grpSp>
      <p:sp>
        <p:nvSpPr>
          <p:cNvPr id="79" name="Cuerpo del programa"/>
          <p:cNvSpPr txBox="1"/>
          <p:nvPr/>
        </p:nvSpPr>
        <p:spPr>
          <a:xfrm>
            <a:off x="1785619" y="5395912"/>
            <a:ext cx="207079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Cuerpo del programa</a:t>
            </a:r>
          </a:p>
        </p:txBody>
      </p:sp>
      <p:grpSp>
        <p:nvGrpSpPr>
          <p:cNvPr id="82" name="Group"/>
          <p:cNvGrpSpPr/>
          <p:nvPr/>
        </p:nvGrpSpPr>
        <p:grpSpPr>
          <a:xfrm>
            <a:off x="2049462" y="5684837"/>
            <a:ext cx="5400676" cy="647701"/>
            <a:chOff x="0" y="0"/>
            <a:chExt cx="5400675" cy="647700"/>
          </a:xfrm>
        </p:grpSpPr>
        <p:sp>
          <p:nvSpPr>
            <p:cNvPr id="80" name="Rectangle"/>
            <p:cNvSpPr/>
            <p:nvPr/>
          </p:nvSpPr>
          <p:spPr>
            <a:xfrm>
              <a:off x="0" y="0"/>
              <a:ext cx="5400675" cy="6477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81" name="Begin End."/>
            <p:cNvSpPr txBox="1"/>
            <p:nvPr/>
          </p:nvSpPr>
          <p:spPr>
            <a:xfrm>
              <a:off x="50482" y="15169"/>
              <a:ext cx="739153" cy="617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>
                <a:defRPr b="1"/>
              </a:pPr>
              <a:r>
                <a:t>Begin</a:t>
              </a:r>
              <a:br/>
              <a:r>
                <a:t>End.</a:t>
              </a:r>
            </a:p>
          </p:txBody>
        </p:sp>
      </p:grpSp>
      <p:sp>
        <p:nvSpPr>
          <p:cNvPr id="83" name="Definición de procedimientos"/>
          <p:cNvSpPr txBox="1"/>
          <p:nvPr/>
        </p:nvSpPr>
        <p:spPr>
          <a:xfrm>
            <a:off x="1787207" y="4468812"/>
            <a:ext cx="282903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Definición de procedimientos</a:t>
            </a:r>
          </a:p>
        </p:txBody>
      </p:sp>
      <p:grpSp>
        <p:nvGrpSpPr>
          <p:cNvPr id="86" name="Group"/>
          <p:cNvGrpSpPr/>
          <p:nvPr/>
        </p:nvGrpSpPr>
        <p:grpSpPr>
          <a:xfrm>
            <a:off x="2051050" y="4757737"/>
            <a:ext cx="5400675" cy="647701"/>
            <a:chOff x="0" y="0"/>
            <a:chExt cx="5400675" cy="647700"/>
          </a:xfrm>
        </p:grpSpPr>
        <p:sp>
          <p:nvSpPr>
            <p:cNvPr id="84" name="Rectangle"/>
            <p:cNvSpPr/>
            <p:nvPr/>
          </p:nvSpPr>
          <p:spPr>
            <a:xfrm>
              <a:off x="0" y="0"/>
              <a:ext cx="5400675" cy="6477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85" name="procedure…"/>
            <p:cNvSpPr txBox="1"/>
            <p:nvPr/>
          </p:nvSpPr>
          <p:spPr>
            <a:xfrm>
              <a:off x="50482" y="15169"/>
              <a:ext cx="1222026" cy="617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>
                <a:defRPr b="1"/>
              </a:pPr>
              <a:r>
                <a:t>procedure</a:t>
              </a:r>
            </a:p>
            <a:p>
              <a:pPr>
                <a:defRPr b="1"/>
              </a:pPr>
              <a:r>
                <a:t>function</a:t>
              </a:r>
            </a:p>
          </p:txBody>
        </p:sp>
      </p:grpSp>
      <p:grpSp>
        <p:nvGrpSpPr>
          <p:cNvPr id="89" name="Group"/>
          <p:cNvGrpSpPr/>
          <p:nvPr/>
        </p:nvGrpSpPr>
        <p:grpSpPr>
          <a:xfrm>
            <a:off x="827087" y="4652962"/>
            <a:ext cx="7416801" cy="1368426"/>
            <a:chOff x="0" y="0"/>
            <a:chExt cx="7416800" cy="1368425"/>
          </a:xfrm>
        </p:grpSpPr>
        <p:sp>
          <p:nvSpPr>
            <p:cNvPr id="87" name="Rectangle"/>
            <p:cNvSpPr/>
            <p:nvPr/>
          </p:nvSpPr>
          <p:spPr>
            <a:xfrm>
              <a:off x="0" y="0"/>
              <a:ext cx="7416800" cy="1368425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pic>
          <p:nvPicPr>
            <p:cNvPr id="88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71437" y="142875"/>
              <a:ext cx="7296151" cy="1066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92" name="Group"/>
          <p:cNvGrpSpPr/>
          <p:nvPr/>
        </p:nvGrpSpPr>
        <p:grpSpPr>
          <a:xfrm>
            <a:off x="755650" y="1700212"/>
            <a:ext cx="7561263" cy="3816351"/>
            <a:chOff x="0" y="0"/>
            <a:chExt cx="7561262" cy="3816350"/>
          </a:xfrm>
        </p:grpSpPr>
        <p:sp>
          <p:nvSpPr>
            <p:cNvPr id="90" name="Rectangle"/>
            <p:cNvSpPr/>
            <p:nvPr/>
          </p:nvSpPr>
          <p:spPr>
            <a:xfrm>
              <a:off x="0" y="0"/>
              <a:ext cx="7561263" cy="3816350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pic>
          <p:nvPicPr>
            <p:cNvPr id="91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647700" y="215900"/>
              <a:ext cx="6315075" cy="33051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95" name="Group"/>
          <p:cNvGrpSpPr/>
          <p:nvPr/>
        </p:nvGrpSpPr>
        <p:grpSpPr>
          <a:xfrm>
            <a:off x="1547812" y="1916112"/>
            <a:ext cx="4157740" cy="433388"/>
            <a:chOff x="0" y="0"/>
            <a:chExt cx="4157739" cy="433387"/>
          </a:xfrm>
        </p:grpSpPr>
        <p:sp>
          <p:nvSpPr>
            <p:cNvPr id="93" name="Rectangle"/>
            <p:cNvSpPr/>
            <p:nvPr/>
          </p:nvSpPr>
          <p:spPr>
            <a:xfrm>
              <a:off x="0" y="0"/>
              <a:ext cx="2736850" cy="433388"/>
            </a:xfrm>
            <a:prstGeom prst="rect">
              <a:avLst/>
            </a:prstGeom>
            <a:noFill/>
            <a:ln w="9525" cap="flat">
              <a:solidFill>
                <a:srgbClr val="FF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94" name="Encabezado"/>
            <p:cNvSpPr txBox="1"/>
            <p:nvPr/>
          </p:nvSpPr>
          <p:spPr>
            <a:xfrm>
              <a:off x="2782569" y="0"/>
              <a:ext cx="1375171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solidFill>
                    <a:srgbClr val="FF0000"/>
                  </a:solidFill>
                </a:defRPr>
              </a:lvl1pPr>
            </a:lstStyle>
            <a:p>
              <a:pPr/>
              <a:r>
                <a:t>Encabezado</a:t>
              </a:r>
            </a:p>
          </p:txBody>
        </p:sp>
      </p:grpSp>
      <p:grpSp>
        <p:nvGrpSpPr>
          <p:cNvPr id="98" name="Group"/>
          <p:cNvGrpSpPr/>
          <p:nvPr/>
        </p:nvGrpSpPr>
        <p:grpSpPr>
          <a:xfrm>
            <a:off x="1546225" y="2492375"/>
            <a:ext cx="4187567" cy="504825"/>
            <a:chOff x="0" y="0"/>
            <a:chExt cx="4187566" cy="504825"/>
          </a:xfrm>
        </p:grpSpPr>
        <p:sp>
          <p:nvSpPr>
            <p:cNvPr id="96" name="Rectangle"/>
            <p:cNvSpPr/>
            <p:nvPr/>
          </p:nvSpPr>
          <p:spPr>
            <a:xfrm>
              <a:off x="0" y="0"/>
              <a:ext cx="2881313" cy="504825"/>
            </a:xfrm>
            <a:prstGeom prst="rect">
              <a:avLst/>
            </a:prstGeom>
            <a:noFill/>
            <a:ln w="9525" cap="flat">
              <a:solidFill>
                <a:srgbClr val="FF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97" name="Constantes"/>
            <p:cNvSpPr txBox="1"/>
            <p:nvPr/>
          </p:nvSpPr>
          <p:spPr>
            <a:xfrm>
              <a:off x="2927032" y="73025"/>
              <a:ext cx="1260535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solidFill>
                    <a:srgbClr val="FF0000"/>
                  </a:solidFill>
                </a:defRPr>
              </a:lvl1pPr>
            </a:lstStyle>
            <a:p>
              <a:pPr/>
              <a:r>
                <a:t>Constantes</a:t>
              </a:r>
            </a:p>
          </p:txBody>
        </p:sp>
      </p:grpSp>
      <p:grpSp>
        <p:nvGrpSpPr>
          <p:cNvPr id="101" name="Group"/>
          <p:cNvGrpSpPr/>
          <p:nvPr/>
        </p:nvGrpSpPr>
        <p:grpSpPr>
          <a:xfrm>
            <a:off x="1546225" y="3068637"/>
            <a:ext cx="4759390" cy="504826"/>
            <a:chOff x="0" y="0"/>
            <a:chExt cx="4759389" cy="504825"/>
          </a:xfrm>
        </p:grpSpPr>
        <p:sp>
          <p:nvSpPr>
            <p:cNvPr id="99" name="Rectangle"/>
            <p:cNvSpPr/>
            <p:nvPr/>
          </p:nvSpPr>
          <p:spPr>
            <a:xfrm>
              <a:off x="0" y="0"/>
              <a:ext cx="3602038" cy="504825"/>
            </a:xfrm>
            <a:prstGeom prst="rect">
              <a:avLst/>
            </a:prstGeom>
            <a:noFill/>
            <a:ln w="9525" cap="flat">
              <a:solidFill>
                <a:srgbClr val="FF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00" name="Variables"/>
            <p:cNvSpPr txBox="1"/>
            <p:nvPr/>
          </p:nvSpPr>
          <p:spPr>
            <a:xfrm>
              <a:off x="3719194" y="73025"/>
              <a:ext cx="1040196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solidFill>
                    <a:srgbClr val="FF0000"/>
                  </a:solidFill>
                </a:defRPr>
              </a:lvl1pPr>
            </a:lstStyle>
            <a:p>
              <a:pPr/>
              <a:r>
                <a:t>Variables</a:t>
              </a:r>
            </a:p>
          </p:txBody>
        </p:sp>
      </p:grpSp>
      <p:grpSp>
        <p:nvGrpSpPr>
          <p:cNvPr id="104" name="Group"/>
          <p:cNvGrpSpPr/>
          <p:nvPr/>
        </p:nvGrpSpPr>
        <p:grpSpPr>
          <a:xfrm>
            <a:off x="1547812" y="3644900"/>
            <a:ext cx="4644532" cy="1441450"/>
            <a:chOff x="0" y="0"/>
            <a:chExt cx="4644531" cy="1441450"/>
          </a:xfrm>
        </p:grpSpPr>
        <p:sp>
          <p:nvSpPr>
            <p:cNvPr id="102" name="Rectangle"/>
            <p:cNvSpPr/>
            <p:nvPr/>
          </p:nvSpPr>
          <p:spPr>
            <a:xfrm>
              <a:off x="0" y="0"/>
              <a:ext cx="3602038" cy="1441450"/>
            </a:xfrm>
            <a:prstGeom prst="rect">
              <a:avLst/>
            </a:prstGeom>
            <a:noFill/>
            <a:ln w="9525" cap="flat">
              <a:solidFill>
                <a:srgbClr val="FF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03" name="Cuerpo"/>
            <p:cNvSpPr txBox="1"/>
            <p:nvPr/>
          </p:nvSpPr>
          <p:spPr>
            <a:xfrm>
              <a:off x="3790632" y="576262"/>
              <a:ext cx="853900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solidFill>
                    <a:srgbClr val="FF0000"/>
                  </a:solidFill>
                </a:defRPr>
              </a:lvl1pPr>
            </a:lstStyle>
            <a:p>
              <a:pPr/>
              <a:r>
                <a:t>Cuerpo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6" presetID="4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10" presetID="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1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1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1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1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1" grpId="5"/>
      <p:bldP build="whole" bldLvl="1" animBg="1" rev="0" advAuto="0" spid="104" grpId="6"/>
      <p:bldP build="whole" bldLvl="1" animBg="1" rev="0" advAuto="0" spid="92" grpId="2"/>
      <p:bldP build="whole" bldLvl="1" animBg="1" rev="0" advAuto="0" spid="89" grpId="1"/>
      <p:bldP build="whole" bldLvl="1" animBg="1" rev="0" advAuto="0" spid="98" grpId="4"/>
      <p:bldP build="whole" bldLvl="1" animBg="1" rev="0" advAuto="0" spid="95" grpId="3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De pseudocódigo a PASCAL"/>
          <p:cNvSpPr txBox="1"/>
          <p:nvPr/>
        </p:nvSpPr>
        <p:spPr>
          <a:xfrm>
            <a:off x="514032" y="59848"/>
            <a:ext cx="81381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 pseudocódigo a PASCAL</a:t>
            </a:r>
          </a:p>
        </p:txBody>
      </p:sp>
      <p:sp>
        <p:nvSpPr>
          <p:cNvPr id="107" name="Se desea realizar un algoritmo que pida ingresar dos números enteros por teclado y muestre en pantalla la suma de ambos."/>
          <p:cNvSpPr txBox="1"/>
          <p:nvPr/>
        </p:nvSpPr>
        <p:spPr>
          <a:xfrm>
            <a:off x="369569" y="692149"/>
            <a:ext cx="797306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 Se desea realizar un algoritmo que pida ingresar dos números enteros por teclado y muestre en pantalla la suma de ambos.</a:t>
            </a:r>
          </a:p>
        </p:txBody>
      </p:sp>
      <p:grpSp>
        <p:nvGrpSpPr>
          <p:cNvPr id="122" name="Group"/>
          <p:cNvGrpSpPr/>
          <p:nvPr/>
        </p:nvGrpSpPr>
        <p:grpSpPr>
          <a:xfrm>
            <a:off x="2124075" y="5373687"/>
            <a:ext cx="4824413" cy="1081088"/>
            <a:chOff x="0" y="0"/>
            <a:chExt cx="4824412" cy="1081087"/>
          </a:xfrm>
        </p:grpSpPr>
        <p:grpSp>
          <p:nvGrpSpPr>
            <p:cNvPr id="110" name="Group"/>
            <p:cNvGrpSpPr/>
            <p:nvPr/>
          </p:nvGrpSpPr>
          <p:grpSpPr>
            <a:xfrm>
              <a:off x="0" y="0"/>
              <a:ext cx="1800225" cy="504825"/>
              <a:chOff x="0" y="0"/>
              <a:chExt cx="1800225" cy="504825"/>
            </a:xfrm>
          </p:grpSpPr>
          <p:sp>
            <p:nvSpPr>
              <p:cNvPr id="108" name="Rectangle"/>
              <p:cNvSpPr/>
              <p:nvPr/>
            </p:nvSpPr>
            <p:spPr>
              <a:xfrm>
                <a:off x="0" y="0"/>
                <a:ext cx="1800225" cy="504825"/>
              </a:xfrm>
              <a:prstGeom prst="rect">
                <a:avLst/>
              </a:prstGeom>
              <a:solidFill>
                <a:schemeClr val="accent1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09" name="Leer (X)"/>
              <p:cNvSpPr txBox="1"/>
              <p:nvPr/>
            </p:nvSpPr>
            <p:spPr>
              <a:xfrm>
                <a:off x="435156" y="77081"/>
                <a:ext cx="929913" cy="3506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/>
              </a:lstStyle>
              <a:p>
                <a:pPr/>
                <a:r>
                  <a:t>Leer (X)</a:t>
                </a:r>
              </a:p>
            </p:txBody>
          </p:sp>
        </p:grpSp>
        <p:grpSp>
          <p:nvGrpSpPr>
            <p:cNvPr id="113" name="Group"/>
            <p:cNvGrpSpPr/>
            <p:nvPr/>
          </p:nvGrpSpPr>
          <p:grpSpPr>
            <a:xfrm>
              <a:off x="0" y="576262"/>
              <a:ext cx="1800225" cy="504826"/>
              <a:chOff x="0" y="0"/>
              <a:chExt cx="1800225" cy="504825"/>
            </a:xfrm>
          </p:grpSpPr>
          <p:sp>
            <p:nvSpPr>
              <p:cNvPr id="111" name="Rectangle"/>
              <p:cNvSpPr/>
              <p:nvPr/>
            </p:nvSpPr>
            <p:spPr>
              <a:xfrm>
                <a:off x="0" y="0"/>
                <a:ext cx="1800225" cy="504825"/>
              </a:xfrm>
              <a:prstGeom prst="rect">
                <a:avLst/>
              </a:prstGeom>
              <a:solidFill>
                <a:schemeClr val="accent1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12" name="Escribir (X)"/>
              <p:cNvSpPr txBox="1"/>
              <p:nvPr/>
            </p:nvSpPr>
            <p:spPr>
              <a:xfrm>
                <a:off x="282904" y="77081"/>
                <a:ext cx="1234417" cy="3506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/>
              </a:lstStyle>
              <a:p>
                <a:pPr/>
                <a:r>
                  <a:t>Escribir (X)</a:t>
                </a:r>
              </a:p>
            </p:txBody>
          </p:sp>
        </p:grpSp>
        <p:sp>
          <p:nvSpPr>
            <p:cNvPr id="114" name="Shape"/>
            <p:cNvSpPr/>
            <p:nvPr/>
          </p:nvSpPr>
          <p:spPr>
            <a:xfrm>
              <a:off x="1922462" y="0"/>
              <a:ext cx="976314" cy="4857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15" name="Shape"/>
            <p:cNvSpPr/>
            <p:nvPr/>
          </p:nvSpPr>
          <p:spPr>
            <a:xfrm>
              <a:off x="1922462" y="576262"/>
              <a:ext cx="976314" cy="4857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grpSp>
          <p:nvGrpSpPr>
            <p:cNvPr id="118" name="Group"/>
            <p:cNvGrpSpPr/>
            <p:nvPr/>
          </p:nvGrpSpPr>
          <p:grpSpPr>
            <a:xfrm>
              <a:off x="3024187" y="0"/>
              <a:ext cx="1800226" cy="504825"/>
              <a:chOff x="0" y="0"/>
              <a:chExt cx="1800225" cy="504825"/>
            </a:xfrm>
          </p:grpSpPr>
          <p:sp>
            <p:nvSpPr>
              <p:cNvPr id="116" name="Rectangle"/>
              <p:cNvSpPr/>
              <p:nvPr/>
            </p:nvSpPr>
            <p:spPr>
              <a:xfrm>
                <a:off x="0" y="0"/>
                <a:ext cx="1800225" cy="504825"/>
              </a:xfrm>
              <a:prstGeom prst="rect">
                <a:avLst/>
              </a:prstGeom>
              <a:solidFill>
                <a:srgbClr val="CCFF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17" name="Read (X)"/>
              <p:cNvSpPr txBox="1"/>
              <p:nvPr/>
            </p:nvSpPr>
            <p:spPr>
              <a:xfrm>
                <a:off x="390675" y="77081"/>
                <a:ext cx="1018875" cy="3506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/>
              </a:lstStyle>
              <a:p>
                <a:pPr/>
                <a:r>
                  <a:t>Read (X)</a:t>
                </a:r>
              </a:p>
            </p:txBody>
          </p:sp>
        </p:grpSp>
        <p:grpSp>
          <p:nvGrpSpPr>
            <p:cNvPr id="121" name="Group"/>
            <p:cNvGrpSpPr/>
            <p:nvPr/>
          </p:nvGrpSpPr>
          <p:grpSpPr>
            <a:xfrm>
              <a:off x="3024187" y="576262"/>
              <a:ext cx="1800226" cy="504826"/>
              <a:chOff x="0" y="0"/>
              <a:chExt cx="1800225" cy="504825"/>
            </a:xfrm>
          </p:grpSpPr>
          <p:sp>
            <p:nvSpPr>
              <p:cNvPr id="119" name="Rectangle"/>
              <p:cNvSpPr/>
              <p:nvPr/>
            </p:nvSpPr>
            <p:spPr>
              <a:xfrm>
                <a:off x="0" y="0"/>
                <a:ext cx="1800225" cy="504825"/>
              </a:xfrm>
              <a:prstGeom prst="rect">
                <a:avLst/>
              </a:prstGeom>
              <a:solidFill>
                <a:srgbClr val="CCFF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20" name="Write (X)"/>
              <p:cNvSpPr txBox="1"/>
              <p:nvPr/>
            </p:nvSpPr>
            <p:spPr>
              <a:xfrm>
                <a:off x="399325" y="77081"/>
                <a:ext cx="1001575" cy="3506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/>
              </a:lstStyle>
              <a:p>
                <a:pPr/>
                <a:r>
                  <a:t>Write (X)</a:t>
                </a:r>
              </a:p>
            </p:txBody>
          </p:sp>
        </p:grpSp>
      </p:grpSp>
      <p:grpSp>
        <p:nvGrpSpPr>
          <p:cNvPr id="129" name="Group"/>
          <p:cNvGrpSpPr/>
          <p:nvPr/>
        </p:nvGrpSpPr>
        <p:grpSpPr>
          <a:xfrm>
            <a:off x="120649" y="1425892"/>
            <a:ext cx="4726624" cy="3761741"/>
            <a:chOff x="0" y="0"/>
            <a:chExt cx="4726622" cy="3761739"/>
          </a:xfrm>
        </p:grpSpPr>
        <p:grpSp>
          <p:nvGrpSpPr>
            <p:cNvPr id="125" name="Group"/>
            <p:cNvGrpSpPr/>
            <p:nvPr/>
          </p:nvGrpSpPr>
          <p:grpSpPr>
            <a:xfrm>
              <a:off x="-1" y="317499"/>
              <a:ext cx="4726624" cy="3444241"/>
              <a:chOff x="0" y="0"/>
              <a:chExt cx="4726622" cy="3444240"/>
            </a:xfrm>
          </p:grpSpPr>
          <p:sp>
            <p:nvSpPr>
              <p:cNvPr id="123" name="Rectangle"/>
              <p:cNvSpPr/>
              <p:nvPr/>
            </p:nvSpPr>
            <p:spPr>
              <a:xfrm>
                <a:off x="0" y="29845"/>
                <a:ext cx="4392613" cy="3384551"/>
              </a:xfrm>
              <a:prstGeom prst="rect">
                <a:avLst/>
              </a:prstGeom>
              <a:noFill/>
              <a:ln w="9525" cap="flat">
                <a:solidFill>
                  <a:srgbClr val="99CC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b="1"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24" name="programa Suma…"/>
              <p:cNvSpPr txBox="1"/>
              <p:nvPr/>
            </p:nvSpPr>
            <p:spPr>
              <a:xfrm>
                <a:off x="50482" y="0"/>
                <a:ext cx="4676141" cy="34442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>
                  <a:defRPr b="1"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programa</a:t>
                </a:r>
                <a:r>
                  <a:rPr b="0"/>
                  <a:t> Suma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br/>
                <a:r>
                  <a:t>variables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  numero1,numero2, suma del tipo entero	</a:t>
                </a:r>
              </a:p>
              <a:p>
                <a:pPr>
                  <a:defRPr b="1"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Inicio</a:t>
                </a:r>
                <a:br/>
                <a:r>
                  <a:rPr b="0"/>
                  <a:t>Escribir (“Ingrese el primer número”)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Leer(numero1)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Escribir (“Ingrese el segundo número”)</a:t>
                </a:r>
                <a:br/>
                <a:r>
                  <a:t>Leer(numero2)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suma:= numero1 + numero2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Escribir(suma)</a:t>
                </a:r>
              </a:p>
              <a:p>
                <a:pPr>
                  <a:defRPr b="1"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Fin</a:t>
                </a:r>
              </a:p>
            </p:txBody>
          </p:sp>
        </p:grpSp>
        <p:grpSp>
          <p:nvGrpSpPr>
            <p:cNvPr id="128" name="Group"/>
            <p:cNvGrpSpPr/>
            <p:nvPr/>
          </p:nvGrpSpPr>
          <p:grpSpPr>
            <a:xfrm>
              <a:off x="1138237" y="-1"/>
              <a:ext cx="2089151" cy="332742"/>
              <a:chOff x="0" y="0"/>
              <a:chExt cx="2089150" cy="332740"/>
            </a:xfrm>
          </p:grpSpPr>
          <p:sp>
            <p:nvSpPr>
              <p:cNvPr id="126" name="Rectangle"/>
              <p:cNvSpPr/>
              <p:nvPr/>
            </p:nvSpPr>
            <p:spPr>
              <a:xfrm>
                <a:off x="0" y="58419"/>
                <a:ext cx="2089150" cy="215901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27" name="PSEUDOCODIGO"/>
              <p:cNvSpPr txBox="1"/>
              <p:nvPr/>
            </p:nvSpPr>
            <p:spPr>
              <a:xfrm>
                <a:off x="308738" y="0"/>
                <a:ext cx="1471674" cy="332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600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PSEUDOCODIGO</a:t>
                </a:r>
              </a:p>
            </p:txBody>
          </p:sp>
        </p:grpSp>
      </p:grpSp>
      <p:grpSp>
        <p:nvGrpSpPr>
          <p:cNvPr id="136" name="Group"/>
          <p:cNvGrpSpPr/>
          <p:nvPr/>
        </p:nvGrpSpPr>
        <p:grpSpPr>
          <a:xfrm>
            <a:off x="4584700" y="1425892"/>
            <a:ext cx="4392613" cy="3761741"/>
            <a:chOff x="0" y="0"/>
            <a:chExt cx="4392612" cy="3761739"/>
          </a:xfrm>
        </p:grpSpPr>
        <p:grpSp>
          <p:nvGrpSpPr>
            <p:cNvPr id="132" name="Group"/>
            <p:cNvGrpSpPr/>
            <p:nvPr/>
          </p:nvGrpSpPr>
          <p:grpSpPr>
            <a:xfrm>
              <a:off x="0" y="317499"/>
              <a:ext cx="4392613" cy="3444241"/>
              <a:chOff x="0" y="0"/>
              <a:chExt cx="4392612" cy="3444240"/>
            </a:xfrm>
          </p:grpSpPr>
          <p:sp>
            <p:nvSpPr>
              <p:cNvPr id="130" name="Rectangle"/>
              <p:cNvSpPr/>
              <p:nvPr/>
            </p:nvSpPr>
            <p:spPr>
              <a:xfrm>
                <a:off x="0" y="29845"/>
                <a:ext cx="4392613" cy="3384551"/>
              </a:xfrm>
              <a:prstGeom prst="rect">
                <a:avLst/>
              </a:prstGeom>
              <a:solidFill>
                <a:srgbClr val="CCFFCC"/>
              </a:solidFill>
              <a:ln w="9525" cap="flat">
                <a:solidFill>
                  <a:srgbClr val="99CC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b="1"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1" name="program Suma;…"/>
              <p:cNvSpPr txBox="1"/>
              <p:nvPr/>
            </p:nvSpPr>
            <p:spPr>
              <a:xfrm>
                <a:off x="50482" y="0"/>
                <a:ext cx="3588505" cy="34442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>
                  <a:defRPr b="1"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program</a:t>
                </a:r>
                <a:r>
                  <a:rPr b="0"/>
                  <a:t> Suma;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br/>
                <a:r>
                  <a:rPr b="1"/>
                  <a:t>var</a:t>
                </a:r>
                <a:endParaRPr b="1"/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  numero1,numero2, suma :integer;</a:t>
                </a:r>
              </a:p>
              <a:p>
                <a:pPr>
                  <a:defRPr b="1"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Begin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Write (“Ingrese el primer número”);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Read (numero1);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Write (“Ingrese el segundo número”);</a:t>
                </a:r>
                <a:br/>
                <a:r>
                  <a:t>Read (numero2);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suma:= numero1 + numero2;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Write (suma);</a:t>
                </a:r>
              </a:p>
              <a:p>
                <a:pPr>
                  <a:defRPr b="1"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End</a:t>
                </a:r>
              </a:p>
            </p:txBody>
          </p:sp>
        </p:grpSp>
        <p:grpSp>
          <p:nvGrpSpPr>
            <p:cNvPr id="135" name="Group"/>
            <p:cNvGrpSpPr/>
            <p:nvPr/>
          </p:nvGrpSpPr>
          <p:grpSpPr>
            <a:xfrm>
              <a:off x="1139825" y="-1"/>
              <a:ext cx="2089150" cy="332742"/>
              <a:chOff x="0" y="0"/>
              <a:chExt cx="2089150" cy="332740"/>
            </a:xfrm>
          </p:grpSpPr>
          <p:sp>
            <p:nvSpPr>
              <p:cNvPr id="133" name="Rectangle"/>
              <p:cNvSpPr/>
              <p:nvPr/>
            </p:nvSpPr>
            <p:spPr>
              <a:xfrm>
                <a:off x="0" y="58419"/>
                <a:ext cx="2089150" cy="215901"/>
              </a:xfrm>
              <a:prstGeom prst="rect">
                <a:avLst/>
              </a:prstGeom>
              <a:solidFill>
                <a:srgbClr val="CCFF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  <p:sp>
            <p:nvSpPr>
              <p:cNvPr id="134" name="PASCAL"/>
              <p:cNvSpPr txBox="1"/>
              <p:nvPr/>
            </p:nvSpPr>
            <p:spPr>
              <a:xfrm>
                <a:off x="686365" y="0"/>
                <a:ext cx="716420" cy="332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1600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/>
                <a:r>
                  <a:t>PASCAL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822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822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1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822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822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2" grpId="3"/>
      <p:bldP build="whole" bldLvl="1" animBg="1" rev="0" advAuto="0" spid="136" grpId="2"/>
      <p:bldP build="whole" bldLvl="1" animBg="1" rev="0" advAuto="0" spid="12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Asignación"/>
          <p:cNvSpPr txBox="1"/>
          <p:nvPr/>
        </p:nvSpPr>
        <p:spPr>
          <a:xfrm>
            <a:off x="441007" y="1047750"/>
            <a:ext cx="7973061" cy="535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 Asignación</a:t>
            </a:r>
          </a:p>
        </p:txBody>
      </p:sp>
      <p:sp>
        <p:nvSpPr>
          <p:cNvPr id="139" name="De pseudocódigo a PASCAL"/>
          <p:cNvSpPr txBox="1"/>
          <p:nvPr/>
        </p:nvSpPr>
        <p:spPr>
          <a:xfrm>
            <a:off x="514032" y="59848"/>
            <a:ext cx="81381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 pseudocódigo a PASCAL</a:t>
            </a:r>
          </a:p>
        </p:txBody>
      </p:sp>
      <p:grpSp>
        <p:nvGrpSpPr>
          <p:cNvPr id="142" name="Group"/>
          <p:cNvGrpSpPr/>
          <p:nvPr/>
        </p:nvGrpSpPr>
        <p:grpSpPr>
          <a:xfrm>
            <a:off x="2481262" y="2492375"/>
            <a:ext cx="1008063" cy="1008063"/>
            <a:chOff x="0" y="0"/>
            <a:chExt cx="1008062" cy="1008062"/>
          </a:xfrm>
        </p:grpSpPr>
        <p:sp>
          <p:nvSpPr>
            <p:cNvPr id="140" name="Square"/>
            <p:cNvSpPr/>
            <p:nvPr/>
          </p:nvSpPr>
          <p:spPr>
            <a:xfrm>
              <a:off x="0" y="0"/>
              <a:ext cx="1008063" cy="1008063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41" name="X:= 10"/>
            <p:cNvSpPr txBox="1"/>
            <p:nvPr/>
          </p:nvSpPr>
          <p:spPr>
            <a:xfrm>
              <a:off x="118325" y="328700"/>
              <a:ext cx="771412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X:= 10</a:t>
              </a:r>
            </a:p>
          </p:txBody>
        </p:sp>
      </p:grpSp>
      <p:grpSp>
        <p:nvGrpSpPr>
          <p:cNvPr id="145" name="Group"/>
          <p:cNvGrpSpPr/>
          <p:nvPr/>
        </p:nvGrpSpPr>
        <p:grpSpPr>
          <a:xfrm>
            <a:off x="5219700" y="2492375"/>
            <a:ext cx="1008063" cy="1008063"/>
            <a:chOff x="0" y="0"/>
            <a:chExt cx="1008062" cy="1008062"/>
          </a:xfrm>
        </p:grpSpPr>
        <p:sp>
          <p:nvSpPr>
            <p:cNvPr id="143" name="Square"/>
            <p:cNvSpPr/>
            <p:nvPr/>
          </p:nvSpPr>
          <p:spPr>
            <a:xfrm>
              <a:off x="0" y="0"/>
              <a:ext cx="1008063" cy="1008063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44" name="X:= 10"/>
            <p:cNvSpPr txBox="1"/>
            <p:nvPr/>
          </p:nvSpPr>
          <p:spPr>
            <a:xfrm>
              <a:off x="118325" y="328700"/>
              <a:ext cx="771412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X:= 10</a:t>
              </a:r>
            </a:p>
          </p:txBody>
        </p:sp>
      </p:grpSp>
      <p:sp>
        <p:nvSpPr>
          <p:cNvPr id="146" name="Shape"/>
          <p:cNvSpPr/>
          <p:nvPr/>
        </p:nvSpPr>
        <p:spPr>
          <a:xfrm>
            <a:off x="3922712" y="2709862"/>
            <a:ext cx="976314" cy="4857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2195512" y="3929944"/>
            <a:ext cx="4248151" cy="1950862"/>
            <a:chOff x="0" y="0"/>
            <a:chExt cx="4248150" cy="1950861"/>
          </a:xfrm>
        </p:grpSpPr>
        <p:grpSp>
          <p:nvGrpSpPr>
            <p:cNvPr id="149" name="Group"/>
            <p:cNvGrpSpPr/>
            <p:nvPr/>
          </p:nvGrpSpPr>
          <p:grpSpPr>
            <a:xfrm>
              <a:off x="0" y="0"/>
              <a:ext cx="4248150" cy="1950862"/>
              <a:chOff x="0" y="0"/>
              <a:chExt cx="4248150" cy="1950861"/>
            </a:xfrm>
          </p:grpSpPr>
          <p:sp>
            <p:nvSpPr>
              <p:cNvPr id="147" name="Rectangle"/>
              <p:cNvSpPr/>
              <p:nvPr/>
            </p:nvSpPr>
            <p:spPr>
              <a:xfrm>
                <a:off x="0" y="3880"/>
                <a:ext cx="4248150" cy="1943101"/>
              </a:xfrm>
              <a:prstGeom prst="rect">
                <a:avLst/>
              </a:prstGeom>
              <a:solidFill>
                <a:srgbClr val="CCFF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48" name="Ejemplos"/>
              <p:cNvSpPr txBox="1"/>
              <p:nvPr/>
            </p:nvSpPr>
            <p:spPr>
              <a:xfrm>
                <a:off x="1601912" y="0"/>
                <a:ext cx="1044326" cy="19508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/>
                <a:r>
                  <a:t>Ejemplos</a:t>
                </a:r>
              </a:p>
              <a:p>
                <a:pPr algn="ctr"/>
              </a:p>
              <a:p>
                <a:pPr algn="ctr"/>
              </a:p>
              <a:p>
                <a:pPr algn="ctr"/>
              </a:p>
              <a:p>
                <a:pPr algn="ctr"/>
              </a:p>
              <a:p>
                <a:pPr algn="ctr"/>
              </a:p>
            </p:txBody>
          </p:sp>
        </p:grpSp>
        <p:pic>
          <p:nvPicPr>
            <p:cNvPr id="150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44462" y="362655"/>
              <a:ext cx="4032251" cy="1498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9" presetID="15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8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2" grpId="1"/>
      <p:bldP build="whole" bldLvl="1" animBg="1" rev="0" advAuto="0" spid="145" grpId="2"/>
      <p:bldP build="whole" bldLvl="1" animBg="1" rev="0" advAuto="0" spid="151" grpId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petición…"/>
          <p:cNvSpPr txBox="1"/>
          <p:nvPr/>
        </p:nvSpPr>
        <p:spPr>
          <a:xfrm>
            <a:off x="369569" y="765175"/>
            <a:ext cx="7973062" cy="151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pPr>
            <a:r>
              <a:t> Repetición</a:t>
            </a:r>
          </a:p>
          <a:p>
            <a:pPr>
              <a:spcBef>
                <a:spcPts val="1000"/>
              </a:spcBef>
              <a:buSzPct val="100000"/>
              <a:buChar char="•"/>
              <a:defRPr b="1">
                <a:latin typeface="Calibri"/>
                <a:ea typeface="Calibri"/>
                <a:cs typeface="Calibri"/>
                <a:sym typeface="Calibri"/>
              </a:defRPr>
            </a:pPr>
            <a:r>
              <a:t>Supongamos las siguientes instrucciones:</a:t>
            </a:r>
            <a:br/>
            <a:r>
              <a:t>“Sumarle 10 veces a X el valor de Y”</a:t>
            </a:r>
            <a:br/>
            <a:r>
              <a:t>“Mostrar en pantalla el valor de la variable X”</a:t>
            </a:r>
          </a:p>
        </p:txBody>
      </p:sp>
      <p:sp>
        <p:nvSpPr>
          <p:cNvPr id="154" name="De pseudocódigo a PASCAL"/>
          <p:cNvSpPr txBox="1"/>
          <p:nvPr/>
        </p:nvSpPr>
        <p:spPr>
          <a:xfrm>
            <a:off x="514032" y="59848"/>
            <a:ext cx="81381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 pseudocódigo a PASCAL</a:t>
            </a:r>
          </a:p>
        </p:txBody>
      </p:sp>
      <p:grpSp>
        <p:nvGrpSpPr>
          <p:cNvPr id="157" name="Group"/>
          <p:cNvGrpSpPr/>
          <p:nvPr/>
        </p:nvGrpSpPr>
        <p:grpSpPr>
          <a:xfrm>
            <a:off x="842962" y="3060700"/>
            <a:ext cx="3198813" cy="2528888"/>
            <a:chOff x="0" y="0"/>
            <a:chExt cx="3198812" cy="2528887"/>
          </a:xfrm>
        </p:grpSpPr>
        <p:sp>
          <p:nvSpPr>
            <p:cNvPr id="155" name="Rectangle"/>
            <p:cNvSpPr/>
            <p:nvPr/>
          </p:nvSpPr>
          <p:spPr>
            <a:xfrm>
              <a:off x="0" y="0"/>
              <a:ext cx="3198813" cy="2528888"/>
            </a:xfrm>
            <a:prstGeom prst="rect">
              <a:avLst/>
            </a:prstGeom>
            <a:noFill/>
            <a:ln w="9525" cap="flat">
              <a:solidFill>
                <a:srgbClr val="99CC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0000"/>
                  </a:solidFill>
                </a:defRPr>
              </a:pPr>
            </a:p>
          </p:txBody>
        </p:sp>
        <p:sp>
          <p:nvSpPr>
            <p:cNvPr id="156" name="X:= 0 Y:= 1…"/>
            <p:cNvSpPr txBox="1"/>
            <p:nvPr/>
          </p:nvSpPr>
          <p:spPr>
            <a:xfrm>
              <a:off x="50482" y="422363"/>
              <a:ext cx="2588715" cy="1684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/>
              <a:r>
                <a:t>X:= 0</a:t>
              </a:r>
              <a:br/>
              <a:r>
                <a:t>Y:= 1</a:t>
              </a:r>
            </a:p>
            <a:p>
              <a:pPr>
                <a:defRPr>
                  <a:solidFill>
                    <a:srgbClr val="FF0000"/>
                  </a:solidFill>
                </a:defRPr>
              </a:pPr>
              <a:r>
                <a:t>para</a:t>
              </a:r>
              <a:r>
                <a:rPr>
                  <a:solidFill>
                    <a:srgbClr val="000000"/>
                  </a:solidFill>
                </a:rPr>
                <a:t> I:=0 </a:t>
              </a:r>
              <a:r>
                <a:t>hasta</a:t>
              </a:r>
              <a:r>
                <a:rPr>
                  <a:solidFill>
                    <a:srgbClr val="000000"/>
                  </a:solidFill>
                </a:rPr>
                <a:t> 10 </a:t>
              </a:r>
              <a:r>
                <a:t>hacer</a:t>
              </a:r>
            </a:p>
            <a:p>
              <a:pPr/>
              <a:r>
                <a:t>X:= X+Y</a:t>
              </a:r>
              <a:br/>
              <a:r>
                <a:rPr>
                  <a:solidFill>
                    <a:srgbClr val="FF0000"/>
                  </a:solidFill>
                </a:rPr>
                <a:t>fin para</a:t>
              </a:r>
              <a:endParaRPr>
                <a:solidFill>
                  <a:srgbClr val="FF0000"/>
                </a:solidFill>
              </a:endParaRPr>
            </a:p>
            <a:p>
              <a:pPr>
                <a:defRPr>
                  <a:solidFill>
                    <a:srgbClr val="FF0000"/>
                  </a:solidFill>
                </a:defRPr>
              </a:pPr>
              <a:r>
                <a:t>Escribir (</a:t>
              </a:r>
              <a:r>
                <a:rPr>
                  <a:solidFill>
                    <a:srgbClr val="000000"/>
                  </a:solidFill>
                </a:rPr>
                <a:t>X</a:t>
              </a:r>
              <a:r>
                <a:t>)</a:t>
              </a:r>
            </a:p>
          </p:txBody>
        </p:sp>
      </p:grpSp>
      <p:grpSp>
        <p:nvGrpSpPr>
          <p:cNvPr id="160" name="Group"/>
          <p:cNvGrpSpPr/>
          <p:nvPr/>
        </p:nvGrpSpPr>
        <p:grpSpPr>
          <a:xfrm>
            <a:off x="1304925" y="2722879"/>
            <a:ext cx="2122488" cy="332742"/>
            <a:chOff x="0" y="0"/>
            <a:chExt cx="2122487" cy="332740"/>
          </a:xfrm>
        </p:grpSpPr>
        <p:sp>
          <p:nvSpPr>
            <p:cNvPr id="158" name="Rectangle"/>
            <p:cNvSpPr/>
            <p:nvPr/>
          </p:nvSpPr>
          <p:spPr>
            <a:xfrm>
              <a:off x="0" y="58419"/>
              <a:ext cx="2122488" cy="21590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59" name="PSEUDOCODIGO"/>
            <p:cNvSpPr txBox="1"/>
            <p:nvPr/>
          </p:nvSpPr>
          <p:spPr>
            <a:xfrm>
              <a:off x="325407" y="0"/>
              <a:ext cx="1471673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6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PSEUDOCODIGO</a:t>
              </a:r>
            </a:p>
          </p:txBody>
        </p:sp>
      </p:grpSp>
      <p:grpSp>
        <p:nvGrpSpPr>
          <p:cNvPr id="163" name="Group"/>
          <p:cNvGrpSpPr/>
          <p:nvPr/>
        </p:nvGrpSpPr>
        <p:grpSpPr>
          <a:xfrm>
            <a:off x="4859337" y="3068637"/>
            <a:ext cx="3168651" cy="2520951"/>
            <a:chOff x="0" y="0"/>
            <a:chExt cx="3168650" cy="2520950"/>
          </a:xfrm>
        </p:grpSpPr>
        <p:sp>
          <p:nvSpPr>
            <p:cNvPr id="161" name="Rectangle"/>
            <p:cNvSpPr/>
            <p:nvPr/>
          </p:nvSpPr>
          <p:spPr>
            <a:xfrm>
              <a:off x="0" y="-1"/>
              <a:ext cx="3168650" cy="2520952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99CC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0000"/>
                  </a:solidFill>
                </a:defRPr>
              </a:pPr>
            </a:p>
          </p:txBody>
        </p:sp>
        <p:sp>
          <p:nvSpPr>
            <p:cNvPr id="162" name="X:= 0; Y:= 1;…"/>
            <p:cNvSpPr txBox="1"/>
            <p:nvPr/>
          </p:nvSpPr>
          <p:spPr>
            <a:xfrm>
              <a:off x="50482" y="285044"/>
              <a:ext cx="1711820" cy="1950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/>
              <a:r>
                <a:t>X:= 0;</a:t>
              </a:r>
              <a:br/>
              <a:r>
                <a:t>Y:= 1;</a:t>
              </a:r>
            </a:p>
            <a:p>
              <a:pPr>
                <a:defRPr>
                  <a:solidFill>
                    <a:srgbClr val="FF0000"/>
                  </a:solidFill>
                </a:defRPr>
              </a:pPr>
              <a:r>
                <a:t>for</a:t>
              </a:r>
              <a:r>
                <a:rPr>
                  <a:solidFill>
                    <a:srgbClr val="000000"/>
                  </a:solidFill>
                </a:rPr>
                <a:t> I:=0 </a:t>
              </a:r>
              <a:r>
                <a:t>to</a:t>
              </a:r>
              <a:r>
                <a:rPr>
                  <a:solidFill>
                    <a:srgbClr val="000000"/>
                  </a:solidFill>
                </a:rPr>
                <a:t> 10 </a:t>
              </a:r>
              <a:r>
                <a:t>do</a:t>
              </a:r>
            </a:p>
            <a:p>
              <a:pPr>
                <a:defRPr>
                  <a:solidFill>
                    <a:srgbClr val="FF0000"/>
                  </a:solidFill>
                </a:defRPr>
              </a:pPr>
              <a:r>
                <a:t>begin</a:t>
              </a:r>
            </a:p>
            <a:p>
              <a:pPr/>
              <a:r>
                <a:t>X:= X+Y;</a:t>
              </a:r>
              <a:br/>
              <a:r>
                <a:rPr>
                  <a:solidFill>
                    <a:srgbClr val="FF0000"/>
                  </a:solidFill>
                </a:rPr>
                <a:t>end;</a:t>
              </a:r>
              <a:endParaRPr>
                <a:solidFill>
                  <a:srgbClr val="FF0000"/>
                </a:solidFill>
              </a:endParaRPr>
            </a:p>
            <a:p>
              <a:pPr>
                <a:defRPr>
                  <a:solidFill>
                    <a:srgbClr val="FF0000"/>
                  </a:solidFill>
                </a:defRPr>
              </a:pPr>
              <a:r>
                <a:t>Write (</a:t>
              </a:r>
              <a:r>
                <a:rPr>
                  <a:solidFill>
                    <a:srgbClr val="000000"/>
                  </a:solidFill>
                </a:rPr>
                <a:t>X</a:t>
              </a:r>
              <a:r>
                <a:t>)</a:t>
              </a:r>
            </a:p>
          </p:txBody>
        </p:sp>
      </p:grpSp>
      <p:grpSp>
        <p:nvGrpSpPr>
          <p:cNvPr id="166" name="Group"/>
          <p:cNvGrpSpPr/>
          <p:nvPr/>
        </p:nvGrpSpPr>
        <p:grpSpPr>
          <a:xfrm>
            <a:off x="5507037" y="2722879"/>
            <a:ext cx="2089151" cy="332742"/>
            <a:chOff x="0" y="0"/>
            <a:chExt cx="2089150" cy="332740"/>
          </a:xfrm>
        </p:grpSpPr>
        <p:sp>
          <p:nvSpPr>
            <p:cNvPr id="164" name="Rectangle"/>
            <p:cNvSpPr/>
            <p:nvPr/>
          </p:nvSpPr>
          <p:spPr>
            <a:xfrm>
              <a:off x="0" y="58419"/>
              <a:ext cx="2089150" cy="215901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65" name="PASCAL"/>
            <p:cNvSpPr txBox="1"/>
            <p:nvPr/>
          </p:nvSpPr>
          <p:spPr>
            <a:xfrm>
              <a:off x="686365" y="0"/>
              <a:ext cx="716420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6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PASCAL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822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822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822"/>
                            </p:stCondLst>
                            <p:childTnLst>
                              <p:par>
                                <p:cTn id="10" presetClass="entr" nodeType="afterEffect" presetSubtype="1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822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22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1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822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822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22"/>
                            </p:stCondLst>
                            <p:childTnLst>
                              <p:par>
                                <p:cTn id="21" presetClass="entr" nodeType="afterEffect" presetSubtype="1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822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822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6" grpId="4"/>
      <p:bldP build="whole" bldLvl="1" animBg="1" rev="0" advAuto="0" spid="160" grpId="2"/>
      <p:bldP build="whole" bldLvl="1" animBg="1" rev="0" advAuto="0" spid="163" grpId="3"/>
      <p:bldP build="whole" bldLvl="1" animBg="1" rev="0" advAuto="0" spid="15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Decisión…"/>
          <p:cNvSpPr txBox="1"/>
          <p:nvPr/>
        </p:nvSpPr>
        <p:spPr>
          <a:xfrm>
            <a:off x="369569" y="765175"/>
            <a:ext cx="7973062" cy="1231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pPr>
            <a:r>
              <a:t> Decisión</a:t>
            </a:r>
          </a:p>
          <a:p>
            <a:pPr>
              <a:spcBef>
                <a:spcPts val="1000"/>
              </a:spcBef>
              <a:buSzPct val="100000"/>
              <a:buChar char="•"/>
              <a:defRPr b="1">
                <a:latin typeface="Calibri"/>
                <a:ea typeface="Calibri"/>
                <a:cs typeface="Calibri"/>
                <a:sym typeface="Calibri"/>
              </a:defRPr>
            </a:pPr>
            <a:r>
              <a:t> Supongamos la siguiente instrucción:</a:t>
            </a:r>
            <a:br/>
            <a:r>
              <a:t>“Leer un número por teclado e imprimir en pantalla si es negativo o positivo”</a:t>
            </a:r>
          </a:p>
        </p:txBody>
      </p:sp>
      <p:sp>
        <p:nvSpPr>
          <p:cNvPr id="169" name="De pseudocódigo a PASCAL"/>
          <p:cNvSpPr txBox="1"/>
          <p:nvPr/>
        </p:nvSpPr>
        <p:spPr>
          <a:xfrm>
            <a:off x="514032" y="59848"/>
            <a:ext cx="81381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 pseudocódigo a PASCAL</a:t>
            </a:r>
          </a:p>
        </p:txBody>
      </p:sp>
      <p:grpSp>
        <p:nvGrpSpPr>
          <p:cNvPr id="172" name="Group"/>
          <p:cNvGrpSpPr/>
          <p:nvPr/>
        </p:nvGrpSpPr>
        <p:grpSpPr>
          <a:xfrm>
            <a:off x="1449387" y="2506979"/>
            <a:ext cx="2122488" cy="332742"/>
            <a:chOff x="0" y="0"/>
            <a:chExt cx="2122487" cy="332740"/>
          </a:xfrm>
        </p:grpSpPr>
        <p:sp>
          <p:nvSpPr>
            <p:cNvPr id="170" name="Rectangle"/>
            <p:cNvSpPr/>
            <p:nvPr/>
          </p:nvSpPr>
          <p:spPr>
            <a:xfrm>
              <a:off x="0" y="58419"/>
              <a:ext cx="2122488" cy="21590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71" name="PSEUDOCODIGO"/>
            <p:cNvSpPr txBox="1"/>
            <p:nvPr/>
          </p:nvSpPr>
          <p:spPr>
            <a:xfrm>
              <a:off x="325407" y="0"/>
              <a:ext cx="1471673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6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PSEUDOCODIGO</a:t>
              </a:r>
            </a:p>
          </p:txBody>
        </p:sp>
      </p:grpSp>
      <p:grpSp>
        <p:nvGrpSpPr>
          <p:cNvPr id="175" name="Group"/>
          <p:cNvGrpSpPr/>
          <p:nvPr/>
        </p:nvGrpSpPr>
        <p:grpSpPr>
          <a:xfrm>
            <a:off x="4859337" y="2820281"/>
            <a:ext cx="3600451" cy="3017663"/>
            <a:chOff x="0" y="0"/>
            <a:chExt cx="3600450" cy="3017661"/>
          </a:xfrm>
        </p:grpSpPr>
        <p:sp>
          <p:nvSpPr>
            <p:cNvPr id="173" name="Rectangle"/>
            <p:cNvSpPr/>
            <p:nvPr/>
          </p:nvSpPr>
          <p:spPr>
            <a:xfrm>
              <a:off x="0" y="32455"/>
              <a:ext cx="3600450" cy="2952751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99CC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0000"/>
                  </a:solidFill>
                </a:defRPr>
              </a:pPr>
            </a:p>
          </p:txBody>
        </p:sp>
        <p:sp>
          <p:nvSpPr>
            <p:cNvPr id="174" name="Read(X)…"/>
            <p:cNvSpPr txBox="1"/>
            <p:nvPr/>
          </p:nvSpPr>
          <p:spPr>
            <a:xfrm>
              <a:off x="50482" y="0"/>
              <a:ext cx="3110320" cy="3017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/>
              <a:r>
                <a:t>Read(X)</a:t>
              </a:r>
            </a:p>
            <a:p>
              <a:pPr/>
              <a:r>
                <a:t>if X&lt;&gt;0 then</a:t>
              </a:r>
            </a:p>
            <a:p>
              <a:pPr/>
              <a:r>
                <a:t>   if X&gt;0 then</a:t>
              </a:r>
            </a:p>
            <a:p>
              <a:pPr/>
              <a:r>
                <a:t>	Write(“Es positivo”)</a:t>
              </a:r>
            </a:p>
            <a:p>
              <a:pPr/>
              <a:r>
                <a:t>   else</a:t>
              </a:r>
            </a:p>
            <a:p>
              <a:pPr/>
              <a:r>
                <a:t>	Write(“Es negativo”);</a:t>
              </a:r>
            </a:p>
            <a:p>
              <a:pPr/>
              <a:r>
                <a:t>   end;</a:t>
              </a:r>
            </a:p>
            <a:p>
              <a:pPr/>
              <a:r>
                <a:t>else</a:t>
              </a:r>
            </a:p>
            <a:p>
              <a:pPr/>
              <a:r>
                <a:t> write(“El número es 0”); </a:t>
              </a:r>
              <a:br/>
              <a:r>
                <a:t>end;</a:t>
              </a:r>
            </a:p>
          </p:txBody>
        </p:sp>
      </p:grpSp>
      <p:grpSp>
        <p:nvGrpSpPr>
          <p:cNvPr id="178" name="Group"/>
          <p:cNvGrpSpPr/>
          <p:nvPr/>
        </p:nvGrpSpPr>
        <p:grpSpPr>
          <a:xfrm>
            <a:off x="5651500" y="2506979"/>
            <a:ext cx="2089150" cy="332742"/>
            <a:chOff x="0" y="0"/>
            <a:chExt cx="2089150" cy="332740"/>
          </a:xfrm>
        </p:grpSpPr>
        <p:sp>
          <p:nvSpPr>
            <p:cNvPr id="176" name="Rectangle"/>
            <p:cNvSpPr/>
            <p:nvPr/>
          </p:nvSpPr>
          <p:spPr>
            <a:xfrm>
              <a:off x="0" y="58419"/>
              <a:ext cx="2089150" cy="215901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77" name="PASCAL"/>
            <p:cNvSpPr txBox="1"/>
            <p:nvPr/>
          </p:nvSpPr>
          <p:spPr>
            <a:xfrm>
              <a:off x="686365" y="0"/>
              <a:ext cx="716420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6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PASCAL</a:t>
              </a:r>
            </a:p>
          </p:txBody>
        </p:sp>
      </p:grpSp>
      <p:grpSp>
        <p:nvGrpSpPr>
          <p:cNvPr id="181" name="Group"/>
          <p:cNvGrpSpPr/>
          <p:nvPr/>
        </p:nvGrpSpPr>
        <p:grpSpPr>
          <a:xfrm>
            <a:off x="611187" y="2820281"/>
            <a:ext cx="3600451" cy="3017663"/>
            <a:chOff x="0" y="0"/>
            <a:chExt cx="3600450" cy="3017661"/>
          </a:xfrm>
        </p:grpSpPr>
        <p:sp>
          <p:nvSpPr>
            <p:cNvPr id="179" name="Rectangle"/>
            <p:cNvSpPr/>
            <p:nvPr/>
          </p:nvSpPr>
          <p:spPr>
            <a:xfrm>
              <a:off x="0" y="32455"/>
              <a:ext cx="3600450" cy="2952751"/>
            </a:xfrm>
            <a:prstGeom prst="rect">
              <a:avLst/>
            </a:prstGeom>
            <a:noFill/>
            <a:ln w="9525" cap="flat">
              <a:solidFill>
                <a:srgbClr val="99CC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80" name="Leer(X)…"/>
            <p:cNvSpPr txBox="1"/>
            <p:nvPr/>
          </p:nvSpPr>
          <p:spPr>
            <a:xfrm>
              <a:off x="50482" y="0"/>
              <a:ext cx="3279649" cy="3017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/>
              <a:r>
                <a:t>Leer(X)</a:t>
              </a:r>
            </a:p>
            <a:p>
              <a:pPr/>
              <a:r>
                <a:t>si X&lt;&gt;0 entonces</a:t>
              </a:r>
            </a:p>
            <a:p>
              <a:pPr/>
              <a:r>
                <a:t>   si X&gt;0 entonces</a:t>
              </a:r>
            </a:p>
            <a:p>
              <a:pPr/>
              <a:r>
                <a:t>	Escribir(“Es positivo”)</a:t>
              </a:r>
            </a:p>
            <a:p>
              <a:pPr/>
              <a:r>
                <a:t>   si no</a:t>
              </a:r>
            </a:p>
            <a:p>
              <a:pPr/>
              <a:r>
                <a:t>	Escribir(“Es negativo”)</a:t>
              </a:r>
            </a:p>
            <a:p>
              <a:pPr/>
              <a:r>
                <a:t>   fin si</a:t>
              </a:r>
            </a:p>
            <a:p>
              <a:pPr/>
              <a:r>
                <a:t>si no</a:t>
              </a:r>
            </a:p>
            <a:p>
              <a:pPr/>
              <a:r>
                <a:t>Escribir(“El número es 0”) </a:t>
              </a:r>
              <a:br/>
              <a:r>
                <a:t>fin si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822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822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822"/>
                            </p:stCondLst>
                            <p:childTnLst>
                              <p:par>
                                <p:cTn id="10" presetClass="entr" nodeType="afterEffect" presetSubtype="1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822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22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1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822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822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22"/>
                            </p:stCondLst>
                            <p:childTnLst>
                              <p:par>
                                <p:cTn id="21" presetClass="entr" nodeType="afterEffect" presetSubtype="1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822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822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8" grpId="4"/>
      <p:bldP build="whole" bldLvl="1" animBg="1" rev="0" advAuto="0" spid="175" grpId="3"/>
      <p:bldP build="whole" bldLvl="1" animBg="1" rev="0" advAuto="0" spid="172" grpId="1"/>
      <p:bldP build="whole" bldLvl="1" animBg="1" rev="0" advAuto="0" spid="181" grpId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elección…"/>
          <p:cNvSpPr txBox="1"/>
          <p:nvPr/>
        </p:nvSpPr>
        <p:spPr>
          <a:xfrm>
            <a:off x="369569" y="765175"/>
            <a:ext cx="7973062" cy="151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pPr>
            <a:r>
              <a:t> Selección</a:t>
            </a:r>
          </a:p>
          <a:p>
            <a:pPr>
              <a:spcBef>
                <a:spcPts val="1000"/>
              </a:spcBef>
              <a:buSzPct val="100000"/>
              <a:buChar char="•"/>
              <a:defRPr b="1">
                <a:latin typeface="Calibri"/>
                <a:ea typeface="Calibri"/>
                <a:cs typeface="Calibri"/>
                <a:sym typeface="Calibri"/>
              </a:defRPr>
            </a:pPr>
            <a:r>
              <a:t> Supongamos la siguiente instrucción:</a:t>
            </a:r>
            <a:br/>
            <a:r>
              <a:t>“Leer una edad por teclado e imprimir en pantalla si es niño, adolescente, adulto o mayor</a:t>
            </a:r>
          </a:p>
        </p:txBody>
      </p:sp>
      <p:sp>
        <p:nvSpPr>
          <p:cNvPr id="184" name="De pseudocódigo a PASCAL"/>
          <p:cNvSpPr txBox="1"/>
          <p:nvPr/>
        </p:nvSpPr>
        <p:spPr>
          <a:xfrm>
            <a:off x="514032" y="59848"/>
            <a:ext cx="81381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 pseudocódigo a PASCAL</a:t>
            </a:r>
          </a:p>
        </p:txBody>
      </p:sp>
      <p:grpSp>
        <p:nvGrpSpPr>
          <p:cNvPr id="187" name="Group"/>
          <p:cNvGrpSpPr/>
          <p:nvPr/>
        </p:nvGrpSpPr>
        <p:grpSpPr>
          <a:xfrm>
            <a:off x="1377950" y="2506979"/>
            <a:ext cx="2122488" cy="332742"/>
            <a:chOff x="0" y="0"/>
            <a:chExt cx="2122487" cy="332740"/>
          </a:xfrm>
        </p:grpSpPr>
        <p:sp>
          <p:nvSpPr>
            <p:cNvPr id="185" name="Rectangle"/>
            <p:cNvSpPr/>
            <p:nvPr/>
          </p:nvSpPr>
          <p:spPr>
            <a:xfrm>
              <a:off x="0" y="58419"/>
              <a:ext cx="2122488" cy="21590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6" name="PSEUDOCODIGO"/>
            <p:cNvSpPr txBox="1"/>
            <p:nvPr/>
          </p:nvSpPr>
          <p:spPr>
            <a:xfrm>
              <a:off x="325407" y="0"/>
              <a:ext cx="1471673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6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PSEUDOCODIGO</a:t>
              </a:r>
            </a:p>
          </p:txBody>
        </p:sp>
      </p:grpSp>
      <p:grpSp>
        <p:nvGrpSpPr>
          <p:cNvPr id="190" name="Group"/>
          <p:cNvGrpSpPr/>
          <p:nvPr/>
        </p:nvGrpSpPr>
        <p:grpSpPr>
          <a:xfrm>
            <a:off x="4787900" y="2852737"/>
            <a:ext cx="3960813" cy="3671888"/>
            <a:chOff x="0" y="0"/>
            <a:chExt cx="3960812" cy="3671887"/>
          </a:xfrm>
        </p:grpSpPr>
        <p:sp>
          <p:nvSpPr>
            <p:cNvPr id="188" name="Rectangle"/>
            <p:cNvSpPr/>
            <p:nvPr/>
          </p:nvSpPr>
          <p:spPr>
            <a:xfrm>
              <a:off x="0" y="0"/>
              <a:ext cx="3960813" cy="3671888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99CC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89" name="read (edad);…"/>
            <p:cNvSpPr txBox="1"/>
            <p:nvPr/>
          </p:nvSpPr>
          <p:spPr>
            <a:xfrm>
              <a:off x="50482" y="327113"/>
              <a:ext cx="3039106" cy="3017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/>
              <a:r>
                <a:t>read (edad);</a:t>
              </a:r>
              <a:br/>
            </a:p>
            <a:p>
              <a:pPr/>
              <a:r>
                <a:t>case (edad) of</a:t>
              </a:r>
            </a:p>
            <a:p>
              <a:pPr/>
            </a:p>
            <a:p>
              <a:pPr/>
              <a:r>
                <a:t>0..9:  write (“Niño”);</a:t>
              </a:r>
            </a:p>
            <a:p>
              <a:pPr/>
              <a:r>
                <a:t>10..20: write (“Adolescente”);</a:t>
              </a:r>
            </a:p>
            <a:p>
              <a:pPr/>
              <a:r>
                <a:t>21..64: write (“Adulto”);</a:t>
              </a:r>
            </a:p>
            <a:p>
              <a:pPr/>
              <a:r>
                <a:t>65..100: write (“Mayor);</a:t>
              </a:r>
            </a:p>
            <a:p>
              <a:pPr/>
              <a:r>
                <a:t>else</a:t>
              </a:r>
            </a:p>
            <a:p>
              <a:pPr/>
              <a:r>
                <a:t>   write (“no esta definido”);</a:t>
              </a:r>
            </a:p>
            <a:p>
              <a:pPr/>
              <a:r>
                <a:t>end;</a:t>
              </a:r>
            </a:p>
          </p:txBody>
        </p:sp>
      </p:grpSp>
      <p:grpSp>
        <p:nvGrpSpPr>
          <p:cNvPr id="193" name="Group"/>
          <p:cNvGrpSpPr/>
          <p:nvPr/>
        </p:nvGrpSpPr>
        <p:grpSpPr>
          <a:xfrm>
            <a:off x="6013450" y="2506979"/>
            <a:ext cx="2089150" cy="332742"/>
            <a:chOff x="0" y="0"/>
            <a:chExt cx="2089150" cy="332740"/>
          </a:xfrm>
        </p:grpSpPr>
        <p:sp>
          <p:nvSpPr>
            <p:cNvPr id="191" name="Rectangle"/>
            <p:cNvSpPr/>
            <p:nvPr/>
          </p:nvSpPr>
          <p:spPr>
            <a:xfrm>
              <a:off x="0" y="58419"/>
              <a:ext cx="2089150" cy="215901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2" name="PASCAL"/>
            <p:cNvSpPr txBox="1"/>
            <p:nvPr/>
          </p:nvSpPr>
          <p:spPr>
            <a:xfrm>
              <a:off x="686365" y="0"/>
              <a:ext cx="716420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6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PASCAL</a:t>
              </a:r>
            </a:p>
          </p:txBody>
        </p:sp>
      </p:grpSp>
      <p:grpSp>
        <p:nvGrpSpPr>
          <p:cNvPr id="196" name="Group"/>
          <p:cNvGrpSpPr/>
          <p:nvPr/>
        </p:nvGrpSpPr>
        <p:grpSpPr>
          <a:xfrm>
            <a:off x="396875" y="2851150"/>
            <a:ext cx="4175125" cy="3673475"/>
            <a:chOff x="0" y="0"/>
            <a:chExt cx="4175125" cy="3673475"/>
          </a:xfrm>
        </p:grpSpPr>
        <p:sp>
          <p:nvSpPr>
            <p:cNvPr id="194" name="Rectangle"/>
            <p:cNvSpPr/>
            <p:nvPr/>
          </p:nvSpPr>
          <p:spPr>
            <a:xfrm>
              <a:off x="0" y="0"/>
              <a:ext cx="4175125" cy="3673475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95" name="leer (edad) seleccionar (edad)…"/>
            <p:cNvSpPr txBox="1"/>
            <p:nvPr/>
          </p:nvSpPr>
          <p:spPr>
            <a:xfrm>
              <a:off x="50482" y="194556"/>
              <a:ext cx="3737408" cy="32843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/>
              <a:r>
                <a:t>leer (edad)</a:t>
              </a:r>
              <a:br/>
              <a:r>
                <a:t>seleccionar (edad)</a:t>
              </a:r>
            </a:p>
            <a:p>
              <a:pPr/>
              <a:r>
                <a:t>caso (edad &gt; 0 y edad &lt; 10)</a:t>
              </a:r>
            </a:p>
            <a:p>
              <a:pPr/>
              <a:r>
                <a:t>	escribir (“Niño”)</a:t>
              </a:r>
            </a:p>
            <a:p>
              <a:pPr/>
              <a:r>
                <a:t>caso (edad &gt; 9 y edad &lt; 21)</a:t>
              </a:r>
            </a:p>
            <a:p>
              <a:pPr/>
              <a:r>
                <a:t>	escribir (“Adolescente”)</a:t>
              </a:r>
            </a:p>
            <a:p>
              <a:pPr/>
              <a:r>
                <a:t>caso (edad &gt; 20 y edad &lt; 65)</a:t>
              </a:r>
            </a:p>
            <a:p>
              <a:pPr/>
              <a:r>
                <a:t>	escribir (“Adulto”)</a:t>
              </a:r>
            </a:p>
            <a:p>
              <a:pPr/>
              <a:r>
                <a:t>caso (edad &gt; 64 y edad &lt; 101)</a:t>
              </a:r>
            </a:p>
            <a:p>
              <a:pPr/>
              <a:r>
                <a:t>	escribir (“Mayor”)</a:t>
              </a:r>
            </a:p>
            <a:p>
              <a:pPr/>
              <a:r>
                <a:t>en otro caso</a:t>
              </a:r>
            </a:p>
            <a:p>
              <a:pPr/>
              <a:r>
                <a:t>	escribir (“no esta definido”)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822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822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822"/>
                            </p:stCondLst>
                            <p:childTnLst>
                              <p:par>
                                <p:cTn id="10" presetClass="entr" nodeType="afterEffect" presetSubtype="1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822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22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1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822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822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22"/>
                            </p:stCondLst>
                            <p:childTnLst>
                              <p:par>
                                <p:cTn id="21" presetClass="entr" nodeType="afterEffect" presetSubtype="1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822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822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3" grpId="4"/>
      <p:bldP build="whole" bldLvl="1" animBg="1" rev="0" advAuto="0" spid="190" grpId="3"/>
      <p:bldP build="whole" bldLvl="1" animBg="1" rev="0" advAuto="0" spid="187" grpId="1"/>
      <p:bldP build="whole" bldLvl="1" animBg="1" rev="0" advAuto="0" spid="196" grpId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Iteración…"/>
          <p:cNvSpPr txBox="1"/>
          <p:nvPr/>
        </p:nvSpPr>
        <p:spPr>
          <a:xfrm>
            <a:off x="369569" y="765175"/>
            <a:ext cx="7973062" cy="151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pPr>
            <a:r>
              <a:t> Iteración</a:t>
            </a:r>
          </a:p>
          <a:p>
            <a:pPr>
              <a:spcBef>
                <a:spcPts val="1000"/>
              </a:spcBef>
              <a:buSzPct val="100000"/>
              <a:buChar char="•"/>
              <a:defRPr b="1">
                <a:latin typeface="Calibri"/>
                <a:ea typeface="Calibri"/>
                <a:cs typeface="Calibri"/>
                <a:sym typeface="Calibri"/>
              </a:defRPr>
            </a:pPr>
            <a:r>
              <a:t> Dada la siguiente instrucción:</a:t>
            </a:r>
            <a:br/>
            <a:r>
              <a:t>“Calcular las potencias de números ingresados por teclado siempre que sean positivos e imprimir en pantalla”</a:t>
            </a:r>
          </a:p>
        </p:txBody>
      </p:sp>
      <p:sp>
        <p:nvSpPr>
          <p:cNvPr id="199" name="De pseudocódigo a PASCAL"/>
          <p:cNvSpPr txBox="1"/>
          <p:nvPr/>
        </p:nvSpPr>
        <p:spPr>
          <a:xfrm>
            <a:off x="514032" y="59848"/>
            <a:ext cx="81381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 pseudocódigo a PASCAL</a:t>
            </a:r>
          </a:p>
        </p:txBody>
      </p:sp>
      <p:grpSp>
        <p:nvGrpSpPr>
          <p:cNvPr id="202" name="Group"/>
          <p:cNvGrpSpPr/>
          <p:nvPr/>
        </p:nvGrpSpPr>
        <p:grpSpPr>
          <a:xfrm>
            <a:off x="1449387" y="2506979"/>
            <a:ext cx="2122488" cy="332742"/>
            <a:chOff x="0" y="0"/>
            <a:chExt cx="2122487" cy="332740"/>
          </a:xfrm>
        </p:grpSpPr>
        <p:sp>
          <p:nvSpPr>
            <p:cNvPr id="200" name="Rectangle"/>
            <p:cNvSpPr/>
            <p:nvPr/>
          </p:nvSpPr>
          <p:spPr>
            <a:xfrm>
              <a:off x="0" y="58419"/>
              <a:ext cx="2122488" cy="21590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1" name="PSEUDOCODIGO"/>
            <p:cNvSpPr txBox="1"/>
            <p:nvPr/>
          </p:nvSpPr>
          <p:spPr>
            <a:xfrm>
              <a:off x="325407" y="0"/>
              <a:ext cx="1471673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6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PSEUDOCODIGO</a:t>
              </a:r>
            </a:p>
          </p:txBody>
        </p:sp>
      </p:grpSp>
      <p:grpSp>
        <p:nvGrpSpPr>
          <p:cNvPr id="205" name="Group"/>
          <p:cNvGrpSpPr/>
          <p:nvPr/>
        </p:nvGrpSpPr>
        <p:grpSpPr>
          <a:xfrm>
            <a:off x="4859337" y="2813138"/>
            <a:ext cx="3960813" cy="1950862"/>
            <a:chOff x="0" y="0"/>
            <a:chExt cx="3960812" cy="1950861"/>
          </a:xfrm>
        </p:grpSpPr>
        <p:sp>
          <p:nvSpPr>
            <p:cNvPr id="203" name="Rectangle"/>
            <p:cNvSpPr/>
            <p:nvPr/>
          </p:nvSpPr>
          <p:spPr>
            <a:xfrm>
              <a:off x="0" y="39599"/>
              <a:ext cx="3960813" cy="1871663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99CC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04" name="read (numero);…"/>
            <p:cNvSpPr txBox="1"/>
            <p:nvPr/>
          </p:nvSpPr>
          <p:spPr>
            <a:xfrm>
              <a:off x="50482" y="0"/>
              <a:ext cx="3546647" cy="1950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/>
              <a:r>
                <a:t>read (numero);</a:t>
              </a:r>
            </a:p>
            <a:p>
              <a:pPr/>
              <a:r>
                <a:t>while (numero &gt; 0) do</a:t>
              </a:r>
            </a:p>
            <a:p>
              <a:pPr/>
              <a:r>
                <a:t> begin</a:t>
              </a:r>
            </a:p>
            <a:p>
              <a:pPr/>
              <a:r>
                <a:t>	write (numero * numero);</a:t>
              </a:r>
            </a:p>
            <a:p>
              <a:pPr/>
              <a:r>
                <a:t>	read (numero);</a:t>
              </a:r>
            </a:p>
            <a:p>
              <a:pPr/>
              <a:r>
                <a:t> end;</a:t>
              </a:r>
            </a:p>
          </p:txBody>
        </p:sp>
      </p:grpSp>
      <p:grpSp>
        <p:nvGrpSpPr>
          <p:cNvPr id="208" name="Group"/>
          <p:cNvGrpSpPr/>
          <p:nvPr/>
        </p:nvGrpSpPr>
        <p:grpSpPr>
          <a:xfrm>
            <a:off x="5867400" y="2506979"/>
            <a:ext cx="2089150" cy="332742"/>
            <a:chOff x="0" y="0"/>
            <a:chExt cx="2089150" cy="332740"/>
          </a:xfrm>
        </p:grpSpPr>
        <p:sp>
          <p:nvSpPr>
            <p:cNvPr id="206" name="Rectangle"/>
            <p:cNvSpPr/>
            <p:nvPr/>
          </p:nvSpPr>
          <p:spPr>
            <a:xfrm>
              <a:off x="0" y="58419"/>
              <a:ext cx="2089150" cy="215901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7" name="PASCAL"/>
            <p:cNvSpPr txBox="1"/>
            <p:nvPr/>
          </p:nvSpPr>
          <p:spPr>
            <a:xfrm>
              <a:off x="686365" y="0"/>
              <a:ext cx="716420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16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PASCAL</a:t>
              </a:r>
            </a:p>
          </p:txBody>
        </p:sp>
      </p:grpSp>
      <p:grpSp>
        <p:nvGrpSpPr>
          <p:cNvPr id="211" name="Group"/>
          <p:cNvGrpSpPr/>
          <p:nvPr/>
        </p:nvGrpSpPr>
        <p:grpSpPr>
          <a:xfrm>
            <a:off x="468312" y="2851150"/>
            <a:ext cx="4175126" cy="1873250"/>
            <a:chOff x="0" y="0"/>
            <a:chExt cx="4175125" cy="1873250"/>
          </a:xfrm>
        </p:grpSpPr>
        <p:sp>
          <p:nvSpPr>
            <p:cNvPr id="209" name="Rectangle"/>
            <p:cNvSpPr/>
            <p:nvPr/>
          </p:nvSpPr>
          <p:spPr>
            <a:xfrm>
              <a:off x="0" y="0"/>
              <a:ext cx="4175125" cy="1873250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10" name="leer (numero)…"/>
            <p:cNvSpPr txBox="1"/>
            <p:nvPr/>
          </p:nvSpPr>
          <p:spPr>
            <a:xfrm>
              <a:off x="50482" y="94544"/>
              <a:ext cx="3737184" cy="1684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/>
              <a:r>
                <a:t>leer (numero)</a:t>
              </a:r>
            </a:p>
            <a:p>
              <a:pPr/>
              <a:r>
                <a:t>mientras numero &gt; 0</a:t>
              </a:r>
            </a:p>
            <a:p>
              <a:pPr/>
              <a:r>
                <a:t>	escribir (numero * numero)</a:t>
              </a:r>
            </a:p>
            <a:p>
              <a:pPr/>
              <a:r>
                <a:t>	leer (numero)</a:t>
              </a:r>
            </a:p>
            <a:p>
              <a:pPr/>
              <a:r>
                <a:t>fin mientras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Class="entr" nodeType="afterEffect" presetSubtype="1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1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Class="entr" nodeType="afterEffect" presetSubtype="1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8" grpId="4"/>
      <p:bldP build="whole" bldLvl="1" animBg="1" rev="0" advAuto="0" spid="205" grpId="3"/>
      <p:bldP build="whole" bldLvl="1" animBg="1" rev="0" advAuto="0" spid="202" grpId="1"/>
      <p:bldP build="whole" bldLvl="1" animBg="1" rev="0" advAuto="0" spid="211" grpId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ractica para hacer en clase"/>
          <p:cNvSpPr txBox="1"/>
          <p:nvPr/>
        </p:nvSpPr>
        <p:spPr>
          <a:xfrm>
            <a:off x="502919" y="239236"/>
            <a:ext cx="81381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2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Practica para hacer en clase</a:t>
            </a:r>
          </a:p>
        </p:txBody>
      </p:sp>
      <p:sp>
        <p:nvSpPr>
          <p:cNvPr id="214" name="1 – Imprima los números del 0 al 100 en pantalla en orden creciente.…"/>
          <p:cNvSpPr txBox="1"/>
          <p:nvPr/>
        </p:nvSpPr>
        <p:spPr>
          <a:xfrm>
            <a:off x="442594" y="2205037"/>
            <a:ext cx="8044499" cy="301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1000"/>
              </a:spcBef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1 – Imprima los números del 0 al 100 en pantalla en orden creciente.</a:t>
            </a:r>
          </a:p>
          <a:p>
            <a:pPr marL="342900" indent="-342900">
              <a:spcBef>
                <a:spcPts val="1000"/>
              </a:spcBef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2 – Imprimir la suma de los números de 1 a 100 en pantalla.</a:t>
            </a:r>
          </a:p>
          <a:p>
            <a:pPr marL="342900" indent="-342900">
              <a:spcBef>
                <a:spcPts val="1000"/>
              </a:spcBef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3 – Imprimir los números que hay desde 1 hasta un número ingresado por teclado.</a:t>
            </a:r>
          </a:p>
          <a:p>
            <a:pPr marL="342900" indent="-342900">
              <a:spcBef>
                <a:spcPts val="1000"/>
              </a:spcBef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4 - Imprimir los números del 0 al 100 en pantalla en orden decreciente.</a:t>
            </a:r>
          </a:p>
          <a:p>
            <a:pPr marL="342900" indent="-342900">
              <a:spcBef>
                <a:spcPts val="1000"/>
              </a:spcBef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5 – Imprimir la cantidad de palabras ingresadas por teclado hasta ingresar la palabra “fin”.</a:t>
            </a:r>
          </a:p>
          <a:p>
            <a:pPr marL="342900" indent="-342900">
              <a:spcBef>
                <a:spcPts val="1000"/>
              </a:spcBef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6 - Imprimir una frase en pantalla leyendo palabra por palabra hasta ingresar la palabra “fin”</a:t>
            </a:r>
          </a:p>
        </p:txBody>
      </p:sp>
      <p:sp>
        <p:nvSpPr>
          <p:cNvPr id="215" name="Realizar el pasaje de pseudocódigo de los ejercicios realizados en la clase anterior a PASCAL"/>
          <p:cNvSpPr txBox="1"/>
          <p:nvPr/>
        </p:nvSpPr>
        <p:spPr>
          <a:xfrm>
            <a:off x="395287" y="1052512"/>
            <a:ext cx="8135938" cy="650241"/>
          </a:xfrm>
          <a:prstGeom prst="rect">
            <a:avLst/>
          </a:prstGeom>
          <a:solidFill>
            <a:srgbClr val="FFFF9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342900" indent="-342900">
              <a:spcBef>
                <a:spcPts val="1000"/>
              </a:spcBef>
              <a:defRPr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	Realizar el pasaje de pseudocódigo de los ejercicios realizados en la clase anterior a PASCAL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822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822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mph" nodeType="afterEffect" presetSubtype="0" presetID="35" grpId="2" fill="hold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mph" nodeType="afterEffect" presetSubtype="0" presetID="35" grpId="3" fill="hold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1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mph" nodeType="afterEffect" presetSubtype="0" presetID="35" grpId="4" fill="hold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1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15" grpId="1"/>
      <p:bldP build="whole" bldLvl="1" animBg="1" rev="0" advAuto="0" spid="215" grpId="2"/>
      <p:bldP build="whole" bldLvl="1" animBg="1" rev="0" advAuto="0" spid="215" grpId="3"/>
      <p:bldP build="whole" bldLvl="1" animBg="1" rev="0" advAuto="0" spid="215" grpId="4"/>
      <p:bldP build="whole" bldLvl="1" animBg="1" rev="0" advAuto="0" spid="214" grpId="5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racias…"/>
          <p:cNvSpPr txBox="1"/>
          <p:nvPr/>
        </p:nvSpPr>
        <p:spPr>
          <a:xfrm>
            <a:off x="3249294" y="2817336"/>
            <a:ext cx="2270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2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Gracias…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Diseño predeterminado">
  <a:themeElements>
    <a:clrScheme name="Diseño predeterminad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iseño predeterminado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iseño predeterminad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Diseño predeterminado">
  <a:themeElements>
    <a:clrScheme name="Diseño predeterminad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iseño predeterminado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iseño predeterminad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