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33"/>
  </p:notesMasterIdLst>
  <p:sldIdLst>
    <p:sldId id="264" r:id="rId3"/>
    <p:sldId id="256" r:id="rId4"/>
    <p:sldId id="299" r:id="rId5"/>
    <p:sldId id="302" r:id="rId6"/>
    <p:sldId id="311" r:id="rId7"/>
    <p:sldId id="321" r:id="rId8"/>
    <p:sldId id="312" r:id="rId9"/>
    <p:sldId id="322" r:id="rId10"/>
    <p:sldId id="280" r:id="rId11"/>
    <p:sldId id="281" r:id="rId12"/>
    <p:sldId id="285" r:id="rId13"/>
    <p:sldId id="289" r:id="rId14"/>
    <p:sldId id="323" r:id="rId15"/>
    <p:sldId id="313" r:id="rId16"/>
    <p:sldId id="324" r:id="rId17"/>
    <p:sldId id="325" r:id="rId18"/>
    <p:sldId id="314" r:id="rId19"/>
    <p:sldId id="326" r:id="rId20"/>
    <p:sldId id="327" r:id="rId21"/>
    <p:sldId id="315" r:id="rId22"/>
    <p:sldId id="316" r:id="rId23"/>
    <p:sldId id="318" r:id="rId24"/>
    <p:sldId id="317" r:id="rId25"/>
    <p:sldId id="319" r:id="rId26"/>
    <p:sldId id="320" r:id="rId27"/>
    <p:sldId id="284" r:id="rId28"/>
    <p:sldId id="293" r:id="rId29"/>
    <p:sldId id="308" r:id="rId30"/>
    <p:sldId id="309" r:id="rId31"/>
    <p:sldId id="310" r:id="rId32"/>
  </p:sldIdLst>
  <p:sldSz cx="9144000" cy="6858000" type="screen4x3"/>
  <p:notesSz cx="6858000" cy="9144000"/>
  <p:defaultTextStyle>
    <a:defPPr>
      <a:defRPr lang="es-A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749"/>
    <p:restoredTop sz="94643"/>
  </p:normalViewPr>
  <p:slideViewPr>
    <p:cSldViewPr>
      <p:cViewPr varScale="1">
        <p:scale>
          <a:sx n="120" d="100"/>
          <a:sy n="120" d="100"/>
        </p:scale>
        <p:origin x="1392" y="17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34" Type="http://schemas.openxmlformats.org/officeDocument/2006/relationships/presProps" Target="pres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theme" Target="theme/theme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viewProps" Target="viewProps.xml"/><Relationship Id="rId8" Type="http://schemas.openxmlformats.org/officeDocument/2006/relationships/slide" Target="slides/slide6.xml"/><Relationship Id="rId3" Type="http://schemas.openxmlformats.org/officeDocument/2006/relationships/slide" Target="slides/slid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encabezado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AR"/>
          </a:p>
        </p:txBody>
      </p:sp>
      <p:sp>
        <p:nvSpPr>
          <p:cNvPr id="3" name="2 Marcador de fecha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5C9B637-CDC0-4A60-98E8-1AF66D8A2354}" type="datetimeFigureOut">
              <a:rPr lang="es-AR" smtClean="0"/>
              <a:t>3/5/22</a:t>
            </a:fld>
            <a:endParaRPr lang="es-AR"/>
          </a:p>
        </p:txBody>
      </p:sp>
      <p:sp>
        <p:nvSpPr>
          <p:cNvPr id="4" name="3 Marcador de imagen de diapositiva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AR"/>
          </a:p>
        </p:txBody>
      </p:sp>
      <p:sp>
        <p:nvSpPr>
          <p:cNvPr id="5" name="4 Marcador de notas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AR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97E38B1-1131-4F2F-904D-E26946682827}" type="slidenum">
              <a:rPr lang="es-AR" smtClean="0"/>
              <a:t>‹#›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8114651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7E38B1-1131-4F2F-904D-E26946682827}" type="slidenum">
              <a:rPr lang="es-AR" smtClean="0"/>
              <a:t>4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06428721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7E38B1-1131-4F2F-904D-E26946682827}" type="slidenum">
              <a:rPr lang="es-AR" smtClean="0"/>
              <a:t>5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97328715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7E38B1-1131-4F2F-904D-E26946682827}" type="slidenum">
              <a:rPr lang="es-AR" smtClean="0"/>
              <a:t>6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73007187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7E38B1-1131-4F2F-904D-E26946682827}" type="slidenum">
              <a:rPr lang="es-AR" smtClean="0"/>
              <a:t>7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01770026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7E38B1-1131-4F2F-904D-E26946682827}" type="slidenum">
              <a:rPr lang="es-AR" smtClean="0"/>
              <a:t>8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55915930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7E38B1-1131-4F2F-904D-E26946682827}" type="slidenum">
              <a:rPr lang="es-AR" smtClean="0"/>
              <a:t>13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294780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7E38B1-1131-4F2F-904D-E26946682827}" type="slidenum">
              <a:rPr lang="es-AR" smtClean="0"/>
              <a:t>14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27133298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7E38B1-1131-4F2F-904D-E26946682827}" type="slidenum">
              <a:rPr lang="es-AR" smtClean="0"/>
              <a:t>15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10445739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7E38B1-1131-4F2F-904D-E26946682827}" type="slidenum">
              <a:rPr lang="es-AR" smtClean="0"/>
              <a:t>16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469855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7E38B1-1131-4F2F-904D-E26946682827}" type="slidenum">
              <a:rPr lang="es-AR" smtClean="0"/>
              <a:t>17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050834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7E38B1-1131-4F2F-904D-E26946682827}" type="slidenum">
              <a:rPr lang="es-AR" smtClean="0"/>
              <a:t>18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61698091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7E38B1-1131-4F2F-904D-E26946682827}" type="slidenum">
              <a:rPr lang="es-AR" smtClean="0"/>
              <a:t>19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70106652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7E38B1-1131-4F2F-904D-E26946682827}" type="slidenum">
              <a:rPr lang="es-AR" smtClean="0"/>
              <a:t>20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27731663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7E38B1-1131-4F2F-904D-E26946682827}" type="slidenum">
              <a:rPr lang="es-AR" smtClean="0"/>
              <a:t>21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68507725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7E38B1-1131-4F2F-904D-E26946682827}" type="slidenum">
              <a:rPr lang="es-AR" smtClean="0"/>
              <a:t>22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79843480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7E38B1-1131-4F2F-904D-E26946682827}" type="slidenum">
              <a:rPr lang="es-AR" smtClean="0"/>
              <a:t>23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82437622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7E38B1-1131-4F2F-904D-E26946682827}" type="slidenum">
              <a:rPr lang="es-AR" smtClean="0"/>
              <a:t>24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35773638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7E38B1-1131-4F2F-904D-E26946682827}" type="slidenum">
              <a:rPr lang="es-AR" smtClean="0"/>
              <a:t>25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8661104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685800" y="2130427"/>
            <a:ext cx="7772400" cy="1470025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s-AR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3861A7-A2BE-4396-9343-333936956773}" type="datetimeFigureOut">
              <a:rPr lang="es-AR" smtClean="0"/>
              <a:t>3/5/22</a:t>
            </a:fld>
            <a:endParaRPr lang="es-AR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ABBB6-31A4-4EB2-B986-935752563B8C}" type="slidenum">
              <a:rPr lang="es-AR" smtClean="0"/>
              <a:t>‹#›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0950958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3861A7-A2BE-4396-9343-333936956773}" type="datetimeFigureOut">
              <a:rPr lang="es-AR" smtClean="0"/>
              <a:t>3/5/22</a:t>
            </a:fld>
            <a:endParaRPr lang="es-AR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ABBB6-31A4-4EB2-B986-935752563B8C}" type="slidenum">
              <a:rPr lang="es-AR" smtClean="0"/>
              <a:t>‹#›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8321182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22313" y="4406902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3861A7-A2BE-4396-9343-333936956773}" type="datetimeFigureOut">
              <a:rPr lang="es-AR" smtClean="0"/>
              <a:t>3/5/22</a:t>
            </a:fld>
            <a:endParaRPr lang="es-AR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ABBB6-31A4-4EB2-B986-935752563B8C}" type="slidenum">
              <a:rPr lang="es-AR" smtClean="0"/>
              <a:t>‹#›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9658407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457200" y="1600202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648200" y="1600202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3861A7-A2BE-4396-9343-333936956773}" type="datetimeFigureOut">
              <a:rPr lang="es-AR" smtClean="0"/>
              <a:t>3/5/22</a:t>
            </a:fld>
            <a:endParaRPr lang="es-AR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ABBB6-31A4-4EB2-B986-935752563B8C}" type="slidenum">
              <a:rPr lang="es-AR" smtClean="0"/>
              <a:t>‹#›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4067267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4645026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4645026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3861A7-A2BE-4396-9343-333936956773}" type="datetimeFigureOut">
              <a:rPr lang="es-AR" smtClean="0"/>
              <a:t>3/5/22</a:t>
            </a:fld>
            <a:endParaRPr lang="es-AR"/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ABBB6-31A4-4EB2-B986-935752563B8C}" type="slidenum">
              <a:rPr lang="es-AR" smtClean="0"/>
              <a:t>‹#›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2228746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3861A7-A2BE-4396-9343-333936956773}" type="datetimeFigureOut">
              <a:rPr lang="es-AR" smtClean="0"/>
              <a:t>3/5/22</a:t>
            </a:fld>
            <a:endParaRPr lang="es-AR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ABBB6-31A4-4EB2-B986-935752563B8C}" type="slidenum">
              <a:rPr lang="es-AR" smtClean="0"/>
              <a:t>‹#›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6415989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3861A7-A2BE-4396-9343-333936956773}" type="datetimeFigureOut">
              <a:rPr lang="es-AR" smtClean="0"/>
              <a:t>3/5/22</a:t>
            </a:fld>
            <a:endParaRPr lang="es-AR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ABBB6-31A4-4EB2-B986-935752563B8C}" type="slidenum">
              <a:rPr lang="es-AR" smtClean="0"/>
              <a:t>‹#›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6255850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575051" y="273052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457200" y="1435102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3861A7-A2BE-4396-9343-333936956773}" type="datetimeFigureOut">
              <a:rPr lang="es-AR" smtClean="0"/>
              <a:t>3/5/22</a:t>
            </a:fld>
            <a:endParaRPr lang="es-AR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ABBB6-31A4-4EB2-B986-935752563B8C}" type="slidenum">
              <a:rPr lang="es-AR" smtClean="0"/>
              <a:t>‹#›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40664318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AR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3861A7-A2BE-4396-9343-333936956773}" type="datetimeFigureOut">
              <a:rPr lang="es-AR" smtClean="0"/>
              <a:t>3/5/22</a:t>
            </a:fld>
            <a:endParaRPr lang="es-AR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ABBB6-31A4-4EB2-B986-935752563B8C}" type="slidenum">
              <a:rPr lang="es-AR" smtClean="0"/>
              <a:t>‹#›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4376500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3861A7-A2BE-4396-9343-333936956773}" type="datetimeFigureOut">
              <a:rPr lang="es-AR" smtClean="0"/>
              <a:t>3/5/22</a:t>
            </a:fld>
            <a:endParaRPr lang="es-AR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ABBB6-31A4-4EB2-B986-935752563B8C}" type="slidenum">
              <a:rPr lang="es-AR" smtClean="0"/>
              <a:t>‹#›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5974429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629400" y="274640"/>
            <a:ext cx="2057400" cy="5851525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57200" y="274640"/>
            <a:ext cx="6019800" cy="5851525"/>
          </a:xfr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3861A7-A2BE-4396-9343-333936956773}" type="datetimeFigureOut">
              <a:rPr lang="es-AR" smtClean="0"/>
              <a:t>3/5/22</a:t>
            </a:fld>
            <a:endParaRPr lang="es-AR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ABBB6-31A4-4EB2-B986-935752563B8C}" type="slidenum">
              <a:rPr lang="es-AR" smtClean="0"/>
              <a:t>‹#›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4443309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editar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E01650-D94C-4688-A36C-AA83C0BC3438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5/3/22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47C71F-EBF0-4BA3-AA24-8E7B4FA81DF9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33938635"/>
      </p:ext>
    </p:extLst>
  </p:cSld>
  <p:clrMapOvr>
    <a:masterClrMapping/>
  </p:clrMapOvr>
  <p:hf sldNum="0" hd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E01650-D94C-4688-A36C-AA83C0BC3438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5/3/22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47C71F-EBF0-4BA3-AA24-8E7B4FA81DF9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51130585"/>
      </p:ext>
    </p:extLst>
  </p:cSld>
  <p:clrMapOvr>
    <a:masterClrMapping/>
  </p:clrMapOvr>
  <p:hf sldNum="0" hd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9" y="1709741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9" y="4589466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E01650-D94C-4688-A36C-AA83C0BC3438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5/3/22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47C71F-EBF0-4BA3-AA24-8E7B4FA81DF9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14046952"/>
      </p:ext>
    </p:extLst>
  </p:cSld>
  <p:clrMapOvr>
    <a:masterClrMapping/>
  </p:clrMapOvr>
  <p:hf sldNum="0" hd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E01650-D94C-4688-A36C-AA83C0BC3438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5/3/22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47C71F-EBF0-4BA3-AA24-8E7B4FA81DF9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72559893"/>
      </p:ext>
    </p:extLst>
  </p:cSld>
  <p:clrMapOvr>
    <a:masterClrMapping/>
  </p:clrMapOvr>
  <p:hf sldNum="0" hd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2" y="365128"/>
            <a:ext cx="78867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E01650-D94C-4688-A36C-AA83C0BC3438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5/3/22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 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47C71F-EBF0-4BA3-AA24-8E7B4FA81DF9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34316507"/>
      </p:ext>
    </p:extLst>
  </p:cSld>
  <p:clrMapOvr>
    <a:masterClrMapping/>
  </p:clrMapOvr>
  <p:hf sldNum="0" hd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E01650-D94C-4688-A36C-AA83C0BC3438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5/3/22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47C71F-EBF0-4BA3-AA24-8E7B4FA81DF9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70105869"/>
      </p:ext>
    </p:extLst>
  </p:cSld>
  <p:clrMapOvr>
    <a:masterClrMapping/>
  </p:clrMapOvr>
  <p:hf sldNum="0" hd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E01650-D94C-4688-A36C-AA83C0BC3438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5/3/22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47C71F-EBF0-4BA3-AA24-8E7B4FA81DF9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90291956"/>
      </p:ext>
    </p:extLst>
  </p:cSld>
  <p:clrMapOvr>
    <a:masterClrMapping/>
  </p:clrMapOvr>
  <p:hf sldNum="0" hd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2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8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2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E01650-D94C-4688-A36C-AA83C0BC3438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5/3/22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47C71F-EBF0-4BA3-AA24-8E7B4FA81DF9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6929406"/>
      </p:ext>
    </p:extLst>
  </p:cSld>
  <p:clrMapOvr>
    <a:masterClrMapping/>
  </p:clrMapOvr>
  <p:hf sldNum="0" hdr="0" dt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2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8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2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E01650-D94C-4688-A36C-AA83C0BC3438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5/3/22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47C71F-EBF0-4BA3-AA24-8E7B4FA81DF9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8742071"/>
      </p:ext>
    </p:extLst>
  </p:cSld>
  <p:clrMapOvr>
    <a:masterClrMapping/>
  </p:clrMapOvr>
  <p:hf sldNum="0" hdr="0" dt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E01650-D94C-4688-A36C-AA83C0BC3438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5/3/22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47C71F-EBF0-4BA3-AA24-8E7B4FA81DF9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53163925"/>
      </p:ext>
    </p:extLst>
  </p:cSld>
  <p:clrMapOvr>
    <a:masterClrMapping/>
  </p:clrMapOvr>
  <p:hf sldNum="0" hdr="0" dt="0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6" y="365125"/>
            <a:ext cx="1971675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1" y="365125"/>
            <a:ext cx="5800725" cy="5811838"/>
          </a:xfrm>
        </p:spPr>
        <p:txBody>
          <a:bodyPr vert="eaVert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E01650-D94C-4688-A36C-AA83C0BC3438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5/3/22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47C71F-EBF0-4BA3-AA24-8E7B4FA81DF9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79411269"/>
      </p:ext>
    </p:extLst>
  </p:cSld>
  <p:clrMapOvr>
    <a:masterClrMapping/>
  </p:clrMapOvr>
  <p:hf sldNum="0" hd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título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600202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2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3861A7-A2BE-4396-9343-333936956773}" type="datetimeFigureOut">
              <a:rPr lang="es-AR" smtClean="0"/>
              <a:t>3/5/22</a:t>
            </a:fld>
            <a:endParaRPr lang="es-AR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AR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61ABBB6-31A4-4EB2-B986-935752563B8C}" type="slidenum">
              <a:rPr lang="es-AR" smtClean="0"/>
              <a:t>‹#›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7576695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A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1" y="365128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1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3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EE01650-D94C-4688-A36C-AA83C0BC3438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5/3/22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1" y="6356353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3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147C71F-EBF0-4BA3-AA24-8E7B4FA81DF9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505861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6.png"/><Relationship Id="rId7" Type="http://schemas.openxmlformats.org/officeDocument/2006/relationships/image" Target="../media/image19.png"/><Relationship Id="rId12" Type="http://schemas.openxmlformats.org/officeDocument/2006/relationships/image" Target="../media/image24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11" Type="http://schemas.openxmlformats.org/officeDocument/2006/relationships/image" Target="../media/image23.png"/><Relationship Id="rId5" Type="http://schemas.openxmlformats.org/officeDocument/2006/relationships/image" Target="../media/image17.png"/><Relationship Id="rId10" Type="http://schemas.openxmlformats.org/officeDocument/2006/relationships/image" Target="../media/image22.png"/><Relationship Id="rId4" Type="http://schemas.openxmlformats.org/officeDocument/2006/relationships/image" Target="../media/image16.png"/><Relationship Id="rId9" Type="http://schemas.openxmlformats.org/officeDocument/2006/relationships/image" Target="../media/image2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3" Type="http://schemas.openxmlformats.org/officeDocument/2006/relationships/image" Target="../media/image14.png"/><Relationship Id="rId7" Type="http://schemas.openxmlformats.org/officeDocument/2006/relationships/image" Target="../media/image32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10" Type="http://schemas.openxmlformats.org/officeDocument/2006/relationships/image" Target="../media/image35.png"/><Relationship Id="rId4" Type="http://schemas.openxmlformats.org/officeDocument/2006/relationships/image" Target="../media/image29.png"/><Relationship Id="rId9" Type="http://schemas.openxmlformats.org/officeDocument/2006/relationships/image" Target="../media/image3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/>
          <p:cNvSpPr txBox="1"/>
          <p:nvPr/>
        </p:nvSpPr>
        <p:spPr>
          <a:xfrm>
            <a:off x="4283968" y="4725144"/>
            <a:ext cx="4689425" cy="1900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2400" b="1" dirty="0" err="1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Algóritmos</a:t>
            </a:r>
            <a:r>
              <a:rPr lang="en-US" sz="2400" b="1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y </a:t>
            </a:r>
            <a:r>
              <a:rPr lang="en-US" sz="2400" b="1" dirty="0" err="1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Estructuras</a:t>
            </a:r>
            <a:r>
              <a:rPr lang="en-US" sz="2400" b="1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de </a:t>
            </a:r>
            <a:r>
              <a:rPr lang="en-US" sz="2400" b="1" dirty="0" err="1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Datos</a:t>
            </a:r>
            <a:endParaRPr lang="en-US" sz="2400" b="1" dirty="0">
              <a:solidFill>
                <a:schemeClr val="bg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algn="r">
              <a:lnSpc>
                <a:spcPct val="150000"/>
              </a:lnSpc>
            </a:pPr>
            <a:r>
              <a:rPr lang="en-US" sz="2400" dirty="0">
                <a:solidFill>
                  <a:schemeClr val="bg1"/>
                </a:solidFill>
              </a:rPr>
              <a:t>-00184-</a:t>
            </a:r>
            <a:endParaRPr lang="en-US" sz="2400" b="1" dirty="0">
              <a:solidFill>
                <a:schemeClr val="bg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algn="ctr">
              <a:lnSpc>
                <a:spcPct val="150000"/>
              </a:lnSpc>
            </a:pPr>
            <a:r>
              <a:rPr lang="en-US" sz="1600" b="1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Dr. Diego </a:t>
            </a:r>
            <a:r>
              <a:rPr lang="en-US" sz="1600" b="1" dirty="0" err="1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Agustín</a:t>
            </a:r>
            <a:r>
              <a:rPr lang="en-US" sz="1600" b="1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Ambrossio</a:t>
            </a:r>
          </a:p>
          <a:p>
            <a:pPr algn="ctr">
              <a:lnSpc>
                <a:spcPct val="150000"/>
              </a:lnSpc>
            </a:pPr>
            <a:r>
              <a:rPr lang="en-US" sz="1600" b="1" dirty="0" err="1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Anl</a:t>
            </a:r>
            <a:r>
              <a:rPr lang="en-US" sz="1600" b="1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. Sis. Angel Leonardo Bianco</a:t>
            </a:r>
          </a:p>
        </p:txBody>
      </p:sp>
      <p:sp>
        <p:nvSpPr>
          <p:cNvPr id="4" name="TextShape 2"/>
          <p:cNvSpPr txBox="1"/>
          <p:nvPr/>
        </p:nvSpPr>
        <p:spPr>
          <a:xfrm>
            <a:off x="4834105" y="2060848"/>
            <a:ext cx="4104456" cy="65736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/>
          <a:lstStyle/>
          <a:p>
            <a:r>
              <a:rPr lang="es-AR" sz="4000" b="1" i="1" strike="noStrike" spc="-1" dirty="0">
                <a:solidFill>
                  <a:srgbClr val="FFFFFF"/>
                </a:solidFill>
                <a:latin typeface="Arial"/>
              </a:rPr>
              <a:t>Tipos de Datos Definidos por el Usuario</a:t>
            </a:r>
          </a:p>
          <a:p>
            <a:endParaRPr lang="es-AR" sz="4000" b="0" strike="noStrike" spc="-1" dirty="0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5259067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adro de texto 2"/>
          <p:cNvSpPr txBox="1">
            <a:spLocks noChangeArrowheads="1"/>
          </p:cNvSpPr>
          <p:nvPr/>
        </p:nvSpPr>
        <p:spPr bwMode="auto">
          <a:xfrm>
            <a:off x="2258801" y="232551"/>
            <a:ext cx="4252595" cy="2971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rot="0" vert="horz" wrap="square" lIns="91440" tIns="45720" rIns="91440" bIns="45720" anchor="t" anchorCtr="0">
            <a:no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s-AR" sz="1400" dirty="0">
                <a:solidFill>
                  <a:srgbClr val="FFFFFF"/>
                </a:solidFill>
                <a:effectLst/>
                <a:latin typeface="Arial Black" pitchFamily="34" charset="0"/>
                <a:ea typeface="Calibri"/>
                <a:cs typeface="Times New Roman"/>
              </a:rPr>
              <a:t> </a:t>
            </a:r>
            <a:endParaRPr lang="es-AR" sz="1100" dirty="0">
              <a:effectLst/>
              <a:latin typeface="Arial Black" pitchFamily="34" charset="0"/>
              <a:ea typeface="Calibri"/>
              <a:cs typeface="Times New Roman"/>
            </a:endParaRPr>
          </a:p>
        </p:txBody>
      </p:sp>
      <p:sp>
        <p:nvSpPr>
          <p:cNvPr id="9" name="TextShape 3">
            <a:extLst>
              <a:ext uri="{FF2B5EF4-FFF2-40B4-BE49-F238E27FC236}">
                <a16:creationId xmlns:a16="http://schemas.microsoft.com/office/drawing/2014/main" id="{1EE73370-1CB5-184B-A778-C70CB3735C00}"/>
              </a:ext>
            </a:extLst>
          </p:cNvPr>
          <p:cNvSpPr txBox="1"/>
          <p:nvPr/>
        </p:nvSpPr>
        <p:spPr>
          <a:xfrm>
            <a:off x="1619672" y="1772816"/>
            <a:ext cx="8100392" cy="5179498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/>
          <a:lstStyle/>
          <a:p>
            <a:pPr algn="just"/>
            <a:r>
              <a:rPr lang="es-AR" sz="2000" u="sng" strike="noStrike" spc="-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elvetica" pitchFamily="2" charset="0"/>
              </a:rPr>
              <a:t>Tipos de Datos: </a:t>
            </a:r>
          </a:p>
          <a:p>
            <a:pPr algn="just"/>
            <a:endParaRPr lang="es-AR" sz="2000" strike="noStrike" spc="-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Helvetica" pitchFamily="2" charset="0"/>
            </a:endParaRPr>
          </a:p>
          <a:p>
            <a:pPr marL="800100" lvl="1" indent="-342900" algn="just">
              <a:buFont typeface="Wingdings" pitchFamily="2" charset="2"/>
              <a:buChar char="Ø"/>
            </a:pPr>
            <a:r>
              <a:rPr lang="es-AR" sz="2000" strike="noStrike" spc="-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elvetica" pitchFamily="2" charset="0"/>
              </a:rPr>
              <a:t>Definidos por el lenguaje (simples)</a:t>
            </a:r>
          </a:p>
          <a:p>
            <a:pPr marL="1257300" lvl="2" indent="-342900" algn="just">
              <a:buFont typeface="Wingdings" pitchFamily="2" charset="2"/>
              <a:buChar char="Ø"/>
            </a:pPr>
            <a:r>
              <a:rPr lang="es-AR" sz="2000" spc="-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elvetica" pitchFamily="2" charset="0"/>
              </a:rPr>
              <a:t>Númericos: Enteros, Reales, Complejos,</a:t>
            </a:r>
          </a:p>
          <a:p>
            <a:pPr marL="1257300" lvl="2" indent="-342900" algn="just">
              <a:buFont typeface="Wingdings" pitchFamily="2" charset="2"/>
              <a:buChar char="Ø"/>
            </a:pPr>
            <a:r>
              <a:rPr lang="es-AR" sz="2000" spc="-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elvetica" pitchFamily="2" charset="0"/>
              </a:rPr>
              <a:t>Cadena de Caracteres,</a:t>
            </a:r>
          </a:p>
          <a:p>
            <a:pPr marL="1257300" lvl="2" indent="-342900" algn="just">
              <a:buFont typeface="Wingdings" pitchFamily="2" charset="2"/>
              <a:buChar char="Ø"/>
            </a:pPr>
            <a:r>
              <a:rPr lang="es-AR" sz="2000" spc="-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elvetica" pitchFamily="2" charset="0"/>
              </a:rPr>
              <a:t>LÓGICOS (booleanos). </a:t>
            </a:r>
            <a:r>
              <a:rPr lang="es-AR" sz="2000" strike="noStrike" spc="-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elvetica" pitchFamily="2" charset="0"/>
              </a:rPr>
              <a:t> </a:t>
            </a:r>
          </a:p>
          <a:p>
            <a:pPr lvl="1" algn="just"/>
            <a:endParaRPr lang="es-AR" sz="2000" strike="noStrike" spc="-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Helvetica" pitchFamily="2" charset="0"/>
            </a:endParaRPr>
          </a:p>
          <a:p>
            <a:pPr marL="800100" lvl="1" indent="-342900" algn="just">
              <a:buFont typeface="Wingdings" pitchFamily="2" charset="2"/>
              <a:buChar char="Ø"/>
            </a:pPr>
            <a:r>
              <a:rPr lang="es-AR" sz="2000" spc="-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elvetica" pitchFamily="2" charset="0"/>
              </a:rPr>
              <a:t>Definidos por el Usuario (complejos)</a:t>
            </a:r>
          </a:p>
          <a:p>
            <a:pPr marL="1257300" lvl="2" indent="-342900" algn="just">
              <a:buFont typeface="Wingdings" pitchFamily="2" charset="2"/>
              <a:buChar char="Ø"/>
            </a:pPr>
            <a:r>
              <a:rPr lang="es-AR" sz="2000" spc="-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elvetica" pitchFamily="2" charset="0"/>
              </a:rPr>
              <a:t>Tuplas,</a:t>
            </a:r>
          </a:p>
          <a:p>
            <a:pPr marL="1257300" lvl="2" indent="-342900" algn="just">
              <a:buFont typeface="Wingdings" pitchFamily="2" charset="2"/>
              <a:buChar char="Ø"/>
            </a:pPr>
            <a:r>
              <a:rPr lang="es-AR" sz="2000" spc="-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elvetica" pitchFamily="2" charset="0"/>
              </a:rPr>
              <a:t>Conjuntos,</a:t>
            </a:r>
          </a:p>
          <a:p>
            <a:pPr marL="1257300" lvl="2" indent="-342900" algn="just">
              <a:buFont typeface="Wingdings" pitchFamily="2" charset="2"/>
              <a:buChar char="Ø"/>
            </a:pPr>
            <a:r>
              <a:rPr lang="es-AR" sz="2000" spc="-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elvetica" pitchFamily="2" charset="0"/>
              </a:rPr>
              <a:t>Diccionarios,</a:t>
            </a:r>
          </a:p>
          <a:p>
            <a:pPr marL="1257300" lvl="2" indent="-342900" algn="just">
              <a:buFont typeface="Wingdings" pitchFamily="2" charset="2"/>
              <a:buChar char="Ø"/>
            </a:pPr>
            <a:r>
              <a:rPr lang="es-AR" sz="2000" spc="-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elvetica" pitchFamily="2" charset="0"/>
              </a:rPr>
              <a:t>Listas,</a:t>
            </a:r>
          </a:p>
          <a:p>
            <a:pPr marL="1257300" lvl="2" indent="-342900" algn="just">
              <a:buFont typeface="Wingdings" pitchFamily="2" charset="2"/>
              <a:buChar char="Ø"/>
            </a:pPr>
            <a:r>
              <a:rPr lang="es-AR" sz="2000" spc="-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elvetica" pitchFamily="2" charset="0"/>
              </a:rPr>
              <a:t>Rangos.</a:t>
            </a:r>
          </a:p>
          <a:p>
            <a:pPr lvl="1" algn="just"/>
            <a:endParaRPr lang="es-AR" sz="2000" spc="-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Helvetica" pitchFamily="2" charset="0"/>
            </a:endParaRPr>
          </a:p>
          <a:p>
            <a:pPr marL="800100" lvl="1" indent="-342900" algn="just">
              <a:buFont typeface="Wingdings" pitchFamily="2" charset="2"/>
              <a:buChar char="Ø"/>
            </a:pPr>
            <a:r>
              <a:rPr lang="es-AR" sz="2000" spc="-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elvetica" pitchFamily="2" charset="0"/>
              </a:rPr>
              <a:t>Datos Mutables e Inmutables.</a:t>
            </a:r>
          </a:p>
          <a:p>
            <a:pPr marL="800100" lvl="1" indent="-342900" algn="just">
              <a:buFont typeface="Wingdings" pitchFamily="2" charset="2"/>
              <a:buChar char="Ø"/>
            </a:pPr>
            <a:r>
              <a:rPr lang="es-AR" sz="2000" spc="-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elvetica" pitchFamily="2" charset="0"/>
              </a:rPr>
              <a:t>Punteros.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04B28B1-6C17-8845-BD55-65F0693B65C3}"/>
              </a:ext>
            </a:extLst>
          </p:cNvPr>
          <p:cNvSpPr txBox="1"/>
          <p:nvPr/>
        </p:nvSpPr>
        <p:spPr>
          <a:xfrm>
            <a:off x="0" y="1192816"/>
            <a:ext cx="165622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u="sng" dirty="0">
                <a:solidFill>
                  <a:schemeClr val="accent1"/>
                </a:solidFill>
                <a:latin typeface="Helvetica" pitchFamily="2" charset="0"/>
              </a:rPr>
              <a:t>Overview</a:t>
            </a:r>
            <a:r>
              <a:rPr lang="en-US" sz="2400" b="1" dirty="0">
                <a:solidFill>
                  <a:schemeClr val="accent1"/>
                </a:solidFill>
                <a:latin typeface="Helvetica" pitchFamily="2" charset="0"/>
              </a:rPr>
              <a:t>:</a:t>
            </a:r>
          </a:p>
        </p:txBody>
      </p:sp>
      <p:pic>
        <p:nvPicPr>
          <p:cNvPr id="6" name="16 Imagen">
            <a:extLst>
              <a:ext uri="{FF2B5EF4-FFF2-40B4-BE49-F238E27FC236}">
                <a16:creationId xmlns:a16="http://schemas.microsoft.com/office/drawing/2014/main" id="{139B1D3E-31E1-9944-98E8-E47EE1AB525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580"/>
            <a:ext cx="9144000" cy="1171495"/>
          </a:xfrm>
          <a:prstGeom prst="rect">
            <a:avLst/>
          </a:prstGeom>
        </p:spPr>
      </p:pic>
      <p:sp>
        <p:nvSpPr>
          <p:cNvPr id="10" name="17 CuadroTexto">
            <a:extLst>
              <a:ext uri="{FF2B5EF4-FFF2-40B4-BE49-F238E27FC236}">
                <a16:creationId xmlns:a16="http://schemas.microsoft.com/office/drawing/2014/main" id="{951E7934-4893-164F-B2FE-56B95ED1E907}"/>
              </a:ext>
            </a:extLst>
          </p:cNvPr>
          <p:cNvSpPr txBox="1"/>
          <p:nvPr/>
        </p:nvSpPr>
        <p:spPr>
          <a:xfrm>
            <a:off x="212156" y="87951"/>
            <a:ext cx="327972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2400" b="1" dirty="0">
                <a:solidFill>
                  <a:schemeClr val="bg1"/>
                </a:solidFill>
                <a:latin typeface="TeXGyreAdventor" pitchFamily="50" charset="0"/>
              </a:rPr>
              <a:t>Algoritmos y Estructuras</a:t>
            </a:r>
          </a:p>
          <a:p>
            <a:r>
              <a:rPr lang="es-AR" sz="2400" b="1" dirty="0">
                <a:solidFill>
                  <a:schemeClr val="bg1"/>
                </a:solidFill>
                <a:latin typeface="TeXGyreAdventor" pitchFamily="50" charset="0"/>
              </a:rPr>
              <a:t>de Datos</a:t>
            </a:r>
          </a:p>
          <a:p>
            <a:endParaRPr lang="es-AR" dirty="0"/>
          </a:p>
        </p:txBody>
      </p:sp>
      <p:sp>
        <p:nvSpPr>
          <p:cNvPr id="11" name="17 CuadroTexto">
            <a:extLst>
              <a:ext uri="{FF2B5EF4-FFF2-40B4-BE49-F238E27FC236}">
                <a16:creationId xmlns:a16="http://schemas.microsoft.com/office/drawing/2014/main" id="{662DE885-54DE-D64A-BAD9-C745C56091DE}"/>
              </a:ext>
            </a:extLst>
          </p:cNvPr>
          <p:cNvSpPr txBox="1"/>
          <p:nvPr/>
        </p:nvSpPr>
        <p:spPr>
          <a:xfrm>
            <a:off x="2985122" y="532734"/>
            <a:ext cx="3173756" cy="984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AR" sz="2000" b="1" dirty="0">
                <a:solidFill>
                  <a:schemeClr val="bg1"/>
                </a:solidFill>
                <a:latin typeface="TeXGyreAdventor" pitchFamily="50" charset="0"/>
              </a:rPr>
              <a:t> - </a:t>
            </a:r>
            <a:r>
              <a:rPr lang="es-AR" sz="2000" b="1" u="sng" dirty="0">
                <a:solidFill>
                  <a:schemeClr val="bg1"/>
                </a:solidFill>
                <a:latin typeface="TeXGyreAdventor" pitchFamily="50" charset="0"/>
              </a:rPr>
              <a:t>Tipos de Datos Definidos por el Usuario</a:t>
            </a:r>
            <a:r>
              <a:rPr lang="es-AR" sz="2000" b="1" dirty="0">
                <a:solidFill>
                  <a:schemeClr val="bg1"/>
                </a:solidFill>
                <a:latin typeface="TeXGyreAdventor" pitchFamily="50" charset="0"/>
              </a:rPr>
              <a:t>-</a:t>
            </a:r>
          </a:p>
          <a:p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12596045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Shape 3">
            <a:extLst>
              <a:ext uri="{FF2B5EF4-FFF2-40B4-BE49-F238E27FC236}">
                <a16:creationId xmlns:a16="http://schemas.microsoft.com/office/drawing/2014/main" id="{1EE73370-1CB5-184B-A778-C70CB3735C00}"/>
              </a:ext>
            </a:extLst>
          </p:cNvPr>
          <p:cNvSpPr txBox="1"/>
          <p:nvPr/>
        </p:nvSpPr>
        <p:spPr>
          <a:xfrm>
            <a:off x="334902" y="1556792"/>
            <a:ext cx="8100392" cy="5179498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/>
          <a:lstStyle/>
          <a:p>
            <a:pPr marL="800100" lvl="1" indent="-342900" algn="just">
              <a:buFont typeface="Wingdings" pitchFamily="2" charset="2"/>
              <a:buChar char="Ø"/>
            </a:pPr>
            <a:r>
              <a:rPr lang="es-AR" sz="2000" strike="noStrike" spc="-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elvetica" pitchFamily="2" charset="0"/>
              </a:rPr>
              <a:t>Tipos de Datos Simples.</a:t>
            </a:r>
          </a:p>
          <a:p>
            <a:pPr marL="1257300" lvl="2" indent="-342900" algn="just">
              <a:buFont typeface="Wingdings" pitchFamily="2" charset="2"/>
              <a:buChar char="Ø"/>
            </a:pPr>
            <a:r>
              <a:rPr lang="es-AR" sz="2000" strike="noStrike" spc="-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elvetica" pitchFamily="2" charset="0"/>
              </a:rPr>
              <a:t>Definidos por el lenguaje.</a:t>
            </a:r>
          </a:p>
          <a:p>
            <a:pPr marL="1257300" lvl="2" indent="-342900" algn="just">
              <a:buFont typeface="Wingdings" pitchFamily="2" charset="2"/>
              <a:buChar char="Ø"/>
            </a:pPr>
            <a:r>
              <a:rPr lang="es-AR" sz="2000" spc="-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elvetica" pitchFamily="2" charset="0"/>
              </a:rPr>
              <a:t>Números:</a:t>
            </a:r>
          </a:p>
          <a:p>
            <a:pPr marL="1714500" lvl="3" indent="-342900" algn="just">
              <a:buFont typeface="Wingdings" pitchFamily="2" charset="2"/>
              <a:buChar char="Ø"/>
            </a:pPr>
            <a:r>
              <a:rPr lang="es-AR" sz="2000" spc="-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elvetica" pitchFamily="2" charset="0"/>
              </a:rPr>
              <a:t>Enteros ( </a:t>
            </a:r>
            <a:r>
              <a:rPr lang="es-AR" sz="2000" spc="-1" dirty="0">
                <a:solidFill>
                  <a:srgbClr val="92D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elvetica" pitchFamily="2" charset="0"/>
              </a:rPr>
              <a:t>type</a:t>
            </a:r>
            <a:r>
              <a:rPr lang="es-AR" sz="2000" spc="-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elvetica" pitchFamily="2" charset="0"/>
              </a:rPr>
              <a:t> ‘int’ )</a:t>
            </a:r>
          </a:p>
          <a:p>
            <a:pPr marL="1714500" lvl="3" indent="-342900" algn="just">
              <a:buFont typeface="Wingdings" pitchFamily="2" charset="2"/>
              <a:buChar char="Ø"/>
            </a:pPr>
            <a:r>
              <a:rPr lang="es-AR" sz="2000" spc="-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elvetica" pitchFamily="2" charset="0"/>
              </a:rPr>
              <a:t>Reales ( </a:t>
            </a:r>
            <a:r>
              <a:rPr lang="es-AR" sz="2000" spc="-1" dirty="0">
                <a:solidFill>
                  <a:srgbClr val="92D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elvetica" pitchFamily="2" charset="0"/>
              </a:rPr>
              <a:t>type </a:t>
            </a:r>
            <a:r>
              <a:rPr lang="es-AR" sz="2000" spc="-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elvetica" pitchFamily="2" charset="0"/>
              </a:rPr>
              <a:t>‘float’ )</a:t>
            </a:r>
          </a:p>
          <a:p>
            <a:pPr marL="1714500" lvl="3" indent="-342900" algn="just">
              <a:buFont typeface="Wingdings" pitchFamily="2" charset="2"/>
              <a:buChar char="Ø"/>
            </a:pPr>
            <a:r>
              <a:rPr lang="es-AR" sz="2000" spc="-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elvetica" pitchFamily="2" charset="0"/>
              </a:rPr>
              <a:t>Complejos (</a:t>
            </a:r>
            <a:r>
              <a:rPr lang="es-AR" sz="2000" spc="-1" dirty="0">
                <a:solidFill>
                  <a:srgbClr val="92D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elvetica" pitchFamily="2" charset="0"/>
              </a:rPr>
              <a:t>type </a:t>
            </a:r>
            <a:r>
              <a:rPr lang="es-AR" sz="2000" spc="-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elvetica" pitchFamily="2" charset="0"/>
              </a:rPr>
              <a:t>‘complex’ )</a:t>
            </a:r>
          </a:p>
          <a:p>
            <a:pPr marL="1257300" lvl="2" indent="-342900" algn="just">
              <a:buFont typeface="Wingdings" pitchFamily="2" charset="2"/>
              <a:buChar char="Ø"/>
            </a:pPr>
            <a:r>
              <a:rPr lang="es-AR" sz="2000" spc="-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elvetica" pitchFamily="2" charset="0"/>
              </a:rPr>
              <a:t>Cadena de Caracteres (</a:t>
            </a:r>
            <a:r>
              <a:rPr lang="es-AR" sz="2000" spc="-1" dirty="0">
                <a:solidFill>
                  <a:srgbClr val="92D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elvetica" pitchFamily="2" charset="0"/>
              </a:rPr>
              <a:t>type  </a:t>
            </a:r>
            <a:r>
              <a:rPr lang="es-AR" sz="2000" spc="-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elvetica" pitchFamily="2" charset="0"/>
              </a:rPr>
              <a:t>‘str’ )</a:t>
            </a:r>
          </a:p>
          <a:p>
            <a:pPr marL="1257300" lvl="2" indent="-342900" algn="just">
              <a:buFont typeface="Wingdings" pitchFamily="2" charset="2"/>
              <a:buChar char="Ø"/>
            </a:pPr>
            <a:r>
              <a:rPr lang="es-AR" sz="2000" spc="-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elvetica" pitchFamily="2" charset="0"/>
              </a:rPr>
              <a:t>Booleanos </a:t>
            </a:r>
            <a:r>
              <a:rPr lang="es-AR" sz="2000" strike="noStrike" spc="-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elvetica" pitchFamily="2" charset="0"/>
              </a:rPr>
              <a:t> ( </a:t>
            </a:r>
            <a:r>
              <a:rPr lang="es-AR" sz="2000" spc="-1" dirty="0">
                <a:solidFill>
                  <a:srgbClr val="92D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elvetica" pitchFamily="2" charset="0"/>
              </a:rPr>
              <a:t>type </a:t>
            </a:r>
            <a:r>
              <a:rPr lang="es-AR" sz="2000" spc="-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elvetica" pitchFamily="2" charset="0"/>
              </a:rPr>
              <a:t>‘</a:t>
            </a:r>
            <a:r>
              <a:rPr lang="es-AR" sz="2000" strike="noStrike" spc="-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elvetica" pitchFamily="2" charset="0"/>
              </a:rPr>
              <a:t>bool’ )</a:t>
            </a:r>
          </a:p>
          <a:p>
            <a:pPr marL="1714500" lvl="3" indent="-342900" algn="just">
              <a:buFont typeface="Wingdings" pitchFamily="2" charset="2"/>
              <a:buChar char="Ø"/>
            </a:pPr>
            <a:r>
              <a:rPr lang="es-AR" sz="2000" spc="-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elvetica" pitchFamily="2" charset="0"/>
              </a:rPr>
              <a:t>Ooperadores Relacionales</a:t>
            </a:r>
            <a:endParaRPr lang="es-AR" sz="2000" strike="noStrike" spc="-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Helvetica" pitchFamily="2" charset="0"/>
            </a:endParaRPr>
          </a:p>
          <a:p>
            <a:pPr marL="800100" lvl="1" indent="-342900" algn="just">
              <a:lnSpc>
                <a:spcPct val="150000"/>
              </a:lnSpc>
              <a:buFont typeface="Wingdings" pitchFamily="2" charset="2"/>
              <a:buChar char="Ø"/>
            </a:pPr>
            <a:r>
              <a:rPr lang="es-AR" sz="2000" spc="-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elvetica" pitchFamily="2" charset="0"/>
              </a:rPr>
              <a:t>Tipos de Datos Complejos</a:t>
            </a:r>
          </a:p>
          <a:p>
            <a:pPr marL="1257300" lvl="2" indent="-342900" algn="just">
              <a:buFont typeface="Wingdings" pitchFamily="2" charset="2"/>
              <a:buChar char="Ø"/>
            </a:pPr>
            <a:r>
              <a:rPr lang="es-AR" sz="2000" spc="-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elvetica" pitchFamily="2" charset="0"/>
              </a:rPr>
              <a:t>Definidos por el Usuario</a:t>
            </a:r>
          </a:p>
          <a:p>
            <a:pPr marL="1257300" lvl="2" indent="-342900" algn="just">
              <a:buFont typeface="Wingdings" pitchFamily="2" charset="2"/>
              <a:buChar char="Ø"/>
            </a:pPr>
            <a:r>
              <a:rPr lang="es-AR" sz="2000" spc="-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elvetica" pitchFamily="2" charset="0"/>
              </a:rPr>
              <a:t>Tuplas ( </a:t>
            </a:r>
            <a:r>
              <a:rPr lang="es-AR" sz="2000" spc="-1" dirty="0">
                <a:solidFill>
                  <a:srgbClr val="92D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elvetica" pitchFamily="2" charset="0"/>
              </a:rPr>
              <a:t>type</a:t>
            </a:r>
            <a:r>
              <a:rPr lang="es-AR" sz="2000" spc="-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elvetica" pitchFamily="2" charset="0"/>
              </a:rPr>
              <a:t> ‘tuple’ )</a:t>
            </a:r>
          </a:p>
          <a:p>
            <a:pPr marL="1257300" lvl="2" indent="-342900" algn="just">
              <a:buFont typeface="Wingdings" pitchFamily="2" charset="2"/>
              <a:buChar char="Ø"/>
            </a:pPr>
            <a:r>
              <a:rPr lang="es-AR" sz="2000" spc="-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elvetica" pitchFamily="2" charset="0"/>
              </a:rPr>
              <a:t>Conjuntos ( </a:t>
            </a:r>
            <a:r>
              <a:rPr lang="es-AR" sz="2000" spc="-1" dirty="0">
                <a:solidFill>
                  <a:srgbClr val="92D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elvetica" pitchFamily="2" charset="0"/>
              </a:rPr>
              <a:t>type</a:t>
            </a:r>
            <a:r>
              <a:rPr lang="es-AR" sz="2000" spc="-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elvetica" pitchFamily="2" charset="0"/>
              </a:rPr>
              <a:t> ‘set’ )</a:t>
            </a:r>
          </a:p>
          <a:p>
            <a:pPr marL="1257300" lvl="2" indent="-342900" algn="just">
              <a:buFont typeface="Wingdings" pitchFamily="2" charset="2"/>
              <a:buChar char="Ø"/>
            </a:pPr>
            <a:r>
              <a:rPr lang="es-AR" sz="2000" spc="-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elvetica" pitchFamily="2" charset="0"/>
              </a:rPr>
              <a:t>Diccionarios ( </a:t>
            </a:r>
            <a:r>
              <a:rPr lang="es-AR" sz="2000" spc="-1" dirty="0">
                <a:solidFill>
                  <a:srgbClr val="92D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elvetica" pitchFamily="2" charset="0"/>
              </a:rPr>
              <a:t>type</a:t>
            </a:r>
            <a:r>
              <a:rPr lang="es-AR" sz="2000" spc="-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elvetica" pitchFamily="2" charset="0"/>
              </a:rPr>
              <a:t> ‘dicc’ )</a:t>
            </a:r>
          </a:p>
          <a:p>
            <a:pPr marL="1257300" lvl="2" indent="-342900" algn="just">
              <a:buFont typeface="Wingdings" pitchFamily="2" charset="2"/>
              <a:buChar char="Ø"/>
            </a:pPr>
            <a:r>
              <a:rPr lang="es-AR" sz="2000" spc="-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elvetica" pitchFamily="2" charset="0"/>
              </a:rPr>
              <a:t>Listas ( </a:t>
            </a:r>
            <a:r>
              <a:rPr lang="es-AR" sz="2000" spc="-1" dirty="0">
                <a:solidFill>
                  <a:srgbClr val="92D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elvetica" pitchFamily="2" charset="0"/>
              </a:rPr>
              <a:t>type</a:t>
            </a:r>
            <a:r>
              <a:rPr lang="es-AR" sz="2000" spc="-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elvetica" pitchFamily="2" charset="0"/>
              </a:rPr>
              <a:t> ‘list’ )</a:t>
            </a:r>
          </a:p>
          <a:p>
            <a:pPr marL="1257300" lvl="2" indent="-342900" algn="just">
              <a:buFont typeface="Wingdings" pitchFamily="2" charset="2"/>
              <a:buChar char="Ø"/>
            </a:pPr>
            <a:r>
              <a:rPr lang="es-AR" sz="2000" spc="-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elvetica" pitchFamily="2" charset="0"/>
              </a:rPr>
              <a:t>Rangos ( </a:t>
            </a:r>
            <a:r>
              <a:rPr lang="es-AR" sz="2000" spc="-1" dirty="0">
                <a:solidFill>
                  <a:srgbClr val="92D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elvetica" pitchFamily="2" charset="0"/>
              </a:rPr>
              <a:t>type</a:t>
            </a:r>
            <a:r>
              <a:rPr lang="es-AR" sz="2000" spc="-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elvetica" pitchFamily="2" charset="0"/>
              </a:rPr>
              <a:t> ‘range’ ) </a:t>
            </a:r>
            <a:endParaRPr lang="es-AR" sz="2200" spc="-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Helvetica" pitchFamily="2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04B28B1-6C17-8845-BD55-65F0693B65C3}"/>
              </a:ext>
            </a:extLst>
          </p:cNvPr>
          <p:cNvSpPr txBox="1"/>
          <p:nvPr/>
        </p:nvSpPr>
        <p:spPr>
          <a:xfrm>
            <a:off x="0" y="1173075"/>
            <a:ext cx="248580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AR" sz="24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Arial" pitchFamily="34" charset="0"/>
                <a:cs typeface="Arial" pitchFamily="34" charset="0"/>
              </a:rPr>
              <a:t>Tipos de Datos:</a:t>
            </a:r>
          </a:p>
        </p:txBody>
      </p:sp>
      <p:pic>
        <p:nvPicPr>
          <p:cNvPr id="6" name="16 Imagen">
            <a:extLst>
              <a:ext uri="{FF2B5EF4-FFF2-40B4-BE49-F238E27FC236}">
                <a16:creationId xmlns:a16="http://schemas.microsoft.com/office/drawing/2014/main" id="{E67A9D36-DE5C-F743-A80C-E9C38804AB6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580"/>
            <a:ext cx="9144000" cy="1171495"/>
          </a:xfrm>
          <a:prstGeom prst="rect">
            <a:avLst/>
          </a:prstGeom>
        </p:spPr>
      </p:pic>
      <p:sp>
        <p:nvSpPr>
          <p:cNvPr id="10" name="17 CuadroTexto">
            <a:extLst>
              <a:ext uri="{FF2B5EF4-FFF2-40B4-BE49-F238E27FC236}">
                <a16:creationId xmlns:a16="http://schemas.microsoft.com/office/drawing/2014/main" id="{173CB93E-B0DC-C44C-B54B-D9677FAD5920}"/>
              </a:ext>
            </a:extLst>
          </p:cNvPr>
          <p:cNvSpPr txBox="1"/>
          <p:nvPr/>
        </p:nvSpPr>
        <p:spPr>
          <a:xfrm>
            <a:off x="212156" y="87951"/>
            <a:ext cx="327972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2400" b="1" dirty="0">
                <a:solidFill>
                  <a:schemeClr val="bg1"/>
                </a:solidFill>
                <a:latin typeface="TeXGyreAdventor" pitchFamily="50" charset="0"/>
              </a:rPr>
              <a:t>Algoritmos y Estructuras</a:t>
            </a:r>
          </a:p>
          <a:p>
            <a:r>
              <a:rPr lang="es-AR" sz="2400" b="1" dirty="0">
                <a:solidFill>
                  <a:schemeClr val="bg1"/>
                </a:solidFill>
                <a:latin typeface="TeXGyreAdventor" pitchFamily="50" charset="0"/>
              </a:rPr>
              <a:t>de Datos</a:t>
            </a:r>
          </a:p>
          <a:p>
            <a:endParaRPr lang="es-AR" dirty="0"/>
          </a:p>
        </p:txBody>
      </p:sp>
      <p:sp>
        <p:nvSpPr>
          <p:cNvPr id="7" name="17 CuadroTexto">
            <a:extLst>
              <a:ext uri="{FF2B5EF4-FFF2-40B4-BE49-F238E27FC236}">
                <a16:creationId xmlns:a16="http://schemas.microsoft.com/office/drawing/2014/main" id="{95376E6D-FA7C-4C4E-B22A-D369DB76E6EB}"/>
              </a:ext>
            </a:extLst>
          </p:cNvPr>
          <p:cNvSpPr txBox="1"/>
          <p:nvPr/>
        </p:nvSpPr>
        <p:spPr>
          <a:xfrm>
            <a:off x="2985122" y="499899"/>
            <a:ext cx="3173756" cy="984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AR" sz="2000" b="1" dirty="0">
                <a:solidFill>
                  <a:schemeClr val="bg1"/>
                </a:solidFill>
                <a:latin typeface="TeXGyreAdventor" pitchFamily="50" charset="0"/>
              </a:rPr>
              <a:t> - </a:t>
            </a:r>
            <a:r>
              <a:rPr lang="es-AR" sz="2000" b="1" u="sng" dirty="0">
                <a:solidFill>
                  <a:schemeClr val="bg1"/>
                </a:solidFill>
                <a:latin typeface="TeXGyreAdventor" pitchFamily="50" charset="0"/>
              </a:rPr>
              <a:t>Tipos de Datos Definidos por el Usuario</a:t>
            </a:r>
            <a:r>
              <a:rPr lang="es-AR" sz="2000" b="1" dirty="0">
                <a:solidFill>
                  <a:schemeClr val="bg1"/>
                </a:solidFill>
                <a:latin typeface="TeXGyreAdventor" pitchFamily="50" charset="0"/>
              </a:rPr>
              <a:t>-</a:t>
            </a:r>
          </a:p>
          <a:p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16855547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16 Imagen">
            <a:extLst>
              <a:ext uri="{FF2B5EF4-FFF2-40B4-BE49-F238E27FC236}">
                <a16:creationId xmlns:a16="http://schemas.microsoft.com/office/drawing/2014/main" id="{E18833CA-28BE-584F-9880-8012D82710A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580"/>
            <a:ext cx="9144000" cy="1171495"/>
          </a:xfrm>
          <a:prstGeom prst="rect">
            <a:avLst/>
          </a:prstGeom>
        </p:spPr>
      </p:pic>
      <p:sp>
        <p:nvSpPr>
          <p:cNvPr id="11" name="17 CuadroTexto">
            <a:extLst>
              <a:ext uri="{FF2B5EF4-FFF2-40B4-BE49-F238E27FC236}">
                <a16:creationId xmlns:a16="http://schemas.microsoft.com/office/drawing/2014/main" id="{6BED238C-223E-7F4A-BFF1-2F3910B2B049}"/>
              </a:ext>
            </a:extLst>
          </p:cNvPr>
          <p:cNvSpPr txBox="1"/>
          <p:nvPr/>
        </p:nvSpPr>
        <p:spPr>
          <a:xfrm>
            <a:off x="212156" y="87951"/>
            <a:ext cx="327972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2400" b="1" dirty="0">
                <a:solidFill>
                  <a:schemeClr val="bg1"/>
                </a:solidFill>
                <a:latin typeface="TeXGyreAdventor" pitchFamily="50" charset="0"/>
              </a:rPr>
              <a:t>Algoritmos y Estructuras</a:t>
            </a:r>
          </a:p>
          <a:p>
            <a:r>
              <a:rPr lang="es-AR" sz="2400" b="1" dirty="0">
                <a:solidFill>
                  <a:schemeClr val="bg1"/>
                </a:solidFill>
                <a:latin typeface="TeXGyreAdventor" pitchFamily="50" charset="0"/>
              </a:rPr>
              <a:t>de Datos</a:t>
            </a:r>
          </a:p>
          <a:p>
            <a:endParaRPr lang="es-AR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711F11B-CFCC-6F4C-987C-61BCBAF2DD91}"/>
              </a:ext>
            </a:extLst>
          </p:cNvPr>
          <p:cNvSpPr txBox="1"/>
          <p:nvPr/>
        </p:nvSpPr>
        <p:spPr>
          <a:xfrm>
            <a:off x="0" y="1173075"/>
            <a:ext cx="612462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AR" sz="24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Arial" pitchFamily="34" charset="0"/>
                <a:cs typeface="Arial" pitchFamily="34" charset="0"/>
              </a:rPr>
              <a:t>Tipos de Datos Definidos por el Usuario:</a:t>
            </a:r>
          </a:p>
        </p:txBody>
      </p:sp>
      <p:sp>
        <p:nvSpPr>
          <p:cNvPr id="17" name="Los algoritmos se organizan en dos aspectos inseparables:">
            <a:extLst>
              <a:ext uri="{FF2B5EF4-FFF2-40B4-BE49-F238E27FC236}">
                <a16:creationId xmlns:a16="http://schemas.microsoft.com/office/drawing/2014/main" id="{AB2CC5FA-CD2B-F24E-BA05-2FC720BB331A}"/>
              </a:ext>
            </a:extLst>
          </p:cNvPr>
          <p:cNvSpPr txBox="1"/>
          <p:nvPr/>
        </p:nvSpPr>
        <p:spPr>
          <a:xfrm>
            <a:off x="609743" y="1671558"/>
            <a:ext cx="7973061" cy="15696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spcBef>
                <a:spcPts val="1600"/>
              </a:spcBef>
              <a:buSzPct val="100000"/>
              <a:buChar char="•"/>
              <a:defRPr sz="2800"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r>
              <a:rPr lang="en-US" sz="2400" dirty="0"/>
              <a:t>Un </a:t>
            </a:r>
            <a:r>
              <a:rPr lang="en-US" sz="2400" dirty="0" err="1"/>
              <a:t>tipo</a:t>
            </a:r>
            <a:r>
              <a:rPr lang="en-US" sz="2400" dirty="0"/>
              <a:t> de </a:t>
            </a:r>
            <a:r>
              <a:rPr lang="en-US" sz="2400" dirty="0" err="1"/>
              <a:t>dato</a:t>
            </a:r>
            <a:r>
              <a:rPr lang="en-US" sz="2400" dirty="0"/>
              <a:t> define el </a:t>
            </a:r>
            <a:r>
              <a:rPr lang="en-US" sz="2400" dirty="0" err="1"/>
              <a:t>posible</a:t>
            </a:r>
            <a:r>
              <a:rPr lang="en-US" sz="2400" dirty="0"/>
              <a:t> </a:t>
            </a:r>
            <a:r>
              <a:rPr lang="en-US" sz="2400" b="1" dirty="0" err="1"/>
              <a:t>rango</a:t>
            </a:r>
            <a:r>
              <a:rPr lang="en-US" sz="2400" b="1" dirty="0"/>
              <a:t> de </a:t>
            </a:r>
            <a:r>
              <a:rPr lang="en-US" sz="2400" b="1" dirty="0" err="1"/>
              <a:t>valores</a:t>
            </a:r>
            <a:r>
              <a:rPr lang="en-US" sz="2400" dirty="0"/>
              <a:t> que </a:t>
            </a:r>
            <a:r>
              <a:rPr lang="en-US" sz="2400" dirty="0" err="1"/>
              <a:t>una</a:t>
            </a:r>
            <a:r>
              <a:rPr lang="en-US" sz="2400" dirty="0"/>
              <a:t> variable  </a:t>
            </a:r>
            <a:r>
              <a:rPr lang="en-US" sz="2400" dirty="0" err="1"/>
              <a:t>puede</a:t>
            </a:r>
            <a:r>
              <a:rPr lang="en-US" sz="2400" dirty="0"/>
              <a:t> </a:t>
            </a:r>
            <a:r>
              <a:rPr lang="en-US" sz="2400" dirty="0" err="1"/>
              <a:t>tomar</a:t>
            </a:r>
            <a:r>
              <a:rPr lang="en-US" sz="2400" dirty="0"/>
              <a:t> al </a:t>
            </a:r>
            <a:r>
              <a:rPr lang="en-US" sz="2400" dirty="0" err="1"/>
              <a:t>momento</a:t>
            </a:r>
            <a:r>
              <a:rPr lang="en-US" sz="2400" dirty="0"/>
              <a:t> de </a:t>
            </a:r>
            <a:r>
              <a:rPr lang="en-US" sz="2400" dirty="0" err="1"/>
              <a:t>ejecución</a:t>
            </a:r>
            <a:r>
              <a:rPr lang="en-US" sz="2400" dirty="0"/>
              <a:t> del </a:t>
            </a:r>
            <a:r>
              <a:rPr lang="en-US" sz="2400" dirty="0" err="1"/>
              <a:t>programa</a:t>
            </a:r>
            <a:r>
              <a:rPr lang="en-US" sz="2400" dirty="0"/>
              <a:t> y a lo largo de  </a:t>
            </a:r>
            <a:r>
              <a:rPr lang="en-US" sz="2400" dirty="0" err="1"/>
              <a:t>toda</a:t>
            </a:r>
            <a:r>
              <a:rPr lang="en-US" sz="2400" dirty="0"/>
              <a:t> la </a:t>
            </a:r>
            <a:r>
              <a:rPr lang="en-US" sz="2400" dirty="0" err="1"/>
              <a:t>vida</a:t>
            </a:r>
            <a:r>
              <a:rPr lang="en-US" sz="2400" dirty="0"/>
              <a:t> </a:t>
            </a:r>
            <a:r>
              <a:rPr lang="en-US" sz="2400" dirty="0" err="1"/>
              <a:t>útil</a:t>
            </a:r>
            <a:r>
              <a:rPr lang="en-US" sz="2400" dirty="0"/>
              <a:t> del </a:t>
            </a:r>
            <a:r>
              <a:rPr lang="en-US" sz="2400" dirty="0" err="1"/>
              <a:t>programa</a:t>
            </a:r>
            <a:r>
              <a:rPr lang="en-US" sz="2400" dirty="0"/>
              <a:t>. Este </a:t>
            </a:r>
            <a:r>
              <a:rPr lang="en-US" sz="2400" dirty="0" err="1"/>
              <a:t>rango</a:t>
            </a:r>
            <a:r>
              <a:rPr lang="en-US" sz="2400" dirty="0"/>
              <a:t> </a:t>
            </a:r>
            <a:r>
              <a:rPr lang="en-US" sz="2400" dirty="0" err="1"/>
              <a:t>esta</a:t>
            </a:r>
            <a:r>
              <a:rPr lang="en-US" sz="2400" dirty="0"/>
              <a:t> </a:t>
            </a:r>
            <a:r>
              <a:rPr lang="en-US" sz="2400" dirty="0" err="1"/>
              <a:t>definido</a:t>
            </a:r>
            <a:r>
              <a:rPr lang="en-US" sz="2400" dirty="0"/>
              <a:t> </a:t>
            </a:r>
            <a:r>
              <a:rPr lang="en-US" sz="2400" dirty="0" err="1"/>
              <a:t>por</a:t>
            </a:r>
            <a:r>
              <a:rPr lang="en-US" sz="2400" dirty="0"/>
              <a:t> el  </a:t>
            </a:r>
            <a:r>
              <a:rPr lang="en-US" sz="2400" dirty="0" err="1"/>
              <a:t>usuario</a:t>
            </a:r>
            <a:r>
              <a:rPr lang="en-US" sz="2400" dirty="0"/>
              <a:t>.</a:t>
            </a:r>
          </a:p>
        </p:txBody>
      </p:sp>
      <p:sp>
        <p:nvSpPr>
          <p:cNvPr id="19" name="Las entradas colección inicial de datos.…">
            <a:extLst>
              <a:ext uri="{FF2B5EF4-FFF2-40B4-BE49-F238E27FC236}">
                <a16:creationId xmlns:a16="http://schemas.microsoft.com/office/drawing/2014/main" id="{4DE0C32F-D862-9940-8EDC-5714BDC7F39D}"/>
              </a:ext>
            </a:extLst>
          </p:cNvPr>
          <p:cNvSpPr txBox="1"/>
          <p:nvPr/>
        </p:nvSpPr>
        <p:spPr>
          <a:xfrm>
            <a:off x="585469" y="3302401"/>
            <a:ext cx="7973061" cy="21852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marL="800100" lvl="1" indent="-342900" algn="just">
              <a:lnSpc>
                <a:spcPct val="150000"/>
              </a:lnSpc>
              <a:buFont typeface="Wingdings" pitchFamily="2" charset="2"/>
              <a:buChar char="Ø"/>
            </a:pPr>
            <a:r>
              <a:rPr sz="2400" dirty="0"/>
              <a:t> </a:t>
            </a:r>
            <a:r>
              <a:rPr lang="es-AR" sz="2000" spc="-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elvetica" pitchFamily="2" charset="0"/>
              </a:rPr>
              <a:t>Tipos de Datos Definidos por el Usuario:</a:t>
            </a:r>
          </a:p>
          <a:p>
            <a:pPr marL="1257300" lvl="2" indent="-342900" algn="just">
              <a:buFont typeface="Wingdings" pitchFamily="2" charset="2"/>
              <a:buChar char="Ø"/>
            </a:pPr>
            <a:r>
              <a:rPr lang="es-AR" sz="2000" spc="-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elvetica" pitchFamily="2" charset="0"/>
              </a:rPr>
              <a:t>Tuplas ( </a:t>
            </a:r>
            <a:r>
              <a:rPr lang="es-AR" sz="2000" spc="-1" dirty="0">
                <a:solidFill>
                  <a:srgbClr val="92D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elvetica" pitchFamily="2" charset="0"/>
              </a:rPr>
              <a:t>type</a:t>
            </a:r>
            <a:r>
              <a:rPr lang="es-AR" sz="2000" spc="-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elvetica" pitchFamily="2" charset="0"/>
              </a:rPr>
              <a:t> ‘tuple’ )</a:t>
            </a:r>
          </a:p>
          <a:p>
            <a:pPr marL="1257300" lvl="2" indent="-342900" algn="just">
              <a:buFont typeface="Wingdings" pitchFamily="2" charset="2"/>
              <a:buChar char="Ø"/>
            </a:pPr>
            <a:r>
              <a:rPr lang="es-AR" sz="2000" spc="-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elvetica" pitchFamily="2" charset="0"/>
              </a:rPr>
              <a:t>Conjuntos ( </a:t>
            </a:r>
            <a:r>
              <a:rPr lang="es-AR" sz="2000" spc="-1" dirty="0">
                <a:solidFill>
                  <a:srgbClr val="92D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elvetica" pitchFamily="2" charset="0"/>
              </a:rPr>
              <a:t>type</a:t>
            </a:r>
            <a:r>
              <a:rPr lang="es-AR" sz="2000" spc="-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elvetica" pitchFamily="2" charset="0"/>
              </a:rPr>
              <a:t> ‘set’ )</a:t>
            </a:r>
          </a:p>
          <a:p>
            <a:pPr marL="1257300" lvl="2" indent="-342900" algn="just">
              <a:buFont typeface="Wingdings" pitchFamily="2" charset="2"/>
              <a:buChar char="Ø"/>
            </a:pPr>
            <a:r>
              <a:rPr lang="es-AR" sz="2000" spc="-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elvetica" pitchFamily="2" charset="0"/>
              </a:rPr>
              <a:t>Diccionarios ( </a:t>
            </a:r>
            <a:r>
              <a:rPr lang="es-AR" sz="2000" spc="-1" dirty="0">
                <a:solidFill>
                  <a:srgbClr val="92D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elvetica" pitchFamily="2" charset="0"/>
              </a:rPr>
              <a:t>type</a:t>
            </a:r>
            <a:r>
              <a:rPr lang="es-AR" sz="2000" spc="-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elvetica" pitchFamily="2" charset="0"/>
              </a:rPr>
              <a:t> ‘dicc’ )</a:t>
            </a:r>
          </a:p>
          <a:p>
            <a:pPr marL="1257300" lvl="2" indent="-342900" algn="just">
              <a:buFont typeface="Wingdings" pitchFamily="2" charset="2"/>
              <a:buChar char="Ø"/>
            </a:pPr>
            <a:r>
              <a:rPr lang="es-AR" sz="2000" spc="-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elvetica" pitchFamily="2" charset="0"/>
              </a:rPr>
              <a:t>Listas ( </a:t>
            </a:r>
            <a:r>
              <a:rPr lang="es-AR" sz="2000" spc="-1" dirty="0">
                <a:solidFill>
                  <a:srgbClr val="92D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elvetica" pitchFamily="2" charset="0"/>
              </a:rPr>
              <a:t>type</a:t>
            </a:r>
            <a:r>
              <a:rPr lang="es-AR" sz="2000" spc="-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elvetica" pitchFamily="2" charset="0"/>
              </a:rPr>
              <a:t> ‘list’ )</a:t>
            </a:r>
          </a:p>
          <a:p>
            <a:pPr marL="1257300" lvl="2" indent="-342900" algn="just">
              <a:buFont typeface="Wingdings" pitchFamily="2" charset="2"/>
              <a:buChar char="Ø"/>
            </a:pPr>
            <a:r>
              <a:rPr lang="es-AR" sz="2000" spc="-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elvetica" pitchFamily="2" charset="0"/>
              </a:rPr>
              <a:t>Rangos ( </a:t>
            </a:r>
            <a:r>
              <a:rPr lang="es-AR" sz="2000" spc="-1" dirty="0">
                <a:solidFill>
                  <a:srgbClr val="92D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elvetica" pitchFamily="2" charset="0"/>
              </a:rPr>
              <a:t>type</a:t>
            </a:r>
            <a:r>
              <a:rPr lang="es-AR" sz="2000" spc="-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elvetica" pitchFamily="2" charset="0"/>
              </a:rPr>
              <a:t> ‘range’ )</a:t>
            </a:r>
            <a:endParaRPr sz="2400" dirty="0"/>
          </a:p>
        </p:txBody>
      </p:sp>
      <p:sp>
        <p:nvSpPr>
          <p:cNvPr id="20" name="Las entradas antes de convertirse en salidas, pueden pasar por un sinfín de…">
            <a:extLst>
              <a:ext uri="{FF2B5EF4-FFF2-40B4-BE49-F238E27FC236}">
                <a16:creationId xmlns:a16="http://schemas.microsoft.com/office/drawing/2014/main" id="{15489E6F-845A-A64A-B7A7-1C0847A7071F}"/>
              </a:ext>
            </a:extLst>
          </p:cNvPr>
          <p:cNvSpPr txBox="1"/>
          <p:nvPr/>
        </p:nvSpPr>
        <p:spPr>
          <a:xfrm>
            <a:off x="169709" y="5949280"/>
            <a:ext cx="8766795" cy="70788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9" tIns="45719" rIns="45719" bIns="45719" numCol="1" anchor="ctr">
            <a:spAutoFit/>
          </a:bodyPr>
          <a:lstStyle/>
          <a:p>
            <a:r>
              <a:rPr lang="en-US" sz="2000" dirty="0" err="1"/>
              <a:t>Además</a:t>
            </a:r>
            <a:r>
              <a:rPr lang="en-US" sz="2000" dirty="0"/>
              <a:t> del </a:t>
            </a:r>
            <a:r>
              <a:rPr lang="en-US" sz="2000" dirty="0" err="1"/>
              <a:t>rango</a:t>
            </a:r>
            <a:r>
              <a:rPr lang="en-US" sz="2000" dirty="0"/>
              <a:t> de </a:t>
            </a:r>
            <a:r>
              <a:rPr lang="en-US" sz="2000" dirty="0" err="1"/>
              <a:t>valores</a:t>
            </a:r>
            <a:r>
              <a:rPr lang="en-US" sz="2000" dirty="0"/>
              <a:t>, </a:t>
            </a:r>
            <a:r>
              <a:rPr lang="en-US" sz="2000" dirty="0" err="1"/>
              <a:t>también</a:t>
            </a:r>
            <a:r>
              <a:rPr lang="en-US" sz="2000" dirty="0"/>
              <a:t> </a:t>
            </a:r>
            <a:r>
              <a:rPr lang="en-US" sz="2000" dirty="0" err="1"/>
              <a:t>podemos</a:t>
            </a:r>
            <a:r>
              <a:rPr lang="en-US" sz="2000" dirty="0"/>
              <a:t> </a:t>
            </a:r>
            <a:r>
              <a:rPr lang="en-US" sz="2000" dirty="0" err="1"/>
              <a:t>definir</a:t>
            </a:r>
            <a:r>
              <a:rPr lang="en-US" sz="2000" dirty="0"/>
              <a:t> las </a:t>
            </a:r>
            <a:r>
              <a:rPr lang="en-US" sz="2000" dirty="0" err="1"/>
              <a:t>operaciones</a:t>
            </a:r>
            <a:r>
              <a:rPr lang="en-US" sz="2000" dirty="0"/>
              <a:t> </a:t>
            </a:r>
            <a:r>
              <a:rPr lang="en-US" sz="2000" dirty="0" err="1"/>
              <a:t>aceptadas</a:t>
            </a:r>
            <a:endParaRPr lang="en-US" sz="2000" dirty="0"/>
          </a:p>
          <a:p>
            <a:r>
              <a:rPr lang="en-US" sz="2000" b="1" dirty="0"/>
              <a:t>(</a:t>
            </a:r>
            <a:r>
              <a:rPr lang="en-US" sz="2000" b="1" dirty="0" err="1"/>
              <a:t>estructura</a:t>
            </a:r>
            <a:r>
              <a:rPr lang="en-US" sz="2000" b="1" dirty="0"/>
              <a:t> del </a:t>
            </a:r>
            <a:r>
              <a:rPr lang="en-US" sz="2000" b="1" dirty="0" err="1"/>
              <a:t>tipo</a:t>
            </a:r>
            <a:r>
              <a:rPr lang="en-US" sz="2000" b="1" dirty="0"/>
              <a:t> de </a:t>
            </a:r>
            <a:r>
              <a:rPr lang="en-US" sz="2000" b="1" dirty="0" err="1"/>
              <a:t>dato</a:t>
            </a:r>
            <a:r>
              <a:rPr lang="en-US" sz="2000" b="1" dirty="0"/>
              <a:t>)  </a:t>
            </a:r>
            <a:endParaRPr sz="2000" b="1" dirty="0"/>
          </a:p>
        </p:txBody>
      </p:sp>
      <p:sp>
        <p:nvSpPr>
          <p:cNvPr id="14" name="17 CuadroTexto">
            <a:extLst>
              <a:ext uri="{FF2B5EF4-FFF2-40B4-BE49-F238E27FC236}">
                <a16:creationId xmlns:a16="http://schemas.microsoft.com/office/drawing/2014/main" id="{FE210990-BB28-C34F-8C39-11BDC67ADFD8}"/>
              </a:ext>
            </a:extLst>
          </p:cNvPr>
          <p:cNvSpPr txBox="1"/>
          <p:nvPr/>
        </p:nvSpPr>
        <p:spPr>
          <a:xfrm>
            <a:off x="2985122" y="499899"/>
            <a:ext cx="3173756" cy="984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AR" sz="2000" b="1" dirty="0">
                <a:solidFill>
                  <a:schemeClr val="bg1"/>
                </a:solidFill>
                <a:latin typeface="TeXGyreAdventor" pitchFamily="50" charset="0"/>
              </a:rPr>
              <a:t> - </a:t>
            </a:r>
            <a:r>
              <a:rPr lang="es-AR" sz="2000" b="1" u="sng" dirty="0">
                <a:solidFill>
                  <a:schemeClr val="bg1"/>
                </a:solidFill>
                <a:latin typeface="TeXGyreAdventor" pitchFamily="50" charset="0"/>
              </a:rPr>
              <a:t>Tipos de Datos Definidos por el Usuario</a:t>
            </a:r>
            <a:r>
              <a:rPr lang="es-AR" sz="2000" b="1" dirty="0">
                <a:solidFill>
                  <a:schemeClr val="bg1"/>
                </a:solidFill>
                <a:latin typeface="TeXGyreAdventor" pitchFamily="50" charset="0"/>
              </a:rPr>
              <a:t>-</a:t>
            </a:r>
          </a:p>
          <a:p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1761293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16 Imagen">
            <a:extLst>
              <a:ext uri="{FF2B5EF4-FFF2-40B4-BE49-F238E27FC236}">
                <a16:creationId xmlns:a16="http://schemas.microsoft.com/office/drawing/2014/main" id="{E18833CA-28BE-584F-9880-8012D82710A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580"/>
            <a:ext cx="9144000" cy="1171495"/>
          </a:xfrm>
          <a:prstGeom prst="rect">
            <a:avLst/>
          </a:prstGeom>
        </p:spPr>
      </p:pic>
      <p:sp>
        <p:nvSpPr>
          <p:cNvPr id="11" name="17 CuadroTexto">
            <a:extLst>
              <a:ext uri="{FF2B5EF4-FFF2-40B4-BE49-F238E27FC236}">
                <a16:creationId xmlns:a16="http://schemas.microsoft.com/office/drawing/2014/main" id="{6BED238C-223E-7F4A-BFF1-2F3910B2B049}"/>
              </a:ext>
            </a:extLst>
          </p:cNvPr>
          <p:cNvSpPr txBox="1"/>
          <p:nvPr/>
        </p:nvSpPr>
        <p:spPr>
          <a:xfrm>
            <a:off x="212156" y="87951"/>
            <a:ext cx="327972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2400" b="1" dirty="0">
                <a:solidFill>
                  <a:schemeClr val="bg1"/>
                </a:solidFill>
                <a:latin typeface="TeXGyreAdventor" pitchFamily="50" charset="0"/>
              </a:rPr>
              <a:t>Algoritmos y Estructuras</a:t>
            </a:r>
          </a:p>
          <a:p>
            <a:r>
              <a:rPr lang="es-AR" sz="2400" b="1" dirty="0">
                <a:solidFill>
                  <a:schemeClr val="bg1"/>
                </a:solidFill>
                <a:latin typeface="TeXGyreAdventor" pitchFamily="50" charset="0"/>
              </a:rPr>
              <a:t>de Datos</a:t>
            </a:r>
          </a:p>
          <a:p>
            <a:endParaRPr lang="es-AR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711F11B-CFCC-6F4C-987C-61BCBAF2DD91}"/>
              </a:ext>
            </a:extLst>
          </p:cNvPr>
          <p:cNvSpPr txBox="1"/>
          <p:nvPr/>
        </p:nvSpPr>
        <p:spPr>
          <a:xfrm>
            <a:off x="0" y="1173075"/>
            <a:ext cx="125508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AR" sz="24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Arial" pitchFamily="34" charset="0"/>
                <a:cs typeface="Arial" pitchFamily="34" charset="0"/>
              </a:rPr>
              <a:t>Tuplas:</a:t>
            </a:r>
          </a:p>
        </p:txBody>
      </p:sp>
      <p:sp>
        <p:nvSpPr>
          <p:cNvPr id="17" name="Los algoritmos se organizan en dos aspectos inseparables:">
            <a:extLst>
              <a:ext uri="{FF2B5EF4-FFF2-40B4-BE49-F238E27FC236}">
                <a16:creationId xmlns:a16="http://schemas.microsoft.com/office/drawing/2014/main" id="{AB2CC5FA-CD2B-F24E-BA05-2FC720BB331A}"/>
              </a:ext>
            </a:extLst>
          </p:cNvPr>
          <p:cNvSpPr txBox="1"/>
          <p:nvPr/>
        </p:nvSpPr>
        <p:spPr>
          <a:xfrm>
            <a:off x="609743" y="1671558"/>
            <a:ext cx="7973061" cy="9541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spcBef>
                <a:spcPts val="1600"/>
              </a:spcBef>
              <a:buSzPct val="100000"/>
              <a:buChar char="•"/>
              <a:defRPr sz="2800"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>
              <a:buNone/>
            </a:pPr>
            <a:r>
              <a:rPr lang="en-US" dirty="0"/>
              <a:t>Una </a:t>
            </a:r>
            <a:r>
              <a:rPr lang="en-US" b="1" i="1" dirty="0" err="1"/>
              <a:t>tupla</a:t>
            </a:r>
            <a:r>
              <a:rPr lang="en-US" dirty="0"/>
              <a:t> </a:t>
            </a:r>
            <a:r>
              <a:rPr lang="en-US" dirty="0" err="1"/>
              <a:t>es</a:t>
            </a:r>
            <a:r>
              <a:rPr lang="en-US" dirty="0"/>
              <a:t> </a:t>
            </a:r>
            <a:r>
              <a:rPr lang="en-US" dirty="0" err="1"/>
              <a:t>una</a:t>
            </a:r>
            <a:r>
              <a:rPr lang="en-US" dirty="0"/>
              <a:t> </a:t>
            </a:r>
            <a:r>
              <a:rPr lang="en-US" u="sng" dirty="0" err="1"/>
              <a:t>secuencia</a:t>
            </a:r>
            <a:r>
              <a:rPr lang="en-US" u="sng" dirty="0"/>
              <a:t> </a:t>
            </a:r>
            <a:r>
              <a:rPr lang="en-US" u="sng" dirty="0" err="1"/>
              <a:t>finita</a:t>
            </a:r>
            <a:r>
              <a:rPr lang="en-US" u="sng" dirty="0"/>
              <a:t> de </a:t>
            </a:r>
            <a:r>
              <a:rPr lang="en-US" u="sng" dirty="0" err="1"/>
              <a:t>objetos</a:t>
            </a:r>
            <a:r>
              <a:rPr lang="en-US" dirty="0"/>
              <a:t> (</a:t>
            </a:r>
            <a:r>
              <a:rPr lang="en-US" dirty="0" err="1"/>
              <a:t>los</a:t>
            </a:r>
            <a:r>
              <a:rPr lang="en-US" dirty="0"/>
              <a:t> </a:t>
            </a:r>
            <a:r>
              <a:rPr lang="en-US" dirty="0" err="1"/>
              <a:t>cuales</a:t>
            </a:r>
            <a:r>
              <a:rPr lang="en-US" dirty="0"/>
              <a:t> </a:t>
            </a:r>
            <a:r>
              <a:rPr lang="en-US" dirty="0" err="1"/>
              <a:t>pueden</a:t>
            </a:r>
            <a:r>
              <a:rPr lang="en-US" dirty="0"/>
              <a:t> </a:t>
            </a:r>
            <a:r>
              <a:rPr lang="en-US" dirty="0" err="1"/>
              <a:t>ser</a:t>
            </a:r>
            <a:r>
              <a:rPr lang="en-US" dirty="0"/>
              <a:t> de </a:t>
            </a:r>
            <a:r>
              <a:rPr lang="en-US" dirty="0" err="1"/>
              <a:t>distintos</a:t>
            </a:r>
            <a:r>
              <a:rPr lang="en-US" dirty="0"/>
              <a:t> </a:t>
            </a:r>
            <a:r>
              <a:rPr lang="en-US" dirty="0" err="1"/>
              <a:t>tipos</a:t>
            </a:r>
            <a:r>
              <a:rPr lang="en-US" dirty="0"/>
              <a:t>).</a:t>
            </a:r>
          </a:p>
        </p:txBody>
      </p:sp>
      <p:sp>
        <p:nvSpPr>
          <p:cNvPr id="19" name="Las entradas colección inicial de datos.…">
            <a:extLst>
              <a:ext uri="{FF2B5EF4-FFF2-40B4-BE49-F238E27FC236}">
                <a16:creationId xmlns:a16="http://schemas.microsoft.com/office/drawing/2014/main" id="{4DE0C32F-D862-9940-8EDC-5714BDC7F39D}"/>
              </a:ext>
            </a:extLst>
          </p:cNvPr>
          <p:cNvSpPr txBox="1"/>
          <p:nvPr/>
        </p:nvSpPr>
        <p:spPr>
          <a:xfrm>
            <a:off x="597626" y="3143984"/>
            <a:ext cx="7973061" cy="28623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marL="342900" indent="-342900">
              <a:buFont typeface="Wingdings" pitchFamily="2" charset="2"/>
              <a:buChar char="Ø"/>
            </a:pPr>
            <a:r>
              <a:rPr lang="en-US" sz="2000" dirty="0" err="1"/>
              <a:t>Esta</a:t>
            </a:r>
            <a:r>
              <a:rPr lang="en-US" sz="2000" dirty="0"/>
              <a:t> </a:t>
            </a:r>
            <a:r>
              <a:rPr lang="en-US" sz="2000" dirty="0" err="1"/>
              <a:t>es</a:t>
            </a:r>
            <a:r>
              <a:rPr lang="en-US" sz="2000" dirty="0"/>
              <a:t> </a:t>
            </a:r>
            <a:r>
              <a:rPr lang="en-US" sz="2000" dirty="0" err="1"/>
              <a:t>una</a:t>
            </a:r>
            <a:r>
              <a:rPr lang="en-US" sz="2000" dirty="0"/>
              <a:t> </a:t>
            </a:r>
            <a:r>
              <a:rPr lang="en-US" sz="2000" dirty="0" err="1"/>
              <a:t>estructura</a:t>
            </a:r>
            <a:r>
              <a:rPr lang="en-US" sz="2000" dirty="0"/>
              <a:t> de </a:t>
            </a:r>
            <a:r>
              <a:rPr lang="en-US" sz="2000" dirty="0" err="1"/>
              <a:t>datos</a:t>
            </a:r>
            <a:r>
              <a:rPr lang="en-US" sz="2000" dirty="0"/>
              <a:t>  </a:t>
            </a:r>
            <a:r>
              <a:rPr lang="en-US" sz="2000" b="1" i="1" dirty="0" err="1"/>
              <a:t>rígida</a:t>
            </a:r>
            <a:r>
              <a:rPr lang="en-US" sz="2000" dirty="0"/>
              <a:t>, </a:t>
            </a:r>
            <a:r>
              <a:rPr lang="en-US" sz="2000" dirty="0" err="1"/>
              <a:t>es</a:t>
            </a:r>
            <a:r>
              <a:rPr lang="en-US" sz="2000" dirty="0"/>
              <a:t> </a:t>
            </a:r>
            <a:r>
              <a:rPr lang="en-US" sz="2000" dirty="0" err="1"/>
              <a:t>decir</a:t>
            </a:r>
            <a:r>
              <a:rPr lang="en-US" sz="2000" dirty="0"/>
              <a:t>, </a:t>
            </a:r>
            <a:r>
              <a:rPr lang="en-US" sz="2000" u="sng" dirty="0"/>
              <a:t>no </a:t>
            </a:r>
            <a:r>
              <a:rPr lang="en-US" sz="2000" u="sng" dirty="0" err="1"/>
              <a:t>podemos</a:t>
            </a:r>
            <a:r>
              <a:rPr lang="en-US" sz="2000" u="sng" dirty="0"/>
              <a:t> </a:t>
            </a:r>
            <a:r>
              <a:rPr lang="en-US" sz="2000" u="sng" dirty="0" err="1"/>
              <a:t>modificar</a:t>
            </a:r>
            <a:r>
              <a:rPr lang="en-US" sz="2000" u="sng" dirty="0"/>
              <a:t> </a:t>
            </a:r>
            <a:r>
              <a:rPr lang="en-US" sz="2000" u="sng" dirty="0" err="1"/>
              <a:t>una</a:t>
            </a:r>
            <a:r>
              <a:rPr lang="en-US" sz="2000" u="sng" dirty="0"/>
              <a:t> </a:t>
            </a:r>
            <a:r>
              <a:rPr lang="en-US" sz="2000" u="sng" dirty="0" err="1"/>
              <a:t>tupla</a:t>
            </a:r>
            <a:r>
              <a:rPr lang="en-US" sz="2000" dirty="0"/>
              <a:t>. (INMUTABLE!)</a:t>
            </a:r>
          </a:p>
          <a:p>
            <a:pPr marL="342900" indent="-342900">
              <a:buFont typeface="Wingdings" pitchFamily="2" charset="2"/>
              <a:buChar char="Ø"/>
            </a:pPr>
            <a:endParaRPr lang="en-US" sz="2000" dirty="0"/>
          </a:p>
          <a:p>
            <a:pPr marL="342900" indent="-342900">
              <a:buFont typeface="Wingdings" pitchFamily="2" charset="2"/>
              <a:buChar char="Ø"/>
            </a:pPr>
            <a:r>
              <a:rPr lang="en-US" sz="2000" dirty="0"/>
              <a:t>Las </a:t>
            </a:r>
            <a:r>
              <a:rPr lang="en-US" sz="2000" dirty="0" err="1"/>
              <a:t>tuplas</a:t>
            </a:r>
            <a:r>
              <a:rPr lang="en-US" sz="2000" dirty="0"/>
              <a:t> </a:t>
            </a:r>
            <a:r>
              <a:rPr lang="en-US" sz="2000" dirty="0" err="1"/>
              <a:t>pueden</a:t>
            </a:r>
            <a:r>
              <a:rPr lang="en-US" sz="2000" dirty="0"/>
              <a:t> </a:t>
            </a:r>
            <a:r>
              <a:rPr lang="en-US" sz="2000" dirty="0" err="1"/>
              <a:t>ser</a:t>
            </a:r>
            <a:r>
              <a:rPr lang="en-US" sz="2000" dirty="0"/>
              <a:t> </a:t>
            </a:r>
            <a:r>
              <a:rPr lang="en-US" sz="2000" dirty="0" err="1"/>
              <a:t>concatenadas</a:t>
            </a:r>
            <a:r>
              <a:rPr lang="en-US" sz="2000" dirty="0"/>
              <a:t>, de </a:t>
            </a:r>
            <a:r>
              <a:rPr lang="en-US" sz="2000" dirty="0" err="1"/>
              <a:t>manera</a:t>
            </a:r>
            <a:r>
              <a:rPr lang="en-US" sz="2000" dirty="0"/>
              <a:t> similar a la </a:t>
            </a:r>
            <a:r>
              <a:rPr lang="en-US" sz="2000" dirty="0" err="1"/>
              <a:t>concatenación</a:t>
            </a:r>
            <a:r>
              <a:rPr lang="en-US" sz="2000" dirty="0"/>
              <a:t> de strings (</a:t>
            </a:r>
            <a:r>
              <a:rPr lang="en-US" sz="2000" dirty="0" err="1"/>
              <a:t>usando</a:t>
            </a:r>
            <a:r>
              <a:rPr lang="en-US" sz="2000" dirty="0"/>
              <a:t> el </a:t>
            </a: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‘+’</a:t>
            </a:r>
            <a:r>
              <a:rPr lang="en-US" sz="2000" dirty="0"/>
              <a:t>). </a:t>
            </a:r>
          </a:p>
          <a:p>
            <a:pPr marL="342900" indent="-342900">
              <a:buFont typeface="Wingdings" pitchFamily="2" charset="2"/>
              <a:buChar char="Ø"/>
            </a:pPr>
            <a:endParaRPr lang="en-US" sz="2000" dirty="0"/>
          </a:p>
          <a:p>
            <a:pPr marL="342900" indent="-342900">
              <a:buFont typeface="Wingdings" pitchFamily="2" charset="2"/>
              <a:buChar char="Ø"/>
            </a:pPr>
            <a:r>
              <a:rPr lang="en-US" sz="2000" dirty="0"/>
              <a:t>Podemos </a:t>
            </a:r>
            <a:r>
              <a:rPr lang="en-US" sz="2000" dirty="0" err="1"/>
              <a:t>obtener</a:t>
            </a:r>
            <a:r>
              <a:rPr lang="en-US" sz="2000" dirty="0"/>
              <a:t> la </a:t>
            </a:r>
            <a:r>
              <a:rPr lang="en-US" sz="2000" dirty="0" err="1"/>
              <a:t>logitud</a:t>
            </a:r>
            <a:r>
              <a:rPr lang="en-US" sz="2000" dirty="0"/>
              <a:t> de </a:t>
            </a:r>
            <a:r>
              <a:rPr lang="en-US" sz="2000" dirty="0" err="1"/>
              <a:t>una</a:t>
            </a:r>
            <a:r>
              <a:rPr lang="en-US" sz="2000" dirty="0"/>
              <a:t> </a:t>
            </a:r>
            <a:r>
              <a:rPr lang="en-US" sz="2000" dirty="0" err="1"/>
              <a:t>tupla</a:t>
            </a:r>
            <a:r>
              <a:rPr lang="en-US" sz="2000" dirty="0"/>
              <a:t>, </a:t>
            </a:r>
            <a:r>
              <a:rPr lang="en-US" sz="2000" dirty="0" err="1"/>
              <a:t>utilizando</a:t>
            </a:r>
            <a:r>
              <a:rPr lang="en-US" sz="2000" dirty="0"/>
              <a:t> la </a:t>
            </a:r>
            <a:r>
              <a:rPr lang="en-US" sz="2000" dirty="0" err="1"/>
              <a:t>función</a:t>
            </a:r>
            <a:r>
              <a:rPr lang="en-US" sz="2000" dirty="0"/>
              <a:t> </a:t>
            </a:r>
            <a:r>
              <a:rPr lang="en-US" sz="2000" dirty="0" err="1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len</a:t>
            </a: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()</a:t>
            </a:r>
            <a:r>
              <a:rPr lang="en-US" sz="2000" dirty="0"/>
              <a:t>. </a:t>
            </a:r>
          </a:p>
          <a:p>
            <a:pPr marL="342900" indent="-342900">
              <a:buFont typeface="Wingdings" pitchFamily="2" charset="2"/>
              <a:buChar char="Ø"/>
            </a:pPr>
            <a:endParaRPr lang="en-US" sz="2000" dirty="0"/>
          </a:p>
          <a:p>
            <a:pPr marL="342900" indent="-342900">
              <a:buFont typeface="Wingdings" pitchFamily="2" charset="2"/>
              <a:buChar char="Ø"/>
            </a:pPr>
            <a:r>
              <a:rPr lang="en-US" sz="2000" dirty="0" err="1"/>
              <a:t>También</a:t>
            </a:r>
            <a:r>
              <a:rPr lang="en-US" sz="2000" dirty="0"/>
              <a:t> </a:t>
            </a:r>
            <a:r>
              <a:rPr lang="en-US" sz="2000" dirty="0" err="1"/>
              <a:t>podemos</a:t>
            </a:r>
            <a:r>
              <a:rPr lang="en-US" sz="2000" dirty="0"/>
              <a:t> </a:t>
            </a:r>
            <a:r>
              <a:rPr lang="en-US" sz="2000" dirty="0" err="1"/>
              <a:t>acceder</a:t>
            </a:r>
            <a:r>
              <a:rPr lang="en-US" sz="2000" dirty="0"/>
              <a:t> a </a:t>
            </a:r>
            <a:r>
              <a:rPr lang="en-US" sz="2000" dirty="0" err="1"/>
              <a:t>los</a:t>
            </a:r>
            <a:r>
              <a:rPr lang="en-US" sz="2000" dirty="0"/>
              <a:t> </a:t>
            </a:r>
            <a:r>
              <a:rPr lang="en-US" sz="2000" dirty="0" err="1"/>
              <a:t>elementos</a:t>
            </a:r>
            <a:r>
              <a:rPr lang="en-US" sz="2000" dirty="0"/>
              <a:t> de la </a:t>
            </a:r>
            <a:r>
              <a:rPr lang="en-US" sz="2000" dirty="0" err="1"/>
              <a:t>tupla</a:t>
            </a:r>
            <a:r>
              <a:rPr lang="en-US" sz="2000" dirty="0"/>
              <a:t> </a:t>
            </a:r>
            <a:r>
              <a:rPr lang="en-US" sz="2000" dirty="0" err="1"/>
              <a:t>usando</a:t>
            </a:r>
            <a:r>
              <a:rPr lang="en-US" sz="2000" dirty="0"/>
              <a:t> indices.</a:t>
            </a:r>
          </a:p>
        </p:txBody>
      </p:sp>
      <p:sp>
        <p:nvSpPr>
          <p:cNvPr id="14" name="17 CuadroTexto">
            <a:extLst>
              <a:ext uri="{FF2B5EF4-FFF2-40B4-BE49-F238E27FC236}">
                <a16:creationId xmlns:a16="http://schemas.microsoft.com/office/drawing/2014/main" id="{FE210990-BB28-C34F-8C39-11BDC67ADFD8}"/>
              </a:ext>
            </a:extLst>
          </p:cNvPr>
          <p:cNvSpPr txBox="1"/>
          <p:nvPr/>
        </p:nvSpPr>
        <p:spPr>
          <a:xfrm>
            <a:off x="2985122" y="499899"/>
            <a:ext cx="3173756" cy="984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AR" sz="2000" b="1" dirty="0">
                <a:solidFill>
                  <a:schemeClr val="bg1"/>
                </a:solidFill>
                <a:latin typeface="TeXGyreAdventor" pitchFamily="50" charset="0"/>
              </a:rPr>
              <a:t> - </a:t>
            </a:r>
            <a:r>
              <a:rPr lang="es-AR" sz="2000" b="1" u="sng" dirty="0">
                <a:solidFill>
                  <a:schemeClr val="bg1"/>
                </a:solidFill>
                <a:latin typeface="TeXGyreAdventor" pitchFamily="50" charset="0"/>
              </a:rPr>
              <a:t>Tipos de Datos Definidos por el Usuario</a:t>
            </a:r>
            <a:r>
              <a:rPr lang="es-AR" sz="2000" b="1" dirty="0">
                <a:solidFill>
                  <a:schemeClr val="bg1"/>
                </a:solidFill>
                <a:latin typeface="TeXGyreAdventor" pitchFamily="50" charset="0"/>
              </a:rPr>
              <a:t>-</a:t>
            </a:r>
          </a:p>
          <a:p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6814987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16 Imagen">
            <a:extLst>
              <a:ext uri="{FF2B5EF4-FFF2-40B4-BE49-F238E27FC236}">
                <a16:creationId xmlns:a16="http://schemas.microsoft.com/office/drawing/2014/main" id="{E18833CA-28BE-584F-9880-8012D82710A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580"/>
            <a:ext cx="9144000" cy="1171495"/>
          </a:xfrm>
          <a:prstGeom prst="rect">
            <a:avLst/>
          </a:prstGeom>
        </p:spPr>
      </p:pic>
      <p:sp>
        <p:nvSpPr>
          <p:cNvPr id="11" name="17 CuadroTexto">
            <a:extLst>
              <a:ext uri="{FF2B5EF4-FFF2-40B4-BE49-F238E27FC236}">
                <a16:creationId xmlns:a16="http://schemas.microsoft.com/office/drawing/2014/main" id="{6BED238C-223E-7F4A-BFF1-2F3910B2B049}"/>
              </a:ext>
            </a:extLst>
          </p:cNvPr>
          <p:cNvSpPr txBox="1"/>
          <p:nvPr/>
        </p:nvSpPr>
        <p:spPr>
          <a:xfrm>
            <a:off x="212156" y="87951"/>
            <a:ext cx="327972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2400" b="1" dirty="0">
                <a:solidFill>
                  <a:schemeClr val="bg1"/>
                </a:solidFill>
                <a:latin typeface="TeXGyreAdventor" pitchFamily="50" charset="0"/>
              </a:rPr>
              <a:t>Algoritmos y Estructuras</a:t>
            </a:r>
          </a:p>
          <a:p>
            <a:r>
              <a:rPr lang="es-AR" sz="2400" b="1" dirty="0">
                <a:solidFill>
                  <a:schemeClr val="bg1"/>
                </a:solidFill>
                <a:latin typeface="TeXGyreAdventor" pitchFamily="50" charset="0"/>
              </a:rPr>
              <a:t>de Datos</a:t>
            </a:r>
          </a:p>
          <a:p>
            <a:endParaRPr lang="es-AR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711F11B-CFCC-6F4C-987C-61BCBAF2DD91}"/>
              </a:ext>
            </a:extLst>
          </p:cNvPr>
          <p:cNvSpPr txBox="1"/>
          <p:nvPr/>
        </p:nvSpPr>
        <p:spPr>
          <a:xfrm>
            <a:off x="0" y="1173075"/>
            <a:ext cx="125508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AR" sz="24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Arial" pitchFamily="34" charset="0"/>
                <a:cs typeface="Arial" pitchFamily="34" charset="0"/>
              </a:rPr>
              <a:t>Tuplas:</a:t>
            </a:r>
          </a:p>
        </p:txBody>
      </p:sp>
      <p:sp>
        <p:nvSpPr>
          <p:cNvPr id="17" name="Los algoritmos se organizan en dos aspectos inseparables:">
            <a:extLst>
              <a:ext uri="{FF2B5EF4-FFF2-40B4-BE49-F238E27FC236}">
                <a16:creationId xmlns:a16="http://schemas.microsoft.com/office/drawing/2014/main" id="{AB2CC5FA-CD2B-F24E-BA05-2FC720BB331A}"/>
              </a:ext>
            </a:extLst>
          </p:cNvPr>
          <p:cNvSpPr txBox="1"/>
          <p:nvPr/>
        </p:nvSpPr>
        <p:spPr>
          <a:xfrm>
            <a:off x="278578" y="1694266"/>
            <a:ext cx="9002817" cy="46474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9" rIns="45719">
            <a:spAutoFit/>
          </a:bodyPr>
          <a:lstStyle>
            <a:lvl1pPr>
              <a:spcBef>
                <a:spcPts val="1600"/>
              </a:spcBef>
              <a:buSzPct val="100000"/>
              <a:buChar char="•"/>
              <a:defRPr sz="2800"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>
              <a:buNone/>
            </a:pPr>
            <a:r>
              <a:rPr lang="en-US" sz="2400" dirty="0" err="1"/>
              <a:t>Definicion</a:t>
            </a:r>
            <a:r>
              <a:rPr lang="en-US" sz="2400" dirty="0"/>
              <a:t>:</a:t>
            </a:r>
          </a:p>
          <a:p>
            <a:pPr>
              <a:buNone/>
            </a:pPr>
            <a:endParaRPr lang="en-US" sz="2400" dirty="0"/>
          </a:p>
          <a:p>
            <a:pPr>
              <a:buNone/>
            </a:pPr>
            <a:endParaRPr lang="en-US" sz="2400" dirty="0"/>
          </a:p>
          <a:p>
            <a:pPr>
              <a:buNone/>
            </a:pPr>
            <a:endParaRPr lang="en-US" sz="2400" dirty="0"/>
          </a:p>
          <a:p>
            <a:pPr>
              <a:buNone/>
            </a:pPr>
            <a:r>
              <a:rPr lang="en-US" sz="2400" dirty="0"/>
              <a:t>No hay </a:t>
            </a:r>
            <a:r>
              <a:rPr lang="en-US" sz="2400" dirty="0" err="1"/>
              <a:t>muchos</a:t>
            </a:r>
            <a:r>
              <a:rPr lang="en-US" sz="2400" dirty="0"/>
              <a:t> </a:t>
            </a:r>
            <a:r>
              <a:rPr lang="en-US" sz="2400" dirty="0" err="1"/>
              <a:t>métodos</a:t>
            </a:r>
            <a:r>
              <a:rPr lang="en-US" sz="2400" dirty="0"/>
              <a:t> </a:t>
            </a:r>
            <a:r>
              <a:rPr lang="en-US" sz="2400" dirty="0" err="1"/>
              <a:t>específicos</a:t>
            </a:r>
            <a:r>
              <a:rPr lang="en-US" sz="2400" dirty="0"/>
              <a:t> </a:t>
            </a:r>
            <a:r>
              <a:rPr lang="en-US" sz="2400" dirty="0" err="1"/>
              <a:t>asociados</a:t>
            </a:r>
            <a:r>
              <a:rPr lang="en-US" sz="2400" dirty="0"/>
              <a:t> a las </a:t>
            </a:r>
            <a:r>
              <a:rPr lang="en-US" sz="2400" dirty="0" err="1"/>
              <a:t>tuplas</a:t>
            </a:r>
            <a:r>
              <a:rPr lang="en-US" sz="2400" dirty="0"/>
              <a:t>. </a:t>
            </a:r>
            <a:endParaRPr lang="en-US" sz="2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457200" indent="-457200"/>
            <a:r>
              <a:rPr lang="en-US" sz="2400" b="1" dirty="0" err="1">
                <a:latin typeface="Consolas" panose="020B0609020204030204" pitchFamily="49" charset="0"/>
                <a:cs typeface="Consolas" panose="020B0609020204030204" pitchFamily="49" charset="0"/>
              </a:rPr>
              <a:t>x.count</a:t>
            </a:r>
            <a:r>
              <a:rPr lang="en-US" sz="2400" b="1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sz="2400" b="1" dirty="0" err="1">
                <a:latin typeface="Consolas" panose="020B0609020204030204" pitchFamily="49" charset="0"/>
                <a:cs typeface="Consolas" panose="020B0609020204030204" pitchFamily="49" charset="0"/>
              </a:rPr>
              <a:t>obj</a:t>
            </a:r>
            <a:r>
              <a:rPr lang="en-US" sz="2400" b="1" dirty="0"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  <a:r>
              <a:rPr lang="en-US" sz="2400" dirty="0"/>
              <a:t> </a:t>
            </a:r>
            <a:r>
              <a:rPr lang="en-US" sz="2400" dirty="0" err="1"/>
              <a:t>retorna</a:t>
            </a:r>
            <a:r>
              <a:rPr lang="en-US" sz="2400" dirty="0"/>
              <a:t> el </a:t>
            </a:r>
            <a:r>
              <a:rPr lang="en-US" sz="2400" dirty="0" err="1"/>
              <a:t>número</a:t>
            </a:r>
            <a:r>
              <a:rPr lang="en-US" sz="2400" dirty="0"/>
              <a:t> de </a:t>
            </a:r>
            <a:r>
              <a:rPr lang="en-US" sz="2400" dirty="0" err="1"/>
              <a:t>occurencias</a:t>
            </a:r>
            <a:r>
              <a:rPr lang="en-US" sz="2400" dirty="0"/>
              <a:t> del 	</a:t>
            </a:r>
            <a:r>
              <a:rPr lang="en-US" sz="2400" dirty="0" err="1"/>
              <a:t>objeto</a:t>
            </a:r>
            <a:r>
              <a:rPr lang="en-US" sz="2400" dirty="0"/>
              <a:t> </a:t>
            </a:r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'</a:t>
            </a:r>
            <a:r>
              <a:rPr lang="en-US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obj</a:t>
            </a:r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’</a:t>
            </a:r>
            <a:r>
              <a:rPr lang="en-US" sz="2400" dirty="0"/>
              <a:t> </a:t>
            </a:r>
            <a:r>
              <a:rPr lang="en-US" sz="2400" dirty="0" err="1"/>
              <a:t>en</a:t>
            </a:r>
            <a:r>
              <a:rPr lang="en-US" sz="2400" dirty="0"/>
              <a:t> </a:t>
            </a:r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'x'</a:t>
            </a:r>
            <a:r>
              <a:rPr lang="en-US" sz="2400" dirty="0"/>
              <a:t>. </a:t>
            </a:r>
          </a:p>
          <a:p>
            <a:pPr marL="457200" indent="-457200"/>
            <a:r>
              <a:rPr lang="en-US" sz="2400" b="1" dirty="0" err="1">
                <a:latin typeface="Consolas" panose="020B0609020204030204" pitchFamily="49" charset="0"/>
                <a:cs typeface="Consolas" panose="020B0609020204030204" pitchFamily="49" charset="0"/>
              </a:rPr>
              <a:t>x.index</a:t>
            </a:r>
            <a:r>
              <a:rPr lang="en-US" sz="2400" b="1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sz="2400" b="1" dirty="0" err="1">
                <a:latin typeface="Consolas" panose="020B0609020204030204" pitchFamily="49" charset="0"/>
                <a:cs typeface="Consolas" panose="020B0609020204030204" pitchFamily="49" charset="0"/>
              </a:rPr>
              <a:t>obj</a:t>
            </a:r>
            <a:r>
              <a:rPr lang="en-US" sz="2400" b="1" dirty="0"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  <a:r>
              <a:rPr lang="en-US" sz="2400" dirty="0"/>
              <a:t> </a:t>
            </a:r>
            <a:r>
              <a:rPr lang="en-US" sz="2400" dirty="0" err="1"/>
              <a:t>retorna</a:t>
            </a:r>
            <a:r>
              <a:rPr lang="en-US" sz="2400" dirty="0"/>
              <a:t> el </a:t>
            </a:r>
            <a:r>
              <a:rPr lang="en-US" sz="2400" dirty="0" err="1"/>
              <a:t>indice</a:t>
            </a:r>
            <a:r>
              <a:rPr lang="en-US" sz="2400" dirty="0"/>
              <a:t> de la primer </a:t>
            </a:r>
            <a:r>
              <a:rPr lang="en-US" sz="2400" dirty="0" err="1"/>
              <a:t>occurencia</a:t>
            </a:r>
            <a:r>
              <a:rPr lang="en-US" sz="2400" dirty="0"/>
              <a:t> del </a:t>
            </a:r>
            <a:br>
              <a:rPr lang="en-US" sz="2400" dirty="0"/>
            </a:br>
            <a:r>
              <a:rPr lang="en-US" sz="2400" dirty="0" err="1"/>
              <a:t>objeto</a:t>
            </a:r>
            <a:r>
              <a:rPr lang="en-US" sz="2400" dirty="0"/>
              <a:t> </a:t>
            </a:r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'</a:t>
            </a:r>
            <a:r>
              <a:rPr lang="en-US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obj</a:t>
            </a:r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'</a:t>
            </a:r>
            <a:r>
              <a:rPr lang="en-US" sz="2400" dirty="0"/>
              <a:t> </a:t>
            </a:r>
            <a:r>
              <a:rPr lang="en-US" sz="2400" dirty="0" err="1"/>
              <a:t>en</a:t>
            </a:r>
            <a:r>
              <a:rPr lang="en-US" sz="2400" dirty="0"/>
              <a:t> </a:t>
            </a:r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'x'</a:t>
            </a:r>
            <a:r>
              <a:rPr lang="en-US" sz="2400" dirty="0"/>
              <a:t>.</a:t>
            </a:r>
          </a:p>
        </p:txBody>
      </p:sp>
      <p:sp>
        <p:nvSpPr>
          <p:cNvPr id="14" name="17 CuadroTexto">
            <a:extLst>
              <a:ext uri="{FF2B5EF4-FFF2-40B4-BE49-F238E27FC236}">
                <a16:creationId xmlns:a16="http://schemas.microsoft.com/office/drawing/2014/main" id="{FE210990-BB28-C34F-8C39-11BDC67ADFD8}"/>
              </a:ext>
            </a:extLst>
          </p:cNvPr>
          <p:cNvSpPr txBox="1"/>
          <p:nvPr/>
        </p:nvSpPr>
        <p:spPr>
          <a:xfrm>
            <a:off x="2985122" y="499899"/>
            <a:ext cx="3173756" cy="984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AR" sz="2000" b="1" dirty="0">
                <a:solidFill>
                  <a:schemeClr val="bg1"/>
                </a:solidFill>
                <a:latin typeface="TeXGyreAdventor" pitchFamily="50" charset="0"/>
              </a:rPr>
              <a:t> - </a:t>
            </a:r>
            <a:r>
              <a:rPr lang="es-AR" sz="2000" b="1" u="sng" dirty="0">
                <a:solidFill>
                  <a:schemeClr val="bg1"/>
                </a:solidFill>
                <a:latin typeface="TeXGyreAdventor" pitchFamily="50" charset="0"/>
              </a:rPr>
              <a:t>Tipos de Datos Definidos por el Usuario</a:t>
            </a:r>
            <a:r>
              <a:rPr lang="es-AR" sz="2000" b="1" dirty="0">
                <a:solidFill>
                  <a:schemeClr val="bg1"/>
                </a:solidFill>
                <a:latin typeface="TeXGyreAdventor" pitchFamily="50" charset="0"/>
              </a:rPr>
              <a:t>-</a:t>
            </a:r>
          </a:p>
          <a:p>
            <a:endParaRPr lang="es-AR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C948E37-1E9A-F54F-B9C4-244FD7F0970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7584" y="2420888"/>
            <a:ext cx="7270700" cy="11069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73181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16 Imagen">
            <a:extLst>
              <a:ext uri="{FF2B5EF4-FFF2-40B4-BE49-F238E27FC236}">
                <a16:creationId xmlns:a16="http://schemas.microsoft.com/office/drawing/2014/main" id="{E18833CA-28BE-584F-9880-8012D82710A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580"/>
            <a:ext cx="9144000" cy="1171495"/>
          </a:xfrm>
          <a:prstGeom prst="rect">
            <a:avLst/>
          </a:prstGeom>
        </p:spPr>
      </p:pic>
      <p:sp>
        <p:nvSpPr>
          <p:cNvPr id="11" name="17 CuadroTexto">
            <a:extLst>
              <a:ext uri="{FF2B5EF4-FFF2-40B4-BE49-F238E27FC236}">
                <a16:creationId xmlns:a16="http://schemas.microsoft.com/office/drawing/2014/main" id="{6BED238C-223E-7F4A-BFF1-2F3910B2B049}"/>
              </a:ext>
            </a:extLst>
          </p:cNvPr>
          <p:cNvSpPr txBox="1"/>
          <p:nvPr/>
        </p:nvSpPr>
        <p:spPr>
          <a:xfrm>
            <a:off x="212156" y="87951"/>
            <a:ext cx="327972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2400" b="1" dirty="0">
                <a:solidFill>
                  <a:schemeClr val="bg1"/>
                </a:solidFill>
                <a:latin typeface="TeXGyreAdventor" pitchFamily="50" charset="0"/>
              </a:rPr>
              <a:t>Algoritmos y Estructuras</a:t>
            </a:r>
          </a:p>
          <a:p>
            <a:r>
              <a:rPr lang="es-AR" sz="2400" b="1" dirty="0">
                <a:solidFill>
                  <a:schemeClr val="bg1"/>
                </a:solidFill>
                <a:latin typeface="TeXGyreAdventor" pitchFamily="50" charset="0"/>
              </a:rPr>
              <a:t>de Datos</a:t>
            </a:r>
          </a:p>
          <a:p>
            <a:endParaRPr lang="es-AR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711F11B-CFCC-6F4C-987C-61BCBAF2DD91}"/>
              </a:ext>
            </a:extLst>
          </p:cNvPr>
          <p:cNvSpPr txBox="1"/>
          <p:nvPr/>
        </p:nvSpPr>
        <p:spPr>
          <a:xfrm>
            <a:off x="0" y="1173075"/>
            <a:ext cx="170431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AR" sz="24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Arial" pitchFamily="34" charset="0"/>
                <a:cs typeface="Arial" pitchFamily="34" charset="0"/>
              </a:rPr>
              <a:t>Conjuntos</a:t>
            </a:r>
          </a:p>
        </p:txBody>
      </p:sp>
      <p:sp>
        <p:nvSpPr>
          <p:cNvPr id="17" name="Los algoritmos se organizan en dos aspectos inseparables:">
            <a:extLst>
              <a:ext uri="{FF2B5EF4-FFF2-40B4-BE49-F238E27FC236}">
                <a16:creationId xmlns:a16="http://schemas.microsoft.com/office/drawing/2014/main" id="{AB2CC5FA-CD2B-F24E-BA05-2FC720BB331A}"/>
              </a:ext>
            </a:extLst>
          </p:cNvPr>
          <p:cNvSpPr txBox="1"/>
          <p:nvPr/>
        </p:nvSpPr>
        <p:spPr>
          <a:xfrm>
            <a:off x="609743" y="1671558"/>
            <a:ext cx="8426753" cy="46474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9" rIns="45719">
            <a:spAutoFit/>
          </a:bodyPr>
          <a:lstStyle>
            <a:lvl1pPr>
              <a:spcBef>
                <a:spcPts val="1600"/>
              </a:spcBef>
              <a:buSzPct val="100000"/>
              <a:buChar char="•"/>
              <a:defRPr sz="2800"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>
              <a:buNone/>
            </a:pPr>
            <a:r>
              <a:rPr lang="en-US" sz="2400" dirty="0"/>
              <a:t>Un </a:t>
            </a:r>
            <a:r>
              <a:rPr lang="en-US" sz="2400" b="1" i="1" dirty="0"/>
              <a:t>conjunto</a:t>
            </a:r>
            <a:r>
              <a:rPr lang="en-US" sz="2400" dirty="0"/>
              <a:t> </a:t>
            </a:r>
            <a:r>
              <a:rPr lang="en-US" sz="2400" dirty="0" err="1"/>
              <a:t>es</a:t>
            </a:r>
            <a:r>
              <a:rPr lang="en-US" sz="2400" dirty="0"/>
              <a:t> </a:t>
            </a:r>
            <a:r>
              <a:rPr lang="en-US" sz="2400" dirty="0" err="1"/>
              <a:t>una</a:t>
            </a:r>
            <a:r>
              <a:rPr lang="en-US" sz="2400" dirty="0"/>
              <a:t> </a:t>
            </a:r>
            <a:r>
              <a:rPr lang="en-US" sz="2400" u="sng" dirty="0" err="1"/>
              <a:t>colección</a:t>
            </a:r>
            <a:r>
              <a:rPr lang="en-US" sz="2400" u="sng" dirty="0"/>
              <a:t> </a:t>
            </a:r>
            <a:r>
              <a:rPr lang="en-US" sz="2400" u="sng" dirty="0" err="1"/>
              <a:t>finita</a:t>
            </a:r>
            <a:r>
              <a:rPr lang="en-US" sz="2400" u="sng" dirty="0"/>
              <a:t> de </a:t>
            </a:r>
            <a:r>
              <a:rPr lang="en-US" sz="2400" u="sng" dirty="0" err="1"/>
              <a:t>objetos</a:t>
            </a:r>
            <a:r>
              <a:rPr lang="en-US" sz="2400" u="sng" dirty="0"/>
              <a:t>.</a:t>
            </a:r>
            <a:r>
              <a:rPr lang="en-US" sz="2400" dirty="0"/>
              <a:t> Los conjuntos </a:t>
            </a:r>
            <a:r>
              <a:rPr lang="en-US" sz="2400" dirty="0" err="1"/>
              <a:t>tienen</a:t>
            </a:r>
            <a:r>
              <a:rPr lang="en-US" sz="2400" dirty="0"/>
              <a:t> (</a:t>
            </a:r>
            <a:r>
              <a:rPr lang="en-US" sz="2400" dirty="0" err="1"/>
              <a:t>deben</a:t>
            </a:r>
            <a:r>
              <a:rPr lang="en-US" sz="2400" dirty="0"/>
              <a:t> </a:t>
            </a:r>
            <a:r>
              <a:rPr lang="en-US" sz="2400" dirty="0" err="1"/>
              <a:t>cumplir</a:t>
            </a:r>
            <a:r>
              <a:rPr lang="en-US" sz="2400" dirty="0"/>
              <a:t>) </a:t>
            </a:r>
            <a:r>
              <a:rPr lang="en-US" sz="2400" dirty="0" err="1"/>
              <a:t>todas</a:t>
            </a:r>
            <a:r>
              <a:rPr lang="en-US" sz="2400" dirty="0"/>
              <a:t> las </a:t>
            </a:r>
            <a:r>
              <a:rPr lang="en-US" sz="2400" dirty="0" err="1"/>
              <a:t>propiedades</a:t>
            </a:r>
            <a:r>
              <a:rPr lang="en-US" sz="2400" dirty="0"/>
              <a:t> de </a:t>
            </a:r>
            <a:r>
              <a:rPr lang="en-US" sz="2400" dirty="0" err="1"/>
              <a:t>los</a:t>
            </a:r>
            <a:r>
              <a:rPr lang="en-US" sz="2400" dirty="0"/>
              <a:t> conjuntos </a:t>
            </a:r>
            <a:r>
              <a:rPr lang="en-US" sz="2400" dirty="0" err="1"/>
              <a:t>matemáticos</a:t>
            </a:r>
            <a:r>
              <a:rPr lang="en-US" sz="2400" dirty="0"/>
              <a:t>.</a:t>
            </a:r>
          </a:p>
          <a:p>
            <a:pPr>
              <a:buNone/>
            </a:pPr>
            <a:r>
              <a:rPr lang="en-US" sz="2400" dirty="0" err="1"/>
              <a:t>Definición</a:t>
            </a:r>
            <a:r>
              <a:rPr lang="en-US" sz="2400" dirty="0"/>
              <a:t>:</a:t>
            </a:r>
          </a:p>
          <a:p>
            <a:pPr>
              <a:buNone/>
            </a:pPr>
            <a:endParaRPr lang="en-US" sz="2400" dirty="0"/>
          </a:p>
          <a:p>
            <a:pPr>
              <a:buNone/>
            </a:pPr>
            <a:endParaRPr lang="en-US" sz="2400" dirty="0"/>
          </a:p>
          <a:p>
            <a:pPr>
              <a:buNone/>
            </a:pPr>
            <a:endParaRPr lang="en-US" sz="2400" dirty="0"/>
          </a:p>
          <a:p>
            <a:pPr>
              <a:buNone/>
            </a:pPr>
            <a:endParaRPr lang="en-US" sz="2400" dirty="0"/>
          </a:p>
          <a:p>
            <a:pPr>
              <a:buNone/>
            </a:pPr>
            <a:endParaRPr lang="en-US" sz="2400" dirty="0"/>
          </a:p>
        </p:txBody>
      </p:sp>
      <p:sp>
        <p:nvSpPr>
          <p:cNvPr id="14" name="17 CuadroTexto">
            <a:extLst>
              <a:ext uri="{FF2B5EF4-FFF2-40B4-BE49-F238E27FC236}">
                <a16:creationId xmlns:a16="http://schemas.microsoft.com/office/drawing/2014/main" id="{FE210990-BB28-C34F-8C39-11BDC67ADFD8}"/>
              </a:ext>
            </a:extLst>
          </p:cNvPr>
          <p:cNvSpPr txBox="1"/>
          <p:nvPr/>
        </p:nvSpPr>
        <p:spPr>
          <a:xfrm>
            <a:off x="2985122" y="499899"/>
            <a:ext cx="3173756" cy="984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AR" sz="2000" b="1" dirty="0">
                <a:solidFill>
                  <a:schemeClr val="bg1"/>
                </a:solidFill>
                <a:latin typeface="TeXGyreAdventor" pitchFamily="50" charset="0"/>
              </a:rPr>
              <a:t> - </a:t>
            </a:r>
            <a:r>
              <a:rPr lang="es-AR" sz="2000" b="1" u="sng" dirty="0">
                <a:solidFill>
                  <a:schemeClr val="bg1"/>
                </a:solidFill>
                <a:latin typeface="TeXGyreAdventor" pitchFamily="50" charset="0"/>
              </a:rPr>
              <a:t>Tipos de Datos Definidos por el Usuario</a:t>
            </a:r>
            <a:r>
              <a:rPr lang="es-AR" sz="2000" b="1" dirty="0">
                <a:solidFill>
                  <a:schemeClr val="bg1"/>
                </a:solidFill>
                <a:latin typeface="TeXGyreAdventor" pitchFamily="50" charset="0"/>
              </a:rPr>
              <a:t>-</a:t>
            </a:r>
          </a:p>
          <a:p>
            <a:endParaRPr lang="es-AR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DAD2CBD-DA57-FA46-91D2-B9D213B3DDE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79712" y="3501008"/>
            <a:ext cx="3835400" cy="1384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88961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16 Imagen">
            <a:extLst>
              <a:ext uri="{FF2B5EF4-FFF2-40B4-BE49-F238E27FC236}">
                <a16:creationId xmlns:a16="http://schemas.microsoft.com/office/drawing/2014/main" id="{E18833CA-28BE-584F-9880-8012D82710A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580"/>
            <a:ext cx="9144000" cy="1171495"/>
          </a:xfrm>
          <a:prstGeom prst="rect">
            <a:avLst/>
          </a:prstGeom>
        </p:spPr>
      </p:pic>
      <p:sp>
        <p:nvSpPr>
          <p:cNvPr id="11" name="17 CuadroTexto">
            <a:extLst>
              <a:ext uri="{FF2B5EF4-FFF2-40B4-BE49-F238E27FC236}">
                <a16:creationId xmlns:a16="http://schemas.microsoft.com/office/drawing/2014/main" id="{6BED238C-223E-7F4A-BFF1-2F3910B2B049}"/>
              </a:ext>
            </a:extLst>
          </p:cNvPr>
          <p:cNvSpPr txBox="1"/>
          <p:nvPr/>
        </p:nvSpPr>
        <p:spPr>
          <a:xfrm>
            <a:off x="212156" y="87951"/>
            <a:ext cx="327972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2400" b="1" dirty="0">
                <a:solidFill>
                  <a:schemeClr val="bg1"/>
                </a:solidFill>
                <a:latin typeface="TeXGyreAdventor" pitchFamily="50" charset="0"/>
              </a:rPr>
              <a:t>Algoritmos y Estructuras</a:t>
            </a:r>
          </a:p>
          <a:p>
            <a:r>
              <a:rPr lang="es-AR" sz="2400" b="1" dirty="0">
                <a:solidFill>
                  <a:schemeClr val="bg1"/>
                </a:solidFill>
                <a:latin typeface="TeXGyreAdventor" pitchFamily="50" charset="0"/>
              </a:rPr>
              <a:t>de Datos</a:t>
            </a:r>
          </a:p>
          <a:p>
            <a:endParaRPr lang="es-AR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711F11B-CFCC-6F4C-987C-61BCBAF2DD91}"/>
              </a:ext>
            </a:extLst>
          </p:cNvPr>
          <p:cNvSpPr txBox="1"/>
          <p:nvPr/>
        </p:nvSpPr>
        <p:spPr>
          <a:xfrm>
            <a:off x="0" y="1173075"/>
            <a:ext cx="170431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AR" sz="24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Arial" pitchFamily="34" charset="0"/>
                <a:cs typeface="Arial" pitchFamily="34" charset="0"/>
              </a:rPr>
              <a:t>Conjuntos</a:t>
            </a:r>
          </a:p>
        </p:txBody>
      </p:sp>
      <p:sp>
        <p:nvSpPr>
          <p:cNvPr id="17" name="Los algoritmos se organizan en dos aspectos inseparables:">
            <a:extLst>
              <a:ext uri="{FF2B5EF4-FFF2-40B4-BE49-F238E27FC236}">
                <a16:creationId xmlns:a16="http://schemas.microsoft.com/office/drawing/2014/main" id="{AB2CC5FA-CD2B-F24E-BA05-2FC720BB331A}"/>
              </a:ext>
            </a:extLst>
          </p:cNvPr>
          <p:cNvSpPr txBox="1"/>
          <p:nvPr/>
        </p:nvSpPr>
        <p:spPr>
          <a:xfrm>
            <a:off x="353834" y="1772816"/>
            <a:ext cx="8786793" cy="73558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9" rIns="45719">
            <a:spAutoFit/>
          </a:bodyPr>
          <a:lstStyle>
            <a:lvl1pPr>
              <a:spcBef>
                <a:spcPts val="1600"/>
              </a:spcBef>
              <a:buSzPct val="100000"/>
              <a:buChar char="•"/>
              <a:defRPr sz="2800"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>
              <a:buNone/>
            </a:pPr>
            <a:r>
              <a:rPr lang="en-US" sz="2400" dirty="0" err="1"/>
              <a:t>Aquí</a:t>
            </a:r>
            <a:r>
              <a:rPr lang="en-US" sz="2400" dirty="0"/>
              <a:t> </a:t>
            </a:r>
            <a:r>
              <a:rPr lang="en-US" sz="2400" dirty="0" err="1"/>
              <a:t>hemos</a:t>
            </a:r>
            <a:r>
              <a:rPr lang="en-US" sz="2400" dirty="0"/>
              <a:t> </a:t>
            </a:r>
            <a:r>
              <a:rPr lang="en-US" sz="2400" dirty="0" err="1"/>
              <a:t>provisto</a:t>
            </a:r>
            <a:r>
              <a:rPr lang="en-US" sz="2400" dirty="0"/>
              <a:t> </a:t>
            </a:r>
            <a:r>
              <a:rPr lang="en-US" sz="2400" dirty="0" err="1"/>
              <a:t>una</a:t>
            </a:r>
            <a:r>
              <a:rPr lang="en-US" sz="2400" dirty="0"/>
              <a:t> </a:t>
            </a:r>
            <a:r>
              <a:rPr lang="en-US" sz="2400" dirty="0" err="1"/>
              <a:t>lista</a:t>
            </a:r>
            <a:r>
              <a:rPr lang="en-US" sz="2400" dirty="0"/>
              <a:t> (no </a:t>
            </a:r>
            <a:r>
              <a:rPr lang="en-US" sz="2400" dirty="0" err="1"/>
              <a:t>completa</a:t>
            </a:r>
            <a:r>
              <a:rPr lang="en-US" sz="2400" dirty="0"/>
              <a:t>) de </a:t>
            </a:r>
            <a:r>
              <a:rPr lang="en-US" sz="2400" dirty="0" err="1"/>
              <a:t>métodos</a:t>
            </a:r>
            <a:r>
              <a:rPr lang="en-US" sz="2400" dirty="0"/>
              <a:t> </a:t>
            </a:r>
            <a:r>
              <a:rPr lang="en-US" sz="2400" dirty="0" err="1"/>
              <a:t>útiles</a:t>
            </a:r>
            <a:r>
              <a:rPr lang="en-US" sz="2400" dirty="0"/>
              <a:t> para el </a:t>
            </a:r>
            <a:r>
              <a:rPr lang="en-US" sz="2400" dirty="0" err="1"/>
              <a:t>manejo</a:t>
            </a:r>
            <a:r>
              <a:rPr lang="en-US" sz="2400" dirty="0"/>
              <a:t> de conjuntos: </a:t>
            </a:r>
          </a:p>
          <a:p>
            <a:r>
              <a:rPr lang="en-US" sz="2400" dirty="0"/>
              <a:t> </a:t>
            </a:r>
            <a:r>
              <a:rPr lang="en-US" sz="2400" b="1" dirty="0" err="1"/>
              <a:t>A.intersection</a:t>
            </a:r>
            <a:r>
              <a:rPr lang="en-US" sz="2400" b="1" dirty="0"/>
              <a:t>(B)</a:t>
            </a:r>
            <a:r>
              <a:rPr lang="en-US" sz="2400" dirty="0"/>
              <a:t>: </a:t>
            </a:r>
            <a:r>
              <a:rPr lang="en-US" sz="2400" dirty="0" err="1"/>
              <a:t>retorna</a:t>
            </a:r>
            <a:r>
              <a:rPr lang="en-US" sz="2400" dirty="0"/>
              <a:t> la </a:t>
            </a:r>
            <a:r>
              <a:rPr lang="en-US" sz="2400" dirty="0" err="1"/>
              <a:t>intersección</a:t>
            </a:r>
            <a:r>
              <a:rPr lang="en-US" sz="2400" dirty="0"/>
              <a:t> de </a:t>
            </a:r>
            <a:r>
              <a:rPr lang="en-US" sz="2400" dirty="0" err="1"/>
              <a:t>los</a:t>
            </a:r>
            <a:r>
              <a:rPr lang="en-US" sz="2400" dirty="0"/>
              <a:t> conjuntos A y B. </a:t>
            </a:r>
          </a:p>
          <a:p>
            <a:r>
              <a:rPr lang="en-US" sz="2400" dirty="0"/>
              <a:t> </a:t>
            </a:r>
            <a:r>
              <a:rPr lang="en-US" sz="2400" b="1" dirty="0" err="1"/>
              <a:t>A.union</a:t>
            </a:r>
            <a:r>
              <a:rPr lang="en-US" sz="2400" b="1" dirty="0"/>
              <a:t>(B)</a:t>
            </a:r>
            <a:r>
              <a:rPr lang="en-US" sz="2400" dirty="0"/>
              <a:t>: </a:t>
            </a:r>
            <a:r>
              <a:rPr lang="en-US" sz="2400" dirty="0" err="1"/>
              <a:t>retorna</a:t>
            </a:r>
            <a:r>
              <a:rPr lang="en-US" sz="2400" dirty="0"/>
              <a:t> la </a:t>
            </a:r>
            <a:r>
              <a:rPr lang="en-US" sz="2400" dirty="0" err="1"/>
              <a:t>unión</a:t>
            </a:r>
            <a:r>
              <a:rPr lang="en-US" sz="2400" dirty="0"/>
              <a:t> de </a:t>
            </a:r>
            <a:r>
              <a:rPr lang="en-US" sz="2400" dirty="0" err="1"/>
              <a:t>los</a:t>
            </a:r>
            <a:r>
              <a:rPr lang="en-US" sz="2400" dirty="0"/>
              <a:t> conjuntos A y B. </a:t>
            </a:r>
          </a:p>
          <a:p>
            <a:r>
              <a:rPr lang="en-US" sz="2400" dirty="0"/>
              <a:t> </a:t>
            </a:r>
            <a:r>
              <a:rPr lang="en-US" sz="2400" b="1" dirty="0" err="1"/>
              <a:t>A.difference</a:t>
            </a:r>
            <a:r>
              <a:rPr lang="en-US" sz="2400" b="1" dirty="0"/>
              <a:t>(B)</a:t>
            </a:r>
            <a:r>
              <a:rPr lang="en-US" sz="2400" dirty="0"/>
              <a:t>: </a:t>
            </a:r>
            <a:r>
              <a:rPr lang="en-US" sz="2400" dirty="0" err="1"/>
              <a:t>retorna</a:t>
            </a:r>
            <a:r>
              <a:rPr lang="en-US" sz="2400" dirty="0"/>
              <a:t> la </a:t>
            </a:r>
            <a:r>
              <a:rPr lang="en-US" sz="2400" dirty="0" err="1"/>
              <a:t>diferencia</a:t>
            </a:r>
            <a:r>
              <a:rPr lang="en-US" sz="2400" dirty="0"/>
              <a:t> </a:t>
            </a:r>
            <a:r>
              <a:rPr lang="en-US" sz="2400" dirty="0" err="1"/>
              <a:t>simetrica</a:t>
            </a:r>
            <a:r>
              <a:rPr lang="en-US" sz="2400" dirty="0"/>
              <a:t> de conjuntos</a:t>
            </a:r>
          </a:p>
          <a:p>
            <a:r>
              <a:rPr lang="en-US" sz="2400" dirty="0"/>
              <a:t> </a:t>
            </a:r>
            <a:r>
              <a:rPr lang="en-US" sz="2400" b="1" dirty="0" err="1"/>
              <a:t>A.copy</a:t>
            </a:r>
            <a:r>
              <a:rPr lang="en-US" sz="2400" b="1" dirty="0"/>
              <a:t>()</a:t>
            </a:r>
            <a:r>
              <a:rPr lang="en-US" sz="2400" dirty="0"/>
              <a:t>: </a:t>
            </a:r>
            <a:r>
              <a:rPr lang="en-US" sz="2400" dirty="0" err="1"/>
              <a:t>retorna</a:t>
            </a:r>
            <a:r>
              <a:rPr lang="en-US" sz="2400" dirty="0"/>
              <a:t> </a:t>
            </a:r>
            <a:r>
              <a:rPr lang="en-US" sz="2400" dirty="0" err="1"/>
              <a:t>una</a:t>
            </a:r>
            <a:r>
              <a:rPr lang="en-US" sz="2400" dirty="0"/>
              <a:t> </a:t>
            </a:r>
            <a:r>
              <a:rPr lang="en-US" sz="2400" dirty="0" err="1"/>
              <a:t>copia</a:t>
            </a:r>
            <a:r>
              <a:rPr lang="en-US" sz="2400" dirty="0"/>
              <a:t> del conjunto A. </a:t>
            </a:r>
          </a:p>
          <a:p>
            <a:pPr>
              <a:buNone/>
            </a:pPr>
            <a:r>
              <a:rPr lang="en-US" sz="2400" dirty="0"/>
              <a:t> </a:t>
            </a:r>
          </a:p>
          <a:p>
            <a:pPr>
              <a:buNone/>
            </a:pPr>
            <a:r>
              <a:rPr lang="en-US" sz="2400" dirty="0"/>
              <a:t>Podemos </a:t>
            </a:r>
            <a:r>
              <a:rPr lang="en-US" sz="2400" dirty="0" err="1"/>
              <a:t>comparar</a:t>
            </a:r>
            <a:r>
              <a:rPr lang="en-US" sz="2400" dirty="0"/>
              <a:t> dos conjuntos (</a:t>
            </a:r>
            <a:r>
              <a:rPr lang="en-US" sz="2400" dirty="0" err="1"/>
              <a:t>seguiendo</a:t>
            </a:r>
            <a:r>
              <a:rPr lang="en-US" sz="2400" dirty="0"/>
              <a:t> el </a:t>
            </a:r>
            <a:r>
              <a:rPr lang="en-US" sz="2400" dirty="0" err="1"/>
              <a:t>orden</a:t>
            </a:r>
            <a:r>
              <a:rPr lang="en-US" sz="2400" dirty="0"/>
              <a:t> de </a:t>
            </a:r>
            <a:r>
              <a:rPr lang="en-US" sz="2400" dirty="0" err="1"/>
              <a:t>inclusión</a:t>
            </a:r>
            <a:r>
              <a:rPr lang="en-US" sz="2400" dirty="0"/>
              <a:t>). </a:t>
            </a:r>
          </a:p>
          <a:p>
            <a:endParaRPr lang="en-US" sz="2000" dirty="0"/>
          </a:p>
          <a:p>
            <a:pPr>
              <a:buNone/>
            </a:pPr>
            <a:endParaRPr lang="en-US" sz="2000" dirty="0"/>
          </a:p>
          <a:p>
            <a:pPr>
              <a:buNone/>
            </a:pPr>
            <a:endParaRPr lang="en-US" sz="2000" dirty="0"/>
          </a:p>
          <a:p>
            <a:pPr>
              <a:buNone/>
            </a:pPr>
            <a:endParaRPr lang="en-US" sz="2000" dirty="0"/>
          </a:p>
          <a:p>
            <a:pPr>
              <a:buNone/>
            </a:pPr>
            <a:endParaRPr lang="en-US" sz="2000" dirty="0"/>
          </a:p>
          <a:p>
            <a:pPr>
              <a:buNone/>
            </a:pPr>
            <a:endParaRPr lang="en-US" sz="2000" dirty="0"/>
          </a:p>
        </p:txBody>
      </p:sp>
      <p:sp>
        <p:nvSpPr>
          <p:cNvPr id="14" name="17 CuadroTexto">
            <a:extLst>
              <a:ext uri="{FF2B5EF4-FFF2-40B4-BE49-F238E27FC236}">
                <a16:creationId xmlns:a16="http://schemas.microsoft.com/office/drawing/2014/main" id="{FE210990-BB28-C34F-8C39-11BDC67ADFD8}"/>
              </a:ext>
            </a:extLst>
          </p:cNvPr>
          <p:cNvSpPr txBox="1"/>
          <p:nvPr/>
        </p:nvSpPr>
        <p:spPr>
          <a:xfrm>
            <a:off x="2985122" y="499899"/>
            <a:ext cx="3173756" cy="984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AR" sz="2000" b="1" dirty="0">
                <a:solidFill>
                  <a:schemeClr val="bg1"/>
                </a:solidFill>
                <a:latin typeface="TeXGyreAdventor" pitchFamily="50" charset="0"/>
              </a:rPr>
              <a:t> - </a:t>
            </a:r>
            <a:r>
              <a:rPr lang="es-AR" sz="2000" b="1" u="sng" dirty="0">
                <a:solidFill>
                  <a:schemeClr val="bg1"/>
                </a:solidFill>
                <a:latin typeface="TeXGyreAdventor" pitchFamily="50" charset="0"/>
              </a:rPr>
              <a:t>Tipos de Datos Definidos por el Usuario</a:t>
            </a:r>
            <a:r>
              <a:rPr lang="es-AR" sz="2000" b="1" dirty="0">
                <a:solidFill>
                  <a:schemeClr val="bg1"/>
                </a:solidFill>
                <a:latin typeface="TeXGyreAdventor" pitchFamily="50" charset="0"/>
              </a:rPr>
              <a:t>-</a:t>
            </a:r>
          </a:p>
          <a:p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29091683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TextShape 1"/>
          <p:cNvSpPr txBox="1"/>
          <p:nvPr/>
        </p:nvSpPr>
        <p:spPr>
          <a:xfrm>
            <a:off x="409357" y="1988840"/>
            <a:ext cx="7772040" cy="50056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r>
              <a:rPr lang="es-AR" sz="1800" b="0" strike="noStrike" spc="-1" dirty="0">
                <a:solidFill>
                  <a:srgbClr val="000000"/>
                </a:solidFill>
                <a:latin typeface="Arial" pitchFamily="34" charset="0"/>
                <a:cs typeface="Arial" pitchFamily="34" charset="0"/>
              </a:rPr>
              <a:t>Representación gráfica de conjuntos: </a:t>
            </a:r>
            <a:r>
              <a:rPr lang="es-AR" sz="1800" b="1" strike="noStrike" spc="-1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Rectángulo → Universo</a:t>
            </a:r>
          </a:p>
        </p:txBody>
      </p:sp>
      <p:pic>
        <p:nvPicPr>
          <p:cNvPr id="154" name="6 Imagen"/>
          <p:cNvPicPr/>
          <p:nvPr/>
        </p:nvPicPr>
        <p:blipFill>
          <a:blip r:embed="rId2"/>
          <a:stretch/>
        </p:blipFill>
        <p:spPr>
          <a:xfrm>
            <a:off x="360" y="360"/>
            <a:ext cx="9143640" cy="1075320"/>
          </a:xfrm>
          <a:prstGeom prst="rect">
            <a:avLst/>
          </a:prstGeom>
          <a:ln>
            <a:noFill/>
          </a:ln>
        </p:spPr>
      </p:pic>
      <p:grpSp>
        <p:nvGrpSpPr>
          <p:cNvPr id="2" name="1 Grupo"/>
          <p:cNvGrpSpPr/>
          <p:nvPr/>
        </p:nvGrpSpPr>
        <p:grpSpPr>
          <a:xfrm>
            <a:off x="685800" y="3132000"/>
            <a:ext cx="4534272" cy="1944000"/>
            <a:chOff x="685800" y="3132000"/>
            <a:chExt cx="4534272" cy="1944000"/>
          </a:xfrm>
        </p:grpSpPr>
        <p:sp>
          <p:nvSpPr>
            <p:cNvPr id="157" name="CustomShape 5"/>
            <p:cNvSpPr/>
            <p:nvPr/>
          </p:nvSpPr>
          <p:spPr>
            <a:xfrm>
              <a:off x="685800" y="3132000"/>
              <a:ext cx="3130200" cy="1944000"/>
            </a:xfrm>
            <a:prstGeom prst="rect">
              <a:avLst/>
            </a:prstGeom>
            <a:noFill/>
            <a:ln w="57150">
              <a:solidFill>
                <a:schemeClr val="tx2"/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158" name="TextShape 6"/>
            <p:cNvSpPr txBox="1"/>
            <p:nvPr/>
          </p:nvSpPr>
          <p:spPr>
            <a:xfrm>
              <a:off x="3924000" y="3240000"/>
              <a:ext cx="1296072" cy="602280"/>
            </a:xfrm>
            <a:prstGeom prst="rect">
              <a:avLst/>
            </a:prstGeom>
            <a:noFill/>
            <a:ln>
              <a:noFill/>
            </a:ln>
          </p:spPr>
          <p:txBody>
            <a:bodyPr lIns="90000" tIns="45000" rIns="90000" bIns="45000"/>
            <a:lstStyle/>
            <a:p>
              <a:r>
                <a:rPr lang="es-AR" sz="1800" b="1" strike="noStrike" spc="-1" dirty="0">
                  <a:solidFill>
                    <a:schemeClr val="tx2"/>
                  </a:solidFill>
                  <a:latin typeface="Arial" pitchFamily="34" charset="0"/>
                  <a:cs typeface="Arial" pitchFamily="34" charset="0"/>
                </a:rPr>
                <a:t>Universo</a:t>
              </a:r>
            </a:p>
            <a:p>
              <a:endParaRPr lang="es-AR" sz="1800" b="1" strike="noStrike" spc="-1" dirty="0">
                <a:solidFill>
                  <a:schemeClr val="tx2"/>
                </a:solidFill>
                <a:latin typeface="Arial" pitchFamily="34" charset="0"/>
                <a:cs typeface="Arial" pitchFamily="34" charset="0"/>
              </a:endParaRPr>
            </a:p>
          </p:txBody>
        </p:sp>
      </p:grpSp>
      <p:sp>
        <p:nvSpPr>
          <p:cNvPr id="153" name="TextShape 2"/>
          <p:cNvSpPr txBox="1"/>
          <p:nvPr/>
        </p:nvSpPr>
        <p:spPr>
          <a:xfrm>
            <a:off x="179512" y="1424880"/>
            <a:ext cx="8229240" cy="63596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AR" sz="3200" b="0" strike="noStrike" spc="-1" dirty="0">
                <a:solidFill>
                  <a:srgbClr val="000000"/>
                </a:solidFill>
                <a:latin typeface="Arial" pitchFamily="34" charset="0"/>
                <a:cs typeface="Arial" pitchFamily="34" charset="0"/>
              </a:rPr>
              <a:t>Diagrama de Venn</a:t>
            </a:r>
          </a:p>
        </p:txBody>
      </p:sp>
      <p:sp>
        <p:nvSpPr>
          <p:cNvPr id="161" name="TextShape 9"/>
          <p:cNvSpPr txBox="1"/>
          <p:nvPr/>
        </p:nvSpPr>
        <p:spPr>
          <a:xfrm>
            <a:off x="4104000" y="4032000"/>
            <a:ext cx="4929480" cy="137016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/>
          <a:lstStyle/>
          <a:p>
            <a:r>
              <a:rPr lang="es-AR" sz="1800" b="0" strike="noStrike" spc="-1" dirty="0">
                <a:latin typeface="Arial" pitchFamily="34" charset="0"/>
                <a:cs typeface="Arial" pitchFamily="34" charset="0"/>
              </a:rPr>
              <a:t>Sean los conjuntos:</a:t>
            </a:r>
          </a:p>
          <a:p>
            <a:r>
              <a:rPr lang="es-AR" sz="1800" b="0" strike="noStrike" spc="-1" dirty="0">
                <a:latin typeface="Arial" pitchFamily="34" charset="0"/>
                <a:cs typeface="Arial" pitchFamily="34" charset="0"/>
              </a:rPr>
              <a:t>U = {1,2,3,4,5,6,7,8,9,10,11,12,13,14,15,16,17}</a:t>
            </a:r>
          </a:p>
          <a:p>
            <a:r>
              <a:rPr lang="es-AR" sz="1800" b="0" strike="noStrike" spc="-1" dirty="0">
                <a:latin typeface="Arial" pitchFamily="34" charset="0"/>
                <a:cs typeface="Arial" pitchFamily="34" charset="0"/>
              </a:rPr>
              <a:t>A = {1,2,3,5,7,11,13,17}</a:t>
            </a:r>
          </a:p>
          <a:p>
            <a:r>
              <a:rPr lang="es-AR" sz="1800" b="0" strike="noStrike" spc="-1" dirty="0">
                <a:latin typeface="Arial" pitchFamily="34" charset="0"/>
                <a:cs typeface="Arial" pitchFamily="34" charset="0"/>
              </a:rPr>
              <a:t>B = {1,2,4,6,8,9,10,12,13,14,15,17}</a:t>
            </a:r>
          </a:p>
          <a:p>
            <a:endParaRPr lang="es-AR" sz="1800" b="0" strike="noStrike" spc="-1" dirty="0">
              <a:latin typeface="Arial" pitchFamily="34" charset="0"/>
              <a:cs typeface="Arial" pitchFamily="34" charset="0"/>
            </a:endParaRPr>
          </a:p>
        </p:txBody>
      </p:sp>
      <p:grpSp>
        <p:nvGrpSpPr>
          <p:cNvPr id="6" name="5 Grupo"/>
          <p:cNvGrpSpPr/>
          <p:nvPr/>
        </p:nvGrpSpPr>
        <p:grpSpPr>
          <a:xfrm>
            <a:off x="409357" y="2485669"/>
            <a:ext cx="4572000" cy="2194691"/>
            <a:chOff x="409357" y="2485669"/>
            <a:chExt cx="4572000" cy="2194691"/>
          </a:xfrm>
        </p:grpSpPr>
        <p:grpSp>
          <p:nvGrpSpPr>
            <p:cNvPr id="4" name="3 Grupo"/>
            <p:cNvGrpSpPr/>
            <p:nvPr/>
          </p:nvGrpSpPr>
          <p:grpSpPr>
            <a:xfrm>
              <a:off x="1008000" y="3456000"/>
              <a:ext cx="2205000" cy="1224360"/>
              <a:chOff x="1008000" y="3456000"/>
              <a:chExt cx="2205000" cy="1224360"/>
            </a:xfrm>
          </p:grpSpPr>
          <p:sp>
            <p:nvSpPr>
              <p:cNvPr id="155" name="CustomShape 3"/>
              <p:cNvSpPr/>
              <p:nvPr/>
            </p:nvSpPr>
            <p:spPr>
              <a:xfrm>
                <a:off x="1296000" y="3456000"/>
                <a:ext cx="1080000" cy="1224000"/>
              </a:xfrm>
              <a:prstGeom prst="ellipse">
                <a:avLst/>
              </a:prstGeom>
              <a:noFill/>
              <a:ln w="28575">
                <a:solidFill>
                  <a:srgbClr val="FF0000"/>
                </a:solidFill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</p:sp>
          <p:sp>
            <p:nvSpPr>
              <p:cNvPr id="156" name="CustomShape 4"/>
              <p:cNvSpPr/>
              <p:nvPr/>
            </p:nvSpPr>
            <p:spPr>
              <a:xfrm>
                <a:off x="1836360" y="3456360"/>
                <a:ext cx="1080000" cy="1224000"/>
              </a:xfrm>
              <a:prstGeom prst="ellipse">
                <a:avLst/>
              </a:prstGeom>
              <a:noFill/>
              <a:ln w="28575">
                <a:solidFill>
                  <a:srgbClr val="FF0000"/>
                </a:solidFill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</p:sp>
          <p:sp>
            <p:nvSpPr>
              <p:cNvPr id="159" name="TextShape 7"/>
              <p:cNvSpPr txBox="1"/>
              <p:nvPr/>
            </p:nvSpPr>
            <p:spPr>
              <a:xfrm>
                <a:off x="1008000" y="3501720"/>
                <a:ext cx="333000" cy="602280"/>
              </a:xfrm>
              <a:prstGeom prst="rect">
                <a:avLst/>
              </a:prstGeom>
              <a:noFill/>
              <a:ln w="28575">
                <a:noFill/>
              </a:ln>
            </p:spPr>
            <p:txBody>
              <a:bodyPr lIns="90000" tIns="45000" rIns="90000" bIns="45000"/>
              <a:lstStyle/>
              <a:p>
                <a:r>
                  <a:rPr lang="es-AR" sz="1800" b="1" strike="noStrike" spc="-1" dirty="0">
                    <a:solidFill>
                      <a:srgbClr val="FF0000"/>
                    </a:solidFill>
                    <a:latin typeface="Arial" pitchFamily="34" charset="0"/>
                    <a:cs typeface="Arial" pitchFamily="34" charset="0"/>
                  </a:rPr>
                  <a:t>A</a:t>
                </a:r>
              </a:p>
              <a:p>
                <a:endParaRPr lang="es-AR" sz="1800" b="1" strike="noStrike" spc="-1" dirty="0">
                  <a:solidFill>
                    <a:srgbClr val="FF0000"/>
                  </a:solidFill>
                  <a:latin typeface="Arial" pitchFamily="34" charset="0"/>
                  <a:cs typeface="Arial" pitchFamily="34" charset="0"/>
                </a:endParaRPr>
              </a:p>
            </p:txBody>
          </p:sp>
          <p:sp>
            <p:nvSpPr>
              <p:cNvPr id="160" name="TextShape 8"/>
              <p:cNvSpPr txBox="1"/>
              <p:nvPr/>
            </p:nvSpPr>
            <p:spPr>
              <a:xfrm>
                <a:off x="2880000" y="3456360"/>
                <a:ext cx="333000" cy="602280"/>
              </a:xfrm>
              <a:prstGeom prst="rect">
                <a:avLst/>
              </a:prstGeom>
              <a:noFill/>
              <a:ln w="28575">
                <a:noFill/>
              </a:ln>
            </p:spPr>
            <p:txBody>
              <a:bodyPr lIns="90000" tIns="45000" rIns="90000" bIns="45000"/>
              <a:lstStyle/>
              <a:p>
                <a:r>
                  <a:rPr lang="es-AR" sz="1800" b="1" strike="noStrike" spc="-1">
                    <a:solidFill>
                      <a:srgbClr val="FF0000"/>
                    </a:solidFill>
                    <a:latin typeface="Arial" pitchFamily="34" charset="0"/>
                    <a:cs typeface="Arial" pitchFamily="34" charset="0"/>
                  </a:rPr>
                  <a:t>B</a:t>
                </a:r>
              </a:p>
              <a:p>
                <a:endParaRPr lang="es-AR" sz="1800" b="1" strike="noStrike" spc="-1">
                  <a:solidFill>
                    <a:srgbClr val="FF0000"/>
                  </a:solidFill>
                  <a:latin typeface="Arial" pitchFamily="34" charset="0"/>
                  <a:cs typeface="Arial" pitchFamily="34" charset="0"/>
                </a:endParaRPr>
              </a:p>
            </p:txBody>
          </p:sp>
        </p:grpSp>
        <p:sp>
          <p:nvSpPr>
            <p:cNvPr id="5" name="4 Rectángulo"/>
            <p:cNvSpPr/>
            <p:nvPr/>
          </p:nvSpPr>
          <p:spPr>
            <a:xfrm>
              <a:off x="409357" y="2485669"/>
              <a:ext cx="4572000" cy="369332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r>
                <a:rPr lang="es-AR" spc="-1" dirty="0">
                  <a:solidFill>
                    <a:srgbClr val="000000"/>
                  </a:solidFill>
                  <a:latin typeface="Arial" pitchFamily="34" charset="0"/>
                  <a:cs typeface="Arial" pitchFamily="34" charset="0"/>
                </a:rPr>
                <a:t>Subconjuntos de ese universo → </a:t>
              </a:r>
              <a:r>
                <a:rPr lang="es-AR" spc="-1" dirty="0">
                  <a:solidFill>
                    <a:srgbClr val="FF0000"/>
                  </a:solidFill>
                  <a:latin typeface="Arial" pitchFamily="34" charset="0"/>
                  <a:cs typeface="Arial" pitchFamily="34" charset="0"/>
                </a:rPr>
                <a:t>A, B</a:t>
              </a:r>
              <a:endParaRPr lang="es-AR" dirty="0">
                <a:solidFill>
                  <a:srgbClr val="FF0000"/>
                </a:solidFill>
                <a:latin typeface="Arial" pitchFamily="34" charset="0"/>
                <a:cs typeface="Arial" pitchFamily="34" charset="0"/>
              </a:endParaRPr>
            </a:p>
          </p:txBody>
        </p:sp>
      </p:grpSp>
      <p:sp>
        <p:nvSpPr>
          <p:cNvPr id="16" name="TextShape 9">
            <a:extLst>
              <a:ext uri="{FF2B5EF4-FFF2-40B4-BE49-F238E27FC236}">
                <a16:creationId xmlns:a16="http://schemas.microsoft.com/office/drawing/2014/main" id="{D650F1A0-E80D-0342-A1D5-DAAE3EA0CDF6}"/>
              </a:ext>
            </a:extLst>
          </p:cNvPr>
          <p:cNvSpPr txBox="1"/>
          <p:nvPr/>
        </p:nvSpPr>
        <p:spPr>
          <a:xfrm>
            <a:off x="550203" y="5265720"/>
            <a:ext cx="8458200" cy="137016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/>
          <a:lstStyle/>
          <a:p>
            <a:r>
              <a:rPr lang="es-AR" sz="1800" b="0" u="sng" strike="noStrike" spc="-1" dirty="0">
                <a:latin typeface="Arial" pitchFamily="34" charset="0"/>
                <a:cs typeface="Arial" pitchFamily="34" charset="0"/>
              </a:rPr>
              <a:t>Nota:</a:t>
            </a:r>
          </a:p>
          <a:p>
            <a:r>
              <a:rPr lang="es-AR" sz="1800" b="0" strike="noStrike" spc="-1" dirty="0">
                <a:latin typeface="Arial" pitchFamily="34" charset="0"/>
                <a:cs typeface="Arial" pitchFamily="34" charset="0"/>
              </a:rPr>
              <a:t> Los conjuntos no aceptan repeticiones, es decir:  </a:t>
            </a:r>
          </a:p>
          <a:p>
            <a:r>
              <a:rPr lang="es-AR" sz="1800" b="0" strike="noStrike" spc="-1" dirty="0">
                <a:latin typeface="Arial" pitchFamily="34" charset="0"/>
                <a:cs typeface="Arial" pitchFamily="34" charset="0"/>
              </a:rPr>
              <a:t>	A = {1, 2, 3}</a:t>
            </a:r>
          </a:p>
          <a:p>
            <a:r>
              <a:rPr lang="es-AR" sz="1800" b="0" strike="noStrike" spc="-1" dirty="0">
                <a:latin typeface="Arial" pitchFamily="34" charset="0"/>
                <a:cs typeface="Arial" pitchFamily="34" charset="0"/>
              </a:rPr>
              <a:t>	B</a:t>
            </a:r>
            <a:r>
              <a:rPr lang="es-AR" sz="1800" b="0" strike="noStrike" spc="-1" baseline="-25000" dirty="0">
                <a:latin typeface="Arial" pitchFamily="34" charset="0"/>
                <a:cs typeface="Arial" pitchFamily="34" charset="0"/>
              </a:rPr>
              <a:t>1</a:t>
            </a:r>
            <a:r>
              <a:rPr lang="es-AR" sz="1800" b="0" strike="noStrike" spc="-1" dirty="0">
                <a:latin typeface="Arial" pitchFamily="34" charset="0"/>
                <a:cs typeface="Arial" pitchFamily="34" charset="0"/>
              </a:rPr>
              <a:t> = {1, 2, 2, 3, 1, 3, 4} no es un conjunto, pero </a:t>
            </a:r>
            <a:r>
              <a:rPr lang="es-AR" spc="-1" dirty="0">
                <a:latin typeface="Arial" pitchFamily="34" charset="0"/>
                <a:cs typeface="Arial" pitchFamily="34" charset="0"/>
              </a:rPr>
              <a:t>B</a:t>
            </a:r>
            <a:r>
              <a:rPr lang="es-AR" spc="-1" baseline="-25000" dirty="0">
                <a:latin typeface="Arial" pitchFamily="34" charset="0"/>
                <a:cs typeface="Arial" pitchFamily="34" charset="0"/>
              </a:rPr>
              <a:t>2</a:t>
            </a:r>
            <a:r>
              <a:rPr lang="es-AR" spc="-1" dirty="0">
                <a:latin typeface="Arial" pitchFamily="34" charset="0"/>
                <a:cs typeface="Arial" pitchFamily="34" charset="0"/>
              </a:rPr>
              <a:t> = {1, 2, 3, 4} lo es. </a:t>
            </a:r>
            <a:endParaRPr lang="es-AR" spc="-1" baseline="-25000" dirty="0">
              <a:latin typeface="Arial" pitchFamily="34" charset="0"/>
              <a:cs typeface="Arial" pitchFamily="34" charset="0"/>
            </a:endParaRPr>
          </a:p>
          <a:p>
            <a:r>
              <a:rPr lang="es-AR" spc="-1" baseline="-25000" dirty="0">
                <a:latin typeface="Arial" pitchFamily="34" charset="0"/>
                <a:cs typeface="Arial" pitchFamily="34" charset="0"/>
              </a:rPr>
              <a:t> </a:t>
            </a:r>
            <a:endParaRPr lang="es-AR" sz="1800" b="0" strike="noStrike" spc="-1" dirty="0">
              <a:latin typeface="Arial" pitchFamily="34" charset="0"/>
              <a:cs typeface="Arial" pitchFamily="34" charset="0"/>
            </a:endParaRPr>
          </a:p>
          <a:p>
            <a:endParaRPr lang="es-AR" sz="1800" b="0" strike="noStrike" spc="-1" dirty="0"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580026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62" name="TextShape 1"/>
              <p:cNvSpPr txBox="1"/>
              <p:nvPr/>
            </p:nvSpPr>
            <p:spPr>
              <a:xfrm>
                <a:off x="289422" y="1910281"/>
                <a:ext cx="8280723" cy="1080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anchor="ctr"/>
              <a:lstStyle/>
              <a:p>
                <a:r>
                  <a:rPr lang="es-AR" sz="2000" b="0" strike="noStrike" spc="-1" dirty="0">
                    <a:solidFill>
                      <a:srgbClr val="000000"/>
                    </a:solidFill>
                    <a:latin typeface="Arial" pitchFamily="34" charset="0"/>
                    <a:ea typeface="Noto Sans CJK SC"/>
                    <a:cs typeface="Arial" pitchFamily="34" charset="0"/>
                  </a:rPr>
                  <a:t>Inclusión de conjuntos: </a:t>
                </a:r>
              </a:p>
              <a:p>
                <a:r>
                  <a:rPr lang="es-AR" sz="2000" b="0" strike="noStrike" spc="-1" dirty="0">
                    <a:solidFill>
                      <a:srgbClr val="000000"/>
                    </a:solidFill>
                    <a:latin typeface="Arial" pitchFamily="34" charset="0"/>
                    <a:ea typeface="Noto Sans CJK SC"/>
                    <a:cs typeface="Arial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s-AR" sz="2000" b="1" i="1" strike="noStrike" spc="-1" dirty="0" smtClean="0">
                        <a:solidFill>
                          <a:srgbClr val="FF0000"/>
                        </a:solidFill>
                        <a:latin typeface="Cambria Math"/>
                        <a:cs typeface="Arial" pitchFamily="34" charset="0"/>
                      </a:rPr>
                      <m:t>𝑨</m:t>
                    </m:r>
                    <m:r>
                      <a:rPr lang="es-AR" sz="2000" b="1" i="1" strike="noStrike" spc="-1" dirty="0" smtClean="0">
                        <a:solidFill>
                          <a:srgbClr val="FF0000"/>
                        </a:solidFill>
                        <a:latin typeface="Cambria Math"/>
                        <a:cs typeface="Arial" pitchFamily="34" charset="0"/>
                      </a:rPr>
                      <m:t> = {</m:t>
                    </m:r>
                    <m:r>
                      <a:rPr lang="es-AR" sz="2000" b="1" i="1" strike="noStrike" spc="-1" dirty="0" smtClean="0">
                        <a:solidFill>
                          <a:srgbClr val="FF0000"/>
                        </a:solidFill>
                        <a:latin typeface="Cambria Math"/>
                        <a:cs typeface="Arial" pitchFamily="34" charset="0"/>
                      </a:rPr>
                      <m:t>𝟏</m:t>
                    </m:r>
                    <m:r>
                      <a:rPr lang="es-AR" sz="2000" b="1" i="1" strike="noStrike" spc="-1" dirty="0" smtClean="0">
                        <a:solidFill>
                          <a:srgbClr val="FF0000"/>
                        </a:solidFill>
                        <a:latin typeface="Cambria Math"/>
                        <a:cs typeface="Arial" pitchFamily="34" charset="0"/>
                      </a:rPr>
                      <m:t>,</m:t>
                    </m:r>
                    <m:r>
                      <a:rPr lang="es-AR" sz="2000" b="1" i="1" strike="noStrike" spc="-1" dirty="0" smtClean="0">
                        <a:solidFill>
                          <a:srgbClr val="FF0000"/>
                        </a:solidFill>
                        <a:latin typeface="Cambria Math"/>
                        <a:cs typeface="Arial" pitchFamily="34" charset="0"/>
                      </a:rPr>
                      <m:t>𝟐</m:t>
                    </m:r>
                    <m:r>
                      <a:rPr lang="es-AR" sz="2000" b="1" i="1" strike="noStrike" spc="-1" dirty="0" smtClean="0">
                        <a:solidFill>
                          <a:srgbClr val="FF0000"/>
                        </a:solidFill>
                        <a:latin typeface="Cambria Math"/>
                        <a:cs typeface="Arial" pitchFamily="34" charset="0"/>
                      </a:rPr>
                      <m:t>,</m:t>
                    </m:r>
                    <m:r>
                      <a:rPr lang="es-AR" sz="2000" b="1" i="1" strike="noStrike" spc="-1" dirty="0" smtClean="0">
                        <a:solidFill>
                          <a:srgbClr val="FF0000"/>
                        </a:solidFill>
                        <a:latin typeface="Cambria Math"/>
                        <a:cs typeface="Arial" pitchFamily="34" charset="0"/>
                      </a:rPr>
                      <m:t>𝟑</m:t>
                    </m:r>
                    <m:r>
                      <a:rPr lang="es-AR" sz="2000" b="1" i="1" strike="noStrike" spc="-1" dirty="0" smtClean="0">
                        <a:solidFill>
                          <a:srgbClr val="FF0000"/>
                        </a:solidFill>
                        <a:latin typeface="Cambria Math"/>
                        <a:cs typeface="Arial" pitchFamily="34" charset="0"/>
                      </a:rPr>
                      <m:t>,</m:t>
                    </m:r>
                    <m:r>
                      <a:rPr lang="es-AR" sz="2000" b="1" i="1" strike="noStrike" spc="-1" dirty="0" smtClean="0">
                        <a:solidFill>
                          <a:schemeClr val="tx2"/>
                        </a:solidFill>
                        <a:latin typeface="Cambria Math"/>
                        <a:cs typeface="Arial" pitchFamily="34" charset="0"/>
                      </a:rPr>
                      <m:t>𝟓</m:t>
                    </m:r>
                    <m:r>
                      <a:rPr lang="es-AR" sz="2000" b="1" i="1" strike="noStrike" spc="-1" dirty="0" smtClean="0">
                        <a:solidFill>
                          <a:srgbClr val="FF0000"/>
                        </a:solidFill>
                        <a:latin typeface="Cambria Math"/>
                        <a:cs typeface="Arial" pitchFamily="34" charset="0"/>
                      </a:rPr>
                      <m:t>,</m:t>
                    </m:r>
                    <m:r>
                      <a:rPr lang="es-AR" sz="2000" b="1" i="1" strike="noStrike" spc="-1" dirty="0" smtClean="0">
                        <a:solidFill>
                          <a:srgbClr val="FF0000"/>
                        </a:solidFill>
                        <a:latin typeface="Cambria Math"/>
                        <a:cs typeface="Arial" pitchFamily="34" charset="0"/>
                      </a:rPr>
                      <m:t>𝟕</m:t>
                    </m:r>
                    <m:r>
                      <a:rPr lang="es-AR" sz="2000" b="1" i="1" strike="noStrike" spc="-1" dirty="0" smtClean="0">
                        <a:solidFill>
                          <a:srgbClr val="FF0000"/>
                        </a:solidFill>
                        <a:latin typeface="Cambria Math"/>
                        <a:cs typeface="Arial" pitchFamily="34" charset="0"/>
                      </a:rPr>
                      <m:t>,</m:t>
                    </m:r>
                    <m:r>
                      <a:rPr lang="es-AR" sz="2000" b="1" i="1" strike="noStrike" spc="-1" dirty="0" smtClean="0">
                        <a:solidFill>
                          <a:srgbClr val="FF0000"/>
                        </a:solidFill>
                        <a:latin typeface="Cambria Math"/>
                        <a:cs typeface="Arial" pitchFamily="34" charset="0"/>
                      </a:rPr>
                      <m:t>𝟏𝟏</m:t>
                    </m:r>
                    <m:r>
                      <a:rPr lang="es-AR" sz="2000" b="1" i="1" strike="noStrike" spc="-1" dirty="0" smtClean="0">
                        <a:solidFill>
                          <a:srgbClr val="FF0000"/>
                        </a:solidFill>
                        <a:latin typeface="Cambria Math"/>
                        <a:cs typeface="Arial" pitchFamily="34" charset="0"/>
                      </a:rPr>
                      <m:t>,</m:t>
                    </m:r>
                    <m:r>
                      <a:rPr lang="es-AR" sz="2000" b="1" i="1" strike="noStrike" spc="-1" dirty="0" smtClean="0">
                        <a:solidFill>
                          <a:schemeClr val="tx2"/>
                        </a:solidFill>
                        <a:latin typeface="Cambria Math"/>
                        <a:cs typeface="Arial" pitchFamily="34" charset="0"/>
                      </a:rPr>
                      <m:t>𝟏𝟑</m:t>
                    </m:r>
                    <m:r>
                      <a:rPr lang="es-AR" sz="2000" b="1" i="1" strike="noStrike" spc="-1" dirty="0" smtClean="0">
                        <a:solidFill>
                          <a:srgbClr val="FF0000"/>
                        </a:solidFill>
                        <a:latin typeface="Cambria Math"/>
                        <a:cs typeface="Arial" pitchFamily="34" charset="0"/>
                      </a:rPr>
                      <m:t>,</m:t>
                    </m:r>
                    <m:r>
                      <a:rPr lang="es-AR" sz="2000" b="1" i="1" strike="noStrike" spc="-1" dirty="0" smtClean="0">
                        <a:solidFill>
                          <a:schemeClr val="tx2"/>
                        </a:solidFill>
                        <a:latin typeface="Cambria Math"/>
                        <a:cs typeface="Arial" pitchFamily="34" charset="0"/>
                      </a:rPr>
                      <m:t>𝟏𝟕</m:t>
                    </m:r>
                    <m:r>
                      <a:rPr lang="es-AR" sz="2000" b="1" i="1" strike="noStrike" spc="-1" dirty="0" smtClean="0">
                        <a:solidFill>
                          <a:srgbClr val="FF0000"/>
                        </a:solidFill>
                        <a:latin typeface="Cambria Math"/>
                        <a:cs typeface="Arial" pitchFamily="34" charset="0"/>
                      </a:rPr>
                      <m:t>} </m:t>
                    </m:r>
                  </m:oMath>
                </a14:m>
                <a:r>
                  <a:rPr lang="es-AR" sz="2000" b="0" strike="noStrike" spc="-1" dirty="0">
                    <a:solidFill>
                      <a:srgbClr val="000000"/>
                    </a:solidFill>
                    <a:latin typeface="Arial" pitchFamily="34" charset="0"/>
                    <a:cs typeface="Arial" pitchFamily="34" charset="0"/>
                  </a:rPr>
                  <a:t>y  </a:t>
                </a:r>
                <a14:m>
                  <m:oMath xmlns:m="http://schemas.openxmlformats.org/officeDocument/2006/math">
                    <m:r>
                      <a:rPr lang="es-AR" sz="2000" b="1" i="1" strike="noStrike" spc="-1" dirty="0" smtClean="0">
                        <a:solidFill>
                          <a:schemeClr val="tx2"/>
                        </a:solidFill>
                        <a:latin typeface="Cambria Math"/>
                        <a:cs typeface="Arial" pitchFamily="34" charset="0"/>
                      </a:rPr>
                      <m:t>𝑩</m:t>
                    </m:r>
                    <m:r>
                      <a:rPr lang="es-AR" sz="2000" b="1" i="1" strike="noStrike" spc="-1" dirty="0" smtClean="0">
                        <a:solidFill>
                          <a:schemeClr val="tx2"/>
                        </a:solidFill>
                        <a:latin typeface="Cambria Math"/>
                        <a:cs typeface="Arial" pitchFamily="34" charset="0"/>
                      </a:rPr>
                      <m:t> = {</m:t>
                    </m:r>
                    <m:r>
                      <a:rPr lang="es-AR" sz="2000" b="1" i="1" strike="noStrike" spc="-1" dirty="0">
                        <a:solidFill>
                          <a:schemeClr val="tx2"/>
                        </a:solidFill>
                        <a:latin typeface="Cambria Math"/>
                        <a:cs typeface="Arial" pitchFamily="34" charset="0"/>
                      </a:rPr>
                      <m:t>𝟓</m:t>
                    </m:r>
                    <m:r>
                      <a:rPr lang="es-AR" sz="2000" b="1" i="1" strike="noStrike" spc="-1" dirty="0">
                        <a:solidFill>
                          <a:schemeClr val="tx2"/>
                        </a:solidFill>
                        <a:latin typeface="Cambria Math"/>
                        <a:cs typeface="Arial" pitchFamily="34" charset="0"/>
                      </a:rPr>
                      <m:t>,</m:t>
                    </m:r>
                    <m:r>
                      <a:rPr lang="es-AR" sz="2000" b="1" i="1" strike="noStrike" spc="-1" dirty="0">
                        <a:solidFill>
                          <a:schemeClr val="tx2"/>
                        </a:solidFill>
                        <a:latin typeface="Cambria Math"/>
                        <a:cs typeface="Arial" pitchFamily="34" charset="0"/>
                      </a:rPr>
                      <m:t>𝟏𝟑</m:t>
                    </m:r>
                    <m:r>
                      <a:rPr lang="es-AR" sz="2000" b="1" i="1" strike="noStrike" spc="-1" dirty="0">
                        <a:solidFill>
                          <a:schemeClr val="tx2"/>
                        </a:solidFill>
                        <a:latin typeface="Cambria Math"/>
                        <a:cs typeface="Arial" pitchFamily="34" charset="0"/>
                      </a:rPr>
                      <m:t>,</m:t>
                    </m:r>
                    <m:r>
                      <a:rPr lang="es-AR" sz="2000" b="1" i="1" strike="noStrike" spc="-1" dirty="0">
                        <a:solidFill>
                          <a:schemeClr val="tx2"/>
                        </a:solidFill>
                        <a:latin typeface="Cambria Math"/>
                        <a:cs typeface="Arial" pitchFamily="34" charset="0"/>
                      </a:rPr>
                      <m:t>𝟏𝟕</m:t>
                    </m:r>
                    <m:r>
                      <a:rPr lang="es-AR" sz="2000" b="1" i="1" strike="noStrike" spc="-1" dirty="0">
                        <a:solidFill>
                          <a:schemeClr val="tx2"/>
                        </a:solidFill>
                        <a:latin typeface="Cambria Math"/>
                        <a:cs typeface="Arial" pitchFamily="34" charset="0"/>
                      </a:rPr>
                      <m:t>}, </m:t>
                    </m:r>
                  </m:oMath>
                </a14:m>
                <a:endParaRPr lang="es-AR" sz="2000" b="1" strike="noStrike" spc="-1" dirty="0">
                  <a:solidFill>
                    <a:srgbClr val="000000"/>
                  </a:solidFill>
                  <a:latin typeface="Arial" pitchFamily="34" charset="0"/>
                  <a:cs typeface="Arial" pitchFamily="34" charset="0"/>
                </a:endParaRPr>
              </a:p>
              <a:p>
                <a:br>
                  <a:rPr sz="2000" dirty="0">
                    <a:latin typeface="Arial" pitchFamily="34" charset="0"/>
                    <a:cs typeface="Arial" pitchFamily="34" charset="0"/>
                  </a:rPr>
                </a:br>
                <a:endParaRPr lang="es-AR" sz="2000" b="0" strike="noStrike" spc="-1" dirty="0">
                  <a:solidFill>
                    <a:srgbClr val="000000"/>
                  </a:solidFill>
                  <a:latin typeface="Arial" pitchFamily="34" charset="0"/>
                  <a:cs typeface="Arial" pitchFamily="34" charset="0"/>
                </a:endParaRPr>
              </a:p>
            </p:txBody>
          </p:sp>
        </mc:Choice>
        <mc:Fallback xmlns="">
          <p:sp>
            <p:nvSpPr>
              <p:cNvPr id="162" name="TextShape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9422" y="1910281"/>
                <a:ext cx="8280723" cy="1080120"/>
              </a:xfrm>
              <a:prstGeom prst="rect">
                <a:avLst/>
              </a:prstGeom>
              <a:blipFill rotWithShape="1">
                <a:blip r:embed="rId2"/>
                <a:stretch>
                  <a:fillRect l="-1840" t="-12921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3" name="TextShape 2"/>
          <p:cNvSpPr txBox="1"/>
          <p:nvPr/>
        </p:nvSpPr>
        <p:spPr>
          <a:xfrm>
            <a:off x="239141" y="1340768"/>
            <a:ext cx="8229240" cy="78971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AR" sz="3200" b="0" strike="noStrike" spc="-1">
                <a:solidFill>
                  <a:srgbClr val="000000"/>
                </a:solidFill>
                <a:latin typeface="Calibri"/>
              </a:rPr>
              <a:t>Diagrama de Venn</a:t>
            </a:r>
          </a:p>
        </p:txBody>
      </p:sp>
      <p:pic>
        <p:nvPicPr>
          <p:cNvPr id="164" name="6 Imagen"/>
          <p:cNvPicPr/>
          <p:nvPr/>
        </p:nvPicPr>
        <p:blipFill>
          <a:blip r:embed="rId3"/>
          <a:stretch/>
        </p:blipFill>
        <p:spPr>
          <a:xfrm>
            <a:off x="360" y="360"/>
            <a:ext cx="9143640" cy="1075320"/>
          </a:xfrm>
          <a:prstGeom prst="rect">
            <a:avLst/>
          </a:prstGeom>
          <a:ln>
            <a:noFill/>
          </a:ln>
        </p:spPr>
      </p:pic>
      <p:grpSp>
        <p:nvGrpSpPr>
          <p:cNvPr id="2" name="1 Grupo"/>
          <p:cNvGrpSpPr/>
          <p:nvPr/>
        </p:nvGrpSpPr>
        <p:grpSpPr>
          <a:xfrm>
            <a:off x="971601" y="3119330"/>
            <a:ext cx="4177646" cy="3045974"/>
            <a:chOff x="1137250" y="3852000"/>
            <a:chExt cx="1202750" cy="1224000"/>
          </a:xfrm>
        </p:grpSpPr>
        <p:sp>
          <p:nvSpPr>
            <p:cNvPr id="165" name="CustomShape 3"/>
            <p:cNvSpPr/>
            <p:nvPr/>
          </p:nvSpPr>
          <p:spPr>
            <a:xfrm>
              <a:off x="1260000" y="3852000"/>
              <a:ext cx="1080000" cy="1224000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167" name="TextShape 5"/>
            <p:cNvSpPr txBox="1"/>
            <p:nvPr/>
          </p:nvSpPr>
          <p:spPr>
            <a:xfrm>
              <a:off x="1137250" y="3918138"/>
              <a:ext cx="245501" cy="239308"/>
            </a:xfrm>
            <a:prstGeom prst="rect">
              <a:avLst/>
            </a:prstGeom>
            <a:noFill/>
            <a:ln>
              <a:noFill/>
            </a:ln>
          </p:spPr>
          <p:txBody>
            <a:bodyPr lIns="90000" tIns="45000" rIns="90000" bIns="45000"/>
            <a:lstStyle/>
            <a:p>
              <a:r>
                <a:rPr lang="es-AR" sz="2400" b="1" i="1" strike="noStrike" spc="-1">
                  <a:solidFill>
                    <a:srgbClr val="FF0000"/>
                  </a:solidFill>
                  <a:latin typeface="Arial"/>
                </a:rPr>
                <a:t>A</a:t>
              </a:r>
            </a:p>
            <a:p>
              <a:endParaRPr lang="es-AR" sz="2400" b="1" i="1" strike="noStrike" spc="-1">
                <a:solidFill>
                  <a:srgbClr val="FF0000"/>
                </a:solidFill>
                <a:latin typeface="Arial"/>
              </a:endParaRPr>
            </a:p>
          </p:txBody>
        </p:sp>
      </p:grpSp>
      <p:grpSp>
        <p:nvGrpSpPr>
          <p:cNvPr id="4" name="3 Grupo"/>
          <p:cNvGrpSpPr/>
          <p:nvPr/>
        </p:nvGrpSpPr>
        <p:grpSpPr>
          <a:xfrm>
            <a:off x="3219644" y="3662535"/>
            <a:ext cx="1376640" cy="1224000"/>
            <a:chOff x="1800360" y="3852360"/>
            <a:chExt cx="1376640" cy="1224000"/>
          </a:xfrm>
        </p:grpSpPr>
        <p:sp>
          <p:nvSpPr>
            <p:cNvPr id="166" name="CustomShape 4"/>
            <p:cNvSpPr/>
            <p:nvPr/>
          </p:nvSpPr>
          <p:spPr>
            <a:xfrm>
              <a:off x="1800360" y="3852360"/>
              <a:ext cx="1080000" cy="1224000"/>
            </a:xfrm>
            <a:prstGeom prst="ellipse">
              <a:avLst/>
            </a:prstGeom>
            <a:ln w="38100">
              <a:solidFill>
                <a:schemeClr val="tx2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sp>
        <p:sp>
          <p:nvSpPr>
            <p:cNvPr id="168" name="TextShape 6"/>
            <p:cNvSpPr txBox="1"/>
            <p:nvPr/>
          </p:nvSpPr>
          <p:spPr>
            <a:xfrm>
              <a:off x="2844000" y="3852360"/>
              <a:ext cx="333000" cy="602280"/>
            </a:xfrm>
            <a:prstGeom prst="rect">
              <a:avLst/>
            </a:prstGeom>
            <a:noFill/>
            <a:ln w="38100"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90000" tIns="45000" rIns="90000" bIns="45000"/>
            <a:lstStyle/>
            <a:p>
              <a:r>
                <a:rPr lang="es-AR" sz="2200" b="1" i="1" strike="noStrike" spc="-1" dirty="0">
                  <a:solidFill>
                    <a:schemeClr val="tx2"/>
                  </a:solidFill>
                  <a:latin typeface="Arial"/>
                </a:rPr>
                <a:t>B</a:t>
              </a:r>
            </a:p>
            <a:p>
              <a:endParaRPr lang="es-AR" sz="2200" b="1" i="1" strike="noStrike" spc="-1" dirty="0">
                <a:solidFill>
                  <a:schemeClr val="tx2"/>
                </a:solidFill>
                <a:latin typeface="Arial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72" name="TextShape 10"/>
              <p:cNvSpPr txBox="1"/>
              <p:nvPr/>
            </p:nvSpPr>
            <p:spPr>
              <a:xfrm>
                <a:off x="1671566" y="3986503"/>
                <a:ext cx="732478" cy="5760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90000" tIns="45000" rIns="90000" bIns="45000"/>
              <a:lstStyle/>
              <a:p>
                <a:r>
                  <a:rPr lang="es-AR" sz="2400" b="1" i="1" strike="noStrike" spc="-1" dirty="0">
                    <a:solidFill>
                      <a:srgbClr val="FF0000"/>
                    </a:solidFill>
                    <a:latin typeface="Arial"/>
                  </a:rPr>
                  <a:t> </a:t>
                </a:r>
                <a14:m>
                  <m:oMath xmlns:m="http://schemas.openxmlformats.org/officeDocument/2006/math">
                    <m:r>
                      <a:rPr lang="es-AR" sz="2400" b="1" i="1" strike="noStrike" spc="-1" smtClean="0">
                        <a:solidFill>
                          <a:srgbClr val="FF0000"/>
                        </a:solidFill>
                        <a:latin typeface="Cambria Math"/>
                      </a:rPr>
                      <m:t>𝟐</m:t>
                    </m:r>
                  </m:oMath>
                </a14:m>
                <a:endParaRPr lang="es-AR" sz="2400" b="1" i="1" strike="noStrike" spc="-1" dirty="0">
                  <a:solidFill>
                    <a:srgbClr val="FF0000"/>
                  </a:solidFill>
                  <a:latin typeface="Arial"/>
                </a:endParaRPr>
              </a:p>
            </p:txBody>
          </p:sp>
        </mc:Choice>
        <mc:Fallback xmlns="">
          <p:sp>
            <p:nvSpPr>
              <p:cNvPr id="172" name="TextShape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71566" y="3986503"/>
                <a:ext cx="732478" cy="576064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Shape 10"/>
              <p:cNvSpPr txBox="1"/>
              <p:nvPr/>
            </p:nvSpPr>
            <p:spPr>
              <a:xfrm>
                <a:off x="2045670" y="3535551"/>
                <a:ext cx="732478" cy="5760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90000" tIns="45000" rIns="90000" bIns="45000"/>
              <a:lstStyle/>
              <a:p>
                <a:r>
                  <a:rPr lang="es-AR" sz="2400" b="1" i="1" strike="noStrike" spc="-1" dirty="0">
                    <a:solidFill>
                      <a:srgbClr val="FF0000"/>
                    </a:solidFill>
                    <a:latin typeface="Arial"/>
                  </a:rPr>
                  <a:t> </a:t>
                </a:r>
                <a14:m>
                  <m:oMath xmlns:m="http://schemas.openxmlformats.org/officeDocument/2006/math">
                    <m:r>
                      <a:rPr lang="es-AR" sz="2400" b="1" i="1" strike="noStrike" spc="-1" smtClean="0">
                        <a:solidFill>
                          <a:srgbClr val="FF0000"/>
                        </a:solidFill>
                        <a:latin typeface="Cambria Math"/>
                      </a:rPr>
                      <m:t>𝟏</m:t>
                    </m:r>
                  </m:oMath>
                </a14:m>
                <a:endParaRPr lang="es-AR" sz="2400" b="1" i="1" strike="noStrike" spc="-1" dirty="0">
                  <a:solidFill>
                    <a:srgbClr val="FF0000"/>
                  </a:solidFill>
                  <a:latin typeface="Arial"/>
                </a:endParaRPr>
              </a:p>
            </p:txBody>
          </p:sp>
        </mc:Choice>
        <mc:Fallback xmlns="">
          <p:sp>
            <p:nvSpPr>
              <p:cNvPr id="21" name="TextShape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45670" y="3535551"/>
                <a:ext cx="732478" cy="576064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Shape 10"/>
              <p:cNvSpPr txBox="1"/>
              <p:nvPr/>
            </p:nvSpPr>
            <p:spPr>
              <a:xfrm>
                <a:off x="1679431" y="4594949"/>
                <a:ext cx="732478" cy="5760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90000" tIns="45000" rIns="90000" bIns="45000"/>
              <a:lstStyle/>
              <a:p>
                <a:r>
                  <a:rPr lang="es-AR" sz="2400" b="1" i="1" strike="noStrike" spc="-1" dirty="0">
                    <a:solidFill>
                      <a:srgbClr val="FF0000"/>
                    </a:solidFill>
                    <a:latin typeface="Arial"/>
                  </a:rPr>
                  <a:t> </a:t>
                </a:r>
                <a14:m>
                  <m:oMath xmlns:m="http://schemas.openxmlformats.org/officeDocument/2006/math">
                    <m:r>
                      <a:rPr lang="es-AR" sz="2400" b="1" i="1" strike="noStrike" spc="-1" smtClean="0">
                        <a:solidFill>
                          <a:srgbClr val="FF0000"/>
                        </a:solidFill>
                        <a:latin typeface="Cambria Math"/>
                      </a:rPr>
                      <m:t>𝟑</m:t>
                    </m:r>
                  </m:oMath>
                </a14:m>
                <a:endParaRPr lang="es-AR" sz="2400" b="1" i="1" strike="noStrike" spc="-1" dirty="0">
                  <a:solidFill>
                    <a:srgbClr val="FF0000"/>
                  </a:solidFill>
                  <a:latin typeface="Arial"/>
                </a:endParaRPr>
              </a:p>
            </p:txBody>
          </p:sp>
        </mc:Choice>
        <mc:Fallback xmlns="">
          <p:sp>
            <p:nvSpPr>
              <p:cNvPr id="22" name="TextShape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79431" y="4594949"/>
                <a:ext cx="732478" cy="576064"/>
              </a:xfrm>
              <a:prstGeom prst="rect">
                <a:avLst/>
              </a:prstGeom>
              <a:blipFill rotWithShape="1">
                <a:blip r:embed="rId6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Shape 10"/>
              <p:cNvSpPr txBox="1"/>
              <p:nvPr/>
            </p:nvSpPr>
            <p:spPr>
              <a:xfrm>
                <a:off x="2045670" y="5077681"/>
                <a:ext cx="732478" cy="5760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90000" tIns="45000" rIns="90000" bIns="45000"/>
              <a:lstStyle/>
              <a:p>
                <a:r>
                  <a:rPr lang="es-AR" sz="2400" b="1" i="1" strike="noStrike" spc="-1" dirty="0">
                    <a:solidFill>
                      <a:srgbClr val="FF0000"/>
                    </a:solidFill>
                    <a:latin typeface="Arial"/>
                  </a:rPr>
                  <a:t> </a:t>
                </a:r>
                <a14:m>
                  <m:oMath xmlns:m="http://schemas.openxmlformats.org/officeDocument/2006/math">
                    <m:r>
                      <a:rPr lang="es-AR" sz="2400" b="1" i="1" strike="noStrike" spc="-1" smtClean="0">
                        <a:solidFill>
                          <a:srgbClr val="FF0000"/>
                        </a:solidFill>
                        <a:latin typeface="Cambria Math"/>
                      </a:rPr>
                      <m:t>𝟕</m:t>
                    </m:r>
                  </m:oMath>
                </a14:m>
                <a:endParaRPr lang="es-AR" sz="2400" b="1" i="1" strike="noStrike" spc="-1" dirty="0">
                  <a:solidFill>
                    <a:srgbClr val="FF0000"/>
                  </a:solidFill>
                  <a:latin typeface="Arial"/>
                </a:endParaRPr>
              </a:p>
            </p:txBody>
          </p:sp>
        </mc:Choice>
        <mc:Fallback xmlns="">
          <p:sp>
            <p:nvSpPr>
              <p:cNvPr id="23" name="TextShape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45670" y="5077681"/>
                <a:ext cx="732478" cy="576064"/>
              </a:xfrm>
              <a:prstGeom prst="rect">
                <a:avLst/>
              </a:prstGeom>
              <a:blipFill rotWithShape="1">
                <a:blip r:embed="rId7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" name="4 Grupo"/>
          <p:cNvGrpSpPr/>
          <p:nvPr/>
        </p:nvGrpSpPr>
        <p:grpSpPr>
          <a:xfrm>
            <a:off x="3229302" y="3966085"/>
            <a:ext cx="1172438" cy="993811"/>
            <a:chOff x="3765981" y="4066253"/>
            <a:chExt cx="1172438" cy="993811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TextShape 10"/>
                <p:cNvSpPr txBox="1"/>
                <p:nvPr/>
              </p:nvSpPr>
              <p:spPr>
                <a:xfrm>
                  <a:off x="3765981" y="4069911"/>
                  <a:ext cx="732478" cy="5760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90000" tIns="45000" rIns="90000" bIns="45000"/>
                <a:lstStyle/>
                <a:p>
                  <a:r>
                    <a:rPr lang="es-AR" sz="2400" b="1" i="1" strike="noStrike" spc="-1" dirty="0">
                      <a:solidFill>
                        <a:schemeClr val="tx2"/>
                      </a:solidFill>
                      <a:latin typeface="Arial"/>
                    </a:rPr>
                    <a:t> </a:t>
                  </a:r>
                  <a14:m>
                    <m:oMath xmlns:m="http://schemas.openxmlformats.org/officeDocument/2006/math">
                      <m:r>
                        <a:rPr lang="es-AR" sz="2400" b="1" i="1" strike="noStrike" spc="-1" smtClean="0">
                          <a:solidFill>
                            <a:schemeClr val="tx2"/>
                          </a:solidFill>
                          <a:latin typeface="Cambria Math"/>
                        </a:rPr>
                        <m:t>𝟓</m:t>
                      </m:r>
                    </m:oMath>
                  </a14:m>
                  <a:endParaRPr lang="es-AR" sz="2400" b="1" i="1" strike="noStrike" spc="-1" dirty="0">
                    <a:solidFill>
                      <a:schemeClr val="tx2"/>
                    </a:solidFill>
                    <a:latin typeface="Arial"/>
                  </a:endParaRPr>
                </a:p>
              </p:txBody>
            </p:sp>
          </mc:Choice>
          <mc:Fallback xmlns="">
            <p:sp>
              <p:nvSpPr>
                <p:cNvPr id="20" name="TextShape 1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765981" y="4069911"/>
                  <a:ext cx="732478" cy="576064"/>
                </a:xfrm>
                <a:prstGeom prst="rect">
                  <a:avLst/>
                </a:prstGeom>
                <a:blipFill rotWithShape="1">
                  <a:blip r:embed="rId8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s-A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TextShape 10"/>
                <p:cNvSpPr txBox="1"/>
                <p:nvPr/>
              </p:nvSpPr>
              <p:spPr>
                <a:xfrm>
                  <a:off x="4205941" y="4066253"/>
                  <a:ext cx="732478" cy="5760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90000" tIns="45000" rIns="90000" bIns="45000"/>
                <a:lstStyle/>
                <a:p>
                  <a:r>
                    <a:rPr lang="es-AR" sz="2400" b="1" i="1" strike="noStrike" spc="-1" dirty="0">
                      <a:solidFill>
                        <a:schemeClr val="tx2"/>
                      </a:solidFill>
                      <a:latin typeface="Arial"/>
                    </a:rPr>
                    <a:t> </a:t>
                  </a:r>
                  <a14:m>
                    <m:oMath xmlns:m="http://schemas.openxmlformats.org/officeDocument/2006/math">
                      <m:r>
                        <a:rPr lang="es-AR" sz="2400" b="1" i="1" strike="noStrike" spc="-1" smtClean="0">
                          <a:solidFill>
                            <a:schemeClr val="tx2"/>
                          </a:solidFill>
                          <a:latin typeface="Cambria Math"/>
                        </a:rPr>
                        <m:t>𝟏𝟕</m:t>
                      </m:r>
                    </m:oMath>
                  </a14:m>
                  <a:endParaRPr lang="es-AR" sz="2400" b="1" i="1" strike="noStrike" spc="-1" dirty="0">
                    <a:solidFill>
                      <a:schemeClr val="tx2"/>
                    </a:solidFill>
                    <a:latin typeface="Arial"/>
                  </a:endParaRPr>
                </a:p>
              </p:txBody>
            </p:sp>
          </mc:Choice>
          <mc:Fallback xmlns="">
            <p:sp>
              <p:nvSpPr>
                <p:cNvPr id="24" name="TextShape 1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205941" y="4066253"/>
                  <a:ext cx="732478" cy="576064"/>
                </a:xfrm>
                <a:prstGeom prst="rect">
                  <a:avLst/>
                </a:prstGeom>
                <a:blipFill rotWithShape="1">
                  <a:blip r:embed="rId9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s-A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TextShape 10"/>
                <p:cNvSpPr txBox="1"/>
                <p:nvPr/>
              </p:nvSpPr>
              <p:spPr>
                <a:xfrm>
                  <a:off x="3839702" y="4484000"/>
                  <a:ext cx="732478" cy="5760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90000" tIns="45000" rIns="90000" bIns="45000"/>
                <a:lstStyle/>
                <a:p>
                  <a:r>
                    <a:rPr lang="es-AR" sz="2400" b="1" i="1" strike="noStrike" spc="-1" dirty="0">
                      <a:solidFill>
                        <a:schemeClr val="tx2"/>
                      </a:solidFill>
                      <a:latin typeface="Arial"/>
                    </a:rPr>
                    <a:t> </a:t>
                  </a:r>
                  <a14:m>
                    <m:oMath xmlns:m="http://schemas.openxmlformats.org/officeDocument/2006/math">
                      <m:r>
                        <a:rPr lang="es-AR" sz="2400" b="1" i="1" strike="noStrike" spc="-1" smtClean="0">
                          <a:solidFill>
                            <a:schemeClr val="tx2"/>
                          </a:solidFill>
                          <a:latin typeface="Cambria Math"/>
                        </a:rPr>
                        <m:t>𝟏𝟑</m:t>
                      </m:r>
                    </m:oMath>
                  </a14:m>
                  <a:endParaRPr lang="es-AR" sz="2400" b="1" i="1" strike="noStrike" spc="-1" dirty="0">
                    <a:solidFill>
                      <a:schemeClr val="tx2"/>
                    </a:solidFill>
                    <a:latin typeface="Arial"/>
                  </a:endParaRPr>
                </a:p>
              </p:txBody>
            </p:sp>
          </mc:Choice>
          <mc:Fallback xmlns="">
            <p:sp>
              <p:nvSpPr>
                <p:cNvPr id="25" name="TextShape 1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839702" y="4484000"/>
                  <a:ext cx="732478" cy="576064"/>
                </a:xfrm>
                <a:prstGeom prst="rect">
                  <a:avLst/>
                </a:prstGeom>
                <a:blipFill rotWithShape="1">
                  <a:blip r:embed="rId10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s-AR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Shape 10"/>
              <p:cNvSpPr txBox="1"/>
              <p:nvPr/>
            </p:nvSpPr>
            <p:spPr>
              <a:xfrm>
                <a:off x="2699792" y="5218381"/>
                <a:ext cx="732478" cy="5760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90000" tIns="45000" rIns="90000" bIns="45000"/>
              <a:lstStyle/>
              <a:p>
                <a:r>
                  <a:rPr lang="es-AR" sz="2400" b="1" i="1" strike="noStrike" spc="-1" dirty="0">
                    <a:solidFill>
                      <a:srgbClr val="FF0000"/>
                    </a:solidFill>
                    <a:latin typeface="Arial"/>
                  </a:rPr>
                  <a:t> </a:t>
                </a:r>
                <a14:m>
                  <m:oMath xmlns:m="http://schemas.openxmlformats.org/officeDocument/2006/math">
                    <m:r>
                      <a:rPr lang="es-AR" sz="2400" b="1" i="1" strike="noStrike" spc="-1" smtClean="0">
                        <a:solidFill>
                          <a:srgbClr val="FF0000"/>
                        </a:solidFill>
                        <a:latin typeface="Cambria Math"/>
                      </a:rPr>
                      <m:t>𝟏𝟏</m:t>
                    </m:r>
                  </m:oMath>
                </a14:m>
                <a:endParaRPr lang="es-AR" sz="2400" b="1" i="1" strike="noStrike" spc="-1" dirty="0">
                  <a:solidFill>
                    <a:srgbClr val="FF0000"/>
                  </a:solidFill>
                  <a:latin typeface="Arial"/>
                </a:endParaRPr>
              </a:p>
            </p:txBody>
          </p:sp>
        </mc:Choice>
        <mc:Fallback xmlns="">
          <p:sp>
            <p:nvSpPr>
              <p:cNvPr id="26" name="TextShape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99792" y="5218381"/>
                <a:ext cx="732478" cy="576064"/>
              </a:xfrm>
              <a:prstGeom prst="rect">
                <a:avLst/>
              </a:prstGeom>
              <a:blipFill rotWithShape="1">
                <a:blip r:embed="rId11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5 Rectángulo"/>
              <p:cNvSpPr/>
              <p:nvPr/>
            </p:nvSpPr>
            <p:spPr>
              <a:xfrm>
                <a:off x="5652120" y="3300451"/>
                <a:ext cx="3055324" cy="175432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s-AR" sz="3600" i="1" spc="-1" dirty="0">
                    <a:solidFill>
                      <a:schemeClr val="tx2"/>
                    </a:solidFill>
                    <a:latin typeface="Arial" pitchFamily="34" charset="0"/>
                    <a:cs typeface="Arial" pitchFamily="34" charset="0"/>
                  </a:rPr>
                  <a:t>se dice que 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AR" sz="3600" i="1" spc="-1" dirty="0">
                          <a:solidFill>
                            <a:schemeClr val="tx2"/>
                          </a:solidFill>
                          <a:latin typeface="Cambria Math"/>
                          <a:cs typeface="Arial" pitchFamily="34" charset="0"/>
                        </a:rPr>
                        <m:t>𝐵</m:t>
                      </m:r>
                      <m:r>
                        <a:rPr lang="es-AR" sz="3600" i="1" spc="-1" dirty="0">
                          <a:solidFill>
                            <a:schemeClr val="tx2"/>
                          </a:solidFill>
                          <a:latin typeface="Cambria Math"/>
                          <a:cs typeface="Arial" pitchFamily="34" charset="0"/>
                        </a:rPr>
                        <m:t> ⊂ </m:t>
                      </m:r>
                      <m:r>
                        <a:rPr lang="es-AR" sz="3600" i="1" spc="-1" dirty="0">
                          <a:solidFill>
                            <a:schemeClr val="tx2"/>
                          </a:solidFill>
                          <a:latin typeface="Cambria Math"/>
                          <a:cs typeface="Arial" pitchFamily="34" charset="0"/>
                        </a:rPr>
                        <m:t>𝐴</m:t>
                      </m:r>
                      <m:r>
                        <a:rPr lang="es-AR" sz="3600" i="1" spc="-1" dirty="0">
                          <a:solidFill>
                            <a:schemeClr val="tx2"/>
                          </a:solidFill>
                          <a:latin typeface="Cambria Math"/>
                          <a:cs typeface="Arial" pitchFamily="34" charset="0"/>
                        </a:rPr>
                        <m:t> </m:t>
                      </m:r>
                    </m:oMath>
                  </m:oMathPara>
                </a14:m>
                <a:endParaRPr lang="es-AR" sz="3600" i="1" spc="-1" dirty="0">
                  <a:solidFill>
                    <a:schemeClr val="tx2"/>
                  </a:solidFill>
                  <a:latin typeface="Arial" pitchFamily="34" charset="0"/>
                  <a:cs typeface="Arial" pitchFamily="34" charset="0"/>
                </a:endParaRPr>
              </a:p>
              <a:p>
                <a:r>
                  <a:rPr lang="es-AR" sz="3600" i="1" spc="-1" dirty="0">
                    <a:solidFill>
                      <a:schemeClr val="tx2"/>
                    </a:solidFill>
                    <a:latin typeface="Arial" pitchFamily="34" charset="0"/>
                    <a:cs typeface="Arial" pitchFamily="34" charset="0"/>
                  </a:rPr>
                  <a:t>(está incluido)</a:t>
                </a:r>
                <a:endParaRPr lang="es-AR" sz="3600" i="1" dirty="0">
                  <a:solidFill>
                    <a:schemeClr val="tx2"/>
                  </a:solidFill>
                  <a:latin typeface="Arial" pitchFamily="34" charset="0"/>
                  <a:cs typeface="Arial" pitchFamily="34" charset="0"/>
                </a:endParaRPr>
              </a:p>
            </p:txBody>
          </p:sp>
        </mc:Choice>
        <mc:Fallback xmlns="">
          <p:sp>
            <p:nvSpPr>
              <p:cNvPr id="6" name="5 Rectángulo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52120" y="3300451"/>
                <a:ext cx="3055324" cy="1754326"/>
              </a:xfrm>
              <a:prstGeom prst="rect">
                <a:avLst/>
              </a:prstGeom>
              <a:blipFill rotWithShape="1">
                <a:blip r:embed="rId12"/>
                <a:stretch>
                  <a:fillRect l="-5988" t="-5208" r="-5788" b="-12153"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679926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2" grpId="0"/>
      <p:bldP spid="172" grpId="0"/>
      <p:bldP spid="21" grpId="0"/>
      <p:bldP spid="22" grpId="0"/>
      <p:bldP spid="23" grpId="0"/>
      <p:bldP spid="26" grpId="0"/>
      <p:bldP spid="6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TextShape 2"/>
          <p:cNvSpPr txBox="1"/>
          <p:nvPr/>
        </p:nvSpPr>
        <p:spPr>
          <a:xfrm>
            <a:off x="239141" y="1340768"/>
            <a:ext cx="8229240" cy="78971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AR" sz="3200" b="0" strike="noStrike" spc="-1">
                <a:solidFill>
                  <a:srgbClr val="000000"/>
                </a:solidFill>
                <a:latin typeface="Calibri"/>
              </a:rPr>
              <a:t>Diagrama de Venn</a:t>
            </a:r>
          </a:p>
        </p:txBody>
      </p:sp>
      <p:pic>
        <p:nvPicPr>
          <p:cNvPr id="164" name="6 Imagen"/>
          <p:cNvPicPr/>
          <p:nvPr/>
        </p:nvPicPr>
        <p:blipFill>
          <a:blip r:embed="rId2"/>
          <a:stretch/>
        </p:blipFill>
        <p:spPr>
          <a:xfrm>
            <a:off x="360" y="360"/>
            <a:ext cx="9143640" cy="1075320"/>
          </a:xfrm>
          <a:prstGeom prst="rect">
            <a:avLst/>
          </a:prstGeom>
          <a:ln>
            <a:noFill/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69" name="TextShape 7"/>
              <p:cNvSpPr txBox="1"/>
              <p:nvPr/>
            </p:nvSpPr>
            <p:spPr>
              <a:xfrm>
                <a:off x="5278272" y="1633519"/>
                <a:ext cx="3339984" cy="186321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90000" tIns="45000" rIns="90000" bIns="45000"/>
              <a:lstStyle/>
              <a:p>
                <a:r>
                  <a:rPr lang="es-AR" sz="1800" b="0" strike="noStrike" spc="-1" dirty="0">
                    <a:latin typeface="Arial"/>
                  </a:rPr>
                  <a:t>Sean los conjuntos: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AR" sz="2800" b="0" i="1" strike="noStrike" spc="-1" dirty="0" smtClean="0">
                          <a:latin typeface="Cambria Math"/>
                        </a:rPr>
                        <m:t>𝐴</m:t>
                      </m:r>
                      <m:r>
                        <a:rPr lang="es-AR" sz="2800" b="0" i="1" strike="noStrike" spc="-1" dirty="0" smtClean="0">
                          <a:latin typeface="Cambria Math"/>
                        </a:rPr>
                        <m:t> = {</m:t>
                      </m:r>
                      <m:r>
                        <a:rPr lang="es-AR" sz="2800" b="1" i="1" strike="noStrike" spc="-1" dirty="0">
                          <a:solidFill>
                            <a:srgbClr val="FF0000"/>
                          </a:solidFill>
                          <a:latin typeface="Cambria Math"/>
                        </a:rPr>
                        <m:t>𝟏</m:t>
                      </m:r>
                      <m:r>
                        <a:rPr lang="es-AR" sz="2800" b="0" i="1" strike="noStrike" spc="-1" dirty="0">
                          <a:latin typeface="Cambria Math"/>
                        </a:rPr>
                        <m:t>,</m:t>
                      </m:r>
                      <m:r>
                        <a:rPr lang="es-AR" sz="2800" b="0" i="1" strike="noStrike" spc="-1" dirty="0">
                          <a:solidFill>
                            <a:srgbClr val="00B050"/>
                          </a:solidFill>
                          <a:latin typeface="Cambria Math"/>
                        </a:rPr>
                        <m:t>2</m:t>
                      </m:r>
                      <m:r>
                        <a:rPr lang="es-AR" sz="2800" b="0" i="1" strike="noStrike" spc="-1" dirty="0">
                          <a:latin typeface="Cambria Math"/>
                        </a:rPr>
                        <m:t>,</m:t>
                      </m:r>
                      <m:r>
                        <a:rPr lang="es-AR" sz="2800" b="0" i="1" strike="noStrike" spc="-1" dirty="0">
                          <a:solidFill>
                            <a:srgbClr val="00B0F0"/>
                          </a:solidFill>
                          <a:latin typeface="Cambria Math"/>
                        </a:rPr>
                        <m:t>3</m:t>
                      </m:r>
                      <m:r>
                        <a:rPr lang="es-AR" sz="2800" b="0" i="1" strike="noStrike" spc="-1" dirty="0">
                          <a:latin typeface="Cambria Math"/>
                        </a:rPr>
                        <m:t>,4,5}</m:t>
                      </m:r>
                    </m:oMath>
                  </m:oMathPara>
                </a14:m>
                <a:endParaRPr lang="es-AR" sz="2800" b="0" strike="noStrike" spc="-1" dirty="0">
                  <a:latin typeface="Arial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AR" sz="2800" b="0" i="1" strike="noStrike" spc="-1" dirty="0" smtClean="0">
                          <a:latin typeface="Cambria Math"/>
                        </a:rPr>
                        <m:t>𝐵</m:t>
                      </m:r>
                      <m:r>
                        <a:rPr lang="es-AR" sz="2800" b="0" i="1" strike="noStrike" spc="-1" dirty="0" smtClean="0">
                          <a:latin typeface="Cambria Math"/>
                        </a:rPr>
                        <m:t> = {</m:t>
                      </m:r>
                      <m:r>
                        <a:rPr lang="es-AR" sz="2800" b="1" i="1" strike="noStrike" spc="-1" dirty="0">
                          <a:solidFill>
                            <a:srgbClr val="FF0000"/>
                          </a:solidFill>
                          <a:latin typeface="Cambria Math"/>
                        </a:rPr>
                        <m:t>𝟏</m:t>
                      </m:r>
                      <m:r>
                        <a:rPr lang="es-AR" sz="2800" b="0" i="1" strike="noStrike" spc="-1" dirty="0">
                          <a:latin typeface="Cambria Math"/>
                        </a:rPr>
                        <m:t>,</m:t>
                      </m:r>
                      <m:r>
                        <a:rPr lang="es-AR" sz="2800" b="0" i="1" strike="noStrike" spc="-1" dirty="0">
                          <a:solidFill>
                            <a:srgbClr val="00B0F0"/>
                          </a:solidFill>
                          <a:latin typeface="Cambria Math"/>
                        </a:rPr>
                        <m:t>3</m:t>
                      </m:r>
                      <m:r>
                        <a:rPr lang="es-AR" sz="2800" b="0" i="1" strike="noStrike" spc="-1" dirty="0">
                          <a:latin typeface="Cambria Math"/>
                        </a:rPr>
                        <m:t>,7,</m:t>
                      </m:r>
                      <m:r>
                        <a:rPr lang="es-AR" sz="2800" b="0" i="1" strike="noStrike" spc="-1" dirty="0">
                          <a:solidFill>
                            <a:schemeClr val="tx2"/>
                          </a:solidFill>
                          <a:latin typeface="Cambria Math"/>
                        </a:rPr>
                        <m:t>10</m:t>
                      </m:r>
                      <m:r>
                        <a:rPr lang="es-AR" sz="2800" b="0" i="1" strike="noStrike" spc="-1" dirty="0">
                          <a:latin typeface="Cambria Math"/>
                        </a:rPr>
                        <m:t>,11}</m:t>
                      </m:r>
                    </m:oMath>
                  </m:oMathPara>
                </a14:m>
                <a:endParaRPr lang="es-AR" sz="2800" b="0" strike="noStrike" spc="-1" dirty="0">
                  <a:latin typeface="Arial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AR" sz="2800" b="0" i="1" strike="noStrike" spc="-1" dirty="0" smtClean="0">
                          <a:latin typeface="Cambria Math"/>
                        </a:rPr>
                        <m:t>𝐶</m:t>
                      </m:r>
                      <m:r>
                        <a:rPr lang="es-AR" sz="2800" b="0" i="1" strike="noStrike" spc="-1" dirty="0" smtClean="0">
                          <a:latin typeface="Cambria Math"/>
                        </a:rPr>
                        <m:t> = {</m:t>
                      </m:r>
                      <m:r>
                        <a:rPr lang="es-AR" sz="2800" b="1" i="1" strike="noStrike" spc="-1" dirty="0">
                          <a:solidFill>
                            <a:srgbClr val="FF0000"/>
                          </a:solidFill>
                          <a:latin typeface="Cambria Math"/>
                        </a:rPr>
                        <m:t>𝟏</m:t>
                      </m:r>
                      <m:r>
                        <a:rPr lang="es-AR" sz="2800" b="0" i="1" strike="noStrike" spc="-1" dirty="0">
                          <a:latin typeface="Cambria Math"/>
                        </a:rPr>
                        <m:t>,</m:t>
                      </m:r>
                      <m:r>
                        <a:rPr lang="es-AR" sz="2800" b="0" i="1" strike="noStrike" spc="-1" dirty="0">
                          <a:solidFill>
                            <a:srgbClr val="00B050"/>
                          </a:solidFill>
                          <a:latin typeface="Cambria Math"/>
                        </a:rPr>
                        <m:t>2</m:t>
                      </m:r>
                      <m:r>
                        <a:rPr lang="es-AR" sz="2800" b="0" i="1" strike="noStrike" spc="-1" dirty="0">
                          <a:latin typeface="Cambria Math"/>
                        </a:rPr>
                        <m:t>,6,8,9,</m:t>
                      </m:r>
                      <m:r>
                        <a:rPr lang="es-AR" sz="2800" b="0" i="1" strike="noStrike" spc="-1" dirty="0">
                          <a:solidFill>
                            <a:schemeClr val="tx2"/>
                          </a:solidFill>
                          <a:latin typeface="Cambria Math"/>
                        </a:rPr>
                        <m:t>10</m:t>
                      </m:r>
                      <m:r>
                        <a:rPr lang="es-AR" sz="2800" b="0" i="1" strike="noStrike" spc="-1" dirty="0">
                          <a:latin typeface="Cambria Math"/>
                        </a:rPr>
                        <m:t>}</m:t>
                      </m:r>
                    </m:oMath>
                  </m:oMathPara>
                </a14:m>
                <a:endParaRPr lang="es-AR" sz="2800" b="0" strike="noStrike" spc="-1" dirty="0">
                  <a:latin typeface="Arial"/>
                </a:endParaRPr>
              </a:p>
              <a:p>
                <a:endParaRPr lang="es-AR" sz="1800" b="0" strike="noStrike" spc="-1" dirty="0">
                  <a:latin typeface="Arial"/>
                </a:endParaRPr>
              </a:p>
            </p:txBody>
          </p:sp>
        </mc:Choice>
        <mc:Fallback xmlns="">
          <p:sp>
            <p:nvSpPr>
              <p:cNvPr id="169" name="TextShape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78272" y="1633519"/>
                <a:ext cx="3339984" cy="1863219"/>
              </a:xfrm>
              <a:prstGeom prst="rect">
                <a:avLst/>
              </a:prstGeom>
              <a:blipFill rotWithShape="1">
                <a:blip r:embed="rId3"/>
                <a:stretch>
                  <a:fillRect l="-1642" t="-1634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" name="4 Grupo"/>
          <p:cNvGrpSpPr/>
          <p:nvPr/>
        </p:nvGrpSpPr>
        <p:grpSpPr>
          <a:xfrm>
            <a:off x="584051" y="3646246"/>
            <a:ext cx="3267869" cy="2737632"/>
            <a:chOff x="584051" y="3646246"/>
            <a:chExt cx="3267869" cy="2737632"/>
          </a:xfrm>
        </p:grpSpPr>
        <p:sp>
          <p:nvSpPr>
            <p:cNvPr id="166" name="CustomShape 4"/>
            <p:cNvSpPr/>
            <p:nvPr/>
          </p:nvSpPr>
          <p:spPr>
            <a:xfrm>
              <a:off x="971600" y="3646246"/>
              <a:ext cx="2880320" cy="2737632"/>
            </a:xfrm>
            <a:prstGeom prst="ellipse">
              <a:avLst/>
            </a:prstGeom>
            <a:noFill/>
            <a:ln w="28575">
              <a:solidFill>
                <a:schemeClr val="tx2"/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171" name="TextShape 9"/>
            <p:cNvSpPr txBox="1"/>
            <p:nvPr/>
          </p:nvSpPr>
          <p:spPr>
            <a:xfrm>
              <a:off x="584051" y="5301208"/>
              <a:ext cx="345240" cy="602280"/>
            </a:xfrm>
            <a:prstGeom prst="rect">
              <a:avLst/>
            </a:prstGeom>
            <a:noFill/>
            <a:ln>
              <a:noFill/>
            </a:ln>
          </p:spPr>
          <p:txBody>
            <a:bodyPr lIns="90000" tIns="45000" rIns="90000" bIns="45000"/>
            <a:lstStyle/>
            <a:p>
              <a:r>
                <a:rPr lang="es-AR" sz="2400" b="1" i="1" strike="noStrike" spc="-1" dirty="0">
                  <a:latin typeface="Arial"/>
                </a:rPr>
                <a:t>C</a:t>
              </a:r>
            </a:p>
            <a:p>
              <a:endParaRPr lang="es-AR" sz="2400" b="1" i="1" strike="noStrike" spc="-1" dirty="0">
                <a:latin typeface="Arial"/>
              </a:endParaRPr>
            </a:p>
          </p:txBody>
        </p:sp>
        <p:sp>
          <p:nvSpPr>
            <p:cNvPr id="174" name="TextShape 12"/>
            <p:cNvSpPr txBox="1"/>
            <p:nvPr/>
          </p:nvSpPr>
          <p:spPr>
            <a:xfrm>
              <a:off x="2030345" y="5340060"/>
              <a:ext cx="1187280" cy="825244"/>
            </a:xfrm>
            <a:prstGeom prst="rect">
              <a:avLst/>
            </a:prstGeom>
            <a:noFill/>
            <a:ln>
              <a:noFill/>
            </a:ln>
          </p:spPr>
          <p:txBody>
            <a:bodyPr lIns="90000" tIns="45000" rIns="90000" bIns="45000"/>
            <a:lstStyle/>
            <a:p>
              <a:r>
                <a:rPr lang="es-AR" sz="2800" b="1" strike="noStrike" spc="-1" dirty="0">
                  <a:latin typeface="Arial"/>
                </a:rPr>
                <a:t>6</a:t>
              </a:r>
            </a:p>
            <a:p>
              <a:r>
                <a:rPr lang="es-AR" sz="2800" b="1" strike="noStrike" spc="-1" dirty="0">
                  <a:latin typeface="Arial"/>
                </a:rPr>
                <a:t>  8    9</a:t>
              </a:r>
            </a:p>
          </p:txBody>
        </p:sp>
      </p:grpSp>
      <p:grpSp>
        <p:nvGrpSpPr>
          <p:cNvPr id="4" name="3 Grupo"/>
          <p:cNvGrpSpPr/>
          <p:nvPr/>
        </p:nvGrpSpPr>
        <p:grpSpPr>
          <a:xfrm>
            <a:off x="2122735" y="2294340"/>
            <a:ext cx="2496859" cy="2834938"/>
            <a:chOff x="2122735" y="2294340"/>
            <a:chExt cx="2496859" cy="2834938"/>
          </a:xfrm>
        </p:grpSpPr>
        <p:sp>
          <p:nvSpPr>
            <p:cNvPr id="165" name="CustomShape 3"/>
            <p:cNvSpPr/>
            <p:nvPr/>
          </p:nvSpPr>
          <p:spPr>
            <a:xfrm>
              <a:off x="2122735" y="2433298"/>
              <a:ext cx="2496859" cy="2695980"/>
            </a:xfrm>
            <a:prstGeom prst="ellipse">
              <a:avLst/>
            </a:prstGeom>
            <a:noFill/>
            <a:ln w="28575">
              <a:solidFill>
                <a:schemeClr val="tx2"/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168" name="TextShape 6"/>
            <p:cNvSpPr txBox="1"/>
            <p:nvPr/>
          </p:nvSpPr>
          <p:spPr>
            <a:xfrm>
              <a:off x="4085855" y="2294340"/>
              <a:ext cx="333000" cy="602280"/>
            </a:xfrm>
            <a:prstGeom prst="rect">
              <a:avLst/>
            </a:prstGeom>
            <a:noFill/>
            <a:ln>
              <a:noFill/>
            </a:ln>
          </p:spPr>
          <p:txBody>
            <a:bodyPr lIns="90000" tIns="45000" rIns="90000" bIns="45000"/>
            <a:lstStyle/>
            <a:p>
              <a:r>
                <a:rPr lang="es-AR" sz="2400" b="1" i="1" strike="noStrike" spc="-1" dirty="0">
                  <a:latin typeface="Arial"/>
                </a:rPr>
                <a:t>B</a:t>
              </a:r>
            </a:p>
            <a:p>
              <a:endParaRPr lang="es-AR" sz="2400" b="1" i="1" strike="noStrike" spc="-1" dirty="0">
                <a:latin typeface="Arial"/>
              </a:endParaRPr>
            </a:p>
          </p:txBody>
        </p:sp>
        <p:sp>
          <p:nvSpPr>
            <p:cNvPr id="173" name="TextShape 11"/>
            <p:cNvSpPr txBox="1"/>
            <p:nvPr/>
          </p:nvSpPr>
          <p:spPr>
            <a:xfrm>
              <a:off x="3496715" y="3017880"/>
              <a:ext cx="755640" cy="1370160"/>
            </a:xfrm>
            <a:prstGeom prst="rect">
              <a:avLst/>
            </a:prstGeom>
            <a:noFill/>
            <a:ln>
              <a:noFill/>
            </a:ln>
          </p:spPr>
          <p:txBody>
            <a:bodyPr lIns="90000" tIns="45000" rIns="90000" bIns="45000"/>
            <a:lstStyle/>
            <a:p>
              <a:r>
                <a:rPr lang="es-AR" sz="2800" b="1" strike="noStrike" spc="-1" dirty="0">
                  <a:latin typeface="Arial"/>
                </a:rPr>
                <a:t>7</a:t>
              </a:r>
            </a:p>
            <a:p>
              <a:endParaRPr lang="es-AR" sz="2800" b="1" strike="noStrike" spc="-1" dirty="0">
                <a:latin typeface="Arial"/>
              </a:endParaRPr>
            </a:p>
            <a:p>
              <a:r>
                <a:rPr lang="es-AR" sz="2800" b="1" strike="noStrike" spc="-1" dirty="0">
                  <a:latin typeface="Arial"/>
                </a:rPr>
                <a:t> 11</a:t>
              </a:r>
            </a:p>
            <a:p>
              <a:r>
                <a:rPr lang="es-AR" sz="2800" b="1" strike="noStrike" spc="-1" dirty="0">
                  <a:latin typeface="Arial"/>
                </a:rPr>
                <a:t>  </a:t>
              </a:r>
            </a:p>
          </p:txBody>
        </p:sp>
        <p:sp>
          <p:nvSpPr>
            <p:cNvPr id="175" name="TextShape 13"/>
            <p:cNvSpPr txBox="1"/>
            <p:nvPr/>
          </p:nvSpPr>
          <p:spPr>
            <a:xfrm>
              <a:off x="2938534" y="4545809"/>
              <a:ext cx="769369" cy="438649"/>
            </a:xfrm>
            <a:prstGeom prst="rect">
              <a:avLst/>
            </a:prstGeom>
            <a:noFill/>
            <a:ln>
              <a:noFill/>
            </a:ln>
          </p:spPr>
          <p:txBody>
            <a:bodyPr lIns="90000" tIns="45000" rIns="90000" bIns="45000"/>
            <a:lstStyle/>
            <a:p>
              <a:r>
                <a:rPr lang="es-AR" sz="2800" b="1" strike="noStrike" spc="-1" dirty="0">
                  <a:solidFill>
                    <a:schemeClr val="tx2"/>
                  </a:solidFill>
                  <a:latin typeface="Arial"/>
                </a:rPr>
                <a:t>10</a:t>
              </a:r>
            </a:p>
          </p:txBody>
        </p:sp>
      </p:grpSp>
      <p:grpSp>
        <p:nvGrpSpPr>
          <p:cNvPr id="3" name="2 Grupo"/>
          <p:cNvGrpSpPr/>
          <p:nvPr/>
        </p:nvGrpSpPr>
        <p:grpSpPr>
          <a:xfrm>
            <a:off x="584051" y="2294340"/>
            <a:ext cx="2652472" cy="2695980"/>
            <a:chOff x="584051" y="2294340"/>
            <a:chExt cx="2652472" cy="2695980"/>
          </a:xfrm>
        </p:grpSpPr>
        <p:grpSp>
          <p:nvGrpSpPr>
            <p:cNvPr id="2" name="1 Grupo"/>
            <p:cNvGrpSpPr/>
            <p:nvPr/>
          </p:nvGrpSpPr>
          <p:grpSpPr>
            <a:xfrm>
              <a:off x="584051" y="2294340"/>
              <a:ext cx="2652472" cy="2695980"/>
              <a:chOff x="565153" y="2294340"/>
              <a:chExt cx="2652472" cy="2695980"/>
            </a:xfrm>
          </p:grpSpPr>
          <p:sp>
            <p:nvSpPr>
              <p:cNvPr id="167" name="TextShape 5"/>
              <p:cNvSpPr txBox="1"/>
              <p:nvPr/>
            </p:nvSpPr>
            <p:spPr>
              <a:xfrm>
                <a:off x="584051" y="2294340"/>
                <a:ext cx="333000" cy="6022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90000" tIns="45000" rIns="90000" bIns="45000"/>
              <a:lstStyle/>
              <a:p>
                <a:r>
                  <a:rPr lang="es-AR" sz="2400" b="1" strike="noStrike" spc="-1" dirty="0">
                    <a:solidFill>
                      <a:schemeClr val="tx2"/>
                    </a:solidFill>
                    <a:latin typeface="Arial"/>
                  </a:rPr>
                  <a:t>A</a:t>
                </a:r>
              </a:p>
              <a:p>
                <a:endParaRPr lang="es-AR" sz="2400" b="1" strike="noStrike" spc="-1" dirty="0">
                  <a:solidFill>
                    <a:schemeClr val="tx2"/>
                  </a:solidFill>
                  <a:latin typeface="Arial"/>
                </a:endParaRPr>
              </a:p>
            </p:txBody>
          </p:sp>
          <p:sp>
            <p:nvSpPr>
              <p:cNvPr id="170" name="CustomShape 8"/>
              <p:cNvSpPr/>
              <p:nvPr/>
            </p:nvSpPr>
            <p:spPr>
              <a:xfrm>
                <a:off x="565153" y="2294340"/>
                <a:ext cx="2652472" cy="2695980"/>
              </a:xfrm>
              <a:prstGeom prst="ellipse">
                <a:avLst/>
              </a:prstGeom>
              <a:noFill/>
              <a:ln w="28575">
                <a:solidFill>
                  <a:srgbClr val="3465A4"/>
                </a:solidFill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</p:sp>
        </p:grpSp>
        <p:sp>
          <p:nvSpPr>
            <p:cNvPr id="172" name="TextShape 10"/>
            <p:cNvSpPr txBox="1"/>
            <p:nvPr/>
          </p:nvSpPr>
          <p:spPr>
            <a:xfrm>
              <a:off x="982523" y="2723582"/>
              <a:ext cx="755640" cy="1370160"/>
            </a:xfrm>
            <a:prstGeom prst="rect">
              <a:avLst/>
            </a:prstGeom>
            <a:noFill/>
            <a:ln>
              <a:noFill/>
            </a:ln>
          </p:spPr>
          <p:txBody>
            <a:bodyPr lIns="90000" tIns="45000" rIns="90000" bIns="45000"/>
            <a:lstStyle/>
            <a:p>
              <a:endParaRPr lang="es-AR" sz="2800" b="1" strike="noStrike" spc="-1" dirty="0">
                <a:latin typeface="Arial"/>
              </a:endParaRPr>
            </a:p>
            <a:p>
              <a:r>
                <a:rPr lang="es-AR" sz="2800" b="1" strike="noStrike" spc="-1" dirty="0">
                  <a:latin typeface="Arial"/>
                </a:rPr>
                <a:t> 4</a:t>
              </a:r>
            </a:p>
            <a:p>
              <a:r>
                <a:rPr lang="es-AR" sz="2800" b="1" strike="noStrike" spc="-1" dirty="0">
                  <a:latin typeface="Arial"/>
                </a:rPr>
                <a:t>5</a:t>
              </a:r>
            </a:p>
          </p:txBody>
        </p:sp>
        <p:sp>
          <p:nvSpPr>
            <p:cNvPr id="176" name="TextShape 14"/>
            <p:cNvSpPr txBox="1"/>
            <p:nvPr/>
          </p:nvSpPr>
          <p:spPr>
            <a:xfrm>
              <a:off x="1675620" y="4424902"/>
              <a:ext cx="307080" cy="346320"/>
            </a:xfrm>
            <a:prstGeom prst="rect">
              <a:avLst/>
            </a:prstGeom>
            <a:noFill/>
            <a:ln>
              <a:noFill/>
            </a:ln>
          </p:spPr>
          <p:txBody>
            <a:bodyPr lIns="90000" tIns="45000" rIns="90000" bIns="45000"/>
            <a:lstStyle/>
            <a:p>
              <a:r>
                <a:rPr lang="es-AR" sz="2800" b="1" strike="noStrike" spc="-1">
                  <a:solidFill>
                    <a:srgbClr val="00A65D"/>
                  </a:solidFill>
                  <a:latin typeface="Arial"/>
                </a:rPr>
                <a:t>2</a:t>
              </a:r>
              <a:endParaRPr lang="es-AR" sz="2800" b="1" strike="noStrike" spc="-1">
                <a:latin typeface="Arial"/>
              </a:endParaRPr>
            </a:p>
          </p:txBody>
        </p:sp>
        <p:sp>
          <p:nvSpPr>
            <p:cNvPr id="177" name="TextShape 15"/>
            <p:cNvSpPr txBox="1"/>
            <p:nvPr/>
          </p:nvSpPr>
          <p:spPr>
            <a:xfrm>
              <a:off x="2432977" y="3114957"/>
              <a:ext cx="307080" cy="381781"/>
            </a:xfrm>
            <a:prstGeom prst="rect">
              <a:avLst/>
            </a:prstGeom>
            <a:noFill/>
            <a:ln>
              <a:noFill/>
            </a:ln>
          </p:spPr>
          <p:txBody>
            <a:bodyPr lIns="90000" tIns="45000" rIns="90000" bIns="45000"/>
            <a:lstStyle/>
            <a:p>
              <a:r>
                <a:rPr lang="es-AR" sz="2800" b="1" strike="noStrike" spc="-1" dirty="0">
                  <a:solidFill>
                    <a:srgbClr val="00B0F0"/>
                  </a:solidFill>
                  <a:latin typeface="Arial"/>
                </a:rPr>
                <a:t>3</a:t>
              </a:r>
            </a:p>
          </p:txBody>
        </p:sp>
        <p:sp>
          <p:nvSpPr>
            <p:cNvPr id="178" name="TextShape 16"/>
            <p:cNvSpPr txBox="1"/>
            <p:nvPr/>
          </p:nvSpPr>
          <p:spPr>
            <a:xfrm>
              <a:off x="2551214" y="3878519"/>
              <a:ext cx="307080" cy="346320"/>
            </a:xfrm>
            <a:prstGeom prst="rect">
              <a:avLst/>
            </a:prstGeom>
            <a:noFill/>
            <a:ln>
              <a:noFill/>
            </a:ln>
          </p:spPr>
          <p:txBody>
            <a:bodyPr lIns="90000" tIns="45000" rIns="90000" bIns="45000"/>
            <a:lstStyle/>
            <a:p>
              <a:r>
                <a:rPr lang="es-AR" sz="2800" b="1" strike="noStrike" spc="-1" dirty="0">
                  <a:solidFill>
                    <a:srgbClr val="FF0000"/>
                  </a:solidFill>
                  <a:latin typeface="Arial"/>
                </a:rPr>
                <a:t>1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6 Rectángulo"/>
              <p:cNvSpPr/>
              <p:nvPr/>
            </p:nvSpPr>
            <p:spPr>
              <a:xfrm>
                <a:off x="7020272" y="4027130"/>
                <a:ext cx="1299074" cy="55399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AR" sz="3000" b="1" i="1" spc="-1" dirty="0">
                          <a:solidFill>
                            <a:srgbClr val="FF0000"/>
                          </a:solidFill>
                          <a:latin typeface="Cambria Math"/>
                        </a:rPr>
                        <m:t>= {</m:t>
                      </m:r>
                      <m:r>
                        <a:rPr lang="es-AR" sz="3000" b="1" i="1" spc="-1" dirty="0">
                          <a:solidFill>
                            <a:srgbClr val="FF0000"/>
                          </a:solidFill>
                          <a:latin typeface="Cambria Math"/>
                        </a:rPr>
                        <m:t>𝟏</m:t>
                      </m:r>
                      <m:r>
                        <a:rPr lang="es-AR" sz="3000" b="1" i="1" spc="-1" dirty="0">
                          <a:solidFill>
                            <a:srgbClr val="FF0000"/>
                          </a:solidFill>
                          <a:latin typeface="Cambria Math"/>
                        </a:rPr>
                        <m:t>}</m:t>
                      </m:r>
                    </m:oMath>
                  </m:oMathPara>
                </a14:m>
                <a:endParaRPr lang="es-AR" sz="3000" b="1" i="1" spc="-1" dirty="0">
                  <a:solidFill>
                    <a:srgbClr val="FF0000"/>
                  </a:solidFill>
                  <a:latin typeface="Arial"/>
                </a:endParaRPr>
              </a:p>
            </p:txBody>
          </p:sp>
        </mc:Choice>
        <mc:Fallback xmlns="">
          <p:sp>
            <p:nvSpPr>
              <p:cNvPr id="7" name="6 Rectángulo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20272" y="4027130"/>
                <a:ext cx="1299074" cy="553998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7 Rectángulo"/>
          <p:cNvSpPr/>
          <p:nvPr/>
        </p:nvSpPr>
        <p:spPr>
          <a:xfrm>
            <a:off x="4442070" y="5266125"/>
            <a:ext cx="4572000" cy="369332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s-AR" b="1" i="1" spc="-1" dirty="0">
                <a:solidFill>
                  <a:schemeClr val="tx2"/>
                </a:solidFill>
                <a:latin typeface="Arial"/>
              </a:rPr>
              <a:t>¿Cómo es la unión entre A, B y C?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8 Rectángulo"/>
              <p:cNvSpPr/>
              <p:nvPr/>
            </p:nvSpPr>
            <p:spPr>
              <a:xfrm>
                <a:off x="4955009" y="4057908"/>
                <a:ext cx="1403013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AR" sz="2800" b="1" i="1" spc="-1" dirty="0">
                          <a:solidFill>
                            <a:srgbClr val="FF0000"/>
                          </a:solidFill>
                          <a:latin typeface="Cambria Math"/>
                        </a:rPr>
                        <m:t>𝑨</m:t>
                      </m:r>
                      <m:r>
                        <a:rPr lang="es-AR" sz="2800" b="1" i="1" spc="-1" dirty="0">
                          <a:solidFill>
                            <a:srgbClr val="FF0000"/>
                          </a:solidFill>
                          <a:latin typeface="Cambria Math"/>
                        </a:rPr>
                        <m:t> ∩ </m:t>
                      </m:r>
                      <m:r>
                        <a:rPr lang="es-AR" sz="2800" b="1" i="1" spc="-1" dirty="0">
                          <a:solidFill>
                            <a:srgbClr val="FF0000"/>
                          </a:solidFill>
                          <a:latin typeface="Cambria Math"/>
                        </a:rPr>
                        <m:t>𝑩</m:t>
                      </m:r>
                      <m:r>
                        <a:rPr lang="es-AR" sz="2800" b="1" i="1" spc="-1" dirty="0">
                          <a:solidFill>
                            <a:srgbClr val="FF0000"/>
                          </a:solidFill>
                          <a:latin typeface="Cambria Math"/>
                        </a:rPr>
                        <m:t> </m:t>
                      </m:r>
                    </m:oMath>
                  </m:oMathPara>
                </a14:m>
                <a:endParaRPr lang="es-AR" sz="2800" dirty="0"/>
              </a:p>
            </p:txBody>
          </p:sp>
        </mc:Choice>
        <mc:Fallback xmlns="">
          <p:sp>
            <p:nvSpPr>
              <p:cNvPr id="9" name="8 Rectángulo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55009" y="4057908"/>
                <a:ext cx="1403013" cy="523220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9 Rectángulo"/>
              <p:cNvSpPr/>
              <p:nvPr/>
            </p:nvSpPr>
            <p:spPr>
              <a:xfrm>
                <a:off x="6179145" y="4028207"/>
                <a:ext cx="913135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AR" sz="2800" b="1" i="1" spc="-1" dirty="0">
                          <a:solidFill>
                            <a:srgbClr val="FF0000"/>
                          </a:solidFill>
                          <a:latin typeface="Cambria Math"/>
                        </a:rPr>
                        <m:t>∩ </m:t>
                      </m:r>
                      <m:r>
                        <a:rPr lang="es-AR" sz="2800" b="1" i="1" spc="-1" dirty="0">
                          <a:solidFill>
                            <a:srgbClr val="FF0000"/>
                          </a:solidFill>
                          <a:latin typeface="Cambria Math"/>
                        </a:rPr>
                        <m:t>𝑪</m:t>
                      </m:r>
                    </m:oMath>
                  </m:oMathPara>
                </a14:m>
                <a:endParaRPr lang="es-AR" sz="2800" b="1" i="1" spc="-1" dirty="0">
                  <a:solidFill>
                    <a:srgbClr val="FF0000"/>
                  </a:solidFill>
                  <a:latin typeface="Arial"/>
                </a:endParaRPr>
              </a:p>
            </p:txBody>
          </p:sp>
        </mc:Choice>
        <mc:Fallback xmlns="">
          <p:sp>
            <p:nvSpPr>
              <p:cNvPr id="10" name="9 Rectángulo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79145" y="4028207"/>
                <a:ext cx="913135" cy="523220"/>
              </a:xfrm>
              <a:prstGeom prst="rect">
                <a:avLst/>
              </a:prstGeom>
              <a:blipFill rotWithShape="1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702376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9" grpId="0"/>
      <p:bldP spid="7" grpId="0"/>
      <p:bldP spid="8" grpId="0"/>
      <p:bldP spid="9" grpId="0"/>
      <p:bldP spid="10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TextShape 2"/>
          <p:cNvSpPr txBox="1"/>
          <p:nvPr/>
        </p:nvSpPr>
        <p:spPr>
          <a:xfrm>
            <a:off x="239141" y="1340768"/>
            <a:ext cx="8229240" cy="78971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AR" sz="3200" b="0" strike="noStrike" spc="-1">
                <a:solidFill>
                  <a:srgbClr val="000000"/>
                </a:solidFill>
                <a:latin typeface="Calibri"/>
              </a:rPr>
              <a:t>Diagrama de Venn</a:t>
            </a:r>
          </a:p>
        </p:txBody>
      </p:sp>
      <p:pic>
        <p:nvPicPr>
          <p:cNvPr id="164" name="6 Imagen"/>
          <p:cNvPicPr/>
          <p:nvPr/>
        </p:nvPicPr>
        <p:blipFill>
          <a:blip r:embed="rId2"/>
          <a:stretch/>
        </p:blipFill>
        <p:spPr>
          <a:xfrm>
            <a:off x="360" y="360"/>
            <a:ext cx="9143640" cy="1075320"/>
          </a:xfrm>
          <a:prstGeom prst="rect">
            <a:avLst/>
          </a:prstGeom>
          <a:ln>
            <a:noFill/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69" name="TextShape 7"/>
              <p:cNvSpPr txBox="1"/>
              <p:nvPr/>
            </p:nvSpPr>
            <p:spPr>
              <a:xfrm>
                <a:off x="5278272" y="1633519"/>
                <a:ext cx="3339984" cy="186321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90000" tIns="45000" rIns="90000" bIns="45000"/>
              <a:lstStyle/>
              <a:p>
                <a:r>
                  <a:rPr lang="es-AR" sz="1800" b="0" strike="noStrike" spc="-1" dirty="0">
                    <a:latin typeface="Arial"/>
                  </a:rPr>
                  <a:t>Sean los conjuntos: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AR" sz="2800" b="0" i="1" strike="noStrike" spc="-1" dirty="0" smtClean="0">
                          <a:latin typeface="Cambria Math"/>
                        </a:rPr>
                        <m:t>𝐴</m:t>
                      </m:r>
                      <m:r>
                        <a:rPr lang="es-AR" sz="2800" b="0" i="1" strike="noStrike" spc="-1" dirty="0" smtClean="0">
                          <a:latin typeface="Cambria Math"/>
                        </a:rPr>
                        <m:t> = {2,3,4,5}</m:t>
                      </m:r>
                    </m:oMath>
                  </m:oMathPara>
                </a14:m>
                <a:endParaRPr lang="es-AR" sz="2800" b="0" strike="noStrike" spc="-1" dirty="0">
                  <a:latin typeface="Arial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AR" sz="2800" b="0" i="1" strike="noStrike" spc="-1" dirty="0" smtClean="0">
                          <a:latin typeface="Cambria Math"/>
                        </a:rPr>
                        <m:t>𝐵</m:t>
                      </m:r>
                      <m:r>
                        <a:rPr lang="es-AR" sz="2800" b="0" i="1" strike="noStrike" spc="-1" dirty="0" smtClean="0">
                          <a:latin typeface="Cambria Math"/>
                        </a:rPr>
                        <m:t> = {3,7,10,11}</m:t>
                      </m:r>
                    </m:oMath>
                  </m:oMathPara>
                </a14:m>
                <a:endParaRPr lang="es-AR" sz="2800" b="0" strike="noStrike" spc="-1" dirty="0">
                  <a:latin typeface="Arial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AR" sz="2800" b="0" i="1" strike="noStrike" spc="-1" dirty="0" smtClean="0">
                          <a:latin typeface="Cambria Math"/>
                        </a:rPr>
                        <m:t>𝐶</m:t>
                      </m:r>
                      <m:r>
                        <a:rPr lang="es-AR" sz="2800" b="0" i="1" strike="noStrike" spc="-1" dirty="0" smtClean="0">
                          <a:latin typeface="Cambria Math"/>
                        </a:rPr>
                        <m:t> = {2,6,8,9,10}</m:t>
                      </m:r>
                    </m:oMath>
                  </m:oMathPara>
                </a14:m>
                <a:endParaRPr lang="es-AR" sz="2800" b="0" strike="noStrike" spc="-1" dirty="0">
                  <a:latin typeface="Arial"/>
                </a:endParaRPr>
              </a:p>
              <a:p>
                <a:endParaRPr lang="es-AR" sz="1800" b="0" strike="noStrike" spc="-1" dirty="0">
                  <a:latin typeface="Arial"/>
                </a:endParaRPr>
              </a:p>
            </p:txBody>
          </p:sp>
        </mc:Choice>
        <mc:Fallback xmlns="">
          <p:sp>
            <p:nvSpPr>
              <p:cNvPr id="169" name="TextShape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78272" y="1633519"/>
                <a:ext cx="3339984" cy="1863219"/>
              </a:xfrm>
              <a:prstGeom prst="rect">
                <a:avLst/>
              </a:prstGeom>
              <a:blipFill>
                <a:blip r:embed="rId3"/>
                <a:stretch>
                  <a:fillRect l="-1515" t="-1361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" name="4 Grupo"/>
          <p:cNvGrpSpPr/>
          <p:nvPr/>
        </p:nvGrpSpPr>
        <p:grpSpPr>
          <a:xfrm>
            <a:off x="584051" y="3646246"/>
            <a:ext cx="3267869" cy="2737632"/>
            <a:chOff x="584051" y="3646246"/>
            <a:chExt cx="3267869" cy="2737632"/>
          </a:xfrm>
        </p:grpSpPr>
        <p:sp>
          <p:nvSpPr>
            <p:cNvPr id="166" name="CustomShape 4"/>
            <p:cNvSpPr/>
            <p:nvPr/>
          </p:nvSpPr>
          <p:spPr>
            <a:xfrm>
              <a:off x="971600" y="3646246"/>
              <a:ext cx="2880320" cy="2737632"/>
            </a:xfrm>
            <a:prstGeom prst="ellipse">
              <a:avLst/>
            </a:prstGeom>
            <a:noFill/>
            <a:ln w="28575">
              <a:solidFill>
                <a:schemeClr val="tx2"/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171" name="TextShape 9"/>
            <p:cNvSpPr txBox="1"/>
            <p:nvPr/>
          </p:nvSpPr>
          <p:spPr>
            <a:xfrm>
              <a:off x="584051" y="5301208"/>
              <a:ext cx="345240" cy="602280"/>
            </a:xfrm>
            <a:prstGeom prst="rect">
              <a:avLst/>
            </a:prstGeom>
            <a:noFill/>
            <a:ln>
              <a:noFill/>
            </a:ln>
          </p:spPr>
          <p:txBody>
            <a:bodyPr lIns="90000" tIns="45000" rIns="90000" bIns="45000"/>
            <a:lstStyle/>
            <a:p>
              <a:r>
                <a:rPr lang="es-AR" sz="2400" b="1" i="1" strike="noStrike" spc="-1" dirty="0">
                  <a:latin typeface="Arial"/>
                </a:rPr>
                <a:t>C</a:t>
              </a:r>
            </a:p>
            <a:p>
              <a:endParaRPr lang="es-AR" sz="2400" b="1" i="1" strike="noStrike" spc="-1" dirty="0">
                <a:latin typeface="Arial"/>
              </a:endParaRPr>
            </a:p>
          </p:txBody>
        </p:sp>
        <p:sp>
          <p:nvSpPr>
            <p:cNvPr id="174" name="TextShape 12"/>
            <p:cNvSpPr txBox="1"/>
            <p:nvPr/>
          </p:nvSpPr>
          <p:spPr>
            <a:xfrm>
              <a:off x="2030345" y="5340060"/>
              <a:ext cx="1187280" cy="825244"/>
            </a:xfrm>
            <a:prstGeom prst="rect">
              <a:avLst/>
            </a:prstGeom>
            <a:noFill/>
            <a:ln>
              <a:noFill/>
            </a:ln>
          </p:spPr>
          <p:txBody>
            <a:bodyPr lIns="90000" tIns="45000" rIns="90000" bIns="45000"/>
            <a:lstStyle/>
            <a:p>
              <a:r>
                <a:rPr lang="es-AR" sz="2800" b="1" strike="noStrike" spc="-1" dirty="0">
                  <a:latin typeface="Arial"/>
                </a:rPr>
                <a:t>6</a:t>
              </a:r>
            </a:p>
            <a:p>
              <a:r>
                <a:rPr lang="es-AR" sz="2800" b="1" strike="noStrike" spc="-1" dirty="0">
                  <a:latin typeface="Arial"/>
                </a:rPr>
                <a:t>  8    9</a:t>
              </a:r>
            </a:p>
          </p:txBody>
        </p:sp>
      </p:grpSp>
      <p:grpSp>
        <p:nvGrpSpPr>
          <p:cNvPr id="4" name="3 Grupo"/>
          <p:cNvGrpSpPr/>
          <p:nvPr/>
        </p:nvGrpSpPr>
        <p:grpSpPr>
          <a:xfrm>
            <a:off x="2122735" y="2294340"/>
            <a:ext cx="2496859" cy="2834938"/>
            <a:chOff x="2122735" y="2294340"/>
            <a:chExt cx="2496859" cy="2834938"/>
          </a:xfrm>
        </p:grpSpPr>
        <p:sp>
          <p:nvSpPr>
            <p:cNvPr id="165" name="CustomShape 3"/>
            <p:cNvSpPr/>
            <p:nvPr/>
          </p:nvSpPr>
          <p:spPr>
            <a:xfrm>
              <a:off x="2122735" y="2433298"/>
              <a:ext cx="2496859" cy="2695980"/>
            </a:xfrm>
            <a:prstGeom prst="ellipse">
              <a:avLst/>
            </a:prstGeom>
            <a:noFill/>
            <a:ln w="28575">
              <a:solidFill>
                <a:schemeClr val="tx2"/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168" name="TextShape 6"/>
            <p:cNvSpPr txBox="1"/>
            <p:nvPr/>
          </p:nvSpPr>
          <p:spPr>
            <a:xfrm>
              <a:off x="4085855" y="2294340"/>
              <a:ext cx="333000" cy="602280"/>
            </a:xfrm>
            <a:prstGeom prst="rect">
              <a:avLst/>
            </a:prstGeom>
            <a:noFill/>
            <a:ln>
              <a:noFill/>
            </a:ln>
          </p:spPr>
          <p:txBody>
            <a:bodyPr lIns="90000" tIns="45000" rIns="90000" bIns="45000"/>
            <a:lstStyle/>
            <a:p>
              <a:r>
                <a:rPr lang="es-AR" sz="2400" b="1" i="1" strike="noStrike" spc="-1" dirty="0">
                  <a:latin typeface="Arial"/>
                </a:rPr>
                <a:t>B</a:t>
              </a:r>
            </a:p>
            <a:p>
              <a:endParaRPr lang="es-AR" sz="2400" b="1" i="1" strike="noStrike" spc="-1" dirty="0">
                <a:latin typeface="Arial"/>
              </a:endParaRPr>
            </a:p>
          </p:txBody>
        </p:sp>
        <p:sp>
          <p:nvSpPr>
            <p:cNvPr id="173" name="TextShape 11"/>
            <p:cNvSpPr txBox="1"/>
            <p:nvPr/>
          </p:nvSpPr>
          <p:spPr>
            <a:xfrm>
              <a:off x="3496715" y="3017880"/>
              <a:ext cx="755640" cy="1370160"/>
            </a:xfrm>
            <a:prstGeom prst="rect">
              <a:avLst/>
            </a:prstGeom>
            <a:noFill/>
            <a:ln>
              <a:noFill/>
            </a:ln>
          </p:spPr>
          <p:txBody>
            <a:bodyPr lIns="90000" tIns="45000" rIns="90000" bIns="45000"/>
            <a:lstStyle/>
            <a:p>
              <a:r>
                <a:rPr lang="es-AR" sz="2800" b="1" strike="noStrike" spc="-1" dirty="0">
                  <a:latin typeface="Arial"/>
                </a:rPr>
                <a:t>7</a:t>
              </a:r>
            </a:p>
            <a:p>
              <a:endParaRPr lang="es-AR" sz="2800" b="1" strike="noStrike" spc="-1" dirty="0">
                <a:latin typeface="Arial"/>
              </a:endParaRPr>
            </a:p>
            <a:p>
              <a:r>
                <a:rPr lang="es-AR" sz="2800" b="1" strike="noStrike" spc="-1" dirty="0">
                  <a:latin typeface="Arial"/>
                </a:rPr>
                <a:t> 11</a:t>
              </a:r>
            </a:p>
            <a:p>
              <a:r>
                <a:rPr lang="es-AR" sz="2800" b="1" strike="noStrike" spc="-1" dirty="0">
                  <a:latin typeface="Arial"/>
                </a:rPr>
                <a:t>  </a:t>
              </a:r>
            </a:p>
          </p:txBody>
        </p:sp>
        <p:sp>
          <p:nvSpPr>
            <p:cNvPr id="175" name="TextShape 13"/>
            <p:cNvSpPr txBox="1"/>
            <p:nvPr/>
          </p:nvSpPr>
          <p:spPr>
            <a:xfrm>
              <a:off x="2938534" y="4545809"/>
              <a:ext cx="769369" cy="438649"/>
            </a:xfrm>
            <a:prstGeom prst="rect">
              <a:avLst/>
            </a:prstGeom>
            <a:noFill/>
            <a:ln>
              <a:noFill/>
            </a:ln>
          </p:spPr>
          <p:txBody>
            <a:bodyPr lIns="90000" tIns="45000" rIns="90000" bIns="45000"/>
            <a:lstStyle/>
            <a:p>
              <a:r>
                <a:rPr lang="es-AR" sz="2800" b="1" strike="noStrike" spc="-1" dirty="0">
                  <a:solidFill>
                    <a:schemeClr val="tx2"/>
                  </a:solidFill>
                  <a:latin typeface="Arial"/>
                </a:rPr>
                <a:t>10</a:t>
              </a:r>
            </a:p>
          </p:txBody>
        </p:sp>
      </p:grpSp>
      <p:grpSp>
        <p:nvGrpSpPr>
          <p:cNvPr id="3" name="2 Grupo"/>
          <p:cNvGrpSpPr/>
          <p:nvPr/>
        </p:nvGrpSpPr>
        <p:grpSpPr>
          <a:xfrm>
            <a:off x="584051" y="2294340"/>
            <a:ext cx="2652472" cy="2695980"/>
            <a:chOff x="584051" y="2294340"/>
            <a:chExt cx="2652472" cy="2695980"/>
          </a:xfrm>
        </p:grpSpPr>
        <p:grpSp>
          <p:nvGrpSpPr>
            <p:cNvPr id="2" name="1 Grupo"/>
            <p:cNvGrpSpPr/>
            <p:nvPr/>
          </p:nvGrpSpPr>
          <p:grpSpPr>
            <a:xfrm>
              <a:off x="584051" y="2294340"/>
              <a:ext cx="2652472" cy="2695980"/>
              <a:chOff x="565153" y="2294340"/>
              <a:chExt cx="2652472" cy="2695980"/>
            </a:xfrm>
          </p:grpSpPr>
          <p:sp>
            <p:nvSpPr>
              <p:cNvPr id="167" name="TextShape 5"/>
              <p:cNvSpPr txBox="1"/>
              <p:nvPr/>
            </p:nvSpPr>
            <p:spPr>
              <a:xfrm>
                <a:off x="584051" y="2294340"/>
                <a:ext cx="333000" cy="6022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90000" tIns="45000" rIns="90000" bIns="45000"/>
              <a:lstStyle/>
              <a:p>
                <a:r>
                  <a:rPr lang="es-AR" sz="2400" b="1" strike="noStrike" spc="-1" dirty="0">
                    <a:solidFill>
                      <a:schemeClr val="tx2"/>
                    </a:solidFill>
                    <a:latin typeface="Arial"/>
                  </a:rPr>
                  <a:t>A</a:t>
                </a:r>
              </a:p>
              <a:p>
                <a:endParaRPr lang="es-AR" sz="2400" b="1" strike="noStrike" spc="-1" dirty="0">
                  <a:solidFill>
                    <a:schemeClr val="tx2"/>
                  </a:solidFill>
                  <a:latin typeface="Arial"/>
                </a:endParaRPr>
              </a:p>
            </p:txBody>
          </p:sp>
          <p:sp>
            <p:nvSpPr>
              <p:cNvPr id="170" name="CustomShape 8"/>
              <p:cNvSpPr/>
              <p:nvPr/>
            </p:nvSpPr>
            <p:spPr>
              <a:xfrm>
                <a:off x="565153" y="2294340"/>
                <a:ext cx="2652472" cy="2695980"/>
              </a:xfrm>
              <a:prstGeom prst="ellipse">
                <a:avLst/>
              </a:prstGeom>
              <a:noFill/>
              <a:ln w="28575">
                <a:solidFill>
                  <a:srgbClr val="3465A4"/>
                </a:solidFill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</p:sp>
        </p:grpSp>
        <p:sp>
          <p:nvSpPr>
            <p:cNvPr id="172" name="TextShape 10"/>
            <p:cNvSpPr txBox="1"/>
            <p:nvPr/>
          </p:nvSpPr>
          <p:spPr>
            <a:xfrm>
              <a:off x="982523" y="2723582"/>
              <a:ext cx="755640" cy="1370160"/>
            </a:xfrm>
            <a:prstGeom prst="rect">
              <a:avLst/>
            </a:prstGeom>
            <a:noFill/>
            <a:ln>
              <a:noFill/>
            </a:ln>
          </p:spPr>
          <p:txBody>
            <a:bodyPr lIns="90000" tIns="45000" rIns="90000" bIns="45000"/>
            <a:lstStyle/>
            <a:p>
              <a:endParaRPr lang="es-AR" sz="2800" b="1" strike="noStrike" spc="-1" dirty="0">
                <a:latin typeface="Arial"/>
              </a:endParaRPr>
            </a:p>
            <a:p>
              <a:r>
                <a:rPr lang="es-AR" sz="2800" b="1" strike="noStrike" spc="-1" dirty="0">
                  <a:latin typeface="Arial"/>
                </a:rPr>
                <a:t> 4</a:t>
              </a:r>
            </a:p>
            <a:p>
              <a:r>
                <a:rPr lang="es-AR" sz="2800" b="1" strike="noStrike" spc="-1" dirty="0">
                  <a:latin typeface="Arial"/>
                </a:rPr>
                <a:t>5</a:t>
              </a:r>
            </a:p>
          </p:txBody>
        </p:sp>
        <p:sp>
          <p:nvSpPr>
            <p:cNvPr id="176" name="TextShape 14"/>
            <p:cNvSpPr txBox="1"/>
            <p:nvPr/>
          </p:nvSpPr>
          <p:spPr>
            <a:xfrm>
              <a:off x="1675620" y="4424902"/>
              <a:ext cx="307080" cy="346320"/>
            </a:xfrm>
            <a:prstGeom prst="rect">
              <a:avLst/>
            </a:prstGeom>
            <a:noFill/>
            <a:ln>
              <a:noFill/>
            </a:ln>
          </p:spPr>
          <p:txBody>
            <a:bodyPr lIns="90000" tIns="45000" rIns="90000" bIns="45000"/>
            <a:lstStyle/>
            <a:p>
              <a:r>
                <a:rPr lang="es-AR" sz="2800" b="1" strike="noStrike" spc="-1">
                  <a:solidFill>
                    <a:srgbClr val="00A65D"/>
                  </a:solidFill>
                  <a:latin typeface="Arial"/>
                </a:rPr>
                <a:t>2</a:t>
              </a:r>
              <a:endParaRPr lang="es-AR" sz="2800" b="1" strike="noStrike" spc="-1">
                <a:latin typeface="Arial"/>
              </a:endParaRPr>
            </a:p>
          </p:txBody>
        </p:sp>
        <p:sp>
          <p:nvSpPr>
            <p:cNvPr id="177" name="TextShape 15"/>
            <p:cNvSpPr txBox="1"/>
            <p:nvPr/>
          </p:nvSpPr>
          <p:spPr>
            <a:xfrm>
              <a:off x="2432977" y="3114957"/>
              <a:ext cx="307080" cy="381781"/>
            </a:xfrm>
            <a:prstGeom prst="rect">
              <a:avLst/>
            </a:prstGeom>
            <a:noFill/>
            <a:ln>
              <a:noFill/>
            </a:ln>
          </p:spPr>
          <p:txBody>
            <a:bodyPr lIns="90000" tIns="45000" rIns="90000" bIns="45000"/>
            <a:lstStyle/>
            <a:p>
              <a:r>
                <a:rPr lang="es-AR" sz="2800" b="1" strike="noStrike" spc="-1" dirty="0">
                  <a:solidFill>
                    <a:srgbClr val="00B0F0"/>
                  </a:solidFill>
                  <a:latin typeface="Arial"/>
                </a:rPr>
                <a:t>3</a:t>
              </a:r>
            </a:p>
          </p:txBody>
        </p:sp>
        <p:sp>
          <p:nvSpPr>
            <p:cNvPr id="178" name="TextShape 16"/>
            <p:cNvSpPr txBox="1"/>
            <p:nvPr/>
          </p:nvSpPr>
          <p:spPr>
            <a:xfrm>
              <a:off x="2340624" y="3859708"/>
              <a:ext cx="666411" cy="528332"/>
            </a:xfrm>
            <a:prstGeom prst="rect">
              <a:avLst/>
            </a:prstGeom>
            <a:noFill/>
            <a:ln>
              <a:noFill/>
            </a:ln>
          </p:spPr>
          <p:txBody>
            <a:bodyPr lIns="90000" tIns="45000" rIns="90000" bIns="45000"/>
            <a:lstStyle/>
            <a:p>
              <a:r>
                <a:rPr lang="es-AR" sz="2800" b="1" strike="noStrike" spc="-1" dirty="0">
                  <a:solidFill>
                    <a:srgbClr val="FF0000"/>
                  </a:solidFill>
                  <a:latin typeface="Arial"/>
                </a:rPr>
                <a:t>??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6 Rectángulo"/>
              <p:cNvSpPr/>
              <p:nvPr/>
            </p:nvSpPr>
            <p:spPr>
              <a:xfrm>
                <a:off x="7343535" y="4274210"/>
                <a:ext cx="1068369" cy="55399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AR" sz="3000" b="1" i="1" spc="-1" dirty="0">
                          <a:solidFill>
                            <a:srgbClr val="FF0000"/>
                          </a:solidFill>
                          <a:latin typeface="Cambria Math"/>
                        </a:rPr>
                        <m:t>= {}</m:t>
                      </m:r>
                    </m:oMath>
                  </m:oMathPara>
                </a14:m>
                <a:endParaRPr lang="es-AR" sz="3000" b="1" i="1" spc="-1" dirty="0">
                  <a:solidFill>
                    <a:srgbClr val="FF0000"/>
                  </a:solidFill>
                  <a:latin typeface="Arial"/>
                </a:endParaRPr>
              </a:p>
            </p:txBody>
          </p:sp>
        </mc:Choice>
        <mc:Fallback xmlns="">
          <p:sp>
            <p:nvSpPr>
              <p:cNvPr id="7" name="6 Rectángulo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43535" y="4274210"/>
                <a:ext cx="1068369" cy="553998"/>
              </a:xfrm>
              <a:prstGeom prst="rect">
                <a:avLst/>
              </a:prstGeom>
              <a:blipFill>
                <a:blip r:embed="rId4"/>
                <a:stretch>
                  <a:fillRect r="-2353" b="-2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7 Rectángulo"/>
          <p:cNvSpPr/>
          <p:nvPr/>
        </p:nvSpPr>
        <p:spPr>
          <a:xfrm>
            <a:off x="4810108" y="3789489"/>
            <a:ext cx="4572000" cy="369332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s-AR" b="1" i="1" spc="-1" dirty="0">
                <a:solidFill>
                  <a:schemeClr val="tx2"/>
                </a:solidFill>
                <a:latin typeface="Arial"/>
              </a:rPr>
              <a:t>¿Cómo es la unión entre A, B y C?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8 Rectángulo"/>
              <p:cNvSpPr/>
              <p:nvPr/>
            </p:nvSpPr>
            <p:spPr>
              <a:xfrm>
                <a:off x="5278272" y="4304988"/>
                <a:ext cx="1403013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AR" sz="2800" b="1" i="1" spc="-1" dirty="0">
                          <a:solidFill>
                            <a:srgbClr val="FF0000"/>
                          </a:solidFill>
                          <a:latin typeface="Cambria Math"/>
                        </a:rPr>
                        <m:t>𝑨</m:t>
                      </m:r>
                      <m:r>
                        <a:rPr lang="es-AR" sz="2800" b="1" i="1" spc="-1" dirty="0">
                          <a:solidFill>
                            <a:srgbClr val="FF0000"/>
                          </a:solidFill>
                          <a:latin typeface="Cambria Math"/>
                        </a:rPr>
                        <m:t> ∩ </m:t>
                      </m:r>
                      <m:r>
                        <a:rPr lang="es-AR" sz="2800" b="1" i="1" spc="-1" dirty="0">
                          <a:solidFill>
                            <a:srgbClr val="FF0000"/>
                          </a:solidFill>
                          <a:latin typeface="Cambria Math"/>
                        </a:rPr>
                        <m:t>𝑩</m:t>
                      </m:r>
                      <m:r>
                        <a:rPr lang="es-AR" sz="2800" b="1" i="1" spc="-1" dirty="0">
                          <a:solidFill>
                            <a:srgbClr val="FF0000"/>
                          </a:solidFill>
                          <a:latin typeface="Cambria Math"/>
                        </a:rPr>
                        <m:t> </m:t>
                      </m:r>
                    </m:oMath>
                  </m:oMathPara>
                </a14:m>
                <a:endParaRPr lang="es-AR" sz="2800" dirty="0"/>
              </a:p>
            </p:txBody>
          </p:sp>
        </mc:Choice>
        <mc:Fallback xmlns="">
          <p:sp>
            <p:nvSpPr>
              <p:cNvPr id="9" name="8 Rectángulo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78272" y="4304988"/>
                <a:ext cx="1403013" cy="523220"/>
              </a:xfrm>
              <a:prstGeom prst="rect">
                <a:avLst/>
              </a:prstGeom>
              <a:blipFill>
                <a:blip r:embed="rId5"/>
                <a:stretch>
                  <a:fillRect r="-2703" b="-190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9 Rectángulo"/>
              <p:cNvSpPr/>
              <p:nvPr/>
            </p:nvSpPr>
            <p:spPr>
              <a:xfrm>
                <a:off x="6502408" y="4275287"/>
                <a:ext cx="913135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AR" sz="2800" b="1" i="1" spc="-1" dirty="0">
                          <a:solidFill>
                            <a:srgbClr val="FF0000"/>
                          </a:solidFill>
                          <a:latin typeface="Cambria Math"/>
                        </a:rPr>
                        <m:t>∩ </m:t>
                      </m:r>
                      <m:r>
                        <a:rPr lang="es-AR" sz="2800" b="1" i="1" spc="-1" dirty="0">
                          <a:solidFill>
                            <a:srgbClr val="FF0000"/>
                          </a:solidFill>
                          <a:latin typeface="Cambria Math"/>
                        </a:rPr>
                        <m:t>𝑪</m:t>
                      </m:r>
                    </m:oMath>
                  </m:oMathPara>
                </a14:m>
                <a:endParaRPr lang="es-AR" sz="2800" b="1" i="1" spc="-1" dirty="0">
                  <a:solidFill>
                    <a:srgbClr val="FF0000"/>
                  </a:solidFill>
                  <a:latin typeface="Arial"/>
                </a:endParaRPr>
              </a:p>
            </p:txBody>
          </p:sp>
        </mc:Choice>
        <mc:Fallback xmlns="">
          <p:sp>
            <p:nvSpPr>
              <p:cNvPr id="10" name="9 Rectángulo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02408" y="4275287"/>
                <a:ext cx="913135" cy="523220"/>
              </a:xfrm>
              <a:prstGeom prst="rect">
                <a:avLst/>
              </a:prstGeom>
              <a:blipFill>
                <a:blip r:embed="rId6"/>
                <a:stretch>
                  <a:fillRect b="-214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A4F095E0-0766-834E-A0FB-3BB70D2D61D0}"/>
                  </a:ext>
                </a:extLst>
              </p:cNvPr>
              <p:cNvSpPr txBox="1"/>
              <p:nvPr/>
            </p:nvSpPr>
            <p:spPr>
              <a:xfrm>
                <a:off x="4910665" y="4931876"/>
                <a:ext cx="369222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 err="1"/>
                  <a:t>Alternativamente</a:t>
                </a:r>
                <a:r>
                  <a:rPr lang="en-US" dirty="0"/>
                  <a:t> </a:t>
                </a:r>
                <a:r>
                  <a:rPr lang="en-US" dirty="0" err="1"/>
                  <a:t>podemos</a:t>
                </a:r>
                <a:r>
                  <a:rPr lang="en-US" dirty="0"/>
                  <a:t> </a:t>
                </a:r>
                <a:r>
                  <a:rPr lang="en-US" dirty="0" err="1"/>
                  <a:t>escribir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∅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A4F095E0-0766-834E-A0FB-3BB70D2D61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10665" y="4931876"/>
                <a:ext cx="3692229" cy="369332"/>
              </a:xfrm>
              <a:prstGeom prst="rect">
                <a:avLst/>
              </a:prstGeom>
              <a:blipFill>
                <a:blip r:embed="rId7"/>
                <a:stretch>
                  <a:fillRect l="-1375" t="-3333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6 Rectángulo">
                <a:extLst>
                  <a:ext uri="{FF2B5EF4-FFF2-40B4-BE49-F238E27FC236}">
                    <a16:creationId xmlns:a16="http://schemas.microsoft.com/office/drawing/2014/main" id="{956BE45E-6236-EB47-93F8-AE9A304DD7A7}"/>
                  </a:ext>
                </a:extLst>
              </p:cNvPr>
              <p:cNvSpPr/>
              <p:nvPr/>
            </p:nvSpPr>
            <p:spPr>
              <a:xfrm>
                <a:off x="7323820" y="5373216"/>
                <a:ext cx="1012393" cy="55399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AR" sz="3000" b="1" i="1" spc="-1" dirty="0" smtClean="0">
                          <a:solidFill>
                            <a:srgbClr val="FF0000"/>
                          </a:solidFill>
                          <a:latin typeface="Cambria Math"/>
                        </a:rPr>
                        <m:t>= </m:t>
                      </m:r>
                      <m:r>
                        <a:rPr lang="en-US" sz="3000" b="1" i="1" spc="-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∅</m:t>
                      </m:r>
                    </m:oMath>
                  </m:oMathPara>
                </a14:m>
                <a:endParaRPr lang="es-AR" sz="3000" b="1" i="1" spc="-1" dirty="0">
                  <a:solidFill>
                    <a:srgbClr val="FF0000"/>
                  </a:solidFill>
                  <a:latin typeface="Arial"/>
                </a:endParaRPr>
              </a:p>
            </p:txBody>
          </p:sp>
        </mc:Choice>
        <mc:Fallback xmlns="">
          <p:sp>
            <p:nvSpPr>
              <p:cNvPr id="27" name="6 Rectángulo">
                <a:extLst>
                  <a:ext uri="{FF2B5EF4-FFF2-40B4-BE49-F238E27FC236}">
                    <a16:creationId xmlns:a16="http://schemas.microsoft.com/office/drawing/2014/main" id="{956BE45E-6236-EB47-93F8-AE9A304DD7A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23820" y="5373216"/>
                <a:ext cx="1012393" cy="553998"/>
              </a:xfrm>
              <a:prstGeom prst="rect">
                <a:avLst/>
              </a:prstGeom>
              <a:blipFill>
                <a:blip r:embed="rId8"/>
                <a:stretch>
                  <a:fillRect b="-222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8 Rectángulo">
                <a:extLst>
                  <a:ext uri="{FF2B5EF4-FFF2-40B4-BE49-F238E27FC236}">
                    <a16:creationId xmlns:a16="http://schemas.microsoft.com/office/drawing/2014/main" id="{CBCB5A1A-3E75-2C40-831A-73CA8CA17A59}"/>
                  </a:ext>
                </a:extLst>
              </p:cNvPr>
              <p:cNvSpPr/>
              <p:nvPr/>
            </p:nvSpPr>
            <p:spPr>
              <a:xfrm>
                <a:off x="5258557" y="5403994"/>
                <a:ext cx="1403013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AR" sz="2800" b="1" i="1" spc="-1" dirty="0">
                          <a:solidFill>
                            <a:srgbClr val="FF0000"/>
                          </a:solidFill>
                          <a:latin typeface="Cambria Math"/>
                        </a:rPr>
                        <m:t>𝑨</m:t>
                      </m:r>
                      <m:r>
                        <a:rPr lang="es-AR" sz="2800" b="1" i="1" spc="-1" dirty="0">
                          <a:solidFill>
                            <a:srgbClr val="FF0000"/>
                          </a:solidFill>
                          <a:latin typeface="Cambria Math"/>
                        </a:rPr>
                        <m:t> ∩ </m:t>
                      </m:r>
                      <m:r>
                        <a:rPr lang="es-AR" sz="2800" b="1" i="1" spc="-1" dirty="0">
                          <a:solidFill>
                            <a:srgbClr val="FF0000"/>
                          </a:solidFill>
                          <a:latin typeface="Cambria Math"/>
                        </a:rPr>
                        <m:t>𝑩</m:t>
                      </m:r>
                      <m:r>
                        <a:rPr lang="es-AR" sz="2800" b="1" i="1" spc="-1" dirty="0">
                          <a:solidFill>
                            <a:srgbClr val="FF0000"/>
                          </a:solidFill>
                          <a:latin typeface="Cambria Math"/>
                        </a:rPr>
                        <m:t> </m:t>
                      </m:r>
                    </m:oMath>
                  </m:oMathPara>
                </a14:m>
                <a:endParaRPr lang="es-AR" sz="2800" dirty="0"/>
              </a:p>
            </p:txBody>
          </p:sp>
        </mc:Choice>
        <mc:Fallback xmlns="">
          <p:sp>
            <p:nvSpPr>
              <p:cNvPr id="28" name="8 Rectángulo">
                <a:extLst>
                  <a:ext uri="{FF2B5EF4-FFF2-40B4-BE49-F238E27FC236}">
                    <a16:creationId xmlns:a16="http://schemas.microsoft.com/office/drawing/2014/main" id="{CBCB5A1A-3E75-2C40-831A-73CA8CA17A5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58557" y="5403994"/>
                <a:ext cx="1403013" cy="523220"/>
              </a:xfrm>
              <a:prstGeom prst="rect">
                <a:avLst/>
              </a:prstGeom>
              <a:blipFill>
                <a:blip r:embed="rId9"/>
                <a:stretch>
                  <a:fillRect r="-2679" b="-190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9 Rectángulo">
                <a:extLst>
                  <a:ext uri="{FF2B5EF4-FFF2-40B4-BE49-F238E27FC236}">
                    <a16:creationId xmlns:a16="http://schemas.microsoft.com/office/drawing/2014/main" id="{CF2C5E58-5312-844C-9771-5ADA1F667A9A}"/>
                  </a:ext>
                </a:extLst>
              </p:cNvPr>
              <p:cNvSpPr/>
              <p:nvPr/>
            </p:nvSpPr>
            <p:spPr>
              <a:xfrm>
                <a:off x="6482693" y="5374293"/>
                <a:ext cx="913135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AR" sz="2800" b="1" i="1" spc="-1" dirty="0">
                          <a:solidFill>
                            <a:srgbClr val="FF0000"/>
                          </a:solidFill>
                          <a:latin typeface="Cambria Math"/>
                        </a:rPr>
                        <m:t>∩ </m:t>
                      </m:r>
                      <m:r>
                        <a:rPr lang="es-AR" sz="2800" b="1" i="1" spc="-1" dirty="0">
                          <a:solidFill>
                            <a:srgbClr val="FF0000"/>
                          </a:solidFill>
                          <a:latin typeface="Cambria Math"/>
                        </a:rPr>
                        <m:t>𝑪</m:t>
                      </m:r>
                    </m:oMath>
                  </m:oMathPara>
                </a14:m>
                <a:endParaRPr lang="es-AR" sz="2800" b="1" i="1" spc="-1" dirty="0">
                  <a:solidFill>
                    <a:srgbClr val="FF0000"/>
                  </a:solidFill>
                  <a:latin typeface="Arial"/>
                </a:endParaRPr>
              </a:p>
            </p:txBody>
          </p:sp>
        </mc:Choice>
        <mc:Fallback xmlns="">
          <p:sp>
            <p:nvSpPr>
              <p:cNvPr id="29" name="9 Rectángulo">
                <a:extLst>
                  <a:ext uri="{FF2B5EF4-FFF2-40B4-BE49-F238E27FC236}">
                    <a16:creationId xmlns:a16="http://schemas.microsoft.com/office/drawing/2014/main" id="{CF2C5E58-5312-844C-9771-5ADA1F667A9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82693" y="5374293"/>
                <a:ext cx="913135" cy="523220"/>
              </a:xfrm>
              <a:prstGeom prst="rect">
                <a:avLst/>
              </a:prstGeom>
              <a:blipFill>
                <a:blip r:embed="rId10"/>
                <a:stretch>
                  <a:fillRect b="-2381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419661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9" grpId="0"/>
      <p:bldP spid="7" grpId="0"/>
      <p:bldP spid="8" grpId="0"/>
      <p:bldP spid="9" grpId="0"/>
      <p:bldP spid="10" grpId="0"/>
      <p:bldP spid="27" grpId="0"/>
      <p:bldP spid="28" grpId="0"/>
      <p:bldP spid="29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16 Imagen">
            <a:extLst>
              <a:ext uri="{FF2B5EF4-FFF2-40B4-BE49-F238E27FC236}">
                <a16:creationId xmlns:a16="http://schemas.microsoft.com/office/drawing/2014/main" id="{E18833CA-28BE-584F-9880-8012D82710A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580"/>
            <a:ext cx="9144000" cy="1171495"/>
          </a:xfrm>
          <a:prstGeom prst="rect">
            <a:avLst/>
          </a:prstGeom>
        </p:spPr>
      </p:pic>
      <p:sp>
        <p:nvSpPr>
          <p:cNvPr id="11" name="17 CuadroTexto">
            <a:extLst>
              <a:ext uri="{FF2B5EF4-FFF2-40B4-BE49-F238E27FC236}">
                <a16:creationId xmlns:a16="http://schemas.microsoft.com/office/drawing/2014/main" id="{6BED238C-223E-7F4A-BFF1-2F3910B2B049}"/>
              </a:ext>
            </a:extLst>
          </p:cNvPr>
          <p:cNvSpPr txBox="1"/>
          <p:nvPr/>
        </p:nvSpPr>
        <p:spPr>
          <a:xfrm>
            <a:off x="212156" y="87951"/>
            <a:ext cx="327972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2400" b="1" dirty="0">
                <a:solidFill>
                  <a:schemeClr val="bg1"/>
                </a:solidFill>
                <a:latin typeface="TeXGyreAdventor" pitchFamily="50" charset="0"/>
              </a:rPr>
              <a:t>Algoritmos y Estructuras</a:t>
            </a:r>
          </a:p>
          <a:p>
            <a:r>
              <a:rPr lang="es-AR" sz="2400" b="1" dirty="0">
                <a:solidFill>
                  <a:schemeClr val="bg1"/>
                </a:solidFill>
                <a:latin typeface="TeXGyreAdventor" pitchFamily="50" charset="0"/>
              </a:rPr>
              <a:t>de Datos</a:t>
            </a:r>
          </a:p>
          <a:p>
            <a:endParaRPr lang="es-AR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711F11B-CFCC-6F4C-987C-61BCBAF2DD91}"/>
              </a:ext>
            </a:extLst>
          </p:cNvPr>
          <p:cNvSpPr txBox="1"/>
          <p:nvPr/>
        </p:nvSpPr>
        <p:spPr>
          <a:xfrm>
            <a:off x="0" y="1173075"/>
            <a:ext cx="170431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AR" sz="24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Arial" pitchFamily="34" charset="0"/>
                <a:cs typeface="Arial" pitchFamily="34" charset="0"/>
              </a:rPr>
              <a:t>Conjuntos</a:t>
            </a:r>
          </a:p>
        </p:txBody>
      </p:sp>
      <p:sp>
        <p:nvSpPr>
          <p:cNvPr id="17" name="Los algoritmos se organizan en dos aspectos inseparables:">
            <a:extLst>
              <a:ext uri="{FF2B5EF4-FFF2-40B4-BE49-F238E27FC236}">
                <a16:creationId xmlns:a16="http://schemas.microsoft.com/office/drawing/2014/main" id="{AB2CC5FA-CD2B-F24E-BA05-2FC720BB331A}"/>
              </a:ext>
            </a:extLst>
          </p:cNvPr>
          <p:cNvSpPr txBox="1"/>
          <p:nvPr/>
        </p:nvSpPr>
        <p:spPr>
          <a:xfrm>
            <a:off x="358623" y="1694266"/>
            <a:ext cx="8317833" cy="71096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9" rIns="45719">
            <a:spAutoFit/>
          </a:bodyPr>
          <a:lstStyle>
            <a:lvl1pPr>
              <a:spcBef>
                <a:spcPts val="1600"/>
              </a:spcBef>
              <a:buSzPct val="100000"/>
              <a:buChar char="•"/>
              <a:defRPr sz="2800"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>
              <a:buNone/>
            </a:pPr>
            <a:r>
              <a:rPr lang="en-US" sz="2400" dirty="0" err="1"/>
              <a:t>También</a:t>
            </a:r>
            <a:r>
              <a:rPr lang="en-US" sz="2400" dirty="0"/>
              <a:t> </a:t>
            </a:r>
            <a:r>
              <a:rPr lang="en-US" sz="2400" dirty="0" err="1"/>
              <a:t>podemoms</a:t>
            </a:r>
            <a:r>
              <a:rPr lang="en-US" sz="2400" dirty="0"/>
              <a:t> </a:t>
            </a:r>
            <a:r>
              <a:rPr lang="en-US" sz="2400" dirty="0" err="1"/>
              <a:t>realizar</a:t>
            </a:r>
            <a:r>
              <a:rPr lang="en-US" sz="2400" dirty="0"/>
              <a:t> </a:t>
            </a:r>
            <a:r>
              <a:rPr lang="en-US" sz="2400" dirty="0" err="1"/>
              <a:t>cambios</a:t>
            </a:r>
            <a:r>
              <a:rPr lang="en-US" sz="2400" dirty="0"/>
              <a:t> </a:t>
            </a:r>
            <a:r>
              <a:rPr lang="en-US" sz="2400" dirty="0" err="1"/>
              <a:t>directamente</a:t>
            </a:r>
            <a:r>
              <a:rPr lang="en-US" sz="2400" dirty="0"/>
              <a:t> </a:t>
            </a:r>
            <a:r>
              <a:rPr lang="en-US" sz="2400" dirty="0" err="1"/>
              <a:t>sobre</a:t>
            </a:r>
            <a:r>
              <a:rPr lang="en-US" sz="2400" dirty="0"/>
              <a:t> un conjunto: </a:t>
            </a:r>
          </a:p>
          <a:p>
            <a:r>
              <a:rPr lang="en-US" sz="2400" dirty="0"/>
              <a:t> </a:t>
            </a:r>
            <a:r>
              <a:rPr lang="en-US" sz="2400" b="1" dirty="0" err="1"/>
              <a:t>A.add</a:t>
            </a:r>
            <a:r>
              <a:rPr lang="en-US" sz="2400" b="1" dirty="0"/>
              <a:t>(a)</a:t>
            </a:r>
            <a:r>
              <a:rPr lang="en-US" sz="2400" dirty="0"/>
              <a:t>: </a:t>
            </a:r>
            <a:r>
              <a:rPr lang="en-US" sz="2400" dirty="0" err="1"/>
              <a:t>reemplaza</a:t>
            </a:r>
            <a:r>
              <a:rPr lang="en-US" sz="2400" dirty="0"/>
              <a:t> el conjunto A </a:t>
            </a:r>
            <a:r>
              <a:rPr lang="en-US" sz="2400" dirty="0" err="1"/>
              <a:t>por</a:t>
            </a:r>
            <a:r>
              <a:rPr lang="en-US" sz="2400" dirty="0"/>
              <a:t> </a:t>
            </a:r>
            <a:r>
              <a:rPr lang="en-US" sz="2400" b="1" dirty="0"/>
              <a:t>A</a:t>
            </a:r>
            <a:r>
              <a:rPr lang="en-US" sz="2400" dirty="0"/>
              <a:t> union </a:t>
            </a:r>
            <a:r>
              <a:rPr lang="en-US" sz="2400" b="1" dirty="0"/>
              <a:t>a</a:t>
            </a:r>
            <a:r>
              <a:rPr lang="en-US" sz="2400" dirty="0"/>
              <a:t> (no </a:t>
            </a:r>
            <a:r>
              <a:rPr lang="en-US" sz="2400" dirty="0" err="1"/>
              <a:t>tiene</a:t>
            </a:r>
            <a:r>
              <a:rPr lang="en-US" sz="2400" dirty="0"/>
              <a:t> </a:t>
            </a:r>
            <a:r>
              <a:rPr lang="en-US" sz="2400" dirty="0" err="1"/>
              <a:t>efecto</a:t>
            </a:r>
            <a:r>
              <a:rPr lang="en-US" sz="2400" dirty="0"/>
              <a:t> </a:t>
            </a:r>
            <a:r>
              <a:rPr lang="en-US" sz="2400" dirty="0" err="1"/>
              <a:t>si</a:t>
            </a:r>
            <a:r>
              <a:rPr lang="en-US" sz="2400" dirty="0"/>
              <a:t> el </a:t>
            </a:r>
            <a:r>
              <a:rPr lang="en-US" sz="2400" dirty="0" err="1"/>
              <a:t>elemento</a:t>
            </a:r>
            <a:r>
              <a:rPr lang="en-US" sz="2400" dirty="0"/>
              <a:t> </a:t>
            </a:r>
            <a:r>
              <a:rPr lang="en-US" sz="2400" b="1" dirty="0"/>
              <a:t>a</a:t>
            </a:r>
            <a:r>
              <a:rPr lang="en-US" sz="2400" dirty="0"/>
              <a:t> </a:t>
            </a:r>
            <a:r>
              <a:rPr lang="en-US" sz="2400" dirty="0" err="1"/>
              <a:t>pertenece</a:t>
            </a:r>
            <a:r>
              <a:rPr lang="en-US" sz="2400" dirty="0"/>
              <a:t> al conjunto A). </a:t>
            </a:r>
          </a:p>
          <a:p>
            <a:r>
              <a:rPr lang="en-US" sz="2400" dirty="0"/>
              <a:t> </a:t>
            </a:r>
            <a:r>
              <a:rPr lang="en-US" sz="2400" b="1" dirty="0" err="1"/>
              <a:t>A.discard</a:t>
            </a:r>
            <a:r>
              <a:rPr lang="en-US" sz="2400" b="1" dirty="0"/>
              <a:t>(a):</a:t>
            </a:r>
            <a:r>
              <a:rPr lang="en-US" sz="2400" dirty="0"/>
              <a:t> </a:t>
            </a:r>
            <a:r>
              <a:rPr lang="en-US" sz="2400" dirty="0" err="1"/>
              <a:t>reeplaza</a:t>
            </a:r>
            <a:r>
              <a:rPr lang="en-US" sz="2400" dirty="0"/>
              <a:t> el conjunto A </a:t>
            </a:r>
            <a:r>
              <a:rPr lang="en-US" sz="2400" dirty="0" err="1"/>
              <a:t>por</a:t>
            </a:r>
            <a:r>
              <a:rPr lang="en-US" sz="2400" dirty="0"/>
              <a:t> A </a:t>
            </a:r>
            <a:r>
              <a:rPr lang="en-US" sz="2400" dirty="0" err="1"/>
              <a:t>removiendo</a:t>
            </a:r>
            <a:r>
              <a:rPr lang="en-US" sz="2400" dirty="0"/>
              <a:t> el </a:t>
            </a:r>
            <a:r>
              <a:rPr lang="en-US" sz="2400" dirty="0" err="1"/>
              <a:t>elemento</a:t>
            </a:r>
            <a:r>
              <a:rPr lang="en-US" sz="2400" dirty="0"/>
              <a:t> </a:t>
            </a:r>
            <a:r>
              <a:rPr lang="en-US" sz="2400" b="1" dirty="0"/>
              <a:t>a</a:t>
            </a:r>
            <a:r>
              <a:rPr lang="en-US" sz="2400" dirty="0"/>
              <a:t> (no </a:t>
            </a:r>
            <a:r>
              <a:rPr lang="en-US" sz="2400" dirty="0" err="1"/>
              <a:t>tiene</a:t>
            </a:r>
            <a:r>
              <a:rPr lang="en-US" sz="2400" dirty="0"/>
              <a:t> </a:t>
            </a:r>
            <a:r>
              <a:rPr lang="en-US" sz="2400" dirty="0" err="1"/>
              <a:t>efecto</a:t>
            </a:r>
            <a:r>
              <a:rPr lang="en-US" sz="2400" dirty="0"/>
              <a:t> </a:t>
            </a:r>
            <a:r>
              <a:rPr lang="en-US" sz="2400" dirty="0" err="1"/>
              <a:t>si</a:t>
            </a:r>
            <a:r>
              <a:rPr lang="en-US" sz="2400" dirty="0"/>
              <a:t> el </a:t>
            </a:r>
            <a:r>
              <a:rPr lang="en-US" sz="2400" dirty="0" err="1"/>
              <a:t>elemento</a:t>
            </a:r>
            <a:r>
              <a:rPr lang="en-US" sz="2400" dirty="0"/>
              <a:t> </a:t>
            </a:r>
            <a:r>
              <a:rPr lang="en-US" sz="2400" b="1" dirty="0"/>
              <a:t>a</a:t>
            </a:r>
            <a:r>
              <a:rPr lang="en-US" sz="2400" dirty="0"/>
              <a:t> no </a:t>
            </a:r>
            <a:r>
              <a:rPr lang="en-US" sz="2400" dirty="0" err="1"/>
              <a:t>pertenece</a:t>
            </a:r>
            <a:r>
              <a:rPr lang="en-US" sz="2400" dirty="0"/>
              <a:t> al conjunto A). </a:t>
            </a:r>
          </a:p>
          <a:p>
            <a:r>
              <a:rPr lang="en-US" sz="2400" b="1" dirty="0"/>
              <a:t> </a:t>
            </a:r>
            <a:r>
              <a:rPr lang="en-US" sz="2400" b="1" dirty="0" err="1"/>
              <a:t>A.difference_update</a:t>
            </a:r>
            <a:r>
              <a:rPr lang="en-US" sz="2400" b="1" dirty="0"/>
              <a:t>(B)</a:t>
            </a:r>
            <a:r>
              <a:rPr lang="en-US" sz="2400" dirty="0"/>
              <a:t>: </a:t>
            </a:r>
            <a:r>
              <a:rPr lang="en-US" sz="2400" dirty="0" err="1"/>
              <a:t>reemplazara</a:t>
            </a:r>
            <a:r>
              <a:rPr lang="en-US" sz="2400" dirty="0"/>
              <a:t> el conjunto A </a:t>
            </a:r>
            <a:r>
              <a:rPr lang="en-US" sz="2400" dirty="0" err="1"/>
              <a:t>por</a:t>
            </a:r>
            <a:r>
              <a:rPr lang="en-US" sz="2400" dirty="0"/>
              <a:t> A </a:t>
            </a:r>
            <a:r>
              <a:rPr lang="en-US" sz="2400" dirty="0" err="1"/>
              <a:t>intersección</a:t>
            </a:r>
            <a:r>
              <a:rPr lang="en-US" sz="2400" dirty="0"/>
              <a:t> B^C. </a:t>
            </a:r>
          </a:p>
          <a:p>
            <a:pPr>
              <a:buNone/>
            </a:pPr>
            <a:endParaRPr lang="en-US" sz="2000" dirty="0"/>
          </a:p>
          <a:p>
            <a:pPr>
              <a:buNone/>
            </a:pPr>
            <a:endParaRPr lang="en-US" sz="2000" dirty="0"/>
          </a:p>
          <a:p>
            <a:pPr>
              <a:buNone/>
            </a:pPr>
            <a:endParaRPr lang="en-US" sz="2000" dirty="0"/>
          </a:p>
          <a:p>
            <a:pPr>
              <a:buNone/>
            </a:pPr>
            <a:endParaRPr lang="en-US" sz="2000" dirty="0"/>
          </a:p>
          <a:p>
            <a:pPr>
              <a:buNone/>
            </a:pPr>
            <a:endParaRPr lang="en-US" sz="2000" dirty="0"/>
          </a:p>
          <a:p>
            <a:pPr>
              <a:buNone/>
            </a:pPr>
            <a:endParaRPr lang="en-US" sz="2000" dirty="0"/>
          </a:p>
        </p:txBody>
      </p:sp>
      <p:sp>
        <p:nvSpPr>
          <p:cNvPr id="14" name="17 CuadroTexto">
            <a:extLst>
              <a:ext uri="{FF2B5EF4-FFF2-40B4-BE49-F238E27FC236}">
                <a16:creationId xmlns:a16="http://schemas.microsoft.com/office/drawing/2014/main" id="{FE210990-BB28-C34F-8C39-11BDC67ADFD8}"/>
              </a:ext>
            </a:extLst>
          </p:cNvPr>
          <p:cNvSpPr txBox="1"/>
          <p:nvPr/>
        </p:nvSpPr>
        <p:spPr>
          <a:xfrm>
            <a:off x="2985122" y="499899"/>
            <a:ext cx="3173756" cy="984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AR" sz="2000" b="1" dirty="0">
                <a:solidFill>
                  <a:schemeClr val="bg1"/>
                </a:solidFill>
                <a:latin typeface="TeXGyreAdventor" pitchFamily="50" charset="0"/>
              </a:rPr>
              <a:t> - </a:t>
            </a:r>
            <a:r>
              <a:rPr lang="es-AR" sz="2000" b="1" u="sng" dirty="0">
                <a:solidFill>
                  <a:schemeClr val="bg1"/>
                </a:solidFill>
                <a:latin typeface="TeXGyreAdventor" pitchFamily="50" charset="0"/>
              </a:rPr>
              <a:t>Tipos de Datos Definidos por el Usuario</a:t>
            </a:r>
            <a:r>
              <a:rPr lang="es-AR" sz="2000" b="1" dirty="0">
                <a:solidFill>
                  <a:schemeClr val="bg1"/>
                </a:solidFill>
                <a:latin typeface="TeXGyreAdventor" pitchFamily="50" charset="0"/>
              </a:rPr>
              <a:t>-</a:t>
            </a:r>
          </a:p>
          <a:p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292262952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16 Imagen">
            <a:extLst>
              <a:ext uri="{FF2B5EF4-FFF2-40B4-BE49-F238E27FC236}">
                <a16:creationId xmlns:a16="http://schemas.microsoft.com/office/drawing/2014/main" id="{E18833CA-28BE-584F-9880-8012D82710A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580"/>
            <a:ext cx="9144000" cy="1171495"/>
          </a:xfrm>
          <a:prstGeom prst="rect">
            <a:avLst/>
          </a:prstGeom>
        </p:spPr>
      </p:pic>
      <p:sp>
        <p:nvSpPr>
          <p:cNvPr id="11" name="17 CuadroTexto">
            <a:extLst>
              <a:ext uri="{FF2B5EF4-FFF2-40B4-BE49-F238E27FC236}">
                <a16:creationId xmlns:a16="http://schemas.microsoft.com/office/drawing/2014/main" id="{6BED238C-223E-7F4A-BFF1-2F3910B2B049}"/>
              </a:ext>
            </a:extLst>
          </p:cNvPr>
          <p:cNvSpPr txBox="1"/>
          <p:nvPr/>
        </p:nvSpPr>
        <p:spPr>
          <a:xfrm>
            <a:off x="212156" y="87951"/>
            <a:ext cx="327972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2400" b="1" dirty="0">
                <a:solidFill>
                  <a:schemeClr val="bg1"/>
                </a:solidFill>
                <a:latin typeface="TeXGyreAdventor" pitchFamily="50" charset="0"/>
              </a:rPr>
              <a:t>Algoritmos y Estructuras</a:t>
            </a:r>
          </a:p>
          <a:p>
            <a:r>
              <a:rPr lang="es-AR" sz="2400" b="1" dirty="0">
                <a:solidFill>
                  <a:schemeClr val="bg1"/>
                </a:solidFill>
                <a:latin typeface="TeXGyreAdventor" pitchFamily="50" charset="0"/>
              </a:rPr>
              <a:t>de Datos</a:t>
            </a:r>
          </a:p>
          <a:p>
            <a:endParaRPr lang="es-AR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711F11B-CFCC-6F4C-987C-61BCBAF2DD91}"/>
              </a:ext>
            </a:extLst>
          </p:cNvPr>
          <p:cNvSpPr txBox="1"/>
          <p:nvPr/>
        </p:nvSpPr>
        <p:spPr>
          <a:xfrm>
            <a:off x="0" y="1173075"/>
            <a:ext cx="213391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AR" sz="24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Arial" pitchFamily="34" charset="0"/>
                <a:cs typeface="Arial" pitchFamily="34" charset="0"/>
              </a:rPr>
              <a:t>Diccionarios:</a:t>
            </a:r>
          </a:p>
        </p:txBody>
      </p:sp>
      <p:sp>
        <p:nvSpPr>
          <p:cNvPr id="17" name="Los algoritmos se organizan en dos aspectos inseparables:">
            <a:extLst>
              <a:ext uri="{FF2B5EF4-FFF2-40B4-BE49-F238E27FC236}">
                <a16:creationId xmlns:a16="http://schemas.microsoft.com/office/drawing/2014/main" id="{AB2CC5FA-CD2B-F24E-BA05-2FC720BB331A}"/>
              </a:ext>
            </a:extLst>
          </p:cNvPr>
          <p:cNvSpPr txBox="1"/>
          <p:nvPr/>
        </p:nvSpPr>
        <p:spPr>
          <a:xfrm>
            <a:off x="395536" y="1726171"/>
            <a:ext cx="9074825" cy="25545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9" rIns="45719">
            <a:spAutoFit/>
          </a:bodyPr>
          <a:lstStyle>
            <a:lvl1pPr>
              <a:spcBef>
                <a:spcPts val="1600"/>
              </a:spcBef>
              <a:buSzPct val="100000"/>
              <a:buChar char="•"/>
              <a:defRPr sz="2800"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r>
              <a:rPr lang="en-US" sz="2400" dirty="0"/>
              <a:t>Un </a:t>
            </a:r>
            <a:r>
              <a:rPr lang="en-US" sz="2400" b="1" dirty="0" err="1"/>
              <a:t>diccionario</a:t>
            </a:r>
            <a:r>
              <a:rPr lang="en-US" sz="2400" dirty="0"/>
              <a:t> o "</a:t>
            </a:r>
            <a:r>
              <a:rPr lang="en-US" sz="2400" dirty="0" err="1"/>
              <a:t>tabla</a:t>
            </a:r>
            <a:r>
              <a:rPr lang="en-US" sz="2400" dirty="0"/>
              <a:t> </a:t>
            </a:r>
            <a:r>
              <a:rPr lang="en-US" sz="2400" dirty="0" err="1"/>
              <a:t>associativa</a:t>
            </a:r>
            <a:r>
              <a:rPr lang="en-US" sz="2400" dirty="0"/>
              <a:t>" </a:t>
            </a:r>
            <a:r>
              <a:rPr lang="en-US" sz="2400" dirty="0" err="1"/>
              <a:t>es</a:t>
            </a:r>
            <a:r>
              <a:rPr lang="en-US" sz="2400" dirty="0"/>
              <a:t> </a:t>
            </a:r>
            <a:r>
              <a:rPr lang="en-US" sz="2400" dirty="0" err="1"/>
              <a:t>una</a:t>
            </a:r>
            <a:r>
              <a:rPr lang="en-US" sz="2400" dirty="0"/>
              <a:t> </a:t>
            </a:r>
            <a:r>
              <a:rPr lang="en-US" sz="2400" u="sng" dirty="0" err="1"/>
              <a:t>colección</a:t>
            </a:r>
            <a:r>
              <a:rPr lang="en-US" sz="2400" u="sng" dirty="0"/>
              <a:t> de items</a:t>
            </a:r>
            <a:r>
              <a:rPr lang="en-US" sz="2400" dirty="0"/>
              <a:t> </a:t>
            </a:r>
          </a:p>
          <a:p>
            <a:pPr>
              <a:buNone/>
            </a:pPr>
            <a:r>
              <a:rPr lang="en-US" sz="2400" dirty="0"/>
              <a:t>”</a:t>
            </a:r>
            <a:r>
              <a:rPr lang="en-US" sz="2400" b="1" dirty="0" err="1"/>
              <a:t>llave</a:t>
            </a:r>
            <a:r>
              <a:rPr lang="en-US" sz="2400" dirty="0"/>
              <a:t> : </a:t>
            </a:r>
            <a:r>
              <a:rPr lang="en-US" sz="2400" b="1" dirty="0"/>
              <a:t>valor</a:t>
            </a:r>
            <a:r>
              <a:rPr lang="en-US" sz="2400" dirty="0"/>
              <a:t>”, </a:t>
            </a:r>
            <a:r>
              <a:rPr lang="en-US" sz="2400" dirty="0" err="1"/>
              <a:t>donde</a:t>
            </a:r>
            <a:r>
              <a:rPr lang="en-US" sz="2400" dirty="0"/>
              <a:t> la </a:t>
            </a:r>
            <a:r>
              <a:rPr lang="en-US" sz="2400" b="1" i="1" dirty="0" err="1"/>
              <a:t>llave</a:t>
            </a:r>
            <a:r>
              <a:rPr lang="en-US" sz="2400" dirty="0"/>
              <a:t> y el </a:t>
            </a:r>
            <a:r>
              <a:rPr lang="en-US" sz="2400" b="1" i="1" dirty="0"/>
              <a:t>valor</a:t>
            </a:r>
            <a:r>
              <a:rPr lang="en-US" sz="2400" dirty="0"/>
              <a:t> </a:t>
            </a:r>
            <a:r>
              <a:rPr lang="en-US" sz="2400" dirty="0" err="1"/>
              <a:t>pueden</a:t>
            </a:r>
            <a:r>
              <a:rPr lang="en-US" sz="2400" dirty="0"/>
              <a:t> </a:t>
            </a:r>
            <a:r>
              <a:rPr lang="en-US" sz="2400" dirty="0" err="1"/>
              <a:t>ser</a:t>
            </a:r>
            <a:r>
              <a:rPr lang="en-US" sz="2400" dirty="0"/>
              <a:t> </a:t>
            </a:r>
            <a:r>
              <a:rPr lang="en-US" sz="2400" dirty="0" err="1"/>
              <a:t>cualquier</a:t>
            </a:r>
            <a:r>
              <a:rPr lang="en-US" sz="2400" dirty="0"/>
              <a:t> </a:t>
            </a:r>
            <a:r>
              <a:rPr lang="en-US" sz="2400" dirty="0" err="1"/>
              <a:t>tipo</a:t>
            </a:r>
            <a:r>
              <a:rPr lang="en-US" sz="2400" dirty="0"/>
              <a:t> de </a:t>
            </a:r>
            <a:r>
              <a:rPr lang="en-US" sz="2400" dirty="0" err="1"/>
              <a:t>objeto</a:t>
            </a:r>
            <a:r>
              <a:rPr lang="en-US" sz="2400" dirty="0"/>
              <a:t>.</a:t>
            </a:r>
          </a:p>
          <a:p>
            <a:r>
              <a:rPr lang="en-US" sz="2400" dirty="0"/>
              <a:t>y </a:t>
            </a:r>
            <a:r>
              <a:rPr lang="en-US" sz="2400" dirty="0" err="1"/>
              <a:t>los</a:t>
            </a:r>
            <a:r>
              <a:rPr lang="en-US" sz="2400" dirty="0"/>
              <a:t> </a:t>
            </a:r>
            <a:r>
              <a:rPr lang="en-US" sz="2400" dirty="0" err="1"/>
              <a:t>escribimos</a:t>
            </a:r>
            <a:r>
              <a:rPr lang="en-US" sz="2400" dirty="0"/>
              <a:t> de la </a:t>
            </a:r>
            <a:r>
              <a:rPr lang="en-US" sz="2400" dirty="0" err="1"/>
              <a:t>siguiente</a:t>
            </a:r>
            <a:r>
              <a:rPr lang="en-US" sz="2400" dirty="0"/>
              <a:t> forma:</a:t>
            </a:r>
          </a:p>
          <a:p>
            <a:pPr>
              <a:buNone/>
            </a:pPr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c = {l1:v1, l2:v2, ... , </a:t>
            </a:r>
            <a:r>
              <a:rPr lang="en-US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ln,vn</a:t>
            </a:r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  <p:sp>
        <p:nvSpPr>
          <p:cNvPr id="14" name="17 CuadroTexto">
            <a:extLst>
              <a:ext uri="{FF2B5EF4-FFF2-40B4-BE49-F238E27FC236}">
                <a16:creationId xmlns:a16="http://schemas.microsoft.com/office/drawing/2014/main" id="{FE210990-BB28-C34F-8C39-11BDC67ADFD8}"/>
              </a:ext>
            </a:extLst>
          </p:cNvPr>
          <p:cNvSpPr txBox="1"/>
          <p:nvPr/>
        </p:nvSpPr>
        <p:spPr>
          <a:xfrm>
            <a:off x="2985122" y="499899"/>
            <a:ext cx="3173756" cy="984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AR" sz="2000" b="1" dirty="0">
                <a:solidFill>
                  <a:schemeClr val="bg1"/>
                </a:solidFill>
                <a:latin typeface="TeXGyreAdventor" pitchFamily="50" charset="0"/>
              </a:rPr>
              <a:t> - </a:t>
            </a:r>
            <a:r>
              <a:rPr lang="es-AR" sz="2000" b="1" u="sng" dirty="0">
                <a:solidFill>
                  <a:schemeClr val="bg1"/>
                </a:solidFill>
                <a:latin typeface="TeXGyreAdventor" pitchFamily="50" charset="0"/>
              </a:rPr>
              <a:t>Tipos de Datos Definidos por el Usuario</a:t>
            </a:r>
            <a:r>
              <a:rPr lang="es-AR" sz="2000" b="1" dirty="0">
                <a:solidFill>
                  <a:schemeClr val="bg1"/>
                </a:solidFill>
                <a:latin typeface="TeXGyreAdventor" pitchFamily="50" charset="0"/>
              </a:rPr>
              <a:t>-</a:t>
            </a:r>
          </a:p>
          <a:p>
            <a:endParaRPr lang="es-AR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F19C154-02C1-734D-BCD6-7D9F9FB99FAD}"/>
              </a:ext>
            </a:extLst>
          </p:cNvPr>
          <p:cNvSpPr txBox="1"/>
          <p:nvPr/>
        </p:nvSpPr>
        <p:spPr>
          <a:xfrm>
            <a:off x="469361" y="5517232"/>
            <a:ext cx="9001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err="1"/>
              <a:t>Es</a:t>
            </a:r>
            <a:r>
              <a:rPr lang="en-US" sz="2400" dirty="0"/>
              <a:t> un </a:t>
            </a:r>
            <a:r>
              <a:rPr lang="en-US" sz="2400" dirty="0" err="1"/>
              <a:t>contenedor</a:t>
            </a:r>
            <a:r>
              <a:rPr lang="en-US" sz="2400" dirty="0"/>
              <a:t> de </a:t>
            </a:r>
            <a:r>
              <a:rPr lang="en-US" sz="2400" dirty="0" err="1"/>
              <a:t>amplio</a:t>
            </a:r>
            <a:r>
              <a:rPr lang="en-US" sz="2400" dirty="0"/>
              <a:t> </a:t>
            </a:r>
            <a:r>
              <a:rPr lang="en-US" sz="2400" dirty="0" err="1"/>
              <a:t>uso</a:t>
            </a:r>
            <a:r>
              <a:rPr lang="en-US" sz="2400" dirty="0"/>
              <a:t> (</a:t>
            </a:r>
            <a:r>
              <a:rPr lang="en-US" sz="2400" u="sng" dirty="0"/>
              <a:t>y </a:t>
            </a:r>
            <a:r>
              <a:rPr lang="en-US" sz="2400" u="sng" dirty="0" err="1"/>
              <a:t>estan</a:t>
            </a:r>
            <a:r>
              <a:rPr lang="en-US" sz="2400" u="sng" dirty="0"/>
              <a:t> </a:t>
            </a:r>
            <a:r>
              <a:rPr lang="en-US" sz="2400" u="sng" dirty="0" err="1"/>
              <a:t>optimizados</a:t>
            </a:r>
            <a:r>
              <a:rPr lang="en-US" sz="2400" u="sng" dirty="0"/>
              <a:t> al </a:t>
            </a:r>
            <a:r>
              <a:rPr lang="en-US" sz="2400" u="sng" dirty="0" err="1"/>
              <a:t>igual</a:t>
            </a:r>
            <a:r>
              <a:rPr lang="en-US" sz="2400" u="sng" dirty="0"/>
              <a:t> que </a:t>
            </a:r>
            <a:r>
              <a:rPr lang="en-US" sz="2400" u="sng" dirty="0" err="1"/>
              <a:t>cualquier</a:t>
            </a:r>
            <a:r>
              <a:rPr lang="en-US" sz="2400" u="sng" dirty="0"/>
              <a:t> </a:t>
            </a:r>
            <a:r>
              <a:rPr lang="en-US" sz="2400" u="sng" dirty="0" err="1"/>
              <a:t>tipo</a:t>
            </a:r>
            <a:r>
              <a:rPr lang="en-US" sz="2400" u="sng" dirty="0"/>
              <a:t> "</a:t>
            </a:r>
            <a:r>
              <a:rPr lang="en-US" sz="2400" u="sng" dirty="0" err="1"/>
              <a:t>hashable</a:t>
            </a:r>
            <a:r>
              <a:rPr lang="en-US" sz="2400" u="sng" dirty="0"/>
              <a:t>" </a:t>
            </a:r>
            <a:r>
              <a:rPr lang="en-US" sz="2400" u="sng" dirty="0" err="1"/>
              <a:t>en</a:t>
            </a:r>
            <a:r>
              <a:rPr lang="en-US" sz="2400" u="sng" dirty="0"/>
              <a:t> Python</a:t>
            </a:r>
            <a:r>
              <a:rPr lang="en-US" sz="2400" dirty="0"/>
              <a:t>).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4B8B5A6-E658-D648-ABB3-B6CEDBF2C3A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96136" y="3153688"/>
            <a:ext cx="4120528" cy="17452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478432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16 Imagen">
            <a:extLst>
              <a:ext uri="{FF2B5EF4-FFF2-40B4-BE49-F238E27FC236}">
                <a16:creationId xmlns:a16="http://schemas.microsoft.com/office/drawing/2014/main" id="{E18833CA-28BE-584F-9880-8012D82710A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580"/>
            <a:ext cx="9144000" cy="1171495"/>
          </a:xfrm>
          <a:prstGeom prst="rect">
            <a:avLst/>
          </a:prstGeom>
        </p:spPr>
      </p:pic>
      <p:sp>
        <p:nvSpPr>
          <p:cNvPr id="11" name="17 CuadroTexto">
            <a:extLst>
              <a:ext uri="{FF2B5EF4-FFF2-40B4-BE49-F238E27FC236}">
                <a16:creationId xmlns:a16="http://schemas.microsoft.com/office/drawing/2014/main" id="{6BED238C-223E-7F4A-BFF1-2F3910B2B049}"/>
              </a:ext>
            </a:extLst>
          </p:cNvPr>
          <p:cNvSpPr txBox="1"/>
          <p:nvPr/>
        </p:nvSpPr>
        <p:spPr>
          <a:xfrm>
            <a:off x="212156" y="87951"/>
            <a:ext cx="327972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2400" b="1" dirty="0">
                <a:solidFill>
                  <a:schemeClr val="bg1"/>
                </a:solidFill>
                <a:latin typeface="TeXGyreAdventor" pitchFamily="50" charset="0"/>
              </a:rPr>
              <a:t>Algoritmos y Estructuras</a:t>
            </a:r>
          </a:p>
          <a:p>
            <a:r>
              <a:rPr lang="es-AR" sz="2400" b="1" dirty="0">
                <a:solidFill>
                  <a:schemeClr val="bg1"/>
                </a:solidFill>
                <a:latin typeface="TeXGyreAdventor" pitchFamily="50" charset="0"/>
              </a:rPr>
              <a:t>de Datos</a:t>
            </a:r>
          </a:p>
          <a:p>
            <a:endParaRPr lang="es-AR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711F11B-CFCC-6F4C-987C-61BCBAF2DD91}"/>
              </a:ext>
            </a:extLst>
          </p:cNvPr>
          <p:cNvSpPr txBox="1"/>
          <p:nvPr/>
        </p:nvSpPr>
        <p:spPr>
          <a:xfrm>
            <a:off x="0" y="1173075"/>
            <a:ext cx="213391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AR" sz="24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Arial" pitchFamily="34" charset="0"/>
                <a:cs typeface="Arial" pitchFamily="34" charset="0"/>
              </a:rPr>
              <a:t>Diccionarios:</a:t>
            </a:r>
          </a:p>
        </p:txBody>
      </p:sp>
      <p:sp>
        <p:nvSpPr>
          <p:cNvPr id="17" name="Los algoritmos se organizan en dos aspectos inseparables:">
            <a:extLst>
              <a:ext uri="{FF2B5EF4-FFF2-40B4-BE49-F238E27FC236}">
                <a16:creationId xmlns:a16="http://schemas.microsoft.com/office/drawing/2014/main" id="{AB2CC5FA-CD2B-F24E-BA05-2FC720BB331A}"/>
              </a:ext>
            </a:extLst>
          </p:cNvPr>
          <p:cNvSpPr txBox="1"/>
          <p:nvPr/>
        </p:nvSpPr>
        <p:spPr>
          <a:xfrm>
            <a:off x="323528" y="1772816"/>
            <a:ext cx="9074825" cy="60016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9" rIns="45719">
            <a:spAutoFit/>
          </a:bodyPr>
          <a:lstStyle>
            <a:lvl1pPr>
              <a:spcBef>
                <a:spcPts val="1600"/>
              </a:spcBef>
              <a:buSzPct val="100000"/>
              <a:buChar char="•"/>
              <a:defRPr sz="2800"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r>
              <a:rPr lang="en-US" dirty="0"/>
              <a:t> La </a:t>
            </a:r>
            <a:r>
              <a:rPr lang="en-US" dirty="0" err="1"/>
              <a:t>función</a:t>
            </a:r>
            <a:r>
              <a:rPr lang="en-US" dirty="0"/>
              <a:t> </a:t>
            </a:r>
            <a:r>
              <a:rPr lang="en-US" dirty="0" err="1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len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()</a:t>
            </a:r>
            <a:r>
              <a:rPr lang="en-US" dirty="0">
                <a:latin typeface="+mn-lt"/>
                <a:cs typeface="Consolas" panose="020B0609020204030204" pitchFamily="49" charset="0"/>
              </a:rPr>
              <a:t> </a:t>
            </a:r>
            <a:r>
              <a:rPr lang="en-US" dirty="0" err="1"/>
              <a:t>nos</a:t>
            </a:r>
            <a:r>
              <a:rPr lang="en-US" dirty="0"/>
              <a:t> </a:t>
            </a:r>
            <a:r>
              <a:rPr lang="en-US" dirty="0" err="1"/>
              <a:t>devuelve</a:t>
            </a:r>
            <a:r>
              <a:rPr lang="en-US" dirty="0"/>
              <a:t> la </a:t>
            </a:r>
            <a:r>
              <a:rPr lang="en-US" dirty="0" err="1"/>
              <a:t>cardinalidad</a:t>
            </a:r>
            <a:r>
              <a:rPr lang="en-US" dirty="0"/>
              <a:t>.</a:t>
            </a:r>
          </a:p>
          <a:p>
            <a:r>
              <a:rPr lang="en-US" dirty="0"/>
              <a:t> No </a:t>
            </a:r>
            <a:r>
              <a:rPr lang="en-US" dirty="0" err="1"/>
              <a:t>podemos</a:t>
            </a:r>
            <a:r>
              <a:rPr lang="en-US" dirty="0"/>
              <a:t> </a:t>
            </a:r>
            <a:r>
              <a:rPr lang="en-US" dirty="0" err="1"/>
              <a:t>indexarlos</a:t>
            </a:r>
            <a:r>
              <a:rPr lang="en-US" dirty="0"/>
              <a:t> de </a:t>
            </a:r>
            <a:r>
              <a:rPr lang="en-US" dirty="0" err="1"/>
              <a:t>manera</a:t>
            </a:r>
            <a:r>
              <a:rPr lang="en-US" dirty="0"/>
              <a:t> habitual, </a:t>
            </a:r>
            <a:r>
              <a:rPr lang="en-US" dirty="0" err="1"/>
              <a:t>es</a:t>
            </a:r>
            <a:r>
              <a:rPr lang="en-US" dirty="0"/>
              <a:t> </a:t>
            </a:r>
            <a:r>
              <a:rPr lang="en-US" dirty="0" err="1"/>
              <a:t>decir</a:t>
            </a:r>
            <a:r>
              <a:rPr lang="en-US" dirty="0"/>
              <a:t> de </a:t>
            </a:r>
            <a:r>
              <a:rPr lang="en-US" dirty="0" err="1"/>
              <a:t>manera</a:t>
            </a:r>
            <a:r>
              <a:rPr lang="en-US" dirty="0"/>
              <a:t> </a:t>
            </a:r>
            <a:r>
              <a:rPr lang="en-US" dirty="0" err="1"/>
              <a:t>posicional</a:t>
            </a:r>
            <a:r>
              <a:rPr lang="en-US" dirty="0"/>
              <a:t>, </a:t>
            </a:r>
            <a:r>
              <a:rPr lang="en-US" dirty="0" err="1"/>
              <a:t>deberemos</a:t>
            </a:r>
            <a:r>
              <a:rPr lang="en-US" dirty="0"/>
              <a:t> </a:t>
            </a:r>
            <a:r>
              <a:rPr lang="en-US" dirty="0" err="1"/>
              <a:t>usar</a:t>
            </a:r>
            <a:r>
              <a:rPr lang="en-US" dirty="0"/>
              <a:t> las </a:t>
            </a:r>
            <a:r>
              <a:rPr lang="en-US" u="sng" dirty="0" err="1"/>
              <a:t>llaves</a:t>
            </a:r>
            <a:r>
              <a:rPr lang="en-US" u="sng" dirty="0"/>
              <a:t> </a:t>
            </a:r>
            <a:r>
              <a:rPr lang="en-US" dirty="0"/>
              <a:t>de </a:t>
            </a:r>
            <a:r>
              <a:rPr lang="en-US" dirty="0" err="1"/>
              <a:t>diccionario</a:t>
            </a:r>
            <a:r>
              <a:rPr lang="en-US" dirty="0"/>
              <a:t> para </a:t>
            </a:r>
            <a:r>
              <a:rPr lang="en-US" dirty="0" err="1"/>
              <a:t>retornar</a:t>
            </a:r>
            <a:r>
              <a:rPr lang="en-US" dirty="0"/>
              <a:t> </a:t>
            </a:r>
            <a:r>
              <a:rPr lang="en-US" dirty="0" err="1"/>
              <a:t>los</a:t>
            </a:r>
            <a:r>
              <a:rPr lang="en-US" dirty="0"/>
              <a:t> </a:t>
            </a:r>
            <a:r>
              <a:rPr lang="en-US" dirty="0" err="1"/>
              <a:t>valores</a:t>
            </a:r>
            <a:r>
              <a:rPr lang="en-US" dirty="0"/>
              <a:t> </a:t>
            </a:r>
            <a:r>
              <a:rPr lang="en-US" dirty="0" err="1"/>
              <a:t>correspondientes</a:t>
            </a:r>
            <a:r>
              <a:rPr lang="en-US" dirty="0"/>
              <a:t>. </a:t>
            </a:r>
          </a:p>
          <a:p>
            <a:r>
              <a:rPr lang="en-US" dirty="0"/>
              <a:t> </a:t>
            </a:r>
            <a:r>
              <a:rPr lang="en-US" dirty="0" err="1"/>
              <a:t>Es</a:t>
            </a:r>
            <a:r>
              <a:rPr lang="en-US" dirty="0"/>
              <a:t> </a:t>
            </a:r>
            <a:r>
              <a:rPr lang="en-US" dirty="0" err="1"/>
              <a:t>posible</a:t>
            </a:r>
            <a:r>
              <a:rPr lang="en-US" dirty="0"/>
              <a:t> </a:t>
            </a:r>
            <a:r>
              <a:rPr lang="en-US" dirty="0" err="1"/>
              <a:t>asignar</a:t>
            </a:r>
            <a:r>
              <a:rPr lang="en-US" dirty="0"/>
              <a:t> </a:t>
            </a:r>
            <a:r>
              <a:rPr lang="en-US" dirty="0" err="1"/>
              <a:t>nuevos</a:t>
            </a:r>
            <a:r>
              <a:rPr lang="en-US" dirty="0"/>
              <a:t> </a:t>
            </a:r>
            <a:r>
              <a:rPr lang="en-US" dirty="0" err="1"/>
              <a:t>valores</a:t>
            </a:r>
            <a:r>
              <a:rPr lang="en-US" dirty="0"/>
              <a:t> a </a:t>
            </a:r>
            <a:r>
              <a:rPr lang="en-US" dirty="0" err="1"/>
              <a:t>una</a:t>
            </a:r>
            <a:r>
              <a:rPr lang="en-US" dirty="0"/>
              <a:t> las </a:t>
            </a:r>
            <a:r>
              <a:rPr lang="en-US" dirty="0" err="1"/>
              <a:t>llaves</a:t>
            </a:r>
            <a:r>
              <a:rPr lang="en-US" dirty="0"/>
              <a:t>.</a:t>
            </a:r>
          </a:p>
          <a:p>
            <a:pPr>
              <a:buNone/>
            </a:pPr>
            <a:r>
              <a:rPr lang="en-US" b="1" dirty="0" err="1"/>
              <a:t>dic</a:t>
            </a:r>
            <a:r>
              <a:rPr lang="en-US" b="1" dirty="0"/>
              <a:t>[key]=value</a:t>
            </a:r>
            <a:r>
              <a:rPr lang="en-US" dirty="0"/>
              <a:t> </a:t>
            </a:r>
            <a:r>
              <a:rPr lang="en-US" dirty="0" err="1"/>
              <a:t>asignará</a:t>
            </a:r>
            <a:r>
              <a:rPr lang="en-US" dirty="0"/>
              <a:t> un nuevo valor a la </a:t>
            </a:r>
            <a:r>
              <a:rPr lang="en-US" dirty="0" err="1"/>
              <a:t>llave</a:t>
            </a:r>
            <a:r>
              <a:rPr lang="en-US" dirty="0"/>
              <a:t> </a:t>
            </a:r>
            <a:r>
              <a:rPr lang="en-US" b="1" dirty="0"/>
              <a:t>key</a:t>
            </a:r>
            <a:r>
              <a:rPr lang="en-US" dirty="0"/>
              <a:t>, solo </a:t>
            </a:r>
            <a:r>
              <a:rPr lang="en-US" dirty="0" err="1"/>
              <a:t>si</a:t>
            </a:r>
            <a:r>
              <a:rPr lang="en-US" dirty="0"/>
              <a:t> la </a:t>
            </a:r>
            <a:r>
              <a:rPr lang="en-US" dirty="0" err="1"/>
              <a:t>llave</a:t>
            </a:r>
            <a:r>
              <a:rPr lang="en-US" dirty="0"/>
              <a:t> </a:t>
            </a:r>
            <a:r>
              <a:rPr lang="en-US" dirty="0" err="1"/>
              <a:t>ya</a:t>
            </a:r>
            <a:r>
              <a:rPr lang="en-US" dirty="0"/>
              <a:t> </a:t>
            </a:r>
            <a:r>
              <a:rPr lang="en-US" dirty="0" err="1"/>
              <a:t>pertenece</a:t>
            </a:r>
            <a:r>
              <a:rPr lang="en-US" dirty="0"/>
              <a:t> al </a:t>
            </a:r>
            <a:r>
              <a:rPr lang="en-US" dirty="0" err="1"/>
              <a:t>diccionario</a:t>
            </a:r>
            <a:r>
              <a:rPr lang="en-US" dirty="0"/>
              <a:t>. </a:t>
            </a:r>
          </a:p>
          <a:p>
            <a:pPr>
              <a:buNone/>
            </a:pP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caso</a:t>
            </a:r>
            <a:r>
              <a:rPr lang="en-US" dirty="0"/>
              <a:t> de que la </a:t>
            </a:r>
            <a:r>
              <a:rPr lang="en-US" dirty="0" err="1"/>
              <a:t>llave</a:t>
            </a:r>
            <a:r>
              <a:rPr lang="en-US" dirty="0"/>
              <a:t> no </a:t>
            </a:r>
            <a:r>
              <a:rPr lang="en-US" dirty="0" err="1"/>
              <a:t>exista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el </a:t>
            </a:r>
            <a:r>
              <a:rPr lang="en-US" dirty="0" err="1"/>
              <a:t>diccionario</a:t>
            </a:r>
            <a:r>
              <a:rPr lang="en-US" dirty="0"/>
              <a:t>, </a:t>
            </a:r>
            <a:r>
              <a:rPr lang="en-US" dirty="0" err="1"/>
              <a:t>añadira</a:t>
            </a:r>
            <a:r>
              <a:rPr lang="en-US" dirty="0"/>
              <a:t> el nuevo par </a:t>
            </a:r>
            <a:r>
              <a:rPr lang="en-US" b="1" dirty="0"/>
              <a:t>(</a:t>
            </a:r>
            <a:r>
              <a:rPr lang="en-US" b="1" dirty="0" err="1"/>
              <a:t>key:value</a:t>
            </a:r>
            <a:r>
              <a:rPr lang="en-US" b="1" dirty="0"/>
              <a:t>)</a:t>
            </a:r>
            <a:r>
              <a:rPr lang="en-US" dirty="0"/>
              <a:t> al </a:t>
            </a:r>
            <a:r>
              <a:rPr lang="en-US" dirty="0" err="1"/>
              <a:t>diccionario</a:t>
            </a:r>
            <a:r>
              <a:rPr lang="en-US" dirty="0"/>
              <a:t>.</a:t>
            </a:r>
          </a:p>
          <a:p>
            <a:endParaRPr lang="en-US" dirty="0"/>
          </a:p>
          <a:p>
            <a:endParaRPr lang="en-US" sz="2400" dirty="0"/>
          </a:p>
        </p:txBody>
      </p:sp>
      <p:sp>
        <p:nvSpPr>
          <p:cNvPr id="14" name="17 CuadroTexto">
            <a:extLst>
              <a:ext uri="{FF2B5EF4-FFF2-40B4-BE49-F238E27FC236}">
                <a16:creationId xmlns:a16="http://schemas.microsoft.com/office/drawing/2014/main" id="{FE210990-BB28-C34F-8C39-11BDC67ADFD8}"/>
              </a:ext>
            </a:extLst>
          </p:cNvPr>
          <p:cNvSpPr txBox="1"/>
          <p:nvPr/>
        </p:nvSpPr>
        <p:spPr>
          <a:xfrm>
            <a:off x="2985122" y="499899"/>
            <a:ext cx="3173756" cy="984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AR" sz="2000" b="1" dirty="0">
                <a:solidFill>
                  <a:schemeClr val="bg1"/>
                </a:solidFill>
                <a:latin typeface="TeXGyreAdventor" pitchFamily="50" charset="0"/>
              </a:rPr>
              <a:t> - </a:t>
            </a:r>
            <a:r>
              <a:rPr lang="es-AR" sz="2000" b="1" u="sng" dirty="0">
                <a:solidFill>
                  <a:schemeClr val="bg1"/>
                </a:solidFill>
                <a:latin typeface="TeXGyreAdventor" pitchFamily="50" charset="0"/>
              </a:rPr>
              <a:t>Tipos de Datos Definidos por el Usuario</a:t>
            </a:r>
            <a:r>
              <a:rPr lang="es-AR" sz="2000" b="1" dirty="0">
                <a:solidFill>
                  <a:schemeClr val="bg1"/>
                </a:solidFill>
                <a:latin typeface="TeXGyreAdventor" pitchFamily="50" charset="0"/>
              </a:rPr>
              <a:t>-</a:t>
            </a:r>
          </a:p>
          <a:p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129862106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16 Imagen">
            <a:extLst>
              <a:ext uri="{FF2B5EF4-FFF2-40B4-BE49-F238E27FC236}">
                <a16:creationId xmlns:a16="http://schemas.microsoft.com/office/drawing/2014/main" id="{E18833CA-28BE-584F-9880-8012D82710A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580"/>
            <a:ext cx="9144000" cy="1171495"/>
          </a:xfrm>
          <a:prstGeom prst="rect">
            <a:avLst/>
          </a:prstGeom>
        </p:spPr>
      </p:pic>
      <p:sp>
        <p:nvSpPr>
          <p:cNvPr id="11" name="17 CuadroTexto">
            <a:extLst>
              <a:ext uri="{FF2B5EF4-FFF2-40B4-BE49-F238E27FC236}">
                <a16:creationId xmlns:a16="http://schemas.microsoft.com/office/drawing/2014/main" id="{6BED238C-223E-7F4A-BFF1-2F3910B2B049}"/>
              </a:ext>
            </a:extLst>
          </p:cNvPr>
          <p:cNvSpPr txBox="1"/>
          <p:nvPr/>
        </p:nvSpPr>
        <p:spPr>
          <a:xfrm>
            <a:off x="212156" y="87951"/>
            <a:ext cx="327972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2400" b="1" dirty="0">
                <a:solidFill>
                  <a:schemeClr val="bg1"/>
                </a:solidFill>
                <a:latin typeface="TeXGyreAdventor" pitchFamily="50" charset="0"/>
              </a:rPr>
              <a:t>Algoritmos y Estructuras</a:t>
            </a:r>
          </a:p>
          <a:p>
            <a:r>
              <a:rPr lang="es-AR" sz="2400" b="1" dirty="0">
                <a:solidFill>
                  <a:schemeClr val="bg1"/>
                </a:solidFill>
                <a:latin typeface="TeXGyreAdventor" pitchFamily="50" charset="0"/>
              </a:rPr>
              <a:t>de Datos</a:t>
            </a:r>
          </a:p>
          <a:p>
            <a:endParaRPr lang="es-AR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711F11B-CFCC-6F4C-987C-61BCBAF2DD91}"/>
              </a:ext>
            </a:extLst>
          </p:cNvPr>
          <p:cNvSpPr txBox="1"/>
          <p:nvPr/>
        </p:nvSpPr>
        <p:spPr>
          <a:xfrm>
            <a:off x="0" y="1173075"/>
            <a:ext cx="213391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AR" sz="24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Arial" pitchFamily="34" charset="0"/>
                <a:cs typeface="Arial" pitchFamily="34" charset="0"/>
              </a:rPr>
              <a:t>Diccionarios:</a:t>
            </a:r>
          </a:p>
        </p:txBody>
      </p:sp>
      <p:sp>
        <p:nvSpPr>
          <p:cNvPr id="17" name="Los algoritmos se organizan en dos aspectos inseparables:">
            <a:extLst>
              <a:ext uri="{FF2B5EF4-FFF2-40B4-BE49-F238E27FC236}">
                <a16:creationId xmlns:a16="http://schemas.microsoft.com/office/drawing/2014/main" id="{AB2CC5FA-CD2B-F24E-BA05-2FC720BB331A}"/>
              </a:ext>
            </a:extLst>
          </p:cNvPr>
          <p:cNvSpPr txBox="1"/>
          <p:nvPr/>
        </p:nvSpPr>
        <p:spPr>
          <a:xfrm>
            <a:off x="323528" y="1719668"/>
            <a:ext cx="9074825" cy="48731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9" rIns="45719">
            <a:spAutoFit/>
          </a:bodyPr>
          <a:lstStyle>
            <a:lvl1pPr>
              <a:spcBef>
                <a:spcPts val="1600"/>
              </a:spcBef>
              <a:buSzPct val="100000"/>
              <a:buChar char="•"/>
              <a:defRPr sz="2800"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>
              <a:buNone/>
            </a:pPr>
            <a:r>
              <a:rPr lang="en-US" sz="2000" dirty="0" err="1"/>
              <a:t>Aquí</a:t>
            </a:r>
            <a:r>
              <a:rPr lang="en-US" sz="2000" dirty="0"/>
              <a:t> </a:t>
            </a:r>
            <a:r>
              <a:rPr lang="en-US" sz="2000" dirty="0" err="1"/>
              <a:t>tenemos</a:t>
            </a:r>
            <a:r>
              <a:rPr lang="en-US" sz="2000" dirty="0"/>
              <a:t> </a:t>
            </a:r>
            <a:r>
              <a:rPr lang="en-US" sz="2000" dirty="0" err="1"/>
              <a:t>algunos</a:t>
            </a:r>
            <a:r>
              <a:rPr lang="en-US" sz="2000" dirty="0"/>
              <a:t> </a:t>
            </a:r>
            <a:r>
              <a:rPr lang="en-US" sz="2000" dirty="0" err="1"/>
              <a:t>métodos</a:t>
            </a:r>
            <a:r>
              <a:rPr lang="en-US" sz="2000" dirty="0"/>
              <a:t> </a:t>
            </a:r>
            <a:r>
              <a:rPr lang="en-US" sz="2000" dirty="0" err="1"/>
              <a:t>útiles</a:t>
            </a:r>
            <a:r>
              <a:rPr lang="en-US" sz="2000" dirty="0"/>
              <a:t> para </a:t>
            </a:r>
            <a:r>
              <a:rPr lang="en-US" sz="2000" dirty="0" err="1"/>
              <a:t>usar</a:t>
            </a:r>
            <a:r>
              <a:rPr lang="en-US" sz="2000" dirty="0"/>
              <a:t> </a:t>
            </a:r>
            <a:r>
              <a:rPr lang="en-US" sz="2000" dirty="0" err="1"/>
              <a:t>diccionarios</a:t>
            </a:r>
            <a:r>
              <a:rPr lang="en-US" sz="2000" dirty="0"/>
              <a:t>. </a:t>
            </a:r>
          </a:p>
          <a:p>
            <a:r>
              <a:rPr lang="en-US" sz="2000" dirty="0"/>
              <a:t> </a:t>
            </a:r>
            <a:r>
              <a:rPr lang="en-US" sz="2000" b="1" dirty="0" err="1"/>
              <a:t>dic.item</a:t>
            </a:r>
            <a:r>
              <a:rPr lang="en-US" sz="2000" b="1" dirty="0"/>
              <a:t>()</a:t>
            </a:r>
            <a:r>
              <a:rPr lang="en-US" sz="2000" dirty="0"/>
              <a:t>: </a:t>
            </a:r>
            <a:r>
              <a:rPr lang="en-US" sz="2000" dirty="0" err="1"/>
              <a:t>retorna</a:t>
            </a:r>
            <a:r>
              <a:rPr lang="en-US" sz="2000" dirty="0"/>
              <a:t> </a:t>
            </a:r>
            <a:r>
              <a:rPr lang="en-US" sz="2000" dirty="0" err="1"/>
              <a:t>una</a:t>
            </a:r>
            <a:r>
              <a:rPr lang="en-US" sz="2000" dirty="0"/>
              <a:t> </a:t>
            </a:r>
            <a:r>
              <a:rPr lang="en-US" sz="2000" b="1" i="1" dirty="0" err="1"/>
              <a:t>lista</a:t>
            </a:r>
            <a:r>
              <a:rPr lang="en-US" sz="2000" dirty="0"/>
              <a:t> de </a:t>
            </a:r>
            <a:r>
              <a:rPr lang="en-US" sz="2000" dirty="0" err="1"/>
              <a:t>los</a:t>
            </a:r>
            <a:r>
              <a:rPr lang="en-US" sz="2000" dirty="0"/>
              <a:t> </a:t>
            </a:r>
            <a:r>
              <a:rPr lang="en-US" sz="2000" dirty="0" err="1"/>
              <a:t>valores</a:t>
            </a:r>
            <a:r>
              <a:rPr lang="en-US" sz="2000" dirty="0"/>
              <a:t> </a:t>
            </a:r>
            <a:r>
              <a:rPr lang="en-US" sz="2000" dirty="0" err="1"/>
              <a:t>en</a:t>
            </a:r>
            <a:r>
              <a:rPr lang="en-US" sz="2000" dirty="0"/>
              <a:t> el </a:t>
            </a:r>
            <a:r>
              <a:rPr lang="en-US" sz="2000" dirty="0" err="1"/>
              <a:t>diccionario</a:t>
            </a:r>
            <a:endParaRPr lang="en-US" sz="2000" dirty="0"/>
          </a:p>
          <a:p>
            <a:r>
              <a:rPr lang="en-US" sz="2000" b="1" dirty="0"/>
              <a:t> </a:t>
            </a:r>
            <a:r>
              <a:rPr lang="en-US" sz="2000" b="1" dirty="0" err="1"/>
              <a:t>dic.keys</a:t>
            </a:r>
            <a:r>
              <a:rPr lang="en-US" sz="2000" b="1" dirty="0"/>
              <a:t>()</a:t>
            </a:r>
            <a:r>
              <a:rPr lang="en-US" sz="2000" dirty="0"/>
              <a:t>: solo </a:t>
            </a:r>
            <a:r>
              <a:rPr lang="en-US" sz="2000" dirty="0" err="1"/>
              <a:t>retorna</a:t>
            </a:r>
            <a:r>
              <a:rPr lang="en-US" sz="2000" dirty="0"/>
              <a:t> </a:t>
            </a:r>
            <a:r>
              <a:rPr lang="en-US" sz="2000" dirty="0" err="1"/>
              <a:t>los</a:t>
            </a:r>
            <a:r>
              <a:rPr lang="en-US" sz="2000" dirty="0"/>
              <a:t> </a:t>
            </a:r>
            <a:r>
              <a:rPr lang="en-US" sz="2000" dirty="0" err="1"/>
              <a:t>valores</a:t>
            </a:r>
            <a:r>
              <a:rPr lang="en-US" sz="2000" dirty="0"/>
              <a:t> de las </a:t>
            </a:r>
            <a:r>
              <a:rPr lang="en-US" sz="2000" dirty="0" err="1"/>
              <a:t>llaves</a:t>
            </a:r>
            <a:r>
              <a:rPr lang="en-US" sz="2000" dirty="0"/>
              <a:t> del </a:t>
            </a:r>
            <a:r>
              <a:rPr lang="en-US" sz="2000" dirty="0" err="1"/>
              <a:t>diccionario</a:t>
            </a:r>
            <a:r>
              <a:rPr lang="en-US" sz="2000" dirty="0"/>
              <a:t>.</a:t>
            </a:r>
          </a:p>
          <a:p>
            <a:r>
              <a:rPr lang="en-US" sz="2000" dirty="0"/>
              <a:t> </a:t>
            </a:r>
            <a:r>
              <a:rPr lang="en-US" sz="2000" b="1" dirty="0" err="1"/>
              <a:t>dic.values</a:t>
            </a:r>
            <a:r>
              <a:rPr lang="en-US" sz="2000" b="1" dirty="0"/>
              <a:t>()</a:t>
            </a:r>
            <a:r>
              <a:rPr lang="en-US" sz="2000" dirty="0"/>
              <a:t>: solo </a:t>
            </a:r>
            <a:r>
              <a:rPr lang="en-US" sz="2000" dirty="0" err="1"/>
              <a:t>retorna</a:t>
            </a:r>
            <a:r>
              <a:rPr lang="en-US" sz="2000" dirty="0"/>
              <a:t> </a:t>
            </a:r>
            <a:r>
              <a:rPr lang="en-US" sz="2000" dirty="0" err="1"/>
              <a:t>los</a:t>
            </a:r>
            <a:r>
              <a:rPr lang="en-US" sz="2000" dirty="0"/>
              <a:t> </a:t>
            </a:r>
            <a:r>
              <a:rPr lang="en-US" sz="2000" dirty="0" err="1"/>
              <a:t>valores</a:t>
            </a:r>
            <a:r>
              <a:rPr lang="en-US" sz="2000" dirty="0"/>
              <a:t> del </a:t>
            </a:r>
            <a:r>
              <a:rPr lang="en-US" sz="2000" dirty="0" err="1"/>
              <a:t>diccionario</a:t>
            </a:r>
            <a:r>
              <a:rPr lang="en-US" sz="2000" dirty="0"/>
              <a:t>.</a:t>
            </a:r>
          </a:p>
          <a:p>
            <a:r>
              <a:rPr lang="en-US" sz="2000" dirty="0"/>
              <a:t> </a:t>
            </a:r>
            <a:r>
              <a:rPr lang="en-US" sz="2000" b="1" dirty="0" err="1"/>
              <a:t>dic.copy</a:t>
            </a:r>
            <a:r>
              <a:rPr lang="en-US" sz="2000" b="1" dirty="0"/>
              <a:t>()</a:t>
            </a:r>
            <a:r>
              <a:rPr lang="en-US" sz="2000" dirty="0"/>
              <a:t>: </a:t>
            </a:r>
            <a:r>
              <a:rPr lang="en-US" sz="2000" dirty="0" err="1"/>
              <a:t>retorna</a:t>
            </a:r>
            <a:r>
              <a:rPr lang="en-US" sz="2000" dirty="0"/>
              <a:t> </a:t>
            </a:r>
            <a:r>
              <a:rPr lang="en-US" sz="2000" dirty="0" err="1"/>
              <a:t>una</a:t>
            </a:r>
            <a:r>
              <a:rPr lang="en-US" sz="2000" dirty="0"/>
              <a:t> </a:t>
            </a:r>
            <a:r>
              <a:rPr lang="en-US" sz="2000" dirty="0" err="1"/>
              <a:t>copia</a:t>
            </a:r>
            <a:r>
              <a:rPr lang="en-US" sz="2000" dirty="0"/>
              <a:t> del </a:t>
            </a:r>
            <a:r>
              <a:rPr lang="en-US" sz="2000" dirty="0" err="1"/>
              <a:t>diccionario</a:t>
            </a:r>
            <a:r>
              <a:rPr lang="en-US" sz="2000" dirty="0"/>
              <a:t> $\</a:t>
            </a:r>
            <a:r>
              <a:rPr lang="en-US" sz="2000" dirty="0" err="1"/>
              <a:t>texttt</a:t>
            </a:r>
            <a:r>
              <a:rPr lang="en-US" sz="2000" dirty="0"/>
              <a:t>{</a:t>
            </a:r>
            <a:r>
              <a:rPr lang="en-US" sz="2000" dirty="0" err="1"/>
              <a:t>dic</a:t>
            </a:r>
            <a:r>
              <a:rPr lang="en-US" sz="2000" dirty="0"/>
              <a:t>}$. </a:t>
            </a:r>
          </a:p>
          <a:p>
            <a:r>
              <a:rPr lang="en-US" sz="2000" dirty="0"/>
              <a:t> </a:t>
            </a:r>
            <a:r>
              <a:rPr lang="en-US" sz="2000" b="1" dirty="0" err="1"/>
              <a:t>dic.pop</a:t>
            </a:r>
            <a:r>
              <a:rPr lang="en-US" sz="2000" b="1" dirty="0"/>
              <a:t>(key)</a:t>
            </a:r>
            <a:r>
              <a:rPr lang="en-US" sz="2000" dirty="0"/>
              <a:t>: </a:t>
            </a:r>
            <a:r>
              <a:rPr lang="en-US" sz="2000" dirty="0" err="1"/>
              <a:t>retorna</a:t>
            </a:r>
            <a:r>
              <a:rPr lang="en-US" sz="2000" dirty="0"/>
              <a:t> y </a:t>
            </a:r>
            <a:r>
              <a:rPr lang="en-US" sz="2000" dirty="0" err="1"/>
              <a:t>quita</a:t>
            </a:r>
            <a:r>
              <a:rPr lang="en-US" sz="2000" dirty="0"/>
              <a:t> del </a:t>
            </a:r>
            <a:r>
              <a:rPr lang="en-US" sz="2000" dirty="0" err="1"/>
              <a:t>diccionario</a:t>
            </a:r>
            <a:r>
              <a:rPr lang="en-US" sz="2000" dirty="0"/>
              <a:t> el valor que </a:t>
            </a:r>
            <a:r>
              <a:rPr lang="en-US" sz="2000" dirty="0" err="1"/>
              <a:t>referido</a:t>
            </a:r>
            <a:r>
              <a:rPr lang="en-US" sz="2000" dirty="0"/>
              <a:t> </a:t>
            </a:r>
            <a:r>
              <a:rPr lang="en-US" sz="2000" dirty="0" err="1"/>
              <a:t>por</a:t>
            </a:r>
            <a:r>
              <a:rPr lang="en-US" sz="2000" dirty="0"/>
              <a:t> la </a:t>
            </a:r>
            <a:r>
              <a:rPr lang="en-US" sz="2000" dirty="0" err="1"/>
              <a:t>llave</a:t>
            </a:r>
            <a:r>
              <a:rPr lang="en-US" sz="2000" dirty="0"/>
              <a:t> </a:t>
            </a:r>
            <a:r>
              <a:rPr lang="en-US" sz="2000" b="1" dirty="0"/>
              <a:t>key</a:t>
            </a:r>
          </a:p>
          <a:p>
            <a:r>
              <a:rPr lang="en-US" sz="2000" dirty="0"/>
              <a:t> </a:t>
            </a:r>
            <a:r>
              <a:rPr lang="en-US" sz="2000" b="1" dirty="0" err="1"/>
              <a:t>dic.popitem</a:t>
            </a:r>
            <a:r>
              <a:rPr lang="en-US" sz="2000" b="1" dirty="0"/>
              <a:t>()</a:t>
            </a:r>
            <a:r>
              <a:rPr lang="en-US" sz="2000" dirty="0"/>
              <a:t> </a:t>
            </a:r>
            <a:r>
              <a:rPr lang="en-US" sz="2000" dirty="0" err="1"/>
              <a:t>retorna</a:t>
            </a:r>
            <a:r>
              <a:rPr lang="en-US" sz="2000" dirty="0"/>
              <a:t> y </a:t>
            </a:r>
            <a:r>
              <a:rPr lang="en-US" sz="2000" dirty="0" err="1"/>
              <a:t>quita</a:t>
            </a:r>
            <a:r>
              <a:rPr lang="en-US" sz="2000" dirty="0"/>
              <a:t> del </a:t>
            </a:r>
            <a:r>
              <a:rPr lang="en-US" sz="2000" dirty="0" err="1"/>
              <a:t>diccionario</a:t>
            </a:r>
            <a:r>
              <a:rPr lang="en-US" sz="2000" dirty="0"/>
              <a:t> el </a:t>
            </a:r>
            <a:r>
              <a:rPr lang="en-US" sz="2000" dirty="0" err="1"/>
              <a:t>último</a:t>
            </a:r>
            <a:r>
              <a:rPr lang="en-US" sz="2000" dirty="0"/>
              <a:t> item </a:t>
            </a:r>
            <a:r>
              <a:rPr lang="en-US" sz="2000" dirty="0" err="1"/>
              <a:t>ingresado</a:t>
            </a:r>
            <a:r>
              <a:rPr lang="en-US" sz="2000" dirty="0"/>
              <a:t>/</a:t>
            </a:r>
            <a:r>
              <a:rPr lang="en-US" sz="2000" dirty="0" err="1"/>
              <a:t>añadido</a:t>
            </a:r>
            <a:r>
              <a:rPr lang="en-US" sz="2000" dirty="0"/>
              <a:t>.</a:t>
            </a:r>
          </a:p>
          <a:p>
            <a:r>
              <a:rPr lang="en-US" sz="2000" dirty="0"/>
              <a:t> </a:t>
            </a:r>
            <a:r>
              <a:rPr lang="en-US" sz="2000" b="1" dirty="0" err="1"/>
              <a:t>dic.update</a:t>
            </a:r>
            <a:r>
              <a:rPr lang="en-US" sz="2000" b="1" dirty="0"/>
              <a:t>(</a:t>
            </a:r>
            <a:r>
              <a:rPr lang="en-US" sz="2000" b="1" dirty="0" err="1"/>
              <a:t>newdic</a:t>
            </a:r>
            <a:r>
              <a:rPr lang="en-US" sz="2000" b="1" dirty="0"/>
              <a:t>)</a:t>
            </a:r>
            <a:r>
              <a:rPr lang="en-US" sz="2000" dirty="0"/>
              <a:t> </a:t>
            </a:r>
            <a:r>
              <a:rPr lang="en-US" sz="2000" dirty="0" err="1"/>
              <a:t>actualiza</a:t>
            </a:r>
            <a:r>
              <a:rPr lang="en-US" sz="2000" dirty="0"/>
              <a:t> </a:t>
            </a:r>
            <a:r>
              <a:rPr lang="en-US" sz="2000" b="1" dirty="0" err="1"/>
              <a:t>dic</a:t>
            </a:r>
            <a:r>
              <a:rPr lang="en-US" sz="2000" dirty="0"/>
              <a:t> con </a:t>
            </a:r>
            <a:r>
              <a:rPr lang="en-US" sz="2000" dirty="0" err="1"/>
              <a:t>los</a:t>
            </a:r>
            <a:r>
              <a:rPr lang="en-US" sz="2000" dirty="0"/>
              <a:t> </a:t>
            </a:r>
            <a:r>
              <a:rPr lang="en-US" sz="2000" dirty="0" err="1"/>
              <a:t>valores</a:t>
            </a:r>
            <a:r>
              <a:rPr lang="en-US" sz="2000" dirty="0"/>
              <a:t> de </a:t>
            </a:r>
            <a:r>
              <a:rPr lang="en-US" sz="2000" dirty="0" err="1"/>
              <a:t>otro</a:t>
            </a:r>
            <a:r>
              <a:rPr lang="en-US" sz="2000" dirty="0"/>
              <a:t> </a:t>
            </a:r>
            <a:r>
              <a:rPr lang="en-US" sz="2000" dirty="0" err="1"/>
              <a:t>diccionario</a:t>
            </a:r>
            <a:r>
              <a:rPr lang="en-US" sz="2000" dirty="0"/>
              <a:t> </a:t>
            </a:r>
            <a:r>
              <a:rPr lang="en-US" sz="2000" b="1" dirty="0" err="1"/>
              <a:t>newdic</a:t>
            </a:r>
            <a:r>
              <a:rPr lang="en-US" sz="2000" dirty="0"/>
              <a:t>, solo para las </a:t>
            </a:r>
            <a:r>
              <a:rPr lang="en-US" sz="2000" dirty="0" err="1"/>
              <a:t>llaves</a:t>
            </a:r>
            <a:r>
              <a:rPr lang="en-US" sz="2000" dirty="0"/>
              <a:t> de </a:t>
            </a:r>
            <a:r>
              <a:rPr lang="en-US" sz="2000" b="1" dirty="0" err="1"/>
              <a:t>newdic</a:t>
            </a:r>
            <a:r>
              <a:rPr lang="en-US" sz="2000" dirty="0"/>
              <a:t> que no </a:t>
            </a:r>
            <a:r>
              <a:rPr lang="en-US" sz="2000" dirty="0" err="1"/>
              <a:t>están</a:t>
            </a:r>
            <a:r>
              <a:rPr lang="en-US" sz="2000" dirty="0"/>
              <a:t> </a:t>
            </a:r>
            <a:r>
              <a:rPr lang="en-US" sz="2000" dirty="0" err="1"/>
              <a:t>en</a:t>
            </a:r>
            <a:r>
              <a:rPr lang="en-US" sz="2000" dirty="0"/>
              <a:t> </a:t>
            </a:r>
            <a:r>
              <a:rPr lang="en-US" sz="2000" b="1" dirty="0" err="1"/>
              <a:t>dic</a:t>
            </a:r>
            <a:r>
              <a:rPr lang="en-US" sz="2000" dirty="0"/>
              <a:t>.</a:t>
            </a:r>
          </a:p>
          <a:p>
            <a:endParaRPr lang="en-US" sz="2400" dirty="0"/>
          </a:p>
        </p:txBody>
      </p:sp>
      <p:sp>
        <p:nvSpPr>
          <p:cNvPr id="14" name="17 CuadroTexto">
            <a:extLst>
              <a:ext uri="{FF2B5EF4-FFF2-40B4-BE49-F238E27FC236}">
                <a16:creationId xmlns:a16="http://schemas.microsoft.com/office/drawing/2014/main" id="{FE210990-BB28-C34F-8C39-11BDC67ADFD8}"/>
              </a:ext>
            </a:extLst>
          </p:cNvPr>
          <p:cNvSpPr txBox="1"/>
          <p:nvPr/>
        </p:nvSpPr>
        <p:spPr>
          <a:xfrm>
            <a:off x="2985122" y="499899"/>
            <a:ext cx="3173756" cy="984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AR" sz="2000" b="1" dirty="0">
                <a:solidFill>
                  <a:schemeClr val="bg1"/>
                </a:solidFill>
                <a:latin typeface="TeXGyreAdventor" pitchFamily="50" charset="0"/>
              </a:rPr>
              <a:t> - </a:t>
            </a:r>
            <a:r>
              <a:rPr lang="es-AR" sz="2000" b="1" u="sng" dirty="0">
                <a:solidFill>
                  <a:schemeClr val="bg1"/>
                </a:solidFill>
                <a:latin typeface="TeXGyreAdventor" pitchFamily="50" charset="0"/>
              </a:rPr>
              <a:t>Tipos de Datos Definidos por el Usuario</a:t>
            </a:r>
            <a:r>
              <a:rPr lang="es-AR" sz="2000" b="1" dirty="0">
                <a:solidFill>
                  <a:schemeClr val="bg1"/>
                </a:solidFill>
                <a:latin typeface="TeXGyreAdventor" pitchFamily="50" charset="0"/>
              </a:rPr>
              <a:t>-</a:t>
            </a:r>
          </a:p>
          <a:p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340118813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16 Imagen">
            <a:extLst>
              <a:ext uri="{FF2B5EF4-FFF2-40B4-BE49-F238E27FC236}">
                <a16:creationId xmlns:a16="http://schemas.microsoft.com/office/drawing/2014/main" id="{E18833CA-28BE-584F-9880-8012D82710A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580"/>
            <a:ext cx="9144000" cy="1171495"/>
          </a:xfrm>
          <a:prstGeom prst="rect">
            <a:avLst/>
          </a:prstGeom>
        </p:spPr>
      </p:pic>
      <p:sp>
        <p:nvSpPr>
          <p:cNvPr id="11" name="17 CuadroTexto">
            <a:extLst>
              <a:ext uri="{FF2B5EF4-FFF2-40B4-BE49-F238E27FC236}">
                <a16:creationId xmlns:a16="http://schemas.microsoft.com/office/drawing/2014/main" id="{6BED238C-223E-7F4A-BFF1-2F3910B2B049}"/>
              </a:ext>
            </a:extLst>
          </p:cNvPr>
          <p:cNvSpPr txBox="1"/>
          <p:nvPr/>
        </p:nvSpPr>
        <p:spPr>
          <a:xfrm>
            <a:off x="212156" y="87951"/>
            <a:ext cx="327972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2400" b="1" dirty="0">
                <a:solidFill>
                  <a:schemeClr val="bg1"/>
                </a:solidFill>
                <a:latin typeface="TeXGyreAdventor" pitchFamily="50" charset="0"/>
              </a:rPr>
              <a:t>Algoritmos y Estructuras</a:t>
            </a:r>
          </a:p>
          <a:p>
            <a:r>
              <a:rPr lang="es-AR" sz="2400" b="1" dirty="0">
                <a:solidFill>
                  <a:schemeClr val="bg1"/>
                </a:solidFill>
                <a:latin typeface="TeXGyreAdventor" pitchFamily="50" charset="0"/>
              </a:rPr>
              <a:t>de Datos</a:t>
            </a:r>
          </a:p>
          <a:p>
            <a:endParaRPr lang="es-AR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711F11B-CFCC-6F4C-987C-61BCBAF2DD91}"/>
              </a:ext>
            </a:extLst>
          </p:cNvPr>
          <p:cNvSpPr txBox="1"/>
          <p:nvPr/>
        </p:nvSpPr>
        <p:spPr>
          <a:xfrm>
            <a:off x="0" y="1173075"/>
            <a:ext cx="117692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AR" sz="24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Arial" pitchFamily="34" charset="0"/>
                <a:cs typeface="Arial" pitchFamily="34" charset="0"/>
              </a:rPr>
              <a:t>Listas:</a:t>
            </a:r>
          </a:p>
        </p:txBody>
      </p:sp>
      <p:sp>
        <p:nvSpPr>
          <p:cNvPr id="17" name="Los algoritmos se organizan en dos aspectos inseparables:">
            <a:extLst>
              <a:ext uri="{FF2B5EF4-FFF2-40B4-BE49-F238E27FC236}">
                <a16:creationId xmlns:a16="http://schemas.microsoft.com/office/drawing/2014/main" id="{AB2CC5FA-CD2B-F24E-BA05-2FC720BB331A}"/>
              </a:ext>
            </a:extLst>
          </p:cNvPr>
          <p:cNvSpPr txBox="1"/>
          <p:nvPr/>
        </p:nvSpPr>
        <p:spPr>
          <a:xfrm>
            <a:off x="395537" y="1726171"/>
            <a:ext cx="8568952" cy="14055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9" rIns="45719">
            <a:spAutoFit/>
          </a:bodyPr>
          <a:lstStyle>
            <a:lvl1pPr>
              <a:spcBef>
                <a:spcPts val="1600"/>
              </a:spcBef>
              <a:buSzPct val="100000"/>
              <a:buChar char="•"/>
              <a:defRPr sz="2800"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>
              <a:buNone/>
            </a:pPr>
            <a:r>
              <a:rPr lang="en-US" sz="2400" dirty="0"/>
              <a:t>Una </a:t>
            </a:r>
            <a:r>
              <a:rPr lang="en-US" sz="2400" b="1" dirty="0" err="1"/>
              <a:t>lista</a:t>
            </a:r>
            <a:r>
              <a:rPr lang="en-US" sz="2400" dirty="0"/>
              <a:t> </a:t>
            </a:r>
            <a:r>
              <a:rPr lang="en-US" sz="2400" dirty="0" err="1"/>
              <a:t>es</a:t>
            </a:r>
            <a:r>
              <a:rPr lang="en-US" sz="2400" dirty="0"/>
              <a:t> un </a:t>
            </a:r>
            <a:r>
              <a:rPr lang="en-US" sz="2400" u="sng" dirty="0" err="1"/>
              <a:t>contenedor</a:t>
            </a:r>
            <a:r>
              <a:rPr lang="en-US" sz="2400" u="sng" dirty="0"/>
              <a:t> </a:t>
            </a:r>
            <a:r>
              <a:rPr lang="en-US" sz="2400" u="sng" dirty="0" err="1"/>
              <a:t>ordenado</a:t>
            </a:r>
            <a:r>
              <a:rPr lang="en-US" sz="2400" u="sng" dirty="0"/>
              <a:t> de </a:t>
            </a:r>
            <a:r>
              <a:rPr lang="en-US" sz="2400" u="sng" dirty="0" err="1"/>
              <a:t>objetos</a:t>
            </a:r>
            <a:r>
              <a:rPr lang="en-US" sz="2400" dirty="0"/>
              <a:t> (</a:t>
            </a:r>
            <a:r>
              <a:rPr lang="en-US" sz="2400" dirty="0" err="1"/>
              <a:t>pueden</a:t>
            </a:r>
            <a:r>
              <a:rPr lang="en-US" sz="2400" dirty="0"/>
              <a:t> </a:t>
            </a:r>
            <a:r>
              <a:rPr lang="en-US" sz="2400" dirty="0" err="1"/>
              <a:t>ser</a:t>
            </a:r>
            <a:r>
              <a:rPr lang="en-US" sz="2400" dirty="0"/>
              <a:t> de </a:t>
            </a:r>
            <a:r>
              <a:rPr lang="en-US" sz="2400" dirty="0" err="1"/>
              <a:t>distinto</a:t>
            </a:r>
            <a:r>
              <a:rPr lang="en-US" sz="2400" dirty="0"/>
              <a:t> </a:t>
            </a:r>
            <a:r>
              <a:rPr lang="en-US" sz="2400" dirty="0" err="1"/>
              <a:t>tipo</a:t>
            </a:r>
            <a:r>
              <a:rPr lang="en-US" sz="2400" dirty="0"/>
              <a:t>). </a:t>
            </a:r>
          </a:p>
          <a:p>
            <a:pPr>
              <a:buNone/>
            </a:pPr>
            <a:r>
              <a:rPr lang="en-US" sz="2400" dirty="0" err="1"/>
              <a:t>Definicion</a:t>
            </a:r>
            <a:r>
              <a:rPr lang="en-US" sz="2400" dirty="0"/>
              <a:t>:</a:t>
            </a:r>
          </a:p>
        </p:txBody>
      </p:sp>
      <p:sp>
        <p:nvSpPr>
          <p:cNvPr id="14" name="17 CuadroTexto">
            <a:extLst>
              <a:ext uri="{FF2B5EF4-FFF2-40B4-BE49-F238E27FC236}">
                <a16:creationId xmlns:a16="http://schemas.microsoft.com/office/drawing/2014/main" id="{FE210990-BB28-C34F-8C39-11BDC67ADFD8}"/>
              </a:ext>
            </a:extLst>
          </p:cNvPr>
          <p:cNvSpPr txBox="1"/>
          <p:nvPr/>
        </p:nvSpPr>
        <p:spPr>
          <a:xfrm>
            <a:off x="2985122" y="499899"/>
            <a:ext cx="3173756" cy="984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AR" sz="2000" b="1" dirty="0">
                <a:solidFill>
                  <a:schemeClr val="bg1"/>
                </a:solidFill>
                <a:latin typeface="TeXGyreAdventor" pitchFamily="50" charset="0"/>
              </a:rPr>
              <a:t> - </a:t>
            </a:r>
            <a:r>
              <a:rPr lang="es-AR" sz="2000" b="1" u="sng" dirty="0">
                <a:solidFill>
                  <a:schemeClr val="bg1"/>
                </a:solidFill>
                <a:latin typeface="TeXGyreAdventor" pitchFamily="50" charset="0"/>
              </a:rPr>
              <a:t>Tipos de Datos Definidos por el Usuario</a:t>
            </a:r>
            <a:r>
              <a:rPr lang="es-AR" sz="2000" b="1" dirty="0">
                <a:solidFill>
                  <a:schemeClr val="bg1"/>
                </a:solidFill>
                <a:latin typeface="TeXGyreAdventor" pitchFamily="50" charset="0"/>
              </a:rPr>
              <a:t>-</a:t>
            </a:r>
          </a:p>
          <a:p>
            <a:endParaRPr lang="es-AR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F19C154-02C1-734D-BCD6-7D9F9FB99FAD}"/>
              </a:ext>
            </a:extLst>
          </p:cNvPr>
          <p:cNvSpPr txBox="1"/>
          <p:nvPr/>
        </p:nvSpPr>
        <p:spPr>
          <a:xfrm>
            <a:off x="217585" y="4804204"/>
            <a:ext cx="9001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err="1"/>
              <a:t>Definición</a:t>
            </a:r>
            <a:r>
              <a:rPr lang="en-US" sz="2400" dirty="0"/>
              <a:t> </a:t>
            </a:r>
            <a:r>
              <a:rPr lang="en-US" sz="2400" dirty="0" err="1"/>
              <a:t>por</a:t>
            </a:r>
            <a:r>
              <a:rPr lang="en-US" sz="2400" dirty="0"/>
              <a:t> </a:t>
            </a:r>
            <a:r>
              <a:rPr lang="en-US" sz="2400" dirty="0" err="1"/>
              <a:t>comprensión</a:t>
            </a:r>
            <a:r>
              <a:rPr lang="en-US" sz="2400" dirty="0"/>
              <a:t>: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A80C912-5191-A849-AFBD-A41F9835319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95736" y="2873720"/>
            <a:ext cx="4559300" cy="12446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56EC24D-5D0F-7948-8136-2F51CF06735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013" y="5426095"/>
            <a:ext cx="9144000" cy="10513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127015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16 Imagen">
            <a:extLst>
              <a:ext uri="{FF2B5EF4-FFF2-40B4-BE49-F238E27FC236}">
                <a16:creationId xmlns:a16="http://schemas.microsoft.com/office/drawing/2014/main" id="{E18833CA-28BE-584F-9880-8012D82710A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580"/>
            <a:ext cx="9144000" cy="1171495"/>
          </a:xfrm>
          <a:prstGeom prst="rect">
            <a:avLst/>
          </a:prstGeom>
        </p:spPr>
      </p:pic>
      <p:sp>
        <p:nvSpPr>
          <p:cNvPr id="11" name="17 CuadroTexto">
            <a:extLst>
              <a:ext uri="{FF2B5EF4-FFF2-40B4-BE49-F238E27FC236}">
                <a16:creationId xmlns:a16="http://schemas.microsoft.com/office/drawing/2014/main" id="{6BED238C-223E-7F4A-BFF1-2F3910B2B049}"/>
              </a:ext>
            </a:extLst>
          </p:cNvPr>
          <p:cNvSpPr txBox="1"/>
          <p:nvPr/>
        </p:nvSpPr>
        <p:spPr>
          <a:xfrm>
            <a:off x="212156" y="87951"/>
            <a:ext cx="327972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2400" b="1" dirty="0">
                <a:solidFill>
                  <a:schemeClr val="bg1"/>
                </a:solidFill>
                <a:latin typeface="TeXGyreAdventor" pitchFamily="50" charset="0"/>
              </a:rPr>
              <a:t>Algoritmos y Estructuras</a:t>
            </a:r>
          </a:p>
          <a:p>
            <a:r>
              <a:rPr lang="es-AR" sz="2400" b="1" dirty="0">
                <a:solidFill>
                  <a:schemeClr val="bg1"/>
                </a:solidFill>
                <a:latin typeface="TeXGyreAdventor" pitchFamily="50" charset="0"/>
              </a:rPr>
              <a:t>de Datos</a:t>
            </a:r>
          </a:p>
          <a:p>
            <a:endParaRPr lang="es-AR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711F11B-CFCC-6F4C-987C-61BCBAF2DD91}"/>
              </a:ext>
            </a:extLst>
          </p:cNvPr>
          <p:cNvSpPr txBox="1"/>
          <p:nvPr/>
        </p:nvSpPr>
        <p:spPr>
          <a:xfrm>
            <a:off x="0" y="1173075"/>
            <a:ext cx="117692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AR" sz="24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Arial" pitchFamily="34" charset="0"/>
                <a:cs typeface="Arial" pitchFamily="34" charset="0"/>
              </a:rPr>
              <a:t>Listas:</a:t>
            </a:r>
          </a:p>
        </p:txBody>
      </p:sp>
      <p:sp>
        <p:nvSpPr>
          <p:cNvPr id="17" name="Los algoritmos se organizan en dos aspectos inseparables:">
            <a:extLst>
              <a:ext uri="{FF2B5EF4-FFF2-40B4-BE49-F238E27FC236}">
                <a16:creationId xmlns:a16="http://schemas.microsoft.com/office/drawing/2014/main" id="{AB2CC5FA-CD2B-F24E-BA05-2FC720BB331A}"/>
              </a:ext>
            </a:extLst>
          </p:cNvPr>
          <p:cNvSpPr txBox="1"/>
          <p:nvPr/>
        </p:nvSpPr>
        <p:spPr>
          <a:xfrm>
            <a:off x="395537" y="1726171"/>
            <a:ext cx="8568952" cy="501675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9" rIns="45719">
            <a:spAutoFit/>
          </a:bodyPr>
          <a:lstStyle>
            <a:lvl1pPr>
              <a:spcBef>
                <a:spcPts val="1600"/>
              </a:spcBef>
              <a:buSzPct val="100000"/>
              <a:buChar char="•"/>
              <a:defRPr sz="2800"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>
              <a:buNone/>
            </a:pPr>
            <a:r>
              <a:rPr lang="en-US" sz="2000" dirty="0"/>
              <a:t>Podemos </a:t>
            </a:r>
            <a:r>
              <a:rPr lang="en-US" sz="2000" dirty="0" err="1"/>
              <a:t>utilizar</a:t>
            </a:r>
            <a:r>
              <a:rPr lang="en-US" sz="2000" dirty="0"/>
              <a:t> </a:t>
            </a:r>
            <a:r>
              <a:rPr lang="en-US" sz="2000" dirty="0" err="1"/>
              <a:t>los</a:t>
            </a:r>
            <a:r>
              <a:rPr lang="en-US" sz="2000" dirty="0"/>
              <a:t> indices de </a:t>
            </a:r>
            <a:r>
              <a:rPr lang="en-US" sz="2000" dirty="0" err="1"/>
              <a:t>distintas</a:t>
            </a:r>
            <a:r>
              <a:rPr lang="en-US" sz="2000" dirty="0"/>
              <a:t> </a:t>
            </a:r>
            <a:r>
              <a:rPr lang="en-US" sz="2000" dirty="0" err="1"/>
              <a:t>maneras</a:t>
            </a:r>
            <a:r>
              <a:rPr lang="en-US" sz="2000" dirty="0"/>
              <a:t> para </a:t>
            </a:r>
            <a:r>
              <a:rPr lang="en-US" sz="2000" dirty="0" err="1"/>
              <a:t>poder</a:t>
            </a:r>
            <a:r>
              <a:rPr lang="en-US" sz="2000" dirty="0"/>
              <a:t> </a:t>
            </a:r>
            <a:r>
              <a:rPr lang="en-US" sz="2000" dirty="0" err="1"/>
              <a:t>acceder</a:t>
            </a:r>
            <a:r>
              <a:rPr lang="en-US" sz="2000" dirty="0"/>
              <a:t> mas </a:t>
            </a:r>
            <a:r>
              <a:rPr lang="en-US" sz="2000" dirty="0" err="1"/>
              <a:t>convenientemente</a:t>
            </a:r>
            <a:r>
              <a:rPr lang="en-US" sz="2000" dirty="0"/>
              <a:t> a </a:t>
            </a:r>
            <a:r>
              <a:rPr lang="en-US" sz="2000" dirty="0" err="1"/>
              <a:t>partes</a:t>
            </a:r>
            <a:r>
              <a:rPr lang="en-US" sz="2000" dirty="0"/>
              <a:t> de </a:t>
            </a:r>
            <a:r>
              <a:rPr lang="en-US" sz="2000" dirty="0" err="1"/>
              <a:t>una</a:t>
            </a:r>
            <a:r>
              <a:rPr lang="en-US" sz="2000" dirty="0"/>
              <a:t> </a:t>
            </a:r>
            <a:r>
              <a:rPr lang="en-US" sz="2000" dirty="0" err="1"/>
              <a:t>lista</a:t>
            </a:r>
            <a:r>
              <a:rPr lang="en-US" sz="2000" dirty="0"/>
              <a:t>. </a:t>
            </a:r>
            <a:r>
              <a:rPr lang="en-US" sz="2000" dirty="0" err="1"/>
              <a:t>Esta</a:t>
            </a:r>
            <a:r>
              <a:rPr lang="en-US" sz="2000" dirty="0"/>
              <a:t> </a:t>
            </a:r>
            <a:r>
              <a:rPr lang="en-US" sz="2000" dirty="0" err="1"/>
              <a:t>notación</a:t>
            </a:r>
            <a:r>
              <a:rPr lang="en-US" sz="2000" dirty="0"/>
              <a:t> </a:t>
            </a:r>
            <a:r>
              <a:rPr lang="en-US" sz="2000" dirty="0" err="1"/>
              <a:t>funciona</a:t>
            </a:r>
            <a:r>
              <a:rPr lang="en-US" sz="2000" dirty="0"/>
              <a:t> para </a:t>
            </a:r>
            <a:r>
              <a:rPr lang="en-US" sz="2000" dirty="0" err="1"/>
              <a:t>cualquier</a:t>
            </a:r>
            <a:r>
              <a:rPr lang="en-US" sz="2000" dirty="0"/>
              <a:t> </a:t>
            </a:r>
            <a:r>
              <a:rPr lang="en-US" sz="2000" dirty="0" err="1"/>
              <a:t>tipo</a:t>
            </a:r>
            <a:r>
              <a:rPr lang="en-US" sz="2000" dirty="0"/>
              <a:t> de </a:t>
            </a:r>
            <a:r>
              <a:rPr lang="en-US" sz="2000" dirty="0" err="1"/>
              <a:t>contenedor</a:t>
            </a:r>
            <a:r>
              <a:rPr lang="en-US" sz="2000" dirty="0"/>
              <a:t> </a:t>
            </a:r>
            <a:r>
              <a:rPr lang="en-US" sz="2000" dirty="0" err="1"/>
              <a:t>ordenado</a:t>
            </a:r>
            <a:r>
              <a:rPr lang="en-US" sz="2000" dirty="0"/>
              <a:t> (i.e. strings, tuples, </a:t>
            </a:r>
            <a:r>
              <a:rPr lang="en-US" sz="2000" dirty="0" err="1"/>
              <a:t>etc</a:t>
            </a:r>
            <a:r>
              <a:rPr lang="en-US" sz="2000" dirty="0"/>
              <a:t>).</a:t>
            </a:r>
          </a:p>
          <a:p>
            <a:r>
              <a:rPr lang="en-US" sz="2000" dirty="0"/>
              <a:t> </a:t>
            </a:r>
            <a:r>
              <a:rPr lang="en-US" sz="2000" b="1" dirty="0"/>
              <a:t>L [ </a:t>
            </a:r>
            <a:r>
              <a:rPr lang="en-US" sz="2000" b="1" dirty="0" err="1"/>
              <a:t>i</a:t>
            </a:r>
            <a:r>
              <a:rPr lang="en-US" sz="2000" b="1" dirty="0"/>
              <a:t> ]</a:t>
            </a:r>
            <a:r>
              <a:rPr lang="en-US" sz="2000" dirty="0"/>
              <a:t> </a:t>
            </a:r>
            <a:r>
              <a:rPr lang="en-US" sz="2000" dirty="0" err="1"/>
              <a:t>retorna</a:t>
            </a:r>
            <a:r>
              <a:rPr lang="en-US" sz="2000" dirty="0"/>
              <a:t> el </a:t>
            </a:r>
            <a:r>
              <a:rPr lang="en-US" sz="2000" dirty="0" err="1"/>
              <a:t>i-esimo</a:t>
            </a:r>
            <a:r>
              <a:rPr lang="en-US" sz="2000" dirty="0"/>
              <a:t> </a:t>
            </a:r>
            <a:r>
              <a:rPr lang="en-US" sz="2000" dirty="0" err="1"/>
              <a:t>elemento</a:t>
            </a:r>
            <a:r>
              <a:rPr lang="en-US" sz="2000" dirty="0"/>
              <a:t> de la </a:t>
            </a:r>
            <a:r>
              <a:rPr lang="en-US" sz="2000" dirty="0" err="1"/>
              <a:t>lista</a:t>
            </a:r>
            <a:r>
              <a:rPr lang="en-US" sz="2000" dirty="0"/>
              <a:t> </a:t>
            </a:r>
            <a:r>
              <a:rPr lang="en-US" sz="2000" b="1" dirty="0"/>
              <a:t>L</a:t>
            </a:r>
            <a:r>
              <a:rPr lang="en-US" sz="2000" dirty="0"/>
              <a:t>.</a:t>
            </a:r>
          </a:p>
          <a:p>
            <a:r>
              <a:rPr lang="en-US" sz="2000" dirty="0"/>
              <a:t> </a:t>
            </a:r>
            <a:r>
              <a:rPr lang="en-US" sz="2000" b="1" dirty="0"/>
              <a:t>L [ </a:t>
            </a:r>
            <a:r>
              <a:rPr lang="en-US" sz="2000" b="1" dirty="0" err="1"/>
              <a:t>i</a:t>
            </a:r>
            <a:r>
              <a:rPr lang="en-US" sz="2000" b="1" dirty="0"/>
              <a:t> : j ]</a:t>
            </a:r>
            <a:r>
              <a:rPr lang="en-US" sz="2000" dirty="0"/>
              <a:t> </a:t>
            </a:r>
            <a:r>
              <a:rPr lang="en-US" sz="2000" dirty="0" err="1"/>
              <a:t>retorna</a:t>
            </a:r>
            <a:r>
              <a:rPr lang="en-US" sz="2000" dirty="0"/>
              <a:t> </a:t>
            </a:r>
            <a:r>
              <a:rPr lang="en-US" sz="2000" dirty="0" err="1"/>
              <a:t>los</a:t>
            </a:r>
            <a:r>
              <a:rPr lang="en-US" sz="2000" dirty="0"/>
              <a:t> </a:t>
            </a:r>
            <a:r>
              <a:rPr lang="en-US" sz="2000" dirty="0" err="1"/>
              <a:t>elementos</a:t>
            </a:r>
            <a:r>
              <a:rPr lang="en-US" sz="2000" dirty="0"/>
              <a:t> </a:t>
            </a:r>
            <a:r>
              <a:rPr lang="en-US" sz="2000" dirty="0" err="1"/>
              <a:t>desde</a:t>
            </a:r>
            <a:r>
              <a:rPr lang="en-US" sz="2000" dirty="0"/>
              <a:t> el </a:t>
            </a:r>
            <a:r>
              <a:rPr lang="en-US" sz="2000" dirty="0" err="1"/>
              <a:t>i-esimo</a:t>
            </a:r>
            <a:r>
              <a:rPr lang="en-US" sz="2000" dirty="0"/>
              <a:t> (</a:t>
            </a:r>
            <a:r>
              <a:rPr lang="en-US" sz="2000" dirty="0" err="1"/>
              <a:t>includido</a:t>
            </a:r>
            <a:r>
              <a:rPr lang="en-US" sz="2000" dirty="0"/>
              <a:t>) hasta el j-</a:t>
            </a:r>
            <a:r>
              <a:rPr lang="en-US" sz="2000" dirty="0" err="1"/>
              <a:t>esimo</a:t>
            </a:r>
            <a:r>
              <a:rPr lang="en-US" sz="2000" dirty="0"/>
              <a:t> (</a:t>
            </a:r>
            <a:r>
              <a:rPr lang="en-US" sz="2000" dirty="0" err="1"/>
              <a:t>excludido</a:t>
            </a:r>
            <a:r>
              <a:rPr lang="en-US" sz="2000" dirty="0"/>
              <a:t>). El </a:t>
            </a:r>
            <a:r>
              <a:rPr lang="en-US" sz="2000" dirty="0" err="1"/>
              <a:t>resultado</a:t>
            </a:r>
            <a:r>
              <a:rPr lang="en-US" sz="2000" dirty="0"/>
              <a:t> </a:t>
            </a:r>
            <a:r>
              <a:rPr lang="en-US" sz="2000" dirty="0" err="1"/>
              <a:t>tiene</a:t>
            </a:r>
            <a:r>
              <a:rPr lang="en-US" sz="2000" dirty="0"/>
              <a:t> el </a:t>
            </a:r>
            <a:r>
              <a:rPr lang="en-US" sz="2000" dirty="0" err="1"/>
              <a:t>mismo</a:t>
            </a:r>
            <a:r>
              <a:rPr lang="en-US" sz="2000" dirty="0"/>
              <a:t> </a:t>
            </a:r>
            <a:r>
              <a:rPr lang="en-US" sz="2000" dirty="0" err="1"/>
              <a:t>tipo</a:t>
            </a:r>
            <a:r>
              <a:rPr lang="en-US" sz="2000" dirty="0"/>
              <a:t> que </a:t>
            </a:r>
            <a:r>
              <a:rPr lang="en-US" sz="2000" b="1" dirty="0"/>
              <a:t>L</a:t>
            </a:r>
            <a:r>
              <a:rPr lang="en-US" sz="2000" dirty="0"/>
              <a:t>. </a:t>
            </a:r>
          </a:p>
          <a:p>
            <a:r>
              <a:rPr lang="en-US" sz="2000" dirty="0"/>
              <a:t> </a:t>
            </a:r>
            <a:r>
              <a:rPr lang="en-US" sz="2000" b="1" dirty="0"/>
              <a:t>L [ </a:t>
            </a:r>
            <a:r>
              <a:rPr lang="en-US" sz="2000" b="1" dirty="0" err="1"/>
              <a:t>i</a:t>
            </a:r>
            <a:r>
              <a:rPr lang="en-US" sz="2000" b="1" dirty="0"/>
              <a:t> : ]</a:t>
            </a:r>
            <a:r>
              <a:rPr lang="en-US" sz="2000" dirty="0"/>
              <a:t> </a:t>
            </a:r>
            <a:r>
              <a:rPr lang="en-US" sz="2000" dirty="0" err="1"/>
              <a:t>es</a:t>
            </a:r>
            <a:r>
              <a:rPr lang="en-US" sz="2000" dirty="0"/>
              <a:t> </a:t>
            </a:r>
            <a:r>
              <a:rPr lang="en-US" sz="2000" dirty="0" err="1"/>
              <a:t>equivalente</a:t>
            </a:r>
            <a:r>
              <a:rPr lang="en-US" sz="2000" dirty="0"/>
              <a:t> a: </a:t>
            </a:r>
            <a:r>
              <a:rPr lang="en-US" sz="2000" b="1" dirty="0"/>
              <a:t>L [ </a:t>
            </a:r>
            <a:r>
              <a:rPr lang="en-US" sz="2000" b="1" dirty="0" err="1"/>
              <a:t>i</a:t>
            </a:r>
            <a:r>
              <a:rPr lang="en-US" sz="2000" b="1" dirty="0"/>
              <a:t> : </a:t>
            </a:r>
            <a:r>
              <a:rPr lang="en-US" sz="2000" b="1" dirty="0" err="1"/>
              <a:t>len</a:t>
            </a:r>
            <a:r>
              <a:rPr lang="en-US" sz="2000" b="1" dirty="0"/>
              <a:t> (L) ]</a:t>
            </a:r>
            <a:r>
              <a:rPr lang="en-US" sz="2000" dirty="0"/>
              <a:t>.</a:t>
            </a:r>
          </a:p>
          <a:p>
            <a:r>
              <a:rPr lang="en-US" sz="2000" dirty="0"/>
              <a:t> </a:t>
            </a:r>
            <a:r>
              <a:rPr lang="en-US" sz="2000" b="1" dirty="0"/>
              <a:t>L [ : j ]</a:t>
            </a:r>
            <a:r>
              <a:rPr lang="en-US" sz="2000" dirty="0"/>
              <a:t> </a:t>
            </a:r>
            <a:r>
              <a:rPr lang="en-US" sz="2000" dirty="0" err="1"/>
              <a:t>es</a:t>
            </a:r>
            <a:r>
              <a:rPr lang="en-US" sz="2000" dirty="0"/>
              <a:t> </a:t>
            </a:r>
            <a:r>
              <a:rPr lang="en-US" sz="2000" dirty="0" err="1"/>
              <a:t>equivalente</a:t>
            </a:r>
            <a:r>
              <a:rPr lang="en-US" sz="2000" dirty="0"/>
              <a:t> a: </a:t>
            </a:r>
            <a:r>
              <a:rPr lang="en-US" sz="2000" b="1" dirty="0"/>
              <a:t>L [ 0 : j ]</a:t>
            </a:r>
            <a:r>
              <a:rPr lang="en-US" sz="2000" dirty="0"/>
              <a:t>.</a:t>
            </a:r>
          </a:p>
          <a:p>
            <a:r>
              <a:rPr lang="en-US" sz="2000" dirty="0"/>
              <a:t> </a:t>
            </a:r>
            <a:r>
              <a:rPr lang="en-US" sz="2000" b="1" dirty="0"/>
              <a:t>L [ </a:t>
            </a:r>
            <a:r>
              <a:rPr lang="en-US" sz="2000" b="1" dirty="0" err="1"/>
              <a:t>i</a:t>
            </a:r>
            <a:r>
              <a:rPr lang="en-US" sz="2000" b="1" dirty="0"/>
              <a:t> : : </a:t>
            </a:r>
            <a:r>
              <a:rPr lang="en-US" sz="2000" b="1" dirty="0" err="1"/>
              <a:t>paso</a:t>
            </a:r>
            <a:r>
              <a:rPr lang="en-US" sz="2000" b="1" dirty="0"/>
              <a:t> ]</a:t>
            </a:r>
            <a:r>
              <a:rPr lang="en-US" sz="2000" dirty="0"/>
              <a:t> </a:t>
            </a:r>
            <a:r>
              <a:rPr lang="en-US" sz="2000" dirty="0" err="1"/>
              <a:t>retorna</a:t>
            </a:r>
            <a:r>
              <a:rPr lang="en-US" sz="2000" dirty="0"/>
              <a:t> la </a:t>
            </a:r>
            <a:r>
              <a:rPr lang="en-US" sz="2000" dirty="0" err="1"/>
              <a:t>lista</a:t>
            </a:r>
            <a:r>
              <a:rPr lang="en-US" sz="2000" dirty="0"/>
              <a:t> de </a:t>
            </a:r>
            <a:r>
              <a:rPr lang="en-US" sz="2000" dirty="0" err="1"/>
              <a:t>elemntos</a:t>
            </a:r>
            <a:r>
              <a:rPr lang="en-US" sz="2000" dirty="0"/>
              <a:t> </a:t>
            </a:r>
            <a:r>
              <a:rPr lang="en-US" sz="2000" dirty="0" err="1"/>
              <a:t>desde</a:t>
            </a:r>
            <a:r>
              <a:rPr lang="en-US" sz="2000" dirty="0"/>
              <a:t> la $</a:t>
            </a:r>
            <a:r>
              <a:rPr lang="en-US" sz="2000" dirty="0" err="1"/>
              <a:t>i</a:t>
            </a:r>
            <a:r>
              <a:rPr lang="en-US" sz="2000" dirty="0"/>
              <a:t>$-</a:t>
            </a:r>
            <a:r>
              <a:rPr lang="en-US" sz="2000" dirty="0" err="1"/>
              <a:t>esima</a:t>
            </a:r>
            <a:r>
              <a:rPr lang="en-US" sz="2000" dirty="0"/>
              <a:t> </a:t>
            </a:r>
            <a:r>
              <a:rPr lang="en-US" sz="2000" dirty="0" err="1"/>
              <a:t>posición</a:t>
            </a:r>
            <a:r>
              <a:rPr lang="en-US" sz="2000" dirty="0"/>
              <a:t> </a:t>
            </a:r>
            <a:r>
              <a:rPr lang="en-US" sz="2000" dirty="0" err="1"/>
              <a:t>progresando</a:t>
            </a:r>
            <a:r>
              <a:rPr lang="en-US" sz="2000" dirty="0"/>
              <a:t> </a:t>
            </a:r>
            <a:r>
              <a:rPr lang="en-US" sz="2000" dirty="0" err="1"/>
              <a:t>sobre</a:t>
            </a:r>
            <a:r>
              <a:rPr lang="en-US" sz="2000" dirty="0"/>
              <a:t> </a:t>
            </a:r>
            <a:r>
              <a:rPr lang="en-US" sz="2000" dirty="0" err="1"/>
              <a:t>los</a:t>
            </a:r>
            <a:r>
              <a:rPr lang="en-US" sz="2000" dirty="0"/>
              <a:t> indices de </a:t>
            </a:r>
            <a:r>
              <a:rPr lang="en-US" sz="2000" dirty="0" err="1"/>
              <a:t>acuerdo</a:t>
            </a:r>
            <a:r>
              <a:rPr lang="en-US" sz="2000" dirty="0"/>
              <a:t> a </a:t>
            </a:r>
            <a:r>
              <a:rPr lang="en-US" sz="2000" b="1" dirty="0" err="1"/>
              <a:t>paso</a:t>
            </a:r>
            <a:r>
              <a:rPr lang="en-US" sz="2000" dirty="0"/>
              <a:t>. </a:t>
            </a:r>
          </a:p>
          <a:p>
            <a:r>
              <a:rPr lang="en-US" sz="2000" dirty="0"/>
              <a:t> </a:t>
            </a:r>
            <a:r>
              <a:rPr lang="en-US" sz="2000" dirty="0" err="1"/>
              <a:t>También</a:t>
            </a:r>
            <a:r>
              <a:rPr lang="en-US" sz="2000" dirty="0"/>
              <a:t> </a:t>
            </a:r>
            <a:r>
              <a:rPr lang="en-US" sz="2000" dirty="0" err="1"/>
              <a:t>podemos</a:t>
            </a:r>
            <a:r>
              <a:rPr lang="en-US" sz="2000" dirty="0"/>
              <a:t> </a:t>
            </a:r>
            <a:r>
              <a:rPr lang="en-US" sz="2000" dirty="0" err="1"/>
              <a:t>concatenar</a:t>
            </a:r>
            <a:r>
              <a:rPr lang="en-US" sz="2000" dirty="0"/>
              <a:t> </a:t>
            </a:r>
            <a:r>
              <a:rPr lang="en-US" sz="2000" dirty="0" err="1"/>
              <a:t>listas</a:t>
            </a:r>
            <a:r>
              <a:rPr lang="en-US" sz="2000" dirty="0"/>
              <a:t> </a:t>
            </a:r>
            <a:r>
              <a:rPr lang="en-US" sz="2000" dirty="0" err="1"/>
              <a:t>usando</a:t>
            </a:r>
            <a:r>
              <a:rPr lang="en-US" sz="2000" dirty="0"/>
              <a:t> el </a:t>
            </a:r>
            <a:r>
              <a:rPr lang="en-US" sz="2000" dirty="0" err="1"/>
              <a:t>operador</a:t>
            </a:r>
            <a:r>
              <a:rPr lang="en-US" sz="2000" dirty="0"/>
              <a:t> </a:t>
            </a:r>
            <a:r>
              <a:rPr lang="en-US" sz="2000" b="1" i="1" dirty="0"/>
              <a:t>'+'</a:t>
            </a:r>
            <a:br>
              <a:rPr lang="en-US" sz="2000" dirty="0"/>
            </a:br>
            <a:endParaRPr lang="en-US" sz="2000" dirty="0"/>
          </a:p>
        </p:txBody>
      </p:sp>
      <p:sp>
        <p:nvSpPr>
          <p:cNvPr id="14" name="17 CuadroTexto">
            <a:extLst>
              <a:ext uri="{FF2B5EF4-FFF2-40B4-BE49-F238E27FC236}">
                <a16:creationId xmlns:a16="http://schemas.microsoft.com/office/drawing/2014/main" id="{FE210990-BB28-C34F-8C39-11BDC67ADFD8}"/>
              </a:ext>
            </a:extLst>
          </p:cNvPr>
          <p:cNvSpPr txBox="1"/>
          <p:nvPr/>
        </p:nvSpPr>
        <p:spPr>
          <a:xfrm>
            <a:off x="2985122" y="499899"/>
            <a:ext cx="3173756" cy="984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AR" sz="2000" b="1" dirty="0">
                <a:solidFill>
                  <a:schemeClr val="bg1"/>
                </a:solidFill>
                <a:latin typeface="TeXGyreAdventor" pitchFamily="50" charset="0"/>
              </a:rPr>
              <a:t> - </a:t>
            </a:r>
            <a:r>
              <a:rPr lang="es-AR" sz="2000" b="1" u="sng" dirty="0">
                <a:solidFill>
                  <a:schemeClr val="bg1"/>
                </a:solidFill>
                <a:latin typeface="TeXGyreAdventor" pitchFamily="50" charset="0"/>
              </a:rPr>
              <a:t>Tipos de Datos Definidos por el Usuario</a:t>
            </a:r>
            <a:r>
              <a:rPr lang="es-AR" sz="2000" b="1" dirty="0">
                <a:solidFill>
                  <a:schemeClr val="bg1"/>
                </a:solidFill>
                <a:latin typeface="TeXGyreAdventor" pitchFamily="50" charset="0"/>
              </a:rPr>
              <a:t>-</a:t>
            </a:r>
          </a:p>
          <a:p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165248037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16 Imagen">
            <a:extLst>
              <a:ext uri="{FF2B5EF4-FFF2-40B4-BE49-F238E27FC236}">
                <a16:creationId xmlns:a16="http://schemas.microsoft.com/office/drawing/2014/main" id="{E18833CA-28BE-584F-9880-8012D82710A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580"/>
            <a:ext cx="9144000" cy="1171495"/>
          </a:xfrm>
          <a:prstGeom prst="rect">
            <a:avLst/>
          </a:prstGeom>
        </p:spPr>
      </p:pic>
      <p:sp>
        <p:nvSpPr>
          <p:cNvPr id="11" name="17 CuadroTexto">
            <a:extLst>
              <a:ext uri="{FF2B5EF4-FFF2-40B4-BE49-F238E27FC236}">
                <a16:creationId xmlns:a16="http://schemas.microsoft.com/office/drawing/2014/main" id="{6BED238C-223E-7F4A-BFF1-2F3910B2B049}"/>
              </a:ext>
            </a:extLst>
          </p:cNvPr>
          <p:cNvSpPr txBox="1"/>
          <p:nvPr/>
        </p:nvSpPr>
        <p:spPr>
          <a:xfrm>
            <a:off x="212156" y="87951"/>
            <a:ext cx="327972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2400" b="1" dirty="0">
                <a:solidFill>
                  <a:schemeClr val="bg1"/>
                </a:solidFill>
                <a:latin typeface="TeXGyreAdventor" pitchFamily="50" charset="0"/>
              </a:rPr>
              <a:t>Algoritmos y Estructuras</a:t>
            </a:r>
          </a:p>
          <a:p>
            <a:r>
              <a:rPr lang="es-AR" sz="2400" b="1" dirty="0">
                <a:solidFill>
                  <a:schemeClr val="bg1"/>
                </a:solidFill>
                <a:latin typeface="TeXGyreAdventor" pitchFamily="50" charset="0"/>
              </a:rPr>
              <a:t>de Datos</a:t>
            </a:r>
          </a:p>
          <a:p>
            <a:endParaRPr lang="es-AR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711F11B-CFCC-6F4C-987C-61BCBAF2DD91}"/>
              </a:ext>
            </a:extLst>
          </p:cNvPr>
          <p:cNvSpPr txBox="1"/>
          <p:nvPr/>
        </p:nvSpPr>
        <p:spPr>
          <a:xfrm>
            <a:off x="0" y="1173075"/>
            <a:ext cx="117692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AR" sz="24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Arial" pitchFamily="34" charset="0"/>
                <a:cs typeface="Arial" pitchFamily="34" charset="0"/>
              </a:rPr>
              <a:t>Listas:</a:t>
            </a:r>
          </a:p>
        </p:txBody>
      </p:sp>
      <p:sp>
        <p:nvSpPr>
          <p:cNvPr id="17" name="Los algoritmos se organizan en dos aspectos inseparables:">
            <a:extLst>
              <a:ext uri="{FF2B5EF4-FFF2-40B4-BE49-F238E27FC236}">
                <a16:creationId xmlns:a16="http://schemas.microsoft.com/office/drawing/2014/main" id="{AB2CC5FA-CD2B-F24E-BA05-2FC720BB331A}"/>
              </a:ext>
            </a:extLst>
          </p:cNvPr>
          <p:cNvSpPr txBox="1"/>
          <p:nvPr/>
        </p:nvSpPr>
        <p:spPr>
          <a:xfrm>
            <a:off x="395537" y="1726171"/>
            <a:ext cx="8568952" cy="56323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9" rIns="45719">
            <a:spAutoFit/>
          </a:bodyPr>
          <a:lstStyle>
            <a:lvl1pPr>
              <a:spcBef>
                <a:spcPts val="1600"/>
              </a:spcBef>
              <a:buSzPct val="100000"/>
              <a:buChar char="•"/>
              <a:defRPr sz="2800"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>
              <a:buNone/>
            </a:pPr>
            <a:r>
              <a:rPr lang="en-US" sz="2000" dirty="0" err="1"/>
              <a:t>Aquí</a:t>
            </a:r>
            <a:r>
              <a:rPr lang="en-US" sz="2000" dirty="0"/>
              <a:t> hay </a:t>
            </a:r>
            <a:r>
              <a:rPr lang="en-US" sz="2000" dirty="0" err="1"/>
              <a:t>una</a:t>
            </a:r>
            <a:r>
              <a:rPr lang="en-US" sz="2000" dirty="0"/>
              <a:t> breve </a:t>
            </a:r>
            <a:r>
              <a:rPr lang="en-US" sz="2000" dirty="0" err="1"/>
              <a:t>lista</a:t>
            </a:r>
            <a:r>
              <a:rPr lang="en-US" sz="2000" dirty="0"/>
              <a:t> de </a:t>
            </a:r>
            <a:r>
              <a:rPr lang="en-US" sz="2000" dirty="0" err="1"/>
              <a:t>los</a:t>
            </a:r>
            <a:r>
              <a:rPr lang="en-US" sz="2000" dirty="0"/>
              <a:t> </a:t>
            </a:r>
            <a:r>
              <a:rPr lang="en-US" sz="2000" dirty="0" err="1"/>
              <a:t>métodos</a:t>
            </a:r>
            <a:r>
              <a:rPr lang="en-US" sz="2000" dirty="0"/>
              <a:t> </a:t>
            </a:r>
            <a:r>
              <a:rPr lang="en-US" sz="2000" dirty="0" err="1"/>
              <a:t>asociados</a:t>
            </a:r>
            <a:r>
              <a:rPr lang="en-US" sz="2000" dirty="0"/>
              <a:t> al </a:t>
            </a:r>
            <a:r>
              <a:rPr lang="en-US" sz="2000" dirty="0" err="1"/>
              <a:t>tipo</a:t>
            </a:r>
            <a:r>
              <a:rPr lang="en-US" sz="2000" dirty="0"/>
              <a:t> </a:t>
            </a:r>
            <a:r>
              <a:rPr lang="en-US" sz="2000" i="1" dirty="0"/>
              <a:t>*</a:t>
            </a:r>
            <a:r>
              <a:rPr lang="en-US" sz="2000" i="1" dirty="0" err="1"/>
              <a:t>Lista</a:t>
            </a:r>
            <a:r>
              <a:rPr lang="en-US" sz="2000" i="1" dirty="0"/>
              <a:t>*</a:t>
            </a:r>
            <a:r>
              <a:rPr lang="en-US" sz="2000" dirty="0"/>
              <a:t>:</a:t>
            </a:r>
          </a:p>
          <a:p>
            <a:r>
              <a:rPr lang="en-US" sz="2000" dirty="0"/>
              <a:t> </a:t>
            </a:r>
            <a:r>
              <a:rPr lang="en-US" sz="2000" b="1" dirty="0" err="1"/>
              <a:t>L.count</a:t>
            </a:r>
            <a:r>
              <a:rPr lang="en-US" sz="2000" b="1" dirty="0"/>
              <a:t>(</a:t>
            </a:r>
            <a:r>
              <a:rPr lang="en-US" sz="2000" b="1" dirty="0" err="1"/>
              <a:t>obj</a:t>
            </a:r>
            <a:r>
              <a:rPr lang="en-US" sz="2000" b="1" dirty="0"/>
              <a:t>)</a:t>
            </a:r>
            <a:r>
              <a:rPr lang="en-US" sz="2000" dirty="0"/>
              <a:t> </a:t>
            </a:r>
            <a:r>
              <a:rPr lang="en-US" sz="2000" dirty="0" err="1"/>
              <a:t>retorna</a:t>
            </a:r>
            <a:r>
              <a:rPr lang="en-US" sz="2000" dirty="0"/>
              <a:t> el </a:t>
            </a:r>
            <a:r>
              <a:rPr lang="en-US" sz="2000" dirty="0" err="1"/>
              <a:t>número</a:t>
            </a:r>
            <a:r>
              <a:rPr lang="en-US" sz="2000" dirty="0"/>
              <a:t> de </a:t>
            </a:r>
            <a:r>
              <a:rPr lang="en-US" sz="2000" dirty="0" err="1"/>
              <a:t>ocurrencias</a:t>
            </a:r>
            <a:r>
              <a:rPr lang="en-US" sz="2000" dirty="0"/>
              <a:t> del </a:t>
            </a:r>
            <a:r>
              <a:rPr lang="en-US" sz="2000" dirty="0" err="1"/>
              <a:t>objeto</a:t>
            </a:r>
            <a:r>
              <a:rPr lang="en-US" sz="2000" dirty="0"/>
              <a:t> ‘</a:t>
            </a:r>
            <a:r>
              <a:rPr lang="en-US" sz="2000" b="1" dirty="0" err="1"/>
              <a:t>obj</a:t>
            </a:r>
            <a:r>
              <a:rPr lang="en-US" sz="2000" dirty="0"/>
              <a:t>’ </a:t>
            </a:r>
            <a:r>
              <a:rPr lang="en-US" sz="2000" dirty="0" err="1"/>
              <a:t>en</a:t>
            </a:r>
            <a:r>
              <a:rPr lang="en-US" sz="2000" dirty="0"/>
              <a:t> </a:t>
            </a:r>
            <a:r>
              <a:rPr lang="en-US" sz="2000" b="1" dirty="0"/>
              <a:t>L</a:t>
            </a:r>
            <a:r>
              <a:rPr lang="en-US" sz="2000" dirty="0"/>
              <a:t>. </a:t>
            </a:r>
          </a:p>
          <a:p>
            <a:r>
              <a:rPr lang="en-US" sz="2000" dirty="0"/>
              <a:t> </a:t>
            </a:r>
            <a:r>
              <a:rPr lang="en-US" sz="2000" b="1" dirty="0" err="1"/>
              <a:t>L.index</a:t>
            </a:r>
            <a:r>
              <a:rPr lang="en-US" sz="2000" b="1" dirty="0"/>
              <a:t>(value)</a:t>
            </a:r>
            <a:r>
              <a:rPr lang="en-US" sz="2000" dirty="0"/>
              <a:t> </a:t>
            </a:r>
            <a:r>
              <a:rPr lang="en-US" sz="2000" dirty="0" err="1"/>
              <a:t>retorna</a:t>
            </a:r>
            <a:r>
              <a:rPr lang="en-US" sz="2000" dirty="0"/>
              <a:t> el primer </a:t>
            </a:r>
            <a:r>
              <a:rPr lang="en-US" sz="2000" dirty="0" err="1"/>
              <a:t>indice</a:t>
            </a:r>
            <a:r>
              <a:rPr lang="en-US" sz="2000" dirty="0"/>
              <a:t> </a:t>
            </a:r>
            <a:r>
              <a:rPr lang="en-US" sz="2000" b="1" dirty="0" err="1"/>
              <a:t>i</a:t>
            </a:r>
            <a:r>
              <a:rPr lang="en-US" sz="2000" dirty="0"/>
              <a:t> para el </a:t>
            </a:r>
            <a:r>
              <a:rPr lang="en-US" sz="2000" dirty="0" err="1"/>
              <a:t>cual</a:t>
            </a:r>
            <a:r>
              <a:rPr lang="en-US" sz="2000" dirty="0"/>
              <a:t> </a:t>
            </a:r>
            <a:r>
              <a:rPr lang="en-US" sz="2000" b="1" dirty="0"/>
              <a:t>L [ </a:t>
            </a:r>
            <a:r>
              <a:rPr lang="en-US" sz="2000" b="1" dirty="0" err="1"/>
              <a:t>i</a:t>
            </a:r>
            <a:r>
              <a:rPr lang="en-US" sz="2000" b="1" dirty="0"/>
              <a:t> ] = value</a:t>
            </a:r>
            <a:r>
              <a:rPr lang="en-US" sz="2000" dirty="0"/>
              <a:t>.</a:t>
            </a:r>
          </a:p>
          <a:p>
            <a:r>
              <a:rPr lang="en-US" sz="2000" dirty="0"/>
              <a:t> </a:t>
            </a:r>
            <a:r>
              <a:rPr lang="en-US" sz="2000" b="1" dirty="0" err="1"/>
              <a:t>L.insert</a:t>
            </a:r>
            <a:r>
              <a:rPr lang="en-US" sz="2000" b="1" dirty="0"/>
              <a:t>(</a:t>
            </a:r>
            <a:r>
              <a:rPr lang="en-US" sz="2000" b="1" dirty="0" err="1"/>
              <a:t>i</a:t>
            </a:r>
            <a:r>
              <a:rPr lang="en-US" sz="2000" b="1" dirty="0"/>
              <a:t>, </a:t>
            </a:r>
            <a:r>
              <a:rPr lang="en-US" sz="2000" b="1" dirty="0" err="1"/>
              <a:t>obj</a:t>
            </a:r>
            <a:r>
              <a:rPr lang="en-US" sz="2000" b="1" dirty="0"/>
              <a:t>)</a:t>
            </a:r>
            <a:r>
              <a:rPr lang="en-US" sz="2000" dirty="0"/>
              <a:t> </a:t>
            </a:r>
            <a:r>
              <a:rPr lang="en-US" sz="2000" dirty="0" err="1"/>
              <a:t>inserta</a:t>
            </a:r>
            <a:r>
              <a:rPr lang="en-US" sz="2000" dirty="0"/>
              <a:t> el </a:t>
            </a:r>
            <a:r>
              <a:rPr lang="en-US" sz="2000" dirty="0" err="1"/>
              <a:t>objeto</a:t>
            </a:r>
            <a:r>
              <a:rPr lang="en-US" sz="2000" dirty="0"/>
              <a:t> </a:t>
            </a:r>
            <a:r>
              <a:rPr lang="en-US" sz="2000" b="1" dirty="0" err="1"/>
              <a:t>obj</a:t>
            </a:r>
            <a:r>
              <a:rPr lang="en-US" sz="2000" dirty="0"/>
              <a:t> </a:t>
            </a:r>
            <a:r>
              <a:rPr lang="en-US" sz="2000" dirty="0" err="1"/>
              <a:t>en</a:t>
            </a:r>
            <a:r>
              <a:rPr lang="en-US" sz="2000" dirty="0"/>
              <a:t> la </a:t>
            </a:r>
            <a:r>
              <a:rPr lang="en-US" sz="2000" dirty="0" err="1"/>
              <a:t>i-esima</a:t>
            </a:r>
            <a:r>
              <a:rPr lang="en-US" sz="2000" dirty="0"/>
              <a:t> </a:t>
            </a:r>
            <a:r>
              <a:rPr lang="en-US" sz="2000" dirty="0" err="1"/>
              <a:t>posición</a:t>
            </a:r>
            <a:r>
              <a:rPr lang="en-US" sz="2000" dirty="0"/>
              <a:t>, </a:t>
            </a:r>
            <a:r>
              <a:rPr lang="en-US" sz="2000" dirty="0" err="1"/>
              <a:t>moveindo</a:t>
            </a:r>
            <a:r>
              <a:rPr lang="en-US" sz="2000" dirty="0"/>
              <a:t> el resto de </a:t>
            </a:r>
            <a:r>
              <a:rPr lang="en-US" sz="2000" dirty="0" err="1"/>
              <a:t>los</a:t>
            </a:r>
            <a:r>
              <a:rPr lang="en-US" sz="2000" dirty="0"/>
              <a:t> </a:t>
            </a:r>
            <a:r>
              <a:rPr lang="en-US" sz="2000" dirty="0" err="1"/>
              <a:t>contenidos</a:t>
            </a:r>
            <a:r>
              <a:rPr lang="en-US" sz="2000" dirty="0"/>
              <a:t> de la </a:t>
            </a:r>
            <a:r>
              <a:rPr lang="en-US" sz="2000" dirty="0" err="1"/>
              <a:t>lista</a:t>
            </a:r>
            <a:r>
              <a:rPr lang="en-US" sz="2000" dirty="0"/>
              <a:t> </a:t>
            </a:r>
            <a:r>
              <a:rPr lang="en-US" sz="2000" dirty="0" err="1"/>
              <a:t>hacia</a:t>
            </a:r>
            <a:r>
              <a:rPr lang="en-US" sz="2000" dirty="0"/>
              <a:t> la </a:t>
            </a:r>
            <a:r>
              <a:rPr lang="en-US" sz="2000" dirty="0" err="1"/>
              <a:t>derecha</a:t>
            </a:r>
            <a:r>
              <a:rPr lang="en-US" sz="2000" dirty="0"/>
              <a:t>.</a:t>
            </a:r>
          </a:p>
          <a:p>
            <a:r>
              <a:rPr lang="en-US" sz="2000" dirty="0"/>
              <a:t> </a:t>
            </a:r>
            <a:r>
              <a:rPr lang="en-US" sz="2000" b="1" dirty="0" err="1"/>
              <a:t>L.remove</a:t>
            </a:r>
            <a:r>
              <a:rPr lang="en-US" sz="2000" b="1" dirty="0"/>
              <a:t>(value)</a:t>
            </a:r>
            <a:r>
              <a:rPr lang="en-US" sz="2000" dirty="0"/>
              <a:t> </a:t>
            </a:r>
            <a:r>
              <a:rPr lang="en-US" sz="2000" dirty="0" err="1"/>
              <a:t>remueve</a:t>
            </a:r>
            <a:r>
              <a:rPr lang="en-US" sz="2000" dirty="0"/>
              <a:t> de </a:t>
            </a:r>
            <a:r>
              <a:rPr lang="en-US" sz="2000" b="1" dirty="0"/>
              <a:t>L</a:t>
            </a:r>
            <a:r>
              <a:rPr lang="en-US" sz="2000" dirty="0"/>
              <a:t> la primer </a:t>
            </a:r>
            <a:r>
              <a:rPr lang="en-US" sz="2000" dirty="0" err="1"/>
              <a:t>ocurrencia</a:t>
            </a:r>
            <a:r>
              <a:rPr lang="en-US" sz="2000" dirty="0"/>
              <a:t> de $\</a:t>
            </a:r>
            <a:r>
              <a:rPr lang="en-US" sz="2000" dirty="0" err="1"/>
              <a:t>texttt</a:t>
            </a:r>
            <a:r>
              <a:rPr lang="en-US" sz="2000" dirty="0"/>
              <a:t>{value}.</a:t>
            </a:r>
          </a:p>
          <a:p>
            <a:r>
              <a:rPr lang="en-US" sz="2000" b="1" dirty="0"/>
              <a:t> </a:t>
            </a:r>
            <a:r>
              <a:rPr lang="en-US" sz="2000" b="1" dirty="0" err="1"/>
              <a:t>L.pop</a:t>
            </a:r>
            <a:r>
              <a:rPr lang="en-US" sz="2000" b="1" dirty="0"/>
              <a:t>(index)</a:t>
            </a:r>
            <a:r>
              <a:rPr lang="en-US" sz="2000" dirty="0"/>
              <a:t> </a:t>
            </a:r>
            <a:r>
              <a:rPr lang="en-US" sz="2000" dirty="0" err="1"/>
              <a:t>retorna</a:t>
            </a:r>
            <a:r>
              <a:rPr lang="en-US" sz="2000" dirty="0"/>
              <a:t> el valor </a:t>
            </a:r>
            <a:r>
              <a:rPr lang="en-US" sz="2000" dirty="0" err="1"/>
              <a:t>indexado</a:t>
            </a:r>
            <a:r>
              <a:rPr lang="en-US" sz="2000" dirty="0"/>
              <a:t> y lo </a:t>
            </a:r>
            <a:r>
              <a:rPr lang="en-US" sz="2000" dirty="0" err="1"/>
              <a:t>remueve</a:t>
            </a:r>
            <a:r>
              <a:rPr lang="en-US" sz="2000" dirty="0"/>
              <a:t> de </a:t>
            </a:r>
            <a:r>
              <a:rPr lang="en-US" sz="2000" b="1" dirty="0"/>
              <a:t>L</a:t>
            </a:r>
            <a:r>
              <a:rPr lang="en-US" sz="2000" dirty="0"/>
              <a:t>.</a:t>
            </a:r>
          </a:p>
          <a:p>
            <a:r>
              <a:rPr lang="en-US" sz="2000" dirty="0"/>
              <a:t> </a:t>
            </a:r>
            <a:r>
              <a:rPr lang="en-US" sz="2000" b="1" dirty="0" err="1"/>
              <a:t>L.reverse</a:t>
            </a:r>
            <a:r>
              <a:rPr lang="en-US" sz="2000" b="1" dirty="0"/>
              <a:t>()</a:t>
            </a:r>
            <a:r>
              <a:rPr lang="en-US" sz="2000" dirty="0"/>
              <a:t> escribe la </a:t>
            </a:r>
            <a:r>
              <a:rPr lang="en-US" sz="2000" dirty="0" err="1"/>
              <a:t>lista</a:t>
            </a:r>
            <a:r>
              <a:rPr lang="en-US" sz="2000" dirty="0"/>
              <a:t> L del </a:t>
            </a:r>
            <a:r>
              <a:rPr lang="en-US" sz="2000" dirty="0" err="1"/>
              <a:t>revez</a:t>
            </a:r>
            <a:r>
              <a:rPr lang="en-US" sz="2000" dirty="0"/>
              <a:t> (cambia </a:t>
            </a:r>
            <a:r>
              <a:rPr lang="en-US" sz="2000" b="1" dirty="0"/>
              <a:t>L</a:t>
            </a:r>
            <a:r>
              <a:rPr lang="en-US" sz="2000" dirty="0"/>
              <a:t>). </a:t>
            </a:r>
          </a:p>
          <a:p>
            <a:r>
              <a:rPr lang="en-US" sz="2000" dirty="0"/>
              <a:t> </a:t>
            </a:r>
            <a:r>
              <a:rPr lang="en-US" sz="2000" b="1" dirty="0" err="1"/>
              <a:t>L.sort</a:t>
            </a:r>
            <a:r>
              <a:rPr lang="en-US" sz="2000" b="1" dirty="0"/>
              <a:t>(L)</a:t>
            </a:r>
            <a:r>
              <a:rPr lang="en-US" sz="2000" dirty="0"/>
              <a:t> (re)</a:t>
            </a:r>
            <a:r>
              <a:rPr lang="en-US" sz="2000" dirty="0" err="1"/>
              <a:t>ordena</a:t>
            </a:r>
            <a:r>
              <a:rPr lang="en-US" sz="2000" dirty="0"/>
              <a:t> L de </a:t>
            </a:r>
            <a:r>
              <a:rPr lang="en-US" sz="2000" dirty="0" err="1"/>
              <a:t>acuerdo</a:t>
            </a:r>
            <a:r>
              <a:rPr lang="en-US" sz="2000" dirty="0"/>
              <a:t> al </a:t>
            </a:r>
            <a:r>
              <a:rPr lang="en-US" sz="2000" dirty="0" err="1"/>
              <a:t>orden</a:t>
            </a:r>
            <a:r>
              <a:rPr lang="en-US" sz="2000" dirty="0"/>
              <a:t> </a:t>
            </a:r>
            <a:r>
              <a:rPr lang="en-US" sz="2000" dirty="0" err="1"/>
              <a:t>lexicográfico</a:t>
            </a:r>
            <a:r>
              <a:rPr lang="en-US" sz="2000" dirty="0"/>
              <a:t>. Los </a:t>
            </a:r>
            <a:r>
              <a:rPr lang="en-US" sz="2000" dirty="0" err="1"/>
              <a:t>elementos</a:t>
            </a:r>
            <a:r>
              <a:rPr lang="en-US" sz="2000" dirty="0"/>
              <a:t> </a:t>
            </a:r>
            <a:r>
              <a:rPr lang="en-US" sz="2000" dirty="0" err="1"/>
              <a:t>deben</a:t>
            </a:r>
            <a:r>
              <a:rPr lang="en-US" sz="2000" dirty="0"/>
              <a:t> </a:t>
            </a:r>
            <a:r>
              <a:rPr lang="en-US" sz="2000" dirty="0" err="1"/>
              <a:t>ser</a:t>
            </a:r>
            <a:r>
              <a:rPr lang="en-US" sz="2000" dirty="0"/>
              <a:t> del </a:t>
            </a:r>
            <a:r>
              <a:rPr lang="en-US" sz="2000" dirty="0" err="1"/>
              <a:t>mismo</a:t>
            </a:r>
            <a:r>
              <a:rPr lang="en-US" sz="2000" dirty="0"/>
              <a:t> </a:t>
            </a:r>
            <a:r>
              <a:rPr lang="en-US" sz="2000" dirty="0" err="1"/>
              <a:t>tipo</a:t>
            </a:r>
            <a:r>
              <a:rPr lang="en-US" sz="2000" dirty="0"/>
              <a:t>.</a:t>
            </a:r>
          </a:p>
          <a:p>
            <a:pPr>
              <a:buNone/>
            </a:pPr>
            <a:br>
              <a:rPr lang="en-US" sz="2000" dirty="0"/>
            </a:br>
            <a:endParaRPr lang="en-US" sz="2000" dirty="0"/>
          </a:p>
        </p:txBody>
      </p:sp>
      <p:sp>
        <p:nvSpPr>
          <p:cNvPr id="14" name="17 CuadroTexto">
            <a:extLst>
              <a:ext uri="{FF2B5EF4-FFF2-40B4-BE49-F238E27FC236}">
                <a16:creationId xmlns:a16="http://schemas.microsoft.com/office/drawing/2014/main" id="{FE210990-BB28-C34F-8C39-11BDC67ADFD8}"/>
              </a:ext>
            </a:extLst>
          </p:cNvPr>
          <p:cNvSpPr txBox="1"/>
          <p:nvPr/>
        </p:nvSpPr>
        <p:spPr>
          <a:xfrm>
            <a:off x="2985122" y="499899"/>
            <a:ext cx="3173756" cy="984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AR" sz="2000" b="1" dirty="0">
                <a:solidFill>
                  <a:schemeClr val="bg1"/>
                </a:solidFill>
                <a:latin typeface="TeXGyreAdventor" pitchFamily="50" charset="0"/>
              </a:rPr>
              <a:t> - </a:t>
            </a:r>
            <a:r>
              <a:rPr lang="es-AR" sz="2000" b="1" u="sng" dirty="0">
                <a:solidFill>
                  <a:schemeClr val="bg1"/>
                </a:solidFill>
                <a:latin typeface="TeXGyreAdventor" pitchFamily="50" charset="0"/>
              </a:rPr>
              <a:t>Tipos de Datos Definidos por el Usuario</a:t>
            </a:r>
            <a:r>
              <a:rPr lang="es-AR" sz="2000" b="1" dirty="0">
                <a:solidFill>
                  <a:schemeClr val="bg1"/>
                </a:solidFill>
                <a:latin typeface="TeXGyreAdventor" pitchFamily="50" charset="0"/>
              </a:rPr>
              <a:t>-</a:t>
            </a:r>
          </a:p>
          <a:p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163492639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16 Imagen">
            <a:extLst>
              <a:ext uri="{FF2B5EF4-FFF2-40B4-BE49-F238E27FC236}">
                <a16:creationId xmlns:a16="http://schemas.microsoft.com/office/drawing/2014/main" id="{E18833CA-28BE-584F-9880-8012D82710A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580"/>
            <a:ext cx="9144000" cy="1171495"/>
          </a:xfrm>
          <a:prstGeom prst="rect">
            <a:avLst/>
          </a:prstGeom>
        </p:spPr>
      </p:pic>
      <p:sp>
        <p:nvSpPr>
          <p:cNvPr id="11" name="17 CuadroTexto">
            <a:extLst>
              <a:ext uri="{FF2B5EF4-FFF2-40B4-BE49-F238E27FC236}">
                <a16:creationId xmlns:a16="http://schemas.microsoft.com/office/drawing/2014/main" id="{6BED238C-223E-7F4A-BFF1-2F3910B2B049}"/>
              </a:ext>
            </a:extLst>
          </p:cNvPr>
          <p:cNvSpPr txBox="1"/>
          <p:nvPr/>
        </p:nvSpPr>
        <p:spPr>
          <a:xfrm>
            <a:off x="212156" y="87951"/>
            <a:ext cx="327972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2400" b="1" dirty="0">
                <a:solidFill>
                  <a:schemeClr val="bg1"/>
                </a:solidFill>
                <a:latin typeface="TeXGyreAdventor" pitchFamily="50" charset="0"/>
              </a:rPr>
              <a:t>Algoritmos y Estructuras</a:t>
            </a:r>
          </a:p>
          <a:p>
            <a:r>
              <a:rPr lang="es-AR" sz="2400" b="1" dirty="0">
                <a:solidFill>
                  <a:schemeClr val="bg1"/>
                </a:solidFill>
                <a:latin typeface="TeXGyreAdventor" pitchFamily="50" charset="0"/>
              </a:rPr>
              <a:t>de Datos</a:t>
            </a:r>
          </a:p>
          <a:p>
            <a:endParaRPr lang="es-AR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711F11B-CFCC-6F4C-987C-61BCBAF2DD91}"/>
              </a:ext>
            </a:extLst>
          </p:cNvPr>
          <p:cNvSpPr txBox="1"/>
          <p:nvPr/>
        </p:nvSpPr>
        <p:spPr>
          <a:xfrm>
            <a:off x="0" y="1173075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AR" sz="24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Arial" pitchFamily="34" charset="0"/>
                <a:cs typeface="Arial" pitchFamily="34" charset="0"/>
              </a:rPr>
              <a:t>Rangos:</a:t>
            </a:r>
          </a:p>
        </p:txBody>
      </p:sp>
      <p:sp>
        <p:nvSpPr>
          <p:cNvPr id="17" name="Los algoritmos se organizan en dos aspectos inseparables:">
            <a:extLst>
              <a:ext uri="{FF2B5EF4-FFF2-40B4-BE49-F238E27FC236}">
                <a16:creationId xmlns:a16="http://schemas.microsoft.com/office/drawing/2014/main" id="{AB2CC5FA-CD2B-F24E-BA05-2FC720BB331A}"/>
              </a:ext>
            </a:extLst>
          </p:cNvPr>
          <p:cNvSpPr txBox="1"/>
          <p:nvPr/>
        </p:nvSpPr>
        <p:spPr>
          <a:xfrm>
            <a:off x="395537" y="1726171"/>
            <a:ext cx="8568952" cy="47089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9" rIns="45719">
            <a:spAutoFit/>
          </a:bodyPr>
          <a:lstStyle>
            <a:lvl1pPr>
              <a:spcBef>
                <a:spcPts val="1600"/>
              </a:spcBef>
              <a:buSzPct val="100000"/>
              <a:buChar char="•"/>
              <a:defRPr sz="2800"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 marL="457200" indent="-457200">
              <a:buFont typeface="Wingdings" pitchFamily="2" charset="2"/>
              <a:buChar char="Ø"/>
            </a:pPr>
            <a:r>
              <a:rPr lang="en-US" sz="2400" dirty="0"/>
              <a:t>Los </a:t>
            </a:r>
            <a:r>
              <a:rPr lang="en-US" sz="2400" b="1" dirty="0" err="1"/>
              <a:t>rangos</a:t>
            </a:r>
            <a:r>
              <a:rPr lang="en-US" sz="2400" dirty="0"/>
              <a:t> son </a:t>
            </a:r>
            <a:r>
              <a:rPr lang="en-US" sz="2400" dirty="0" err="1"/>
              <a:t>tipos</a:t>
            </a:r>
            <a:r>
              <a:rPr lang="en-US" sz="2400" dirty="0"/>
              <a:t> </a:t>
            </a:r>
            <a:r>
              <a:rPr lang="en-US" sz="2400" dirty="0" err="1"/>
              <a:t>especiales</a:t>
            </a:r>
            <a:r>
              <a:rPr lang="en-US" sz="2400" dirty="0"/>
              <a:t> de </a:t>
            </a:r>
            <a:r>
              <a:rPr lang="en-US" sz="2400" dirty="0" err="1"/>
              <a:t>contenedores</a:t>
            </a:r>
            <a:r>
              <a:rPr lang="en-US" sz="2400" dirty="0"/>
              <a:t>.</a:t>
            </a:r>
          </a:p>
          <a:p>
            <a:pPr>
              <a:buNone/>
            </a:pPr>
            <a:r>
              <a:rPr lang="en-US" sz="2400" dirty="0" err="1"/>
              <a:t>Construiremos</a:t>
            </a:r>
            <a:r>
              <a:rPr lang="en-US" sz="2400" dirty="0"/>
              <a:t> un </a:t>
            </a:r>
            <a:r>
              <a:rPr lang="en-US" sz="2400" b="1" dirty="0" err="1"/>
              <a:t>rango</a:t>
            </a:r>
            <a:r>
              <a:rPr lang="en-US" sz="2400" dirty="0"/>
              <a:t> de la </a:t>
            </a:r>
            <a:r>
              <a:rPr lang="en-US" sz="2400" dirty="0" err="1"/>
              <a:t>siguiente</a:t>
            </a:r>
            <a:r>
              <a:rPr lang="en-US" sz="2400" dirty="0"/>
              <a:t> forma:</a:t>
            </a:r>
          </a:p>
          <a:p>
            <a:pPr algn="ctr">
              <a:buNone/>
            </a:pPr>
            <a:r>
              <a:rPr lang="en-US" sz="2400" dirty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range</a:t>
            </a:r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comienzo</a:t>
            </a:r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, fin, </a:t>
            </a:r>
            <a:r>
              <a:rPr lang="en-US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paso</a:t>
            </a:r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) </a:t>
            </a:r>
          </a:p>
          <a:p>
            <a:pPr>
              <a:buNone/>
            </a:pPr>
            <a:endParaRPr lang="en-US" sz="2400" dirty="0"/>
          </a:p>
          <a:p>
            <a:pPr marL="457200" indent="-457200">
              <a:buFont typeface="Wingdings" pitchFamily="2" charset="2"/>
              <a:buChar char="Ø"/>
            </a:pPr>
            <a:r>
              <a:rPr lang="en-US" sz="2400" dirty="0"/>
              <a:t>El </a:t>
            </a:r>
            <a:r>
              <a:rPr lang="en-US" sz="2400" dirty="0" err="1"/>
              <a:t>rango</a:t>
            </a:r>
            <a:r>
              <a:rPr lang="en-US" sz="2400" dirty="0"/>
              <a:t> no </a:t>
            </a:r>
            <a:r>
              <a:rPr lang="en-US" sz="2400" dirty="0" err="1"/>
              <a:t>es</a:t>
            </a:r>
            <a:r>
              <a:rPr lang="en-US" sz="2400" dirty="0"/>
              <a:t> un </a:t>
            </a:r>
            <a:r>
              <a:rPr lang="en-US" sz="2400" dirty="0" err="1"/>
              <a:t>objeto</a:t>
            </a:r>
            <a:r>
              <a:rPr lang="en-US" sz="2400" dirty="0"/>
              <a:t> </a:t>
            </a:r>
            <a:r>
              <a:rPr lang="en-US" sz="2400" b="1" dirty="0"/>
              <a:t>per se</a:t>
            </a:r>
            <a:r>
              <a:rPr lang="en-US" sz="2400" dirty="0"/>
              <a:t>, </a:t>
            </a:r>
            <a:r>
              <a:rPr lang="en-US" sz="2400" dirty="0" err="1"/>
              <a:t>podemos</a:t>
            </a:r>
            <a:r>
              <a:rPr lang="en-US" sz="2400" dirty="0"/>
              <a:t> </a:t>
            </a:r>
            <a:r>
              <a:rPr lang="en-US" sz="2400" dirty="0" err="1"/>
              <a:t>tratarlo</a:t>
            </a:r>
            <a:r>
              <a:rPr lang="en-US" sz="2400" dirty="0"/>
              <a:t> </a:t>
            </a:r>
            <a:r>
              <a:rPr lang="en-US" sz="2400" dirty="0" err="1"/>
              <a:t>como</a:t>
            </a:r>
            <a:r>
              <a:rPr lang="en-US" sz="2400" dirty="0"/>
              <a:t> </a:t>
            </a:r>
            <a:r>
              <a:rPr lang="en-US" sz="2400" dirty="0" err="1"/>
              <a:t>una</a:t>
            </a:r>
            <a:r>
              <a:rPr lang="en-US" sz="2400" dirty="0"/>
              <a:t> </a:t>
            </a:r>
            <a:r>
              <a:rPr lang="en-US" sz="2400" i="1" dirty="0"/>
              <a:t>‘</a:t>
            </a:r>
            <a:r>
              <a:rPr lang="en-US" sz="2400" i="1" dirty="0" err="1"/>
              <a:t>lista</a:t>
            </a:r>
            <a:r>
              <a:rPr lang="en-US" sz="2400" i="1" dirty="0"/>
              <a:t> </a:t>
            </a:r>
            <a:r>
              <a:rPr lang="en-US" sz="2400" i="1" dirty="0" err="1"/>
              <a:t>potencial</a:t>
            </a:r>
            <a:r>
              <a:rPr lang="en-US" sz="2400" i="1" dirty="0"/>
              <a:t>’</a:t>
            </a:r>
            <a:r>
              <a:rPr lang="en-US" sz="2400" dirty="0"/>
              <a:t>. </a:t>
            </a:r>
          </a:p>
          <a:p>
            <a:pPr marL="457200" indent="-457200">
              <a:buFont typeface="Wingdings" pitchFamily="2" charset="2"/>
              <a:buChar char="Ø"/>
            </a:pPr>
            <a:r>
              <a:rPr lang="en-US" sz="2400" dirty="0" err="1"/>
              <a:t>Es</a:t>
            </a:r>
            <a:r>
              <a:rPr lang="en-US" sz="2400" dirty="0"/>
              <a:t> </a:t>
            </a:r>
            <a:r>
              <a:rPr lang="en-US" sz="2400" dirty="0" err="1"/>
              <a:t>posible</a:t>
            </a:r>
            <a:r>
              <a:rPr lang="en-US" sz="2400" dirty="0"/>
              <a:t> </a:t>
            </a:r>
            <a:r>
              <a:rPr lang="en-US" sz="2400" dirty="0" err="1"/>
              <a:t>checkear</a:t>
            </a:r>
            <a:r>
              <a:rPr lang="en-US" sz="2400" dirty="0"/>
              <a:t> </a:t>
            </a:r>
            <a:r>
              <a:rPr lang="en-US" sz="2400" dirty="0" err="1"/>
              <a:t>si</a:t>
            </a:r>
            <a:r>
              <a:rPr lang="en-US" sz="2400" dirty="0"/>
              <a:t> ‘valor' </a:t>
            </a:r>
            <a:r>
              <a:rPr lang="en-US" sz="2400" dirty="0" err="1"/>
              <a:t>esta</a:t>
            </a:r>
            <a:r>
              <a:rPr lang="en-US" sz="2400" dirty="0"/>
              <a:t> (o </a:t>
            </a:r>
            <a:r>
              <a:rPr lang="en-US" sz="2400" dirty="0" err="1"/>
              <a:t>pertenece</a:t>
            </a:r>
            <a:r>
              <a:rPr lang="en-US" sz="2400" dirty="0"/>
              <a:t>) a </a:t>
            </a:r>
            <a:r>
              <a:rPr lang="en-US" sz="2400" dirty="0" err="1"/>
              <a:t>cierto</a:t>
            </a:r>
            <a:r>
              <a:rPr lang="en-US" sz="2400" dirty="0"/>
              <a:t> </a:t>
            </a:r>
            <a:r>
              <a:rPr lang="en-US" sz="2400" dirty="0" err="1"/>
              <a:t>rango</a:t>
            </a:r>
            <a:r>
              <a:rPr lang="en-US" sz="2400" dirty="0"/>
              <a:t>, i.e</a:t>
            </a:r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. ‘valor’ </a:t>
            </a:r>
            <a:r>
              <a:rPr lang="en-US" sz="2400" dirty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 range</a:t>
            </a:r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comienzo</a:t>
            </a:r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, fin) </a:t>
            </a:r>
          </a:p>
          <a:p>
            <a:pPr>
              <a:buNone/>
            </a:pPr>
            <a:endParaRPr lang="en-US" dirty="0"/>
          </a:p>
        </p:txBody>
      </p:sp>
      <p:sp>
        <p:nvSpPr>
          <p:cNvPr id="14" name="17 CuadroTexto">
            <a:extLst>
              <a:ext uri="{FF2B5EF4-FFF2-40B4-BE49-F238E27FC236}">
                <a16:creationId xmlns:a16="http://schemas.microsoft.com/office/drawing/2014/main" id="{FE210990-BB28-C34F-8C39-11BDC67ADFD8}"/>
              </a:ext>
            </a:extLst>
          </p:cNvPr>
          <p:cNvSpPr txBox="1"/>
          <p:nvPr/>
        </p:nvSpPr>
        <p:spPr>
          <a:xfrm>
            <a:off x="2985122" y="499899"/>
            <a:ext cx="3173756" cy="984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AR" sz="2000" b="1" dirty="0">
                <a:solidFill>
                  <a:schemeClr val="bg1"/>
                </a:solidFill>
                <a:latin typeface="TeXGyreAdventor" pitchFamily="50" charset="0"/>
              </a:rPr>
              <a:t> - </a:t>
            </a:r>
            <a:r>
              <a:rPr lang="es-AR" sz="2000" b="1" u="sng" dirty="0">
                <a:solidFill>
                  <a:schemeClr val="bg1"/>
                </a:solidFill>
                <a:latin typeface="TeXGyreAdventor" pitchFamily="50" charset="0"/>
              </a:rPr>
              <a:t>Tipos de Datos Definidos por el Usuario</a:t>
            </a:r>
            <a:r>
              <a:rPr lang="es-AR" sz="2000" b="1" dirty="0">
                <a:solidFill>
                  <a:schemeClr val="bg1"/>
                </a:solidFill>
                <a:latin typeface="TeXGyreAdventor" pitchFamily="50" charset="0"/>
              </a:rPr>
              <a:t>-</a:t>
            </a:r>
          </a:p>
          <a:p>
            <a:endParaRPr lang="es-AR" dirty="0"/>
          </a:p>
        </p:txBody>
      </p:sp>
      <p:sp>
        <p:nvSpPr>
          <p:cNvPr id="9" name="Las entradas colección inicial de datos.…">
            <a:extLst>
              <a:ext uri="{FF2B5EF4-FFF2-40B4-BE49-F238E27FC236}">
                <a16:creationId xmlns:a16="http://schemas.microsoft.com/office/drawing/2014/main" id="{6F3A2DF7-E263-884D-B275-D3C4E3B4680D}"/>
              </a:ext>
            </a:extLst>
          </p:cNvPr>
          <p:cNvSpPr txBox="1"/>
          <p:nvPr/>
        </p:nvSpPr>
        <p:spPr>
          <a:xfrm>
            <a:off x="-396552" y="6126473"/>
            <a:ext cx="7973061" cy="40011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marL="342900" indent="-342900">
              <a:buFont typeface="Wingdings" pitchFamily="2" charset="2"/>
              <a:buChar char="Ø"/>
            </a:pPr>
            <a:r>
              <a:rPr lang="en-US" sz="2000" dirty="0" err="1"/>
              <a:t>operaciones</a:t>
            </a:r>
            <a:r>
              <a:rPr lang="en-US" sz="20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61593221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16 Imagen">
            <a:extLst>
              <a:ext uri="{FF2B5EF4-FFF2-40B4-BE49-F238E27FC236}">
                <a16:creationId xmlns:a16="http://schemas.microsoft.com/office/drawing/2014/main" id="{E18833CA-28BE-584F-9880-8012D82710A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580"/>
            <a:ext cx="9144000" cy="1171495"/>
          </a:xfrm>
          <a:prstGeom prst="rect">
            <a:avLst/>
          </a:prstGeom>
        </p:spPr>
      </p:pic>
      <p:sp>
        <p:nvSpPr>
          <p:cNvPr id="11" name="17 CuadroTexto">
            <a:extLst>
              <a:ext uri="{FF2B5EF4-FFF2-40B4-BE49-F238E27FC236}">
                <a16:creationId xmlns:a16="http://schemas.microsoft.com/office/drawing/2014/main" id="{6BED238C-223E-7F4A-BFF1-2F3910B2B049}"/>
              </a:ext>
            </a:extLst>
          </p:cNvPr>
          <p:cNvSpPr txBox="1"/>
          <p:nvPr/>
        </p:nvSpPr>
        <p:spPr>
          <a:xfrm>
            <a:off x="212156" y="87951"/>
            <a:ext cx="327972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2400" b="1" dirty="0">
                <a:solidFill>
                  <a:schemeClr val="bg1"/>
                </a:solidFill>
                <a:latin typeface="TeXGyreAdventor" pitchFamily="50" charset="0"/>
              </a:rPr>
              <a:t>Algoritmos y Estructuras</a:t>
            </a:r>
          </a:p>
          <a:p>
            <a:r>
              <a:rPr lang="es-AR" sz="2400" b="1" dirty="0">
                <a:solidFill>
                  <a:schemeClr val="bg1"/>
                </a:solidFill>
                <a:latin typeface="TeXGyreAdventor" pitchFamily="50" charset="0"/>
              </a:rPr>
              <a:t>de Datos</a:t>
            </a:r>
          </a:p>
          <a:p>
            <a:endParaRPr lang="es-AR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711F11B-CFCC-6F4C-987C-61BCBAF2DD91}"/>
              </a:ext>
            </a:extLst>
          </p:cNvPr>
          <p:cNvSpPr txBox="1"/>
          <p:nvPr/>
        </p:nvSpPr>
        <p:spPr>
          <a:xfrm>
            <a:off x="0" y="1173075"/>
            <a:ext cx="494077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AR" sz="24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Arial" pitchFamily="34" charset="0"/>
                <a:cs typeface="Arial" pitchFamily="34" charset="0"/>
              </a:rPr>
              <a:t>Diferencias entre Contenedores:</a:t>
            </a:r>
          </a:p>
        </p:txBody>
      </p:sp>
      <p:sp>
        <p:nvSpPr>
          <p:cNvPr id="17" name="Los algoritmos se organizan en dos aspectos inseparables:">
            <a:extLst>
              <a:ext uri="{FF2B5EF4-FFF2-40B4-BE49-F238E27FC236}">
                <a16:creationId xmlns:a16="http://schemas.microsoft.com/office/drawing/2014/main" id="{AB2CC5FA-CD2B-F24E-BA05-2FC720BB331A}"/>
              </a:ext>
            </a:extLst>
          </p:cNvPr>
          <p:cNvSpPr txBox="1"/>
          <p:nvPr/>
        </p:nvSpPr>
        <p:spPr>
          <a:xfrm>
            <a:off x="395537" y="1726171"/>
            <a:ext cx="8568952" cy="481157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9" rIns="45719">
            <a:spAutoFit/>
          </a:bodyPr>
          <a:lstStyle>
            <a:lvl1pPr>
              <a:spcBef>
                <a:spcPts val="1600"/>
              </a:spcBef>
              <a:buSzPct val="100000"/>
              <a:buChar char="•"/>
              <a:defRPr sz="2800"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 marL="342900" indent="-342900">
              <a:buFont typeface="Wingdings" pitchFamily="2" charset="2"/>
              <a:buChar char="Ø"/>
            </a:pPr>
            <a:r>
              <a:rPr lang="en-US" sz="2400" dirty="0"/>
              <a:t>Un </a:t>
            </a:r>
            <a:r>
              <a:rPr lang="en-US" sz="2400" b="1" dirty="0" err="1"/>
              <a:t>diccionario</a:t>
            </a:r>
            <a:r>
              <a:rPr lang="en-US" sz="2400" dirty="0"/>
              <a:t> </a:t>
            </a:r>
            <a:r>
              <a:rPr lang="en-US" sz="2400" dirty="0" err="1"/>
              <a:t>es</a:t>
            </a:r>
            <a:r>
              <a:rPr lang="en-US" sz="2400" dirty="0"/>
              <a:t> </a:t>
            </a:r>
            <a:r>
              <a:rPr lang="en-US" sz="2400" dirty="0" err="1"/>
              <a:t>una</a:t>
            </a:r>
            <a:r>
              <a:rPr lang="en-US" sz="2400" dirty="0"/>
              <a:t> forma </a:t>
            </a:r>
            <a:r>
              <a:rPr lang="en-US" sz="2400" dirty="0" err="1"/>
              <a:t>conveniente</a:t>
            </a:r>
            <a:r>
              <a:rPr lang="en-US" sz="2400" dirty="0"/>
              <a:t> de </a:t>
            </a:r>
            <a:r>
              <a:rPr lang="en-US" sz="2400" dirty="0" err="1"/>
              <a:t>almacenar</a:t>
            </a:r>
            <a:r>
              <a:rPr lang="en-US" sz="2400" dirty="0"/>
              <a:t>/</a:t>
            </a:r>
            <a:r>
              <a:rPr lang="en-US" sz="2400" dirty="0" err="1"/>
              <a:t>actualizar</a:t>
            </a:r>
            <a:r>
              <a:rPr lang="en-US" sz="2400" dirty="0"/>
              <a:t>/</a:t>
            </a:r>
            <a:r>
              <a:rPr lang="en-US" sz="2400" dirty="0" err="1"/>
              <a:t>eliminar</a:t>
            </a:r>
            <a:r>
              <a:rPr lang="en-US" sz="2400" dirty="0"/>
              <a:t> </a:t>
            </a:r>
            <a:r>
              <a:rPr lang="en-US" sz="2400" dirty="0" err="1"/>
              <a:t>información</a:t>
            </a:r>
            <a:r>
              <a:rPr lang="en-US" sz="2400" dirty="0"/>
              <a:t> </a:t>
            </a:r>
            <a:r>
              <a:rPr lang="en-US" sz="2400" dirty="0" err="1"/>
              <a:t>sobre</a:t>
            </a:r>
            <a:r>
              <a:rPr lang="en-US" sz="2400" dirty="0"/>
              <a:t> </a:t>
            </a:r>
            <a:r>
              <a:rPr lang="en-US" sz="2400" dirty="0" err="1"/>
              <a:t>llaves</a:t>
            </a:r>
            <a:r>
              <a:rPr lang="en-US" sz="2400" dirty="0"/>
              <a:t> </a:t>
            </a:r>
            <a:r>
              <a:rPr lang="en-US" sz="2400" dirty="0" err="1"/>
              <a:t>esspecíficas</a:t>
            </a:r>
            <a:r>
              <a:rPr lang="en-US" sz="2400" dirty="0"/>
              <a:t>. Sin embargo, </a:t>
            </a:r>
            <a:r>
              <a:rPr lang="en-US" sz="2400" dirty="0" err="1"/>
              <a:t>es</a:t>
            </a:r>
            <a:r>
              <a:rPr lang="en-US" sz="2400" dirty="0"/>
              <a:t> un </a:t>
            </a:r>
            <a:r>
              <a:rPr lang="en-US" sz="2400" dirty="0" err="1"/>
              <a:t>objeto</a:t>
            </a:r>
            <a:r>
              <a:rPr lang="en-US" sz="2400" dirty="0"/>
              <a:t> de mayor </a:t>
            </a:r>
            <a:r>
              <a:rPr lang="en-US" sz="2400" dirty="0" err="1"/>
              <a:t>complejidad</a:t>
            </a:r>
            <a:r>
              <a:rPr lang="en-US" sz="2400" dirty="0"/>
              <a:t> y </a:t>
            </a:r>
            <a:r>
              <a:rPr lang="en-US" sz="2400" dirty="0" err="1"/>
              <a:t>debe</a:t>
            </a:r>
            <a:r>
              <a:rPr lang="en-US" sz="2400" dirty="0"/>
              <a:t> </a:t>
            </a:r>
            <a:r>
              <a:rPr lang="en-US" sz="2400" dirty="0" err="1"/>
              <a:t>ser</a:t>
            </a:r>
            <a:r>
              <a:rPr lang="en-US" sz="2400" dirty="0"/>
              <a:t> </a:t>
            </a:r>
            <a:r>
              <a:rPr lang="en-US" sz="2400" dirty="0" err="1"/>
              <a:t>utilizado</a:t>
            </a:r>
            <a:r>
              <a:rPr lang="en-US" sz="2400" dirty="0"/>
              <a:t> con </a:t>
            </a:r>
            <a:r>
              <a:rPr lang="en-US" sz="2400" dirty="0" err="1"/>
              <a:t>cuidado</a:t>
            </a:r>
            <a:r>
              <a:rPr lang="en-US" sz="2400" dirty="0"/>
              <a:t>.</a:t>
            </a:r>
          </a:p>
          <a:p>
            <a:pPr marL="342900" indent="-342900">
              <a:buFont typeface="Wingdings" pitchFamily="2" charset="2"/>
              <a:buChar char="Ø"/>
            </a:pPr>
            <a:endParaRPr lang="en-US" sz="2400" dirty="0"/>
          </a:p>
          <a:p>
            <a:pPr marL="342900" indent="-342900">
              <a:buFont typeface="Wingdings" pitchFamily="2" charset="2"/>
              <a:buChar char="Ø"/>
            </a:pPr>
            <a:r>
              <a:rPr lang="en-US" sz="2400" dirty="0"/>
              <a:t>Una </a:t>
            </a:r>
            <a:r>
              <a:rPr lang="en-US" sz="2400" dirty="0" err="1"/>
              <a:t>cadena</a:t>
            </a:r>
            <a:r>
              <a:rPr lang="en-US" sz="2400" dirty="0"/>
              <a:t> de </a:t>
            </a:r>
            <a:r>
              <a:rPr lang="en-US" sz="2400" dirty="0" err="1"/>
              <a:t>carácteres</a:t>
            </a:r>
            <a:r>
              <a:rPr lang="en-US" sz="2400" dirty="0"/>
              <a:t> </a:t>
            </a:r>
            <a:r>
              <a:rPr lang="en-US" sz="2400" dirty="0" err="1"/>
              <a:t>es</a:t>
            </a:r>
            <a:r>
              <a:rPr lang="en-US" sz="2400" dirty="0"/>
              <a:t> un </a:t>
            </a:r>
            <a:r>
              <a:rPr lang="en-US" sz="2400" dirty="0" err="1"/>
              <a:t>objeto</a:t>
            </a:r>
            <a:r>
              <a:rPr lang="en-US" sz="2400" dirty="0"/>
              <a:t> </a:t>
            </a:r>
            <a:r>
              <a:rPr lang="en-US" sz="2400" dirty="0" err="1"/>
              <a:t>especifico</a:t>
            </a:r>
            <a:r>
              <a:rPr lang="en-US" sz="2400" dirty="0"/>
              <a:t>. </a:t>
            </a:r>
            <a:r>
              <a:rPr lang="en-US" sz="2400" dirty="0" err="1"/>
              <a:t>Es</a:t>
            </a:r>
            <a:r>
              <a:rPr lang="en-US" sz="2400" dirty="0"/>
              <a:t> </a:t>
            </a:r>
            <a:r>
              <a:rPr lang="en-US" sz="2400" dirty="0" err="1"/>
              <a:t>una</a:t>
            </a:r>
            <a:r>
              <a:rPr lang="en-US" sz="2400" dirty="0"/>
              <a:t> forma simple se </a:t>
            </a:r>
            <a:r>
              <a:rPr lang="en-US" sz="2400" dirty="0" err="1"/>
              <a:t>comunicarse</a:t>
            </a:r>
            <a:r>
              <a:rPr lang="en-US" sz="2400" dirty="0"/>
              <a:t> con el </a:t>
            </a:r>
            <a:r>
              <a:rPr lang="en-US" sz="2400" dirty="0" err="1"/>
              <a:t>usuario</a:t>
            </a:r>
            <a:r>
              <a:rPr lang="en-US" sz="2400" dirty="0"/>
              <a:t>, </a:t>
            </a:r>
            <a:r>
              <a:rPr lang="en-US" sz="2400" dirty="0" err="1"/>
              <a:t>usando</a:t>
            </a:r>
            <a:r>
              <a:rPr lang="en-US" sz="2400" dirty="0"/>
              <a:t> el </a:t>
            </a:r>
            <a:r>
              <a:rPr lang="en-US" sz="2400" dirty="0" err="1"/>
              <a:t>método</a:t>
            </a:r>
            <a:r>
              <a:rPr lang="en-US" sz="2400" dirty="0"/>
              <a:t> </a:t>
            </a:r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format</a:t>
            </a:r>
            <a:r>
              <a:rPr lang="en-US" sz="2400" dirty="0"/>
              <a:t>. </a:t>
            </a:r>
          </a:p>
          <a:p>
            <a:pPr marL="342900" indent="-342900">
              <a:buFont typeface="Wingdings" pitchFamily="2" charset="2"/>
              <a:buChar char="Ø"/>
            </a:pPr>
            <a:endParaRPr lang="en-US" sz="2400" dirty="0"/>
          </a:p>
          <a:p>
            <a:pPr marL="342900" indent="-342900">
              <a:buFont typeface="Wingdings" pitchFamily="2" charset="2"/>
              <a:buChar char="Ø"/>
            </a:pPr>
            <a:r>
              <a:rPr lang="en-US" sz="2400" dirty="0"/>
              <a:t>Los </a:t>
            </a:r>
            <a:r>
              <a:rPr lang="en-US" sz="2400" b="1" dirty="0"/>
              <a:t>strings</a:t>
            </a:r>
            <a:r>
              <a:rPr lang="en-US" sz="2400" dirty="0"/>
              <a:t> y las </a:t>
            </a:r>
            <a:r>
              <a:rPr lang="en-US" sz="2400" b="1" dirty="0" err="1"/>
              <a:t>tuplas</a:t>
            </a:r>
            <a:r>
              <a:rPr lang="en-US" sz="2400" dirty="0"/>
              <a:t>, son </a:t>
            </a:r>
            <a:r>
              <a:rPr lang="en-US" sz="2400" dirty="0" err="1"/>
              <a:t>tipos</a:t>
            </a:r>
            <a:r>
              <a:rPr lang="en-US" sz="2400" dirty="0"/>
              <a:t> </a:t>
            </a:r>
            <a:r>
              <a:rPr lang="en-US" sz="2400" u="sng" dirty="0" err="1"/>
              <a:t>inmutables</a:t>
            </a:r>
            <a:r>
              <a:rPr lang="en-US" sz="2400" dirty="0"/>
              <a:t>: </a:t>
            </a:r>
            <a:r>
              <a:rPr lang="en-US" sz="2400" dirty="0" err="1"/>
              <a:t>es</a:t>
            </a:r>
            <a:r>
              <a:rPr lang="en-US" sz="2400" dirty="0"/>
              <a:t> </a:t>
            </a:r>
            <a:r>
              <a:rPr lang="en-US" sz="2400" dirty="0" err="1"/>
              <a:t>decir</a:t>
            </a:r>
            <a:r>
              <a:rPr lang="en-US" sz="2400" dirty="0"/>
              <a:t>, </a:t>
            </a:r>
          </a:p>
          <a:p>
            <a:pPr algn="ctr">
              <a:buNone/>
            </a:pPr>
            <a:r>
              <a:rPr lang="en-US" sz="2400" u="sng" dirty="0"/>
              <a:t>No </a:t>
            </a:r>
            <a:r>
              <a:rPr lang="en-US" sz="2400" u="sng" dirty="0" err="1"/>
              <a:t>existen</a:t>
            </a:r>
            <a:r>
              <a:rPr lang="en-US" sz="2400" u="sng" dirty="0"/>
              <a:t> </a:t>
            </a:r>
            <a:r>
              <a:rPr lang="en-US" sz="2400" u="sng" dirty="0" err="1"/>
              <a:t>métodos</a:t>
            </a:r>
            <a:r>
              <a:rPr lang="en-US" sz="2400" u="sng" dirty="0"/>
              <a:t> </a:t>
            </a:r>
            <a:r>
              <a:rPr lang="en-US" sz="2400" u="sng" dirty="0" err="1"/>
              <a:t>definidos</a:t>
            </a:r>
            <a:r>
              <a:rPr lang="en-US" sz="2400" u="sng" dirty="0"/>
              <a:t> para </a:t>
            </a:r>
            <a:r>
              <a:rPr lang="en-US" sz="2400" u="sng" dirty="0" err="1"/>
              <a:t>cambiar</a:t>
            </a:r>
            <a:r>
              <a:rPr lang="en-US" sz="2400" u="sng" dirty="0"/>
              <a:t> </a:t>
            </a:r>
            <a:r>
              <a:rPr lang="en-US" sz="2400" u="sng" dirty="0" err="1"/>
              <a:t>sus</a:t>
            </a:r>
            <a:r>
              <a:rPr lang="en-US" sz="2400" u="sng" dirty="0"/>
              <a:t> </a:t>
            </a:r>
            <a:r>
              <a:rPr lang="en-US" sz="2400" u="sng" dirty="0" err="1"/>
              <a:t>valores</a:t>
            </a:r>
            <a:r>
              <a:rPr lang="en-US" sz="2400" u="sng" dirty="0"/>
              <a:t> </a:t>
            </a:r>
            <a:r>
              <a:rPr lang="en-US" sz="2400" u="sng" dirty="0" err="1"/>
              <a:t>internos</a:t>
            </a:r>
            <a:r>
              <a:rPr lang="en-US" sz="2400" u="sng" dirty="0"/>
              <a:t>.</a:t>
            </a:r>
          </a:p>
        </p:txBody>
      </p:sp>
      <p:sp>
        <p:nvSpPr>
          <p:cNvPr id="14" name="17 CuadroTexto">
            <a:extLst>
              <a:ext uri="{FF2B5EF4-FFF2-40B4-BE49-F238E27FC236}">
                <a16:creationId xmlns:a16="http://schemas.microsoft.com/office/drawing/2014/main" id="{FE210990-BB28-C34F-8C39-11BDC67ADFD8}"/>
              </a:ext>
            </a:extLst>
          </p:cNvPr>
          <p:cNvSpPr txBox="1"/>
          <p:nvPr/>
        </p:nvSpPr>
        <p:spPr>
          <a:xfrm>
            <a:off x="2985122" y="499899"/>
            <a:ext cx="3173756" cy="984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AR" sz="2000" b="1" dirty="0">
                <a:solidFill>
                  <a:schemeClr val="bg1"/>
                </a:solidFill>
                <a:latin typeface="TeXGyreAdventor" pitchFamily="50" charset="0"/>
              </a:rPr>
              <a:t> - </a:t>
            </a:r>
            <a:r>
              <a:rPr lang="es-AR" sz="2000" b="1" u="sng" dirty="0">
                <a:solidFill>
                  <a:schemeClr val="bg1"/>
                </a:solidFill>
                <a:latin typeface="TeXGyreAdventor" pitchFamily="50" charset="0"/>
              </a:rPr>
              <a:t>Tipos de Datos Definidos por el Usuario</a:t>
            </a:r>
            <a:r>
              <a:rPr lang="es-AR" sz="2000" b="1" dirty="0">
                <a:solidFill>
                  <a:schemeClr val="bg1"/>
                </a:solidFill>
                <a:latin typeface="TeXGyreAdventor" pitchFamily="50" charset="0"/>
              </a:rPr>
              <a:t>-</a:t>
            </a:r>
          </a:p>
          <a:p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169379622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16 Imagen">
            <a:extLst>
              <a:ext uri="{FF2B5EF4-FFF2-40B4-BE49-F238E27FC236}">
                <a16:creationId xmlns:a16="http://schemas.microsoft.com/office/drawing/2014/main" id="{E18833CA-28BE-584F-9880-8012D82710A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580"/>
            <a:ext cx="9144000" cy="1171495"/>
          </a:xfrm>
          <a:prstGeom prst="rect">
            <a:avLst/>
          </a:prstGeom>
        </p:spPr>
      </p:pic>
      <p:sp>
        <p:nvSpPr>
          <p:cNvPr id="11" name="17 CuadroTexto">
            <a:extLst>
              <a:ext uri="{FF2B5EF4-FFF2-40B4-BE49-F238E27FC236}">
                <a16:creationId xmlns:a16="http://schemas.microsoft.com/office/drawing/2014/main" id="{6BED238C-223E-7F4A-BFF1-2F3910B2B049}"/>
              </a:ext>
            </a:extLst>
          </p:cNvPr>
          <p:cNvSpPr txBox="1"/>
          <p:nvPr/>
        </p:nvSpPr>
        <p:spPr>
          <a:xfrm>
            <a:off x="212156" y="87951"/>
            <a:ext cx="327972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2400" b="1" dirty="0">
                <a:solidFill>
                  <a:schemeClr val="bg1"/>
                </a:solidFill>
                <a:latin typeface="TeXGyreAdventor" pitchFamily="50" charset="0"/>
              </a:rPr>
              <a:t>Algoritmos y Estructuras</a:t>
            </a:r>
          </a:p>
          <a:p>
            <a:r>
              <a:rPr lang="es-AR" sz="2400" b="1" dirty="0">
                <a:solidFill>
                  <a:schemeClr val="bg1"/>
                </a:solidFill>
                <a:latin typeface="TeXGyreAdventor" pitchFamily="50" charset="0"/>
              </a:rPr>
              <a:t>de Datos</a:t>
            </a:r>
          </a:p>
          <a:p>
            <a:endParaRPr lang="es-AR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711F11B-CFCC-6F4C-987C-61BCBAF2DD91}"/>
              </a:ext>
            </a:extLst>
          </p:cNvPr>
          <p:cNvSpPr txBox="1"/>
          <p:nvPr/>
        </p:nvSpPr>
        <p:spPr>
          <a:xfrm>
            <a:off x="0" y="1173075"/>
            <a:ext cx="494077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AR" sz="24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Arial" pitchFamily="34" charset="0"/>
                <a:cs typeface="Arial" pitchFamily="34" charset="0"/>
              </a:rPr>
              <a:t>Diferencias entre Contenedores:</a:t>
            </a:r>
          </a:p>
        </p:txBody>
      </p:sp>
      <p:sp>
        <p:nvSpPr>
          <p:cNvPr id="17" name="Los algoritmos se organizan en dos aspectos inseparables:">
            <a:extLst>
              <a:ext uri="{FF2B5EF4-FFF2-40B4-BE49-F238E27FC236}">
                <a16:creationId xmlns:a16="http://schemas.microsoft.com/office/drawing/2014/main" id="{AB2CC5FA-CD2B-F24E-BA05-2FC720BB331A}"/>
              </a:ext>
            </a:extLst>
          </p:cNvPr>
          <p:cNvSpPr txBox="1"/>
          <p:nvPr/>
        </p:nvSpPr>
        <p:spPr>
          <a:xfrm>
            <a:off x="395537" y="1726171"/>
            <a:ext cx="8568952" cy="52578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9" rIns="45719">
            <a:spAutoFit/>
          </a:bodyPr>
          <a:lstStyle>
            <a:lvl1pPr>
              <a:spcBef>
                <a:spcPts val="1600"/>
              </a:spcBef>
              <a:buSzPct val="100000"/>
              <a:buChar char="•"/>
              <a:defRPr sz="2800"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 marL="342900" indent="-342900">
              <a:buFont typeface="Wingdings" pitchFamily="2" charset="2"/>
              <a:buChar char="Ø"/>
            </a:pPr>
            <a:r>
              <a:rPr lang="en-US" sz="2400" dirty="0"/>
              <a:t>Los </a:t>
            </a:r>
            <a:r>
              <a:rPr lang="en-US" sz="2400" b="1" dirty="0"/>
              <a:t>conjuntos</a:t>
            </a:r>
            <a:r>
              <a:rPr lang="en-US" sz="2400" dirty="0"/>
              <a:t>, </a:t>
            </a:r>
            <a:r>
              <a:rPr lang="en-US" sz="2400" b="1" dirty="0" err="1"/>
              <a:t>diccionarios</a:t>
            </a:r>
            <a:r>
              <a:rPr lang="en-US" sz="2400" dirty="0"/>
              <a:t> y </a:t>
            </a:r>
            <a:r>
              <a:rPr lang="en-US" sz="2400" b="1" dirty="0" err="1"/>
              <a:t>listas</a:t>
            </a:r>
            <a:r>
              <a:rPr lang="en-US" sz="2400" dirty="0"/>
              <a:t> son </a:t>
            </a:r>
            <a:r>
              <a:rPr lang="en-US" sz="2400" dirty="0" err="1"/>
              <a:t>tipos</a:t>
            </a:r>
            <a:r>
              <a:rPr lang="en-US" sz="2400" dirty="0"/>
              <a:t> "</a:t>
            </a:r>
            <a:r>
              <a:rPr lang="en-US" sz="2400" u="sng" dirty="0" err="1"/>
              <a:t>mutables</a:t>
            </a:r>
            <a:r>
              <a:rPr lang="en-US" sz="2400" dirty="0"/>
              <a:t>”.</a:t>
            </a:r>
          </a:p>
          <a:p>
            <a:pPr marL="800100" lvl="1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200" dirty="0" err="1"/>
              <a:t>Existen</a:t>
            </a:r>
            <a:r>
              <a:rPr lang="en-US" sz="2200" dirty="0"/>
              <a:t> </a:t>
            </a:r>
            <a:r>
              <a:rPr lang="en-US" sz="2200" dirty="0" err="1"/>
              <a:t>diversos</a:t>
            </a:r>
            <a:r>
              <a:rPr lang="en-US" sz="2200" dirty="0"/>
              <a:t> </a:t>
            </a:r>
            <a:r>
              <a:rPr lang="en-US" sz="2200" dirty="0" err="1"/>
              <a:t>métodos</a:t>
            </a:r>
            <a:r>
              <a:rPr lang="en-US" sz="2200" dirty="0"/>
              <a:t> para </a:t>
            </a:r>
            <a:r>
              <a:rPr lang="en-US" sz="2200" dirty="0" err="1"/>
              <a:t>manipularlos</a:t>
            </a:r>
            <a:r>
              <a:rPr lang="en-US" sz="2200" dirty="0"/>
              <a:t>. </a:t>
            </a:r>
          </a:p>
          <a:p>
            <a:pPr marL="800100" lvl="1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200" dirty="0" err="1"/>
              <a:t>Debemos</a:t>
            </a:r>
            <a:r>
              <a:rPr lang="en-US" sz="2200" dirty="0"/>
              <a:t> </a:t>
            </a:r>
            <a:r>
              <a:rPr lang="en-US" sz="2200" dirty="0" err="1"/>
              <a:t>tener</a:t>
            </a:r>
            <a:r>
              <a:rPr lang="en-US" sz="2200" dirty="0"/>
              <a:t> </a:t>
            </a:r>
            <a:r>
              <a:rPr lang="en-US" sz="2200" dirty="0" err="1"/>
              <a:t>cuidado</a:t>
            </a:r>
            <a:r>
              <a:rPr lang="en-US" sz="2200" dirty="0"/>
              <a:t> </a:t>
            </a:r>
            <a:r>
              <a:rPr lang="en-US" sz="2200" dirty="0" err="1"/>
              <a:t>cuando</a:t>
            </a:r>
            <a:r>
              <a:rPr lang="en-US" sz="2200" dirty="0"/>
              <a:t> </a:t>
            </a:r>
            <a:r>
              <a:rPr lang="en-US" sz="2200" dirty="0" err="1"/>
              <a:t>utilizamos</a:t>
            </a:r>
            <a:r>
              <a:rPr lang="en-US" sz="2200" dirty="0"/>
              <a:t> la </a:t>
            </a:r>
            <a:r>
              <a:rPr lang="en-US" sz="2200" dirty="0" err="1"/>
              <a:t>asignación</a:t>
            </a:r>
            <a:r>
              <a:rPr lang="en-US" sz="2200" dirty="0"/>
              <a:t> </a:t>
            </a:r>
            <a:r>
              <a:rPr lang="en-US" sz="2200" dirty="0" err="1"/>
              <a:t>en</a:t>
            </a:r>
            <a:r>
              <a:rPr lang="en-US" sz="2200" dirty="0"/>
              <a:t> </a:t>
            </a:r>
            <a:r>
              <a:rPr lang="en-US" sz="2200" dirty="0" err="1"/>
              <a:t>tipos</a:t>
            </a:r>
            <a:r>
              <a:rPr lang="en-US" sz="2200" dirty="0"/>
              <a:t> </a:t>
            </a:r>
            <a:r>
              <a:rPr lang="en-US" sz="2200" dirty="0" err="1"/>
              <a:t>mutables</a:t>
            </a:r>
            <a:r>
              <a:rPr lang="en-US" sz="2200" dirty="0"/>
              <a:t>, </a:t>
            </a:r>
            <a:r>
              <a:rPr lang="en-US" sz="2200" dirty="0" err="1"/>
              <a:t>ya</a:t>
            </a:r>
            <a:r>
              <a:rPr lang="en-US" sz="2200" dirty="0"/>
              <a:t> </a:t>
            </a:r>
            <a:r>
              <a:rPr lang="en-US" sz="2200" dirty="0" err="1"/>
              <a:t>en</a:t>
            </a:r>
            <a:r>
              <a:rPr lang="en-US" sz="2200" dirty="0"/>
              <a:t> </a:t>
            </a:r>
            <a:r>
              <a:rPr lang="en-US" sz="2200" dirty="0" err="1"/>
              <a:t>generalmente</a:t>
            </a:r>
            <a:r>
              <a:rPr lang="en-US" sz="2200" dirty="0"/>
              <a:t> </a:t>
            </a:r>
            <a:r>
              <a:rPr lang="en-US" sz="2200" dirty="0" err="1"/>
              <a:t>sobrescribiremos</a:t>
            </a:r>
            <a:r>
              <a:rPr lang="en-US" sz="2200" dirty="0"/>
              <a:t> el o </a:t>
            </a:r>
            <a:r>
              <a:rPr lang="en-US" sz="2200" dirty="0" err="1"/>
              <a:t>los</a:t>
            </a:r>
            <a:r>
              <a:rPr lang="en-US" sz="2200" dirty="0"/>
              <a:t> </a:t>
            </a:r>
            <a:r>
              <a:rPr lang="en-US" sz="2200" dirty="0" err="1"/>
              <a:t>valores</a:t>
            </a:r>
            <a:r>
              <a:rPr lang="en-US" sz="2200" dirty="0"/>
              <a:t>. </a:t>
            </a:r>
          </a:p>
          <a:p>
            <a:pPr marL="800100" lvl="1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200" dirty="0"/>
              <a:t>Para </a:t>
            </a:r>
            <a:r>
              <a:rPr lang="en-US" sz="2200" dirty="0" err="1"/>
              <a:t>copiar</a:t>
            </a:r>
            <a:r>
              <a:rPr lang="en-US" sz="2200" dirty="0"/>
              <a:t> un </a:t>
            </a:r>
            <a:r>
              <a:rPr lang="en-US" sz="2200" dirty="0" err="1"/>
              <a:t>objeto</a:t>
            </a:r>
            <a:r>
              <a:rPr lang="en-US" sz="2200" dirty="0"/>
              <a:t> </a:t>
            </a:r>
            <a:r>
              <a:rPr lang="en-US" sz="2200" dirty="0" err="1"/>
              <a:t>complejo</a:t>
            </a:r>
            <a:r>
              <a:rPr lang="en-US" sz="2200" dirty="0"/>
              <a:t> </a:t>
            </a:r>
            <a:r>
              <a:rPr lang="en-US" sz="2200" dirty="0" err="1"/>
              <a:t>debemos</a:t>
            </a:r>
            <a:r>
              <a:rPr lang="en-US" sz="2200" dirty="0"/>
              <a:t> </a:t>
            </a:r>
            <a:r>
              <a:rPr lang="en-US" sz="2200" dirty="0" err="1"/>
              <a:t>usar</a:t>
            </a:r>
            <a:r>
              <a:rPr lang="en-US" sz="2200" dirty="0"/>
              <a:t> el </a:t>
            </a:r>
            <a:r>
              <a:rPr lang="en-US" sz="2200" dirty="0" err="1"/>
              <a:t>método</a:t>
            </a:r>
            <a:r>
              <a:rPr lang="en-US" sz="2200" dirty="0"/>
              <a:t> </a:t>
            </a:r>
            <a:r>
              <a:rPr lang="en-US" sz="2200" dirty="0">
                <a:latin typeface="Consolas" panose="020B0609020204030204" pitchFamily="49" charset="0"/>
                <a:cs typeface="Consolas" panose="020B0609020204030204" pitchFamily="49" charset="0"/>
              </a:rPr>
              <a:t>copy</a:t>
            </a:r>
            <a:r>
              <a:rPr lang="en-US" sz="2200" dirty="0"/>
              <a:t> </a:t>
            </a:r>
            <a:r>
              <a:rPr lang="en-US" sz="2200" dirty="0" err="1"/>
              <a:t>en</a:t>
            </a:r>
            <a:r>
              <a:rPr lang="en-US" sz="2200" dirty="0"/>
              <a:t> </a:t>
            </a:r>
            <a:r>
              <a:rPr lang="en-US" sz="2200" dirty="0" err="1"/>
              <a:t>ves</a:t>
            </a:r>
            <a:r>
              <a:rPr lang="en-US" sz="2200" dirty="0"/>
              <a:t> del </a:t>
            </a:r>
            <a:r>
              <a:rPr lang="en-US" sz="2200" dirty="0" err="1"/>
              <a:t>symbolo</a:t>
            </a:r>
            <a:r>
              <a:rPr lang="en-US" sz="2200" dirty="0"/>
              <a:t> </a:t>
            </a:r>
            <a:r>
              <a:rPr lang="en-US" sz="2200" dirty="0"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lang="en-US" sz="2200" dirty="0"/>
              <a:t>. </a:t>
            </a:r>
          </a:p>
          <a:p>
            <a:pPr marL="342900" indent="-342900">
              <a:buFont typeface="Wingdings" pitchFamily="2" charset="2"/>
              <a:buChar char="Ø"/>
            </a:pPr>
            <a:r>
              <a:rPr lang="en-US" sz="2400" dirty="0"/>
              <a:t>Los </a:t>
            </a:r>
            <a:r>
              <a:rPr lang="en-US" sz="2400" dirty="0" err="1"/>
              <a:t>objetos</a:t>
            </a:r>
            <a:r>
              <a:rPr lang="en-US" sz="2400" dirty="0"/>
              <a:t> "</a:t>
            </a:r>
            <a:r>
              <a:rPr lang="en-US" sz="2400" dirty="0" err="1"/>
              <a:t>mutables</a:t>
            </a:r>
            <a:r>
              <a:rPr lang="en-US" sz="2400" dirty="0"/>
              <a:t>" </a:t>
            </a:r>
            <a:r>
              <a:rPr lang="en-US" sz="2400" dirty="0" err="1"/>
              <a:t>tiene</a:t>
            </a:r>
            <a:r>
              <a:rPr lang="en-US" sz="2400" dirty="0"/>
              <a:t> un </a:t>
            </a:r>
            <a:r>
              <a:rPr lang="en-US" sz="2400" dirty="0" err="1"/>
              <a:t>tiempo</a:t>
            </a:r>
            <a:r>
              <a:rPr lang="en-US" sz="2400" dirty="0"/>
              <a:t> de accesso mayor (son un </a:t>
            </a:r>
            <a:r>
              <a:rPr lang="en-US" sz="2400" dirty="0" err="1"/>
              <a:t>poco</a:t>
            </a:r>
            <a:r>
              <a:rPr lang="en-US" sz="2400" dirty="0"/>
              <a:t> </a:t>
            </a:r>
            <a:r>
              <a:rPr lang="en-US" sz="2400" dirty="0" err="1"/>
              <a:t>más</a:t>
            </a:r>
            <a:r>
              <a:rPr lang="en-US" sz="2400" dirty="0"/>
              <a:t> lentos).</a:t>
            </a:r>
          </a:p>
          <a:p>
            <a:pPr marL="342900" indent="-342900">
              <a:buFont typeface="Wingdings" pitchFamily="2" charset="2"/>
              <a:buChar char="Ø"/>
            </a:pPr>
            <a:r>
              <a:rPr lang="en-US" sz="2400" dirty="0"/>
              <a:t>La </a:t>
            </a:r>
            <a:r>
              <a:rPr lang="en-US" sz="2400" dirty="0" err="1"/>
              <a:t>desventaja</a:t>
            </a:r>
            <a:r>
              <a:rPr lang="en-US" sz="2400" dirty="0"/>
              <a:t> de </a:t>
            </a:r>
            <a:r>
              <a:rPr lang="en-US" sz="2400" dirty="0" err="1"/>
              <a:t>usar</a:t>
            </a:r>
            <a:r>
              <a:rPr lang="en-US" sz="2400" dirty="0"/>
              <a:t> </a:t>
            </a:r>
            <a:r>
              <a:rPr lang="en-US" sz="2400" dirty="0" err="1"/>
              <a:t>tipos</a:t>
            </a:r>
            <a:r>
              <a:rPr lang="en-US" sz="2400" dirty="0"/>
              <a:t> "</a:t>
            </a:r>
            <a:r>
              <a:rPr lang="en-US" sz="2400" dirty="0" err="1"/>
              <a:t>mutables</a:t>
            </a:r>
            <a:r>
              <a:rPr lang="en-US" sz="2400" dirty="0"/>
              <a:t>" </a:t>
            </a:r>
            <a:r>
              <a:rPr lang="en-US" sz="2400" dirty="0" err="1"/>
              <a:t>es</a:t>
            </a:r>
            <a:r>
              <a:rPr lang="en-US" sz="2400" dirty="0"/>
              <a:t> el accesso </a:t>
            </a:r>
            <a:r>
              <a:rPr lang="en-US" sz="2400" dirty="0" err="1"/>
              <a:t>más</a:t>
            </a:r>
            <a:r>
              <a:rPr lang="en-US" sz="2400" dirty="0"/>
              <a:t> lento a </a:t>
            </a:r>
            <a:r>
              <a:rPr lang="en-US" sz="2400" dirty="0" err="1"/>
              <a:t>los</a:t>
            </a:r>
            <a:r>
              <a:rPr lang="en-US" sz="2400" dirty="0"/>
              <a:t> </a:t>
            </a:r>
            <a:r>
              <a:rPr lang="en-US" sz="2400" dirty="0" err="1"/>
              <a:t>datos</a:t>
            </a:r>
            <a:r>
              <a:rPr lang="en-US" sz="2400" dirty="0"/>
              <a:t>.</a:t>
            </a:r>
            <a:br>
              <a:rPr lang="en-US" sz="2400" dirty="0"/>
            </a:br>
            <a:endParaRPr lang="en-US" sz="2400" dirty="0"/>
          </a:p>
        </p:txBody>
      </p:sp>
      <p:sp>
        <p:nvSpPr>
          <p:cNvPr id="14" name="17 CuadroTexto">
            <a:extLst>
              <a:ext uri="{FF2B5EF4-FFF2-40B4-BE49-F238E27FC236}">
                <a16:creationId xmlns:a16="http://schemas.microsoft.com/office/drawing/2014/main" id="{FE210990-BB28-C34F-8C39-11BDC67ADFD8}"/>
              </a:ext>
            </a:extLst>
          </p:cNvPr>
          <p:cNvSpPr txBox="1"/>
          <p:nvPr/>
        </p:nvSpPr>
        <p:spPr>
          <a:xfrm>
            <a:off x="2985122" y="499899"/>
            <a:ext cx="3173756" cy="984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AR" sz="2000" b="1" dirty="0">
                <a:solidFill>
                  <a:schemeClr val="bg1"/>
                </a:solidFill>
                <a:latin typeface="TeXGyreAdventor" pitchFamily="50" charset="0"/>
              </a:rPr>
              <a:t> - </a:t>
            </a:r>
            <a:r>
              <a:rPr lang="es-AR" sz="2000" b="1" u="sng" dirty="0">
                <a:solidFill>
                  <a:schemeClr val="bg1"/>
                </a:solidFill>
                <a:latin typeface="TeXGyreAdventor" pitchFamily="50" charset="0"/>
              </a:rPr>
              <a:t>Tipos de Datos Definidos por el Usuario</a:t>
            </a:r>
            <a:r>
              <a:rPr lang="es-AR" sz="2000" b="1" dirty="0">
                <a:solidFill>
                  <a:schemeClr val="bg1"/>
                </a:solidFill>
                <a:latin typeface="TeXGyreAdventor" pitchFamily="50" charset="0"/>
              </a:rPr>
              <a:t>-</a:t>
            </a:r>
          </a:p>
          <a:p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208978580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16 Imagen">
            <a:extLst>
              <a:ext uri="{FF2B5EF4-FFF2-40B4-BE49-F238E27FC236}">
                <a16:creationId xmlns:a16="http://schemas.microsoft.com/office/drawing/2014/main" id="{E18833CA-28BE-584F-9880-8012D82710A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580"/>
            <a:ext cx="9144000" cy="1171495"/>
          </a:xfrm>
          <a:prstGeom prst="rect">
            <a:avLst/>
          </a:prstGeom>
        </p:spPr>
      </p:pic>
      <p:sp>
        <p:nvSpPr>
          <p:cNvPr id="11" name="17 CuadroTexto">
            <a:extLst>
              <a:ext uri="{FF2B5EF4-FFF2-40B4-BE49-F238E27FC236}">
                <a16:creationId xmlns:a16="http://schemas.microsoft.com/office/drawing/2014/main" id="{6BED238C-223E-7F4A-BFF1-2F3910B2B049}"/>
              </a:ext>
            </a:extLst>
          </p:cNvPr>
          <p:cNvSpPr txBox="1"/>
          <p:nvPr/>
        </p:nvSpPr>
        <p:spPr>
          <a:xfrm>
            <a:off x="212156" y="87951"/>
            <a:ext cx="327972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2400" b="1" dirty="0">
                <a:solidFill>
                  <a:schemeClr val="bg1"/>
                </a:solidFill>
                <a:latin typeface="TeXGyreAdventor" pitchFamily="50" charset="0"/>
              </a:rPr>
              <a:t>Algoritmos y Estructuras</a:t>
            </a:r>
          </a:p>
          <a:p>
            <a:r>
              <a:rPr lang="es-AR" sz="2400" b="1" dirty="0">
                <a:solidFill>
                  <a:schemeClr val="bg1"/>
                </a:solidFill>
                <a:latin typeface="TeXGyreAdventor" pitchFamily="50" charset="0"/>
              </a:rPr>
              <a:t>de Datos</a:t>
            </a:r>
          </a:p>
          <a:p>
            <a:endParaRPr lang="es-AR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711F11B-CFCC-6F4C-987C-61BCBAF2DD91}"/>
              </a:ext>
            </a:extLst>
          </p:cNvPr>
          <p:cNvSpPr txBox="1"/>
          <p:nvPr/>
        </p:nvSpPr>
        <p:spPr>
          <a:xfrm>
            <a:off x="0" y="1173075"/>
            <a:ext cx="494077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AR" sz="24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Arial" pitchFamily="34" charset="0"/>
                <a:cs typeface="Arial" pitchFamily="34" charset="0"/>
              </a:rPr>
              <a:t>Diferencias entre Contenedores:</a:t>
            </a:r>
          </a:p>
        </p:txBody>
      </p:sp>
      <p:sp>
        <p:nvSpPr>
          <p:cNvPr id="14" name="17 CuadroTexto">
            <a:extLst>
              <a:ext uri="{FF2B5EF4-FFF2-40B4-BE49-F238E27FC236}">
                <a16:creationId xmlns:a16="http://schemas.microsoft.com/office/drawing/2014/main" id="{FE210990-BB28-C34F-8C39-11BDC67ADFD8}"/>
              </a:ext>
            </a:extLst>
          </p:cNvPr>
          <p:cNvSpPr txBox="1"/>
          <p:nvPr/>
        </p:nvSpPr>
        <p:spPr>
          <a:xfrm>
            <a:off x="2985122" y="499899"/>
            <a:ext cx="3173756" cy="984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AR" sz="2000" b="1" dirty="0">
                <a:solidFill>
                  <a:schemeClr val="bg1"/>
                </a:solidFill>
                <a:latin typeface="TeXGyreAdventor" pitchFamily="50" charset="0"/>
              </a:rPr>
              <a:t> - </a:t>
            </a:r>
            <a:r>
              <a:rPr lang="es-AR" sz="2000" b="1" u="sng" dirty="0">
                <a:solidFill>
                  <a:schemeClr val="bg1"/>
                </a:solidFill>
                <a:latin typeface="TeXGyreAdventor" pitchFamily="50" charset="0"/>
              </a:rPr>
              <a:t>Tipos de Datos Definidos por el Usuario</a:t>
            </a:r>
            <a:r>
              <a:rPr lang="es-AR" sz="2000" b="1" dirty="0">
                <a:solidFill>
                  <a:schemeClr val="bg1"/>
                </a:solidFill>
                <a:latin typeface="TeXGyreAdventor" pitchFamily="50" charset="0"/>
              </a:rPr>
              <a:t>-</a:t>
            </a:r>
          </a:p>
          <a:p>
            <a:endParaRPr lang="es-AR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E1CF22F-4DBE-1D42-9877-731EF5002C8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275103"/>
            <a:ext cx="9144000" cy="32079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981536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16 Imagen">
            <a:extLst>
              <a:ext uri="{FF2B5EF4-FFF2-40B4-BE49-F238E27FC236}">
                <a16:creationId xmlns:a16="http://schemas.microsoft.com/office/drawing/2014/main" id="{E18833CA-28BE-584F-9880-8012D82710A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580"/>
            <a:ext cx="9144000" cy="1171495"/>
          </a:xfrm>
          <a:prstGeom prst="rect">
            <a:avLst/>
          </a:prstGeom>
        </p:spPr>
      </p:pic>
      <p:sp>
        <p:nvSpPr>
          <p:cNvPr id="11" name="17 CuadroTexto">
            <a:extLst>
              <a:ext uri="{FF2B5EF4-FFF2-40B4-BE49-F238E27FC236}">
                <a16:creationId xmlns:a16="http://schemas.microsoft.com/office/drawing/2014/main" id="{6BED238C-223E-7F4A-BFF1-2F3910B2B049}"/>
              </a:ext>
            </a:extLst>
          </p:cNvPr>
          <p:cNvSpPr txBox="1"/>
          <p:nvPr/>
        </p:nvSpPr>
        <p:spPr>
          <a:xfrm>
            <a:off x="212156" y="87951"/>
            <a:ext cx="327972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2400" b="1" dirty="0">
                <a:solidFill>
                  <a:schemeClr val="bg1"/>
                </a:solidFill>
                <a:latin typeface="TeXGyreAdventor" pitchFamily="50" charset="0"/>
              </a:rPr>
              <a:t>Algoritmos y Estructuras</a:t>
            </a:r>
          </a:p>
          <a:p>
            <a:r>
              <a:rPr lang="es-AR" sz="2400" b="1" dirty="0">
                <a:solidFill>
                  <a:schemeClr val="bg1"/>
                </a:solidFill>
                <a:latin typeface="TeXGyreAdventor" pitchFamily="50" charset="0"/>
              </a:rPr>
              <a:t>de Datos</a:t>
            </a:r>
          </a:p>
          <a:p>
            <a:endParaRPr lang="es-AR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711F11B-CFCC-6F4C-987C-61BCBAF2DD91}"/>
              </a:ext>
            </a:extLst>
          </p:cNvPr>
          <p:cNvSpPr txBox="1"/>
          <p:nvPr/>
        </p:nvSpPr>
        <p:spPr>
          <a:xfrm>
            <a:off x="0" y="1173075"/>
            <a:ext cx="162095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AR" sz="24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Arial" pitchFamily="34" charset="0"/>
                <a:cs typeface="Arial" pitchFamily="34" charset="0"/>
              </a:rPr>
              <a:t>Punteros:</a:t>
            </a:r>
          </a:p>
        </p:txBody>
      </p:sp>
      <p:sp>
        <p:nvSpPr>
          <p:cNvPr id="14" name="17 CuadroTexto">
            <a:extLst>
              <a:ext uri="{FF2B5EF4-FFF2-40B4-BE49-F238E27FC236}">
                <a16:creationId xmlns:a16="http://schemas.microsoft.com/office/drawing/2014/main" id="{FE210990-BB28-C34F-8C39-11BDC67ADFD8}"/>
              </a:ext>
            </a:extLst>
          </p:cNvPr>
          <p:cNvSpPr txBox="1"/>
          <p:nvPr/>
        </p:nvSpPr>
        <p:spPr>
          <a:xfrm>
            <a:off x="2985122" y="499899"/>
            <a:ext cx="3173756" cy="984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AR" sz="2000" b="1" dirty="0">
                <a:solidFill>
                  <a:schemeClr val="bg1"/>
                </a:solidFill>
                <a:latin typeface="TeXGyreAdventor" pitchFamily="50" charset="0"/>
              </a:rPr>
              <a:t> - </a:t>
            </a:r>
            <a:r>
              <a:rPr lang="es-AR" sz="2000" b="1" u="sng" dirty="0">
                <a:solidFill>
                  <a:schemeClr val="bg1"/>
                </a:solidFill>
                <a:latin typeface="TeXGyreAdventor" pitchFamily="50" charset="0"/>
              </a:rPr>
              <a:t>Tipos de Datos Definidos por el Usuario</a:t>
            </a:r>
            <a:r>
              <a:rPr lang="es-AR" sz="2000" b="1" dirty="0">
                <a:solidFill>
                  <a:schemeClr val="bg1"/>
                </a:solidFill>
                <a:latin typeface="TeXGyreAdventor" pitchFamily="50" charset="0"/>
              </a:rPr>
              <a:t>-</a:t>
            </a:r>
          </a:p>
          <a:p>
            <a:endParaRPr lang="es-AR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93F57CD-86B4-3D44-B593-327031D968C7}"/>
              </a:ext>
            </a:extLst>
          </p:cNvPr>
          <p:cNvSpPr txBox="1"/>
          <p:nvPr/>
        </p:nvSpPr>
        <p:spPr>
          <a:xfrm>
            <a:off x="212156" y="1694266"/>
            <a:ext cx="8568952" cy="51706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itchFamily="2" charset="2"/>
              <a:buChar char="Ø"/>
            </a:pPr>
            <a:r>
              <a:rPr lang="en-US" sz="2400" dirty="0" err="1"/>
              <a:t>En</a:t>
            </a:r>
            <a:r>
              <a:rPr lang="en-US" sz="2400" dirty="0"/>
              <a:t> </a:t>
            </a:r>
            <a:r>
              <a:rPr lang="en-US" sz="2400" dirty="0" err="1"/>
              <a:t>otros</a:t>
            </a:r>
            <a:r>
              <a:rPr lang="en-US" sz="2400" dirty="0"/>
              <a:t> </a:t>
            </a:r>
            <a:r>
              <a:rPr lang="en-US" sz="2400" dirty="0" err="1"/>
              <a:t>lenguajes</a:t>
            </a:r>
            <a:r>
              <a:rPr lang="en-US" sz="2400" dirty="0"/>
              <a:t>, </a:t>
            </a:r>
            <a:r>
              <a:rPr lang="en-US" sz="2400" dirty="0" err="1"/>
              <a:t>existe</a:t>
            </a:r>
            <a:r>
              <a:rPr lang="en-US" sz="2400" dirty="0"/>
              <a:t> un </a:t>
            </a:r>
            <a:r>
              <a:rPr lang="en-US" sz="2400" dirty="0" err="1"/>
              <a:t>tipo</a:t>
            </a:r>
            <a:r>
              <a:rPr lang="en-US" sz="2400" dirty="0"/>
              <a:t> de variable especial </a:t>
            </a:r>
            <a:r>
              <a:rPr lang="en-US" sz="2400" dirty="0" err="1"/>
              <a:t>llamado</a:t>
            </a:r>
            <a:r>
              <a:rPr lang="en-US" sz="2400" dirty="0"/>
              <a:t> </a:t>
            </a:r>
            <a:r>
              <a:rPr lang="en-US" sz="2400" b="1" dirty="0" err="1"/>
              <a:t>puntero</a:t>
            </a:r>
            <a:r>
              <a:rPr lang="en-US" sz="2400" dirty="0"/>
              <a:t>, que se </a:t>
            </a:r>
            <a:r>
              <a:rPr lang="en-US" sz="2400" dirty="0" err="1"/>
              <a:t>comporta</a:t>
            </a:r>
            <a:r>
              <a:rPr lang="en-US" sz="2400" dirty="0"/>
              <a:t> </a:t>
            </a:r>
            <a:r>
              <a:rPr lang="en-US" sz="2400" dirty="0" err="1"/>
              <a:t>como</a:t>
            </a:r>
            <a:r>
              <a:rPr lang="en-US" sz="2400" dirty="0"/>
              <a:t> </a:t>
            </a:r>
            <a:r>
              <a:rPr lang="en-US" sz="2400" dirty="0" err="1"/>
              <a:t>una</a:t>
            </a:r>
            <a:r>
              <a:rPr lang="en-US" sz="2400" dirty="0"/>
              <a:t> </a:t>
            </a:r>
            <a:r>
              <a:rPr lang="en-US" sz="2400" u="sng" dirty="0" err="1"/>
              <a:t>referencia</a:t>
            </a:r>
            <a:r>
              <a:rPr lang="en-US" sz="2400" u="sng" dirty="0"/>
              <a:t> a </a:t>
            </a:r>
            <a:r>
              <a:rPr lang="en-US" sz="2400" u="sng" dirty="0" err="1"/>
              <a:t>una</a:t>
            </a:r>
            <a:r>
              <a:rPr lang="en-US" sz="2400" u="sng" dirty="0"/>
              <a:t> variable</a:t>
            </a:r>
            <a:r>
              <a:rPr lang="en-US" sz="2400" dirty="0"/>
              <a:t> (</a:t>
            </a:r>
            <a:r>
              <a:rPr lang="en-US" sz="2400" b="1" dirty="0" err="1"/>
              <a:t>como</a:t>
            </a:r>
            <a:r>
              <a:rPr lang="en-US" sz="2400" b="1" dirty="0"/>
              <a:t> </a:t>
            </a:r>
            <a:r>
              <a:rPr lang="en-US" sz="2400" b="1" dirty="0" err="1"/>
              <a:t>es</a:t>
            </a:r>
            <a:r>
              <a:rPr lang="en-US" sz="2400" b="1" dirty="0"/>
              <a:t> el </a:t>
            </a:r>
            <a:r>
              <a:rPr lang="en-US" sz="2400" b="1" dirty="0" err="1"/>
              <a:t>caso</a:t>
            </a:r>
            <a:r>
              <a:rPr lang="en-US" sz="2400" b="1" dirty="0"/>
              <a:t> de las variables </a:t>
            </a:r>
            <a:r>
              <a:rPr lang="en-US" sz="2400" b="1" dirty="0" err="1"/>
              <a:t>mutables</a:t>
            </a:r>
            <a:r>
              <a:rPr lang="en-US" sz="2400" b="1" dirty="0"/>
              <a:t> </a:t>
            </a:r>
            <a:r>
              <a:rPr lang="en-US" sz="2400" b="1" dirty="0" err="1"/>
              <a:t>en</a:t>
            </a:r>
            <a:r>
              <a:rPr lang="en-US" sz="2400" b="1" dirty="0"/>
              <a:t> Python)</a:t>
            </a:r>
            <a:r>
              <a:rPr lang="en-US" sz="2400" dirty="0"/>
              <a:t>.</a:t>
            </a:r>
          </a:p>
          <a:p>
            <a:pPr marL="342900" indent="-342900">
              <a:buFont typeface="Wingdings" pitchFamily="2" charset="2"/>
              <a:buChar char="Ø"/>
            </a:pPr>
            <a:endParaRPr lang="en-US" sz="2400" dirty="0"/>
          </a:p>
          <a:p>
            <a:pPr marL="342900" indent="-342900">
              <a:buFont typeface="Wingdings" pitchFamily="2" charset="2"/>
              <a:buChar char="Ø"/>
            </a:pPr>
            <a:r>
              <a:rPr lang="en-US" sz="2400" dirty="0" err="1"/>
              <a:t>En</a:t>
            </a:r>
            <a:r>
              <a:rPr lang="en-US" sz="2400" dirty="0"/>
              <a:t> Python </a:t>
            </a:r>
            <a:r>
              <a:rPr lang="en-US" sz="2400" i="1" dirty="0"/>
              <a:t>*no hay </a:t>
            </a:r>
            <a:r>
              <a:rPr lang="en-US" sz="2400" i="1" dirty="0" err="1"/>
              <a:t>punteros</a:t>
            </a:r>
            <a:r>
              <a:rPr lang="en-US" sz="2400" i="1" dirty="0"/>
              <a:t>* de la </a:t>
            </a:r>
            <a:r>
              <a:rPr lang="en-US" sz="2400" i="1" dirty="0" err="1"/>
              <a:t>manera</a:t>
            </a:r>
            <a:r>
              <a:rPr lang="en-US" sz="2400" i="1" dirty="0"/>
              <a:t> </a:t>
            </a:r>
            <a:r>
              <a:rPr lang="en-US" sz="2400" i="1" dirty="0" err="1"/>
              <a:t>tradicional</a:t>
            </a:r>
            <a:r>
              <a:rPr lang="en-US" sz="2400" dirty="0"/>
              <a:t>, </a:t>
            </a:r>
            <a:r>
              <a:rPr lang="en-US" sz="2400" dirty="0" err="1"/>
              <a:t>como</a:t>
            </a:r>
            <a:r>
              <a:rPr lang="en-US" sz="2400" dirty="0"/>
              <a:t> </a:t>
            </a:r>
            <a:r>
              <a:rPr lang="en-US" sz="2400" dirty="0" err="1"/>
              <a:t>en</a:t>
            </a:r>
            <a:r>
              <a:rPr lang="en-US" sz="2400" dirty="0"/>
              <a:t> la </a:t>
            </a:r>
            <a:r>
              <a:rPr lang="en-US" sz="2400" dirty="0" err="1"/>
              <a:t>mayoria</a:t>
            </a:r>
            <a:r>
              <a:rPr lang="en-US" sz="2400" dirty="0"/>
              <a:t> de </a:t>
            </a:r>
            <a:r>
              <a:rPr lang="en-US" sz="2400" dirty="0" err="1"/>
              <a:t>los</a:t>
            </a:r>
            <a:r>
              <a:rPr lang="en-US" sz="2400" dirty="0"/>
              <a:t> </a:t>
            </a:r>
            <a:r>
              <a:rPr lang="en-US" sz="2400" dirty="0" err="1"/>
              <a:t>lenguajes</a:t>
            </a:r>
            <a:r>
              <a:rPr lang="en-US" sz="2400" dirty="0"/>
              <a:t> OO, </a:t>
            </a:r>
            <a:r>
              <a:rPr lang="en-US" sz="2400" dirty="0" err="1"/>
              <a:t>todas</a:t>
            </a:r>
            <a:r>
              <a:rPr lang="en-US" sz="2400" dirty="0"/>
              <a:t> las variables son </a:t>
            </a:r>
            <a:r>
              <a:rPr lang="en-US" sz="2400" dirty="0" err="1"/>
              <a:t>referencias</a:t>
            </a:r>
            <a:r>
              <a:rPr lang="en-US" sz="2400" dirty="0"/>
              <a:t> a </a:t>
            </a:r>
            <a:r>
              <a:rPr lang="en-US" sz="2400" dirty="0" err="1"/>
              <a:t>objetos</a:t>
            </a:r>
            <a:r>
              <a:rPr lang="en-US" sz="2400" dirty="0"/>
              <a:t>. </a:t>
            </a:r>
          </a:p>
          <a:p>
            <a:r>
              <a:rPr lang="en-US" sz="2400" dirty="0"/>
              <a:t>	</a:t>
            </a:r>
            <a:r>
              <a:rPr lang="en-US" sz="2400" dirty="0" err="1"/>
              <a:t>Es</a:t>
            </a:r>
            <a:r>
              <a:rPr lang="en-US" sz="2400" dirty="0"/>
              <a:t> </a:t>
            </a:r>
            <a:r>
              <a:rPr lang="en-US" sz="2400" dirty="0" err="1"/>
              <a:t>decir</a:t>
            </a:r>
            <a:r>
              <a:rPr lang="en-US" sz="2400" dirty="0"/>
              <a:t>, la </a:t>
            </a:r>
            <a:r>
              <a:rPr lang="en-US" sz="2400" i="1" dirty="0"/>
              <a:t>*</a:t>
            </a:r>
            <a:r>
              <a:rPr lang="en-US" sz="2400" i="1" dirty="0" err="1"/>
              <a:t>dirección</a:t>
            </a:r>
            <a:r>
              <a:rPr lang="en-US" sz="2400" i="1" dirty="0"/>
              <a:t>*</a:t>
            </a:r>
            <a:r>
              <a:rPr lang="en-US" sz="2400" dirty="0"/>
              <a:t> de la </a:t>
            </a:r>
            <a:r>
              <a:rPr lang="en-US" sz="2400" dirty="0" err="1"/>
              <a:t>porción</a:t>
            </a:r>
            <a:r>
              <a:rPr lang="en-US" sz="2400" dirty="0"/>
              <a:t> de </a:t>
            </a:r>
            <a:r>
              <a:rPr lang="en-US" sz="2400" dirty="0" err="1"/>
              <a:t>memoria</a:t>
            </a:r>
            <a:r>
              <a:rPr lang="en-US" sz="2400" dirty="0"/>
              <a:t>, </a:t>
            </a:r>
            <a:r>
              <a:rPr lang="en-US" sz="2400" dirty="0" err="1"/>
              <a:t>en</a:t>
            </a:r>
            <a:r>
              <a:rPr lang="en-US" sz="2400" dirty="0"/>
              <a:t> </a:t>
            </a:r>
            <a:r>
              <a:rPr lang="en-US" sz="2400" dirty="0" err="1"/>
              <a:t>donde</a:t>
            </a:r>
            <a:r>
              <a:rPr lang="en-US" sz="2400" dirty="0"/>
              <a:t> el </a:t>
            </a:r>
            <a:r>
              <a:rPr lang="en-US" sz="2400" dirty="0" err="1"/>
              <a:t>objeto</a:t>
            </a:r>
            <a:r>
              <a:rPr lang="en-US" sz="2400" dirty="0"/>
              <a:t> </a:t>
            </a:r>
            <a:r>
              <a:rPr lang="en-US" sz="2400" dirty="0" err="1"/>
              <a:t>está</a:t>
            </a:r>
            <a:r>
              <a:rPr lang="en-US" sz="2400" dirty="0"/>
              <a:t> </a:t>
            </a:r>
            <a:r>
              <a:rPr lang="en-US" sz="2400" dirty="0" err="1"/>
              <a:t>almacenado</a:t>
            </a:r>
            <a:r>
              <a:rPr lang="en-US" sz="2400" dirty="0"/>
              <a:t>. </a:t>
            </a:r>
          </a:p>
          <a:p>
            <a:r>
              <a:rPr lang="en-US" sz="2400" dirty="0"/>
              <a:t>	Si </a:t>
            </a:r>
            <a:r>
              <a:rPr lang="en-US" sz="2400" dirty="0" err="1"/>
              <a:t>esa</a:t>
            </a:r>
            <a:r>
              <a:rPr lang="en-US" sz="2400" dirty="0"/>
              <a:t> </a:t>
            </a:r>
            <a:r>
              <a:rPr lang="en-US" sz="2400" dirty="0" err="1"/>
              <a:t>porción</a:t>
            </a:r>
            <a:r>
              <a:rPr lang="en-US" sz="2400" dirty="0"/>
              <a:t> de </a:t>
            </a:r>
            <a:r>
              <a:rPr lang="en-US" sz="2400" dirty="0" err="1"/>
              <a:t>memoria</a:t>
            </a:r>
            <a:r>
              <a:rPr lang="en-US" sz="2400" dirty="0"/>
              <a:t> cambia, el </a:t>
            </a:r>
            <a:r>
              <a:rPr lang="en-US" sz="2400" dirty="0" err="1"/>
              <a:t>cambio</a:t>
            </a:r>
            <a:r>
              <a:rPr lang="en-US" sz="2400" dirty="0"/>
              <a:t> se </a:t>
            </a:r>
            <a:r>
              <a:rPr lang="en-US" sz="2400" dirty="0" err="1"/>
              <a:t>puede</a:t>
            </a:r>
            <a:r>
              <a:rPr lang="en-US" sz="2400" dirty="0"/>
              <a:t> </a:t>
            </a:r>
            <a:r>
              <a:rPr lang="en-US" sz="2400" dirty="0" err="1"/>
              <a:t>ver</a:t>
            </a:r>
            <a:r>
              <a:rPr lang="en-US" sz="2400" dirty="0"/>
              <a:t> </a:t>
            </a:r>
            <a:r>
              <a:rPr lang="en-US" sz="2400" dirty="0" err="1"/>
              <a:t>en</a:t>
            </a:r>
            <a:r>
              <a:rPr lang="en-US" sz="2400" dirty="0"/>
              <a:t> </a:t>
            </a:r>
            <a:r>
              <a:rPr lang="en-US" sz="2400" dirty="0" err="1"/>
              <a:t>todas</a:t>
            </a:r>
            <a:r>
              <a:rPr lang="en-US" sz="2400" dirty="0"/>
              <a:t> las variables que </a:t>
            </a:r>
            <a:r>
              <a:rPr lang="en-US" sz="2400" dirty="0" err="1"/>
              <a:t>apuntan</a:t>
            </a:r>
            <a:r>
              <a:rPr lang="en-US" sz="2400" dirty="0"/>
              <a:t> a </a:t>
            </a:r>
            <a:r>
              <a:rPr lang="en-US" sz="2400" dirty="0" err="1"/>
              <a:t>esa</a:t>
            </a:r>
            <a:r>
              <a:rPr lang="en-US" sz="2400" dirty="0"/>
              <a:t> </a:t>
            </a:r>
            <a:r>
              <a:rPr lang="en-US" sz="2400" dirty="0" err="1"/>
              <a:t>porción</a:t>
            </a:r>
            <a:r>
              <a:rPr lang="en-US" sz="2400" dirty="0"/>
              <a:t>.</a:t>
            </a:r>
          </a:p>
          <a:p>
            <a:pPr marL="342900" indent="-342900">
              <a:buFont typeface="Wingdings" pitchFamily="2" charset="2"/>
              <a:buChar char="Ø"/>
            </a:pPr>
            <a:endParaRPr lang="en-US" sz="2400" dirty="0"/>
          </a:p>
          <a:p>
            <a:pPr marL="342900" indent="-342900">
              <a:buFont typeface="Wingdings" pitchFamily="2" charset="2"/>
              <a:buChar char="Ø"/>
            </a:pPr>
            <a:r>
              <a:rPr lang="en-US" sz="2400" dirty="0" err="1"/>
              <a:t>Ejemplo</a:t>
            </a:r>
            <a:r>
              <a:rPr lang="en-US" sz="2400" dirty="0"/>
              <a:t> type(‘</a:t>
            </a:r>
            <a:r>
              <a:rPr lang="en-US" sz="2400" dirty="0" err="1"/>
              <a:t>obj</a:t>
            </a:r>
            <a:r>
              <a:rPr lang="en-US" sz="2400" dirty="0"/>
              <a:t>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562694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16 Imagen">
            <a:extLst>
              <a:ext uri="{FF2B5EF4-FFF2-40B4-BE49-F238E27FC236}">
                <a16:creationId xmlns:a16="http://schemas.microsoft.com/office/drawing/2014/main" id="{E18833CA-28BE-584F-9880-8012D82710A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580"/>
            <a:ext cx="9144000" cy="1171495"/>
          </a:xfrm>
          <a:prstGeom prst="rect">
            <a:avLst/>
          </a:prstGeom>
        </p:spPr>
      </p:pic>
      <p:sp>
        <p:nvSpPr>
          <p:cNvPr id="11" name="17 CuadroTexto">
            <a:extLst>
              <a:ext uri="{FF2B5EF4-FFF2-40B4-BE49-F238E27FC236}">
                <a16:creationId xmlns:a16="http://schemas.microsoft.com/office/drawing/2014/main" id="{6BED238C-223E-7F4A-BFF1-2F3910B2B049}"/>
              </a:ext>
            </a:extLst>
          </p:cNvPr>
          <p:cNvSpPr txBox="1"/>
          <p:nvPr/>
        </p:nvSpPr>
        <p:spPr>
          <a:xfrm>
            <a:off x="212156" y="87951"/>
            <a:ext cx="327972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2400" b="1" dirty="0">
                <a:solidFill>
                  <a:schemeClr val="bg1"/>
                </a:solidFill>
                <a:latin typeface="TeXGyreAdventor" pitchFamily="50" charset="0"/>
              </a:rPr>
              <a:t>Algoritmos y Estructuras</a:t>
            </a:r>
          </a:p>
          <a:p>
            <a:r>
              <a:rPr lang="es-AR" sz="2400" b="1" dirty="0">
                <a:solidFill>
                  <a:schemeClr val="bg1"/>
                </a:solidFill>
                <a:latin typeface="TeXGyreAdventor" pitchFamily="50" charset="0"/>
              </a:rPr>
              <a:t>de Datos</a:t>
            </a:r>
          </a:p>
          <a:p>
            <a:endParaRPr lang="es-AR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711F11B-CFCC-6F4C-987C-61BCBAF2DD91}"/>
              </a:ext>
            </a:extLst>
          </p:cNvPr>
          <p:cNvSpPr txBox="1"/>
          <p:nvPr/>
        </p:nvSpPr>
        <p:spPr>
          <a:xfrm>
            <a:off x="0" y="1173075"/>
            <a:ext cx="316368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AR" sz="24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Arial" pitchFamily="34" charset="0"/>
                <a:cs typeface="Arial" pitchFamily="34" charset="0"/>
              </a:rPr>
              <a:t>Vectores y Matrices:</a:t>
            </a:r>
          </a:p>
        </p:txBody>
      </p:sp>
      <p:sp>
        <p:nvSpPr>
          <p:cNvPr id="14" name="17 CuadroTexto">
            <a:extLst>
              <a:ext uri="{FF2B5EF4-FFF2-40B4-BE49-F238E27FC236}">
                <a16:creationId xmlns:a16="http://schemas.microsoft.com/office/drawing/2014/main" id="{FE210990-BB28-C34F-8C39-11BDC67ADFD8}"/>
              </a:ext>
            </a:extLst>
          </p:cNvPr>
          <p:cNvSpPr txBox="1"/>
          <p:nvPr/>
        </p:nvSpPr>
        <p:spPr>
          <a:xfrm>
            <a:off x="2985122" y="499899"/>
            <a:ext cx="3173756" cy="984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AR" sz="2000" b="1" dirty="0">
                <a:solidFill>
                  <a:schemeClr val="bg1"/>
                </a:solidFill>
                <a:latin typeface="TeXGyreAdventor" pitchFamily="50" charset="0"/>
              </a:rPr>
              <a:t> - </a:t>
            </a:r>
            <a:r>
              <a:rPr lang="es-AR" sz="2000" b="1" u="sng" dirty="0">
                <a:solidFill>
                  <a:schemeClr val="bg1"/>
                </a:solidFill>
                <a:latin typeface="TeXGyreAdventor" pitchFamily="50" charset="0"/>
              </a:rPr>
              <a:t>Tipos de Datos Definidos por el Usuario</a:t>
            </a:r>
            <a:r>
              <a:rPr lang="es-AR" sz="2000" b="1" dirty="0">
                <a:solidFill>
                  <a:schemeClr val="bg1"/>
                </a:solidFill>
                <a:latin typeface="TeXGyreAdventor" pitchFamily="50" charset="0"/>
              </a:rPr>
              <a:t>-</a:t>
            </a:r>
          </a:p>
          <a:p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415485600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0CC9BE0-44C9-BD4C-BF23-EF5281A2417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59832" y="1772816"/>
            <a:ext cx="2952328" cy="3407934"/>
          </a:xfrm>
          <a:prstGeom prst="rect">
            <a:avLst/>
          </a:prstGeom>
        </p:spPr>
      </p:pic>
      <p:pic>
        <p:nvPicPr>
          <p:cNvPr id="6" name="16 Imagen">
            <a:extLst>
              <a:ext uri="{FF2B5EF4-FFF2-40B4-BE49-F238E27FC236}">
                <a16:creationId xmlns:a16="http://schemas.microsoft.com/office/drawing/2014/main" id="{FBAE774F-3A2F-BD4D-93D5-97896FB1054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580"/>
            <a:ext cx="9144000" cy="1171495"/>
          </a:xfrm>
          <a:prstGeom prst="rect">
            <a:avLst/>
          </a:prstGeom>
        </p:spPr>
      </p:pic>
      <p:sp>
        <p:nvSpPr>
          <p:cNvPr id="9" name="17 CuadroTexto">
            <a:extLst>
              <a:ext uri="{FF2B5EF4-FFF2-40B4-BE49-F238E27FC236}">
                <a16:creationId xmlns:a16="http://schemas.microsoft.com/office/drawing/2014/main" id="{91674295-4B1A-A842-9126-7FE5F5566082}"/>
              </a:ext>
            </a:extLst>
          </p:cNvPr>
          <p:cNvSpPr txBox="1"/>
          <p:nvPr/>
        </p:nvSpPr>
        <p:spPr>
          <a:xfrm>
            <a:off x="212156" y="87951"/>
            <a:ext cx="327972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2400" b="1" dirty="0">
                <a:solidFill>
                  <a:schemeClr val="bg1"/>
                </a:solidFill>
                <a:latin typeface="TeXGyreAdventor" pitchFamily="50" charset="0"/>
              </a:rPr>
              <a:t>Algoritmos y Estructuras</a:t>
            </a:r>
          </a:p>
          <a:p>
            <a:r>
              <a:rPr lang="es-AR" sz="2400" b="1" dirty="0">
                <a:solidFill>
                  <a:schemeClr val="bg1"/>
                </a:solidFill>
                <a:latin typeface="TeXGyreAdventor" pitchFamily="50" charset="0"/>
              </a:rPr>
              <a:t>de Datos</a:t>
            </a:r>
          </a:p>
          <a:p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72298057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16 Imagen">
            <a:extLst>
              <a:ext uri="{FF2B5EF4-FFF2-40B4-BE49-F238E27FC236}">
                <a16:creationId xmlns:a16="http://schemas.microsoft.com/office/drawing/2014/main" id="{CCB4247C-A888-304D-8ADA-01A411D3AC0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580"/>
            <a:ext cx="9144000" cy="1171495"/>
          </a:xfrm>
          <a:prstGeom prst="rect">
            <a:avLst/>
          </a:prstGeom>
        </p:spPr>
      </p:pic>
      <p:sp>
        <p:nvSpPr>
          <p:cNvPr id="6" name="17 CuadroTexto">
            <a:extLst>
              <a:ext uri="{FF2B5EF4-FFF2-40B4-BE49-F238E27FC236}">
                <a16:creationId xmlns:a16="http://schemas.microsoft.com/office/drawing/2014/main" id="{506A2263-8293-F545-8790-192FC7EB85D7}"/>
              </a:ext>
            </a:extLst>
          </p:cNvPr>
          <p:cNvSpPr txBox="1"/>
          <p:nvPr/>
        </p:nvSpPr>
        <p:spPr>
          <a:xfrm>
            <a:off x="212156" y="87951"/>
            <a:ext cx="327972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2400" b="1" dirty="0">
                <a:solidFill>
                  <a:schemeClr val="bg1"/>
                </a:solidFill>
                <a:latin typeface="TeXGyreAdventor" pitchFamily="50" charset="0"/>
              </a:rPr>
              <a:t>Algoritmos y Estructuras</a:t>
            </a:r>
          </a:p>
          <a:p>
            <a:r>
              <a:rPr lang="es-AR" sz="2400" b="1" dirty="0">
                <a:solidFill>
                  <a:schemeClr val="bg1"/>
                </a:solidFill>
                <a:latin typeface="TeXGyreAdventor" pitchFamily="50" charset="0"/>
              </a:rPr>
              <a:t>de Datos</a:t>
            </a:r>
          </a:p>
          <a:p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62889930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16 Imagen">
            <a:extLst>
              <a:ext uri="{FF2B5EF4-FFF2-40B4-BE49-F238E27FC236}">
                <a16:creationId xmlns:a16="http://schemas.microsoft.com/office/drawing/2014/main" id="{CCB4247C-A888-304D-8ADA-01A411D3AC0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580"/>
            <a:ext cx="9144000" cy="1171495"/>
          </a:xfrm>
          <a:prstGeom prst="rect">
            <a:avLst/>
          </a:prstGeom>
        </p:spPr>
      </p:pic>
      <p:sp>
        <p:nvSpPr>
          <p:cNvPr id="6" name="17 CuadroTexto">
            <a:extLst>
              <a:ext uri="{FF2B5EF4-FFF2-40B4-BE49-F238E27FC236}">
                <a16:creationId xmlns:a16="http://schemas.microsoft.com/office/drawing/2014/main" id="{506A2263-8293-F545-8790-192FC7EB85D7}"/>
              </a:ext>
            </a:extLst>
          </p:cNvPr>
          <p:cNvSpPr txBox="1"/>
          <p:nvPr/>
        </p:nvSpPr>
        <p:spPr>
          <a:xfrm>
            <a:off x="212156" y="87951"/>
            <a:ext cx="327972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2400" b="1" dirty="0">
                <a:solidFill>
                  <a:schemeClr val="bg1"/>
                </a:solidFill>
                <a:latin typeface="TeXGyreAdventor" pitchFamily="50" charset="0"/>
              </a:rPr>
              <a:t>Algoritmos y Estructuras</a:t>
            </a:r>
          </a:p>
          <a:p>
            <a:r>
              <a:rPr lang="es-AR" sz="2400" b="1" dirty="0">
                <a:solidFill>
                  <a:schemeClr val="bg1"/>
                </a:solidFill>
                <a:latin typeface="TeXGyreAdventor" pitchFamily="50" charset="0"/>
              </a:rPr>
              <a:t>de Datos</a:t>
            </a:r>
          </a:p>
          <a:p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336463556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16 Imagen">
            <a:extLst>
              <a:ext uri="{FF2B5EF4-FFF2-40B4-BE49-F238E27FC236}">
                <a16:creationId xmlns:a16="http://schemas.microsoft.com/office/drawing/2014/main" id="{CCB4247C-A888-304D-8ADA-01A411D3AC0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580"/>
            <a:ext cx="9144000" cy="1171495"/>
          </a:xfrm>
          <a:prstGeom prst="rect">
            <a:avLst/>
          </a:prstGeom>
        </p:spPr>
      </p:pic>
      <p:sp>
        <p:nvSpPr>
          <p:cNvPr id="6" name="17 CuadroTexto">
            <a:extLst>
              <a:ext uri="{FF2B5EF4-FFF2-40B4-BE49-F238E27FC236}">
                <a16:creationId xmlns:a16="http://schemas.microsoft.com/office/drawing/2014/main" id="{506A2263-8293-F545-8790-192FC7EB85D7}"/>
              </a:ext>
            </a:extLst>
          </p:cNvPr>
          <p:cNvSpPr txBox="1"/>
          <p:nvPr/>
        </p:nvSpPr>
        <p:spPr>
          <a:xfrm>
            <a:off x="212156" y="87951"/>
            <a:ext cx="327972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2400" b="1" dirty="0">
                <a:solidFill>
                  <a:schemeClr val="bg1"/>
                </a:solidFill>
                <a:latin typeface="TeXGyreAdventor" pitchFamily="50" charset="0"/>
              </a:rPr>
              <a:t>Algoritmos y Estructuras</a:t>
            </a:r>
          </a:p>
          <a:p>
            <a:r>
              <a:rPr lang="es-AR" sz="2400" b="1" dirty="0">
                <a:solidFill>
                  <a:schemeClr val="bg1"/>
                </a:solidFill>
                <a:latin typeface="TeXGyreAdventor" pitchFamily="50" charset="0"/>
              </a:rPr>
              <a:t>de Datos</a:t>
            </a:r>
          </a:p>
          <a:p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195729971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16 Imagen">
            <a:extLst>
              <a:ext uri="{FF2B5EF4-FFF2-40B4-BE49-F238E27FC236}">
                <a16:creationId xmlns:a16="http://schemas.microsoft.com/office/drawing/2014/main" id="{CCB4247C-A888-304D-8ADA-01A411D3AC0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580"/>
            <a:ext cx="9144000" cy="1171495"/>
          </a:xfrm>
          <a:prstGeom prst="rect">
            <a:avLst/>
          </a:prstGeom>
        </p:spPr>
      </p:pic>
      <p:sp>
        <p:nvSpPr>
          <p:cNvPr id="6" name="17 CuadroTexto">
            <a:extLst>
              <a:ext uri="{FF2B5EF4-FFF2-40B4-BE49-F238E27FC236}">
                <a16:creationId xmlns:a16="http://schemas.microsoft.com/office/drawing/2014/main" id="{506A2263-8293-F545-8790-192FC7EB85D7}"/>
              </a:ext>
            </a:extLst>
          </p:cNvPr>
          <p:cNvSpPr txBox="1"/>
          <p:nvPr/>
        </p:nvSpPr>
        <p:spPr>
          <a:xfrm>
            <a:off x="212156" y="87951"/>
            <a:ext cx="327972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2400" b="1" dirty="0">
                <a:solidFill>
                  <a:schemeClr val="bg1"/>
                </a:solidFill>
                <a:latin typeface="TeXGyreAdventor" pitchFamily="50" charset="0"/>
              </a:rPr>
              <a:t>Algoritmos y Estructuras</a:t>
            </a:r>
          </a:p>
          <a:p>
            <a:r>
              <a:rPr lang="es-AR" sz="2400" b="1" dirty="0">
                <a:solidFill>
                  <a:schemeClr val="bg1"/>
                </a:solidFill>
                <a:latin typeface="TeXGyreAdventor" pitchFamily="50" charset="0"/>
              </a:rPr>
              <a:t>de Datos</a:t>
            </a:r>
          </a:p>
          <a:p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3335968677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Tema de Office">
  <a:themeElements>
    <a:clrScheme name="Tema de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e 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1312</TotalTime>
  <Words>2294</Words>
  <Application>Microsoft Macintosh PowerPoint</Application>
  <PresentationFormat>On-screen Show (4:3)</PresentationFormat>
  <Paragraphs>343</Paragraphs>
  <Slides>30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12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30</vt:i4>
      </vt:variant>
    </vt:vector>
  </HeadingPairs>
  <TitlesOfParts>
    <vt:vector size="44" baseType="lpstr">
      <vt:lpstr>Arial</vt:lpstr>
      <vt:lpstr>Arial Black</vt:lpstr>
      <vt:lpstr>Calibri</vt:lpstr>
      <vt:lpstr>Calibri Light</vt:lpstr>
      <vt:lpstr>Cambria Math</vt:lpstr>
      <vt:lpstr>Consolas</vt:lpstr>
      <vt:lpstr>Helvetica</vt:lpstr>
      <vt:lpstr>Noto Sans CJK SC</vt:lpstr>
      <vt:lpstr>Open Sans</vt:lpstr>
      <vt:lpstr>TeXGyreAdventor</vt:lpstr>
      <vt:lpstr>Times New Roman</vt:lpstr>
      <vt:lpstr>Wingdings</vt:lpstr>
      <vt:lpstr>Tema de Office</vt:lpstr>
      <vt:lpstr>1_Tema de Office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16.0016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PC10</dc:creator>
  <cp:lastModifiedBy>Agustin Ambrossio</cp:lastModifiedBy>
  <cp:revision>91</cp:revision>
  <cp:lastPrinted>2022-04-26T21:22:38Z</cp:lastPrinted>
  <dcterms:created xsi:type="dcterms:W3CDTF">2020-04-01T12:31:54Z</dcterms:created>
  <dcterms:modified xsi:type="dcterms:W3CDTF">2022-05-03T21:15:17Z</dcterms:modified>
</cp:coreProperties>
</file>